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  <a:srgbClr val="FF40FF"/>
    <a:srgbClr val="00FA00"/>
    <a:srgbClr val="56F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3283"/>
  </p:normalViewPr>
  <p:slideViewPr>
    <p:cSldViewPr snapToGrid="0">
      <p:cViewPr varScale="1">
        <p:scale>
          <a:sx n="117" d="100"/>
          <a:sy n="117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説明のポイント：QM9は今回のデータの背景。gap_eVはHOMOとLUMOの差をeVで表した目的変数として説明する。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説明のポイント：RDKitはモデルそのものではなく、化学構造を扱い特徴量へ変換するための道具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RDKitは予測モデルではなく、SMILESを分子グラフへ変換し、記述子やMorgan fingerprintを生成する橋渡し役。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RDKit Molから2種類の特徴量を生成、それらを結合して1つの入力ベクトルにする→予測モデルがgap_eVを出力する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説明のポイント：SMILESは分子を数値化した特徴量ではない。同一分子でも表記が一意とは限らない。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説明のポイント：記述子と物性の相関は、化学機構の証明とは限らない。2D記述子では3D配座の影響を十分に表せない場合がある。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Morgan fingerprintはRDKitで使われるECFP系の円形フィンガープリント。中心原子からradiusで指定した範囲の原子環境を列挙し、それぞれをハッシュして固定長ベクトルへ格納する。ECFP4は直径4、すなわちradius=2に対応する。nBitsはベクトル長であり、radiusとは別の設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ハッシュ化は、原子番号・結合次数・原子価・形式電荷・環所属などから作った原子環境の情報を整数IDへ写す処理。同じ入力からは同じ整数が得られる。固定長ビットベクトルでは、ハッシュ値をnBitsで割った余りなどをビット位置として用いる。例の6,358,684 mod 1024 = 668。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ハッシュ衝突は、異なる原子環境が同じビット位置へ割り当てられる現象。固定長へ折り畳むために生じる情報損失で、ビット単独の解釈を難しくする。nBitsを大きくすると確率は下げられるが、完全には排除できない。必要に応じてRDKitのbitInfoによる割当確認を使う。図の数値は衝突の仕組みを示す説明用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MACCS keysは定義済みの構造キーについて、該当するかを0/1で表すフィンガープリント。公開されているキーは166個。Morgan fingerprintより語彙が固定される一方、各ビットの意味を比較的追いやすい。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516D-DC7F-415C-9B7E-4D467B622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2FD2D-8490-457F-9756-FAD5B18E5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1A7F7-CEE9-41C7-A175-A55100B81D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9BAAD-BC3F-438C-84DC-F4F35D6A05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F10F2-9811-40DD-AAA0-E718BF6B82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7A39A-698E-4129-801E-AC076DD0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22B8C-C876-4413-93AA-2ACAB0DDA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6D291-D4A3-4540-B03F-2599F76FEB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123C0-8790-4D89-A893-B7C640923B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5B278-72BF-4BBF-8EF6-58CD8EE3E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A602-6BA2-4FA8-A89D-E211ED322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956A4-3028-430A-98F3-7CF18ACC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マスター テキストの書式設定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54631-520C-4364-9F3C-41B6A7CCE0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0D0C4-AA28-4F86-A05D-AE70C4157F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711AD-75A8-4288-A519-EF4F0B73EE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EA8C-2909-4631-BE93-34410FC3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591F-7806-499C-B096-9D08E68F4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C658C-D348-46C0-B5A2-F0BFDEDB39F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8E728-9365-4842-85EB-3ED802C6DE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91D89-744A-4CC2-9ECE-CDA2237E8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36F52-6069-4F2C-9422-5B20160BCC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CCB7-6FD1-42CF-A2AF-6F0C41E6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E5A14-5F8F-4FC9-B65C-F5233D7F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マスター テキストの書式設定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838FC-BBDE-4061-AD4D-CF343E2EC7A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2B796-A72A-4DEB-84E0-8D4A32B0435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マスター テキストの書式設定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0ED89-2A0A-4C0F-9B71-69E14F3EBE0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55A1F2-236A-4A2D-9C11-6FAF8A2CFD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5532D-20E0-4486-807D-AB2E3AD06F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F64A9-A798-44CC-A731-FB5883C62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90AC-6A96-4674-A5E4-EF817991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D840C-6D40-4919-AB79-16754D47F0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4C52A-B8C0-41C4-A615-7E7722E840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694DC-301E-4F06-8C66-34E2B63C15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F7BF6-DC65-4BEE-A511-BE0391D7BE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E709F-A8BB-406E-8C17-6470ED5367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C27FF-2808-414B-9CC5-F8012577BB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378F-2208-4AF0-9354-6EBCD330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1577-6ABF-4E77-BB8E-A37F9B97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A87F3-6890-496F-8FF6-571E15527B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マスター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73579-44A9-41E4-B459-B184BFDEBA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EB79B-B649-4F72-BA85-5699674F0E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66514-6AC6-47A7-A713-F1207738B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F41D-B87E-43A6-A2A7-5200DB2C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53436-E496-4FC8-90D3-C8F1A9C36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アイコンをクリックして図を追加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B5253-F5DA-4B6E-8FB0-443F8A63C6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マスター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5E64A-4B7B-478F-90F8-6F253940BF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02843-C778-47F2-9834-B66FD645E7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F8D2-628D-40C9-B127-42D7A3E2FA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70D2-145B-4E8B-A894-7C44298A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489E8-C78C-4775-9986-3A692973D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1C5E3-BDDE-4555-B4B0-C9232DE435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9E50F-3FBE-41BE-9D1B-0DBC11E066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7BABC-EA0C-48DE-87CD-9606948863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8CC58F-AF3D-4929-A83E-79D8530CC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E89F2-4822-44E2-8DD2-825DB240F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692D2-E6B3-4E59-A5D3-35628926A1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3555A-B4EC-4E32-9AD2-A6899F9A0B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27954-01A4-446F-AC29-E546EF48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7FE9FF-9ACE-0248-8726-8CC79D0109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BF89CE-142D-4085-993A-A55E600D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F9D12-7EAF-4B34-9CE0-DB045488A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マスター テキストの書式設定</a:t>
            </a:r>
          </a:p>
          <a:p>
            <a:pPr>
              <a:buNone/>
            </a:pPr>
            <a:r>
              <a:t>第 2 レベル</a:t>
            </a:r>
          </a:p>
          <a:p>
            <a:pPr>
              <a:buNone/>
            </a:pPr>
            <a:r>
              <a:t>第 3 レベル</a:t>
            </a:r>
          </a:p>
          <a:p>
            <a:pPr>
              <a:buNone/>
            </a:pPr>
            <a:r>
              <a:t>第 4 レベル</a:t>
            </a:r>
          </a:p>
          <a:p>
            <a:pPr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4892-260F-4E39-BC5A-2133F3B87A0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6FB89-5BF5-F84C-A934-6A27CEE6C399}" type="datetimeFigureOut">
              <a:t>2026/7/22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B582F-2899-43BA-A91B-6648340965E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98C28-A37C-4228-BC13-504F4730ED4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FE9FF-9ACE-0248-8726-8CC79D0109F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E9FA6-7C28-25FA-1FAF-AA8DEC956775}"/>
              </a:ext>
            </a:extLst>
          </p:cNvPr>
          <p:cNvSpPr>
            <a:spLocks noGrp="1"/>
          </p:cNvSpPr>
          <p:nvPr/>
        </p:nvSpPr>
        <p:spPr>
          <a:xfrm>
            <a:off x="3707702" y="3720491"/>
            <a:ext cx="1532351" cy="5715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r">
              <a:buNone/>
              <a:def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55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慶島快彦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88C888-993E-278E-CA3F-2C2DFF9F83C9}"/>
              </a:ext>
            </a:extLst>
          </p:cNvPr>
          <p:cNvSpPr>
            <a:spLocks noGrp="1"/>
          </p:cNvSpPr>
          <p:nvPr/>
        </p:nvSpPr>
        <p:spPr>
          <a:xfrm>
            <a:off x="1585349" y="2598003"/>
            <a:ext cx="597330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Pythonセミナー第9回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E9FA6-7C28-25FA-1FAF-AA8DEC956775}"/>
              </a:ext>
            </a:extLst>
          </p:cNvPr>
          <p:cNvSpPr>
            <a:spLocks noGrp="1"/>
          </p:cNvSpPr>
          <p:nvPr/>
        </p:nvSpPr>
        <p:spPr>
          <a:xfrm>
            <a:off x="120042" y="1097592"/>
            <a:ext cx="8865815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・QM9：量子化学計算済みの小分子の物性データセット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・約134000分子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対象元素はH、C、N、O、F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分子サイズ：重原子</a:t>
            </a: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(C、N、O、F)は最大9個まで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・HOMO、LUMO、HOMO–LUMO gap 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などが含まれる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r>
              <a:rPr lang="ja-JP" altLang="en-US" sz="27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　</a:t>
            </a:r>
            <a:endParaRPr lang="en-US" altLang="ja-JP"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457200" indent="-457200">
              <a:buFont typeface="Wingdings" pitchFamily="2" charset="2"/>
              <a:buChar char="l"/>
            </a:pPr>
            <a:r>
              <a:rPr lang="ja-JP" altLang="en-US" sz="27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計算条件</a:t>
            </a:r>
            <a:endParaRPr lang="en-US" altLang="ja-JP"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r>
              <a:rPr lang="ja-JP" altLang="en-US" sz="27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計算手法：</a:t>
            </a:r>
            <a:r>
              <a:rPr lang="en-US" altLang="ja-JP"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DFT</a:t>
            </a:r>
            <a:r>
              <a:rPr lang="ja-JP" altLang="en-US" sz="27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　汎関数：</a:t>
            </a:r>
            <a:r>
              <a:rPr lang="en-US" altLang="ja-JP"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B3LYP</a:t>
            </a:r>
            <a:br>
              <a:rPr lang="en-US" altLang="ja-JP"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</a:br>
            <a:r>
              <a:rPr lang="ja-JP" altLang="en-US" sz="27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基底関数：</a:t>
            </a:r>
            <a:r>
              <a:rPr lang="en-US" altLang="ja-JP"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6-31G(2df,p)</a:t>
            </a:r>
          </a:p>
          <a:p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342900" indent="-342900">
              <a:buFont typeface="Wingdings"/>
              <a:buChar char="l"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今回の課題との関係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SMILES：分子構造の入力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gap_eV</a:t>
            </a:r>
            <a:r>
              <a:rPr lang="ja-JP" altLang="en-US" sz="27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：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目的変数（HOMO</a:t>
            </a: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–LUMO 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のエネルギー差</a:t>
            </a: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）</a:t>
            </a:r>
          </a:p>
        </p:txBody>
      </p:sp>
      <p:sp>
        <p:nvSpPr>
          <p:cNvPr id="4" name="editable-title-band-1-1">
            <a:extLst>
              <a:ext uri="{FF2B5EF4-FFF2-40B4-BE49-F238E27FC236}">
                <a16:creationId xmlns:a16="http://schemas.microsoft.com/office/drawing/2014/main" id="{54AC5826-3EA4-49A2-BFDB-C358EC4BD0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-title-band-1-2">
            <a:extLst>
              <a:ext uri="{FF2B5EF4-FFF2-40B4-BE49-F238E27FC236}">
                <a16:creationId xmlns:a16="http://schemas.microsoft.com/office/drawing/2014/main" id="{53DB5D3D-3D5C-4298-98FA-42B0829C8210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editable-title-band-1-3">
            <a:extLst>
              <a:ext uri="{FF2B5EF4-FFF2-40B4-BE49-F238E27FC236}">
                <a16:creationId xmlns:a16="http://schemas.microsoft.com/office/drawing/2014/main" id="{24E297D7-8B5C-4CAF-97BE-C779E7FD79D4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ditable-title-band-1-4">
            <a:extLst>
              <a:ext uri="{FF2B5EF4-FFF2-40B4-BE49-F238E27FC236}">
                <a16:creationId xmlns:a16="http://schemas.microsoft.com/office/drawing/2014/main" id="{22B8B079-D6F7-4534-87A1-0BED16A44B2A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ditable-title-band-1-5">
            <a:extLst>
              <a:ext uri="{FF2B5EF4-FFF2-40B4-BE49-F238E27FC236}">
                <a16:creationId xmlns:a16="http://schemas.microsoft.com/office/drawing/2014/main" id="{4F044EE1-1D91-47D6-889C-B736742F9B22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ditable-title-band-1-6">
            <a:extLst>
              <a:ext uri="{FF2B5EF4-FFF2-40B4-BE49-F238E27FC236}">
                <a16:creationId xmlns:a16="http://schemas.microsoft.com/office/drawing/2014/main" id="{445B900E-4817-4997-80C7-A9B5F579B18A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ditable-title-band-1-7">
            <a:extLst>
              <a:ext uri="{FF2B5EF4-FFF2-40B4-BE49-F238E27FC236}">
                <a16:creationId xmlns:a16="http://schemas.microsoft.com/office/drawing/2014/main" id="{6067624C-6443-41A3-BEEF-F043D1575E37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ditable-title-band-1-8">
            <a:extLst>
              <a:ext uri="{FF2B5EF4-FFF2-40B4-BE49-F238E27FC236}">
                <a16:creationId xmlns:a16="http://schemas.microsoft.com/office/drawing/2014/main" id="{D47EB671-BDC9-4240-AC72-271ADBCFE2DC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ditable-slide-title-1">
            <a:extLst>
              <a:ext uri="{FF2B5EF4-FFF2-40B4-BE49-F238E27FC236}">
                <a16:creationId xmlns:a16="http://schemas.microsoft.com/office/drawing/2014/main" id="{B17E50B3-EF1A-42D3-8B1C-595536455F60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QM9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itle-band-2-1">
            <a:extLst>
              <a:ext uri="{FF2B5EF4-FFF2-40B4-BE49-F238E27FC236}">
                <a16:creationId xmlns:a16="http://schemas.microsoft.com/office/drawing/2014/main" id="{BF565AEE-CE4C-439A-891B-7155410DD8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editable-title-band-2-2">
            <a:extLst>
              <a:ext uri="{FF2B5EF4-FFF2-40B4-BE49-F238E27FC236}">
                <a16:creationId xmlns:a16="http://schemas.microsoft.com/office/drawing/2014/main" id="{F8D6D44A-17DE-484F-8411-3229F52CA5F5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editable-title-band-2-3">
            <a:extLst>
              <a:ext uri="{FF2B5EF4-FFF2-40B4-BE49-F238E27FC236}">
                <a16:creationId xmlns:a16="http://schemas.microsoft.com/office/drawing/2014/main" id="{FC7566E3-65FE-472A-A827-D6DBA1028634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-title-band-2-4">
            <a:extLst>
              <a:ext uri="{FF2B5EF4-FFF2-40B4-BE49-F238E27FC236}">
                <a16:creationId xmlns:a16="http://schemas.microsoft.com/office/drawing/2014/main" id="{2785F58C-3477-46C3-9E49-31166F263E68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editable-title-band-2-5">
            <a:extLst>
              <a:ext uri="{FF2B5EF4-FFF2-40B4-BE49-F238E27FC236}">
                <a16:creationId xmlns:a16="http://schemas.microsoft.com/office/drawing/2014/main" id="{32B2762C-BE11-4974-AEA0-82EEDE6AF43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ditable-title-band-2-6">
            <a:extLst>
              <a:ext uri="{FF2B5EF4-FFF2-40B4-BE49-F238E27FC236}">
                <a16:creationId xmlns:a16="http://schemas.microsoft.com/office/drawing/2014/main" id="{48B60048-DE98-4106-BA4A-FB7C86F83FD0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ditable-title-band-2-7">
            <a:extLst>
              <a:ext uri="{FF2B5EF4-FFF2-40B4-BE49-F238E27FC236}">
                <a16:creationId xmlns:a16="http://schemas.microsoft.com/office/drawing/2014/main" id="{2FF18CB9-08FB-4FCF-A0A1-6016C34C1B2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ditable-title-band-2-8">
            <a:extLst>
              <a:ext uri="{FF2B5EF4-FFF2-40B4-BE49-F238E27FC236}">
                <a16:creationId xmlns:a16="http://schemas.microsoft.com/office/drawing/2014/main" id="{E83E32B8-8AB3-4915-B584-C5A31006E8E4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ditable-slide-title-2">
            <a:extLst>
              <a:ext uri="{FF2B5EF4-FFF2-40B4-BE49-F238E27FC236}">
                <a16:creationId xmlns:a16="http://schemas.microsoft.com/office/drawing/2014/main" id="{69E14E53-7B61-4883-A6D3-765C439F8904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RDKit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33DFD43-2116-106C-DD95-FE0245FDD1D1}"/>
              </a:ext>
            </a:extLst>
          </p:cNvPr>
          <p:cNvSpPr>
            <a:spLocks noGrp="1"/>
          </p:cNvSpPr>
          <p:nvPr/>
        </p:nvSpPr>
        <p:spPr>
          <a:xfrm>
            <a:off x="363255" y="1397674"/>
            <a:ext cx="817949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RDkit：化合物情報を扱う分野で用いられるオープンソースライブラリ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342900" indent="-342900">
              <a:buFont typeface="Wingdings"/>
              <a:buChar char="l"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主な機能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SMILESから分子構造を読み込む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分子を画像として描画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分子記述子の計算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分子構造の変換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構造検索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dkit-input">
            <a:extLst>
              <a:ext uri="{FF2B5EF4-FFF2-40B4-BE49-F238E27FC236}">
                <a16:creationId xmlns:a16="http://schemas.microsoft.com/office/drawing/2014/main" id="{A8E43692-AC16-4A31-A6C5-8C4DC816C36E}"/>
              </a:ext>
            </a:extLst>
          </p:cNvPr>
          <p:cNvSpPr>
            <a:spLocks noGrp="1"/>
          </p:cNvSpPr>
          <p:nvPr/>
        </p:nvSpPr>
        <p:spPr>
          <a:xfrm>
            <a:off x="523875" y="2619375"/>
            <a:ext cx="142875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  <p:txBody>
          <a:bodyPr lIns="95250" tIns="76200" rIns="95250" bIns="76200" anchor="ctr">
            <a:normAutofit fontScale="93511" lnSpcReduction="10000"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SMILES
文字列</a:t>
            </a:r>
          </a:p>
        </p:txBody>
      </p:sp>
      <p:sp>
        <p:nvSpPr>
          <p:cNvPr id="6" name="rdkit-mol">
            <a:extLst>
              <a:ext uri="{FF2B5EF4-FFF2-40B4-BE49-F238E27FC236}">
                <a16:creationId xmlns:a16="http://schemas.microsoft.com/office/drawing/2014/main" id="{FB81A532-AFD8-48B2-ADE8-ADBA7B7D2CBC}"/>
              </a:ext>
            </a:extLst>
          </p:cNvPr>
          <p:cNvSpPr>
            <a:spLocks noGrp="1"/>
          </p:cNvSpPr>
          <p:nvPr/>
        </p:nvSpPr>
        <p:spPr>
          <a:xfrm>
            <a:off x="2619375" y="2619375"/>
            <a:ext cx="1571625" cy="781050"/>
          </a:xfrm>
          <a:prstGeom prst="roundRect">
            <a:avLst>
              <a:gd name="adj" fmla="val 17073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156082"/>
            </a:solidFill>
            <a:prstDash val="solid"/>
          </a:ln>
        </p:spPr>
        <p:txBody>
          <a:bodyPr lIns="95250" tIns="76200" rIns="95250" bIns="76200" anchor="ctr">
            <a:normAutofit fontScale="86011"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10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RDKit</a:t>
            </a:r>
            <a:endParaRPr sz="2100" b="1" dirty="0">
              <a:solidFill>
                <a:srgbClr val="17365D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100" b="1" dirty="0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210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分子グラフ</a:t>
            </a:r>
            <a:r>
              <a:rPr sz="2100" b="1" dirty="0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)</a:t>
            </a:r>
          </a:p>
        </p:txBody>
      </p:sp>
      <p:sp>
        <p:nvSpPr>
          <p:cNvPr id="7" name="rdkit-descriptor">
            <a:extLst>
              <a:ext uri="{FF2B5EF4-FFF2-40B4-BE49-F238E27FC236}">
                <a16:creationId xmlns:a16="http://schemas.microsoft.com/office/drawing/2014/main" id="{019DF42F-2B35-4B41-9B97-A31CCF2BC692}"/>
              </a:ext>
            </a:extLst>
          </p:cNvPr>
          <p:cNvSpPr>
            <a:spLocks noGrp="1"/>
          </p:cNvSpPr>
          <p:nvPr/>
        </p:nvSpPr>
        <p:spPr>
          <a:xfrm>
            <a:off x="4714875" y="1714500"/>
            <a:ext cx="1952625" cy="742950"/>
          </a:xfrm>
          <a:prstGeom prst="roundRect">
            <a:avLst>
              <a:gd name="adj" fmla="val 17949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156082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5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分子記述子</a:t>
            </a:r>
            <a:r>
              <a:rPr sz="1650" b="1" dirty="0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
MW・TPSA </a:t>
            </a:r>
            <a:r>
              <a:rPr sz="165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など</a:t>
            </a:r>
            <a:endParaRPr sz="1650" b="1" dirty="0">
              <a:solidFill>
                <a:srgbClr val="17365D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8" name="rdkit-fingerprint">
            <a:extLst>
              <a:ext uri="{FF2B5EF4-FFF2-40B4-BE49-F238E27FC236}">
                <a16:creationId xmlns:a16="http://schemas.microsoft.com/office/drawing/2014/main" id="{F7D9D4FB-00FB-4727-A11F-78EDD7DC88A5}"/>
              </a:ext>
            </a:extLst>
          </p:cNvPr>
          <p:cNvSpPr>
            <a:spLocks noGrp="1"/>
          </p:cNvSpPr>
          <p:nvPr/>
        </p:nvSpPr>
        <p:spPr>
          <a:xfrm>
            <a:off x="4810125" y="3524250"/>
            <a:ext cx="1762125" cy="742950"/>
          </a:xfrm>
          <a:prstGeom prst="roundRect">
            <a:avLst>
              <a:gd name="adj" fmla="val 17949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rgbClr val="156082"/>
            </a:solidFill>
            <a:prstDash val="solid"/>
          </a:ln>
        </p:spPr>
        <p:txBody>
          <a:bodyPr lIns="95250" tIns="76200" rIns="95250" bIns="76200" anchor="ctr">
            <a:normAutofit fontScale="86216" lnSpcReduction="10000"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95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フィンガ</a:t>
            </a:r>
            <a:r>
              <a:rPr sz="1950" b="1" dirty="0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ー</a:t>
            </a:r>
            <a:br>
              <a:rPr sz="1950" dirty="0">
                <a:latin typeface="Noto Sans JP"/>
                <a:ea typeface="Noto Sans JP"/>
                <a:cs typeface="Noto Sans JP"/>
              </a:rPr>
            </a:br>
            <a:r>
              <a:rPr sz="195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プリント</a:t>
            </a:r>
            <a:endParaRPr sz="1950" b="1" dirty="0">
              <a:solidFill>
                <a:srgbClr val="17365D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rdkit-model">
            <a:extLst>
              <a:ext uri="{FF2B5EF4-FFF2-40B4-BE49-F238E27FC236}">
                <a16:creationId xmlns:a16="http://schemas.microsoft.com/office/drawing/2014/main" id="{A7C510FA-9297-417E-8EEB-3743FD7F0A52}"/>
              </a:ext>
            </a:extLst>
          </p:cNvPr>
          <p:cNvSpPr>
            <a:spLocks noGrp="1"/>
          </p:cNvSpPr>
          <p:nvPr/>
        </p:nvSpPr>
        <p:spPr>
          <a:xfrm>
            <a:off x="7191375" y="2619375"/>
            <a:ext cx="1428750" cy="781050"/>
          </a:xfrm>
          <a:prstGeom prst="roundRect">
            <a:avLst>
              <a:gd name="adj" fmla="val 17073"/>
            </a:avLst>
          </a:prstGeom>
          <a:solidFill>
            <a:srgbClr val="E2F0D9"/>
          </a:solidFill>
          <a:ln w="19050">
            <a:solidFill>
              <a:srgbClr val="70AD47"/>
            </a:solidFill>
            <a:prstDash val="solid"/>
          </a:ln>
        </p:spPr>
        <p:txBody>
          <a:bodyPr lIns="95250" tIns="76200" rIns="95250" bIns="76200" anchor="ctr">
            <a:normAutofit fontScale="86011"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10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予測モデル</a:t>
            </a:r>
            <a:r>
              <a:rPr sz="2100" b="1" dirty="0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
</a:t>
            </a:r>
            <a:r>
              <a:rPr sz="2100" b="1" dirty="0" err="1">
                <a:solidFill>
                  <a:srgbClr val="17365D"/>
                </a:solidFill>
                <a:latin typeface="Noto Sans JP"/>
                <a:ea typeface="Noto Sans JP"/>
                <a:cs typeface="Noto Sans JP"/>
              </a:rPr>
              <a:t>gap_eV</a:t>
            </a:r>
            <a:endParaRPr sz="2100" b="1" dirty="0">
              <a:solidFill>
                <a:srgbClr val="17365D"/>
              </a:solidFill>
              <a:latin typeface="Noto Sans JP"/>
              <a:ea typeface="Noto Sans JP"/>
              <a:cs typeface="Noto Sans JP"/>
            </a:endParaRPr>
          </a:p>
        </p:txBody>
      </p:sp>
      <p:cxnSp>
        <p:nvCxnSpPr>
          <p:cNvPr id="182" name="直線矢印コネクタ 22"/>
          <p:cNvCxnSpPr>
            <a:stCxn id="5" idx="3"/>
            <a:endCxn id="6" idx="1"/>
          </p:cNvCxnSpPr>
          <p:nvPr/>
        </p:nvCxnSpPr>
        <p:spPr>
          <a:xfrm>
            <a:off x="1952625" y="3009900"/>
            <a:ext cx="666750" cy="0"/>
          </a:xfrm>
          <a:prstGeom prst="straightConnector1">
            <a:avLst/>
          </a:prstGeom>
          <a:ln w="28575">
            <a:solidFill>
              <a:srgbClr val="607D8B"/>
            </a:solidFill>
            <a:prstDash val="solid"/>
            <a:tailEnd type="triangle" w="med" len="med"/>
          </a:ln>
        </p:spPr>
      </p:cxnSp>
      <p:cxnSp>
        <p:nvCxnSpPr>
          <p:cNvPr id="183" name="カギ線コネクタ 23"/>
          <p:cNvCxnSpPr>
            <a:stCxn id="6" idx="3"/>
            <a:endCxn id="7" idx="1"/>
          </p:cNvCxnSpPr>
          <p:nvPr/>
        </p:nvCxnSpPr>
        <p:spPr>
          <a:xfrm flipV="1">
            <a:off x="4191000" y="2085975"/>
            <a:ext cx="523875" cy="923925"/>
          </a:xfrm>
          <a:prstGeom prst="bentConnector3">
            <a:avLst>
              <a:gd name="adj1" fmla="val 50000"/>
            </a:avLst>
          </a:prstGeom>
          <a:ln w="28575">
            <a:solidFill>
              <a:srgbClr val="607D8B"/>
            </a:solidFill>
            <a:prstDash val="solid"/>
            <a:tailEnd type="triangle" w="med" len="med"/>
          </a:ln>
        </p:spPr>
      </p:cxnSp>
      <p:cxnSp>
        <p:nvCxnSpPr>
          <p:cNvPr id="184" name="カギ線コネクタ 24"/>
          <p:cNvCxnSpPr>
            <a:stCxn id="6" idx="3"/>
            <a:endCxn id="8" idx="1"/>
          </p:cNvCxnSpPr>
          <p:nvPr/>
        </p:nvCxnSpPr>
        <p:spPr>
          <a:xfrm>
            <a:off x="4191000" y="3009900"/>
            <a:ext cx="619125" cy="885825"/>
          </a:xfrm>
          <a:prstGeom prst="bentConnector3">
            <a:avLst>
              <a:gd name="adj1" fmla="val 50000"/>
            </a:avLst>
          </a:prstGeom>
          <a:ln w="28575">
            <a:solidFill>
              <a:srgbClr val="607D8B"/>
            </a:solidFill>
            <a:prstDash val="solid"/>
            <a:tailEnd type="triangle" w="med" len="med"/>
          </a:ln>
        </p:spPr>
      </p:cxnSp>
      <p:cxnSp>
        <p:nvCxnSpPr>
          <p:cNvPr id="185" name="カギ線コネクタ 25"/>
          <p:cNvCxnSpPr>
            <a:stCxn id="7" idx="3"/>
            <a:endCxn id="9" idx="1"/>
          </p:cNvCxnSpPr>
          <p:nvPr/>
        </p:nvCxnSpPr>
        <p:spPr>
          <a:xfrm>
            <a:off x="6667500" y="2085975"/>
            <a:ext cx="523875" cy="923925"/>
          </a:xfrm>
          <a:prstGeom prst="bentConnector3">
            <a:avLst>
              <a:gd name="adj1" fmla="val 50000"/>
            </a:avLst>
          </a:prstGeom>
          <a:ln w="28575">
            <a:solidFill>
              <a:srgbClr val="607D8B"/>
            </a:solidFill>
            <a:prstDash val="solid"/>
            <a:tailEnd type="triangle" w="med" len="med"/>
          </a:ln>
        </p:spPr>
      </p:cxnSp>
      <p:cxnSp>
        <p:nvCxnSpPr>
          <p:cNvPr id="186" name="カギ線コネクタ 26"/>
          <p:cNvCxnSpPr>
            <a:stCxn id="8" idx="3"/>
            <a:endCxn id="9" idx="1"/>
          </p:cNvCxnSpPr>
          <p:nvPr/>
        </p:nvCxnSpPr>
        <p:spPr>
          <a:xfrm flipV="1">
            <a:off x="6572250" y="3009900"/>
            <a:ext cx="619125" cy="885825"/>
          </a:xfrm>
          <a:prstGeom prst="bentConnector3">
            <a:avLst>
              <a:gd name="adj1" fmla="val 50000"/>
            </a:avLst>
          </a:prstGeom>
          <a:ln w="28575">
            <a:solidFill>
              <a:srgbClr val="607D8B"/>
            </a:solidFill>
            <a:prstDash val="solid"/>
            <a:tailEnd type="triangle" w="med" len="med"/>
          </a:ln>
        </p:spPr>
      </p:cxnSp>
      <p:sp>
        <p:nvSpPr>
          <p:cNvPr id="15" name="rdkit-caption">
            <a:extLst>
              <a:ext uri="{FF2B5EF4-FFF2-40B4-BE49-F238E27FC236}">
                <a16:creationId xmlns:a16="http://schemas.microsoft.com/office/drawing/2014/main" id="{922D47B6-CD4B-43B9-9853-06FEA8491090}"/>
              </a:ext>
            </a:extLst>
          </p:cNvPr>
          <p:cNvSpPr>
            <a:spLocks noGrp="1"/>
          </p:cNvSpPr>
          <p:nvPr/>
        </p:nvSpPr>
        <p:spPr>
          <a:xfrm>
            <a:off x="241126" y="4512686"/>
            <a:ext cx="8757520" cy="1070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b="1" dirty="0" err="1">
                <a:solidFill>
                  <a:srgbClr val="156082"/>
                </a:solidFill>
                <a:latin typeface="Noto Sans JP"/>
                <a:ea typeface="Noto Sans JP"/>
                <a:cs typeface="Noto Sans JP"/>
              </a:rPr>
              <a:t>RDKitは、文字列で表した分子を機械学習用の数値へ</a:t>
            </a:r>
            <a:endParaRPr lang="en-US" sz="2700" b="1" dirty="0">
              <a:solidFill>
                <a:srgbClr val="156082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b="1" dirty="0" err="1">
                <a:solidFill>
                  <a:srgbClr val="156082"/>
                </a:solidFill>
                <a:latin typeface="Noto Sans JP"/>
                <a:ea typeface="Noto Sans JP"/>
                <a:cs typeface="Noto Sans JP"/>
              </a:rPr>
              <a:t>変換する</a:t>
            </a:r>
            <a:endParaRPr sz="2700" b="1" dirty="0">
              <a:solidFill>
                <a:srgbClr val="156082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88" name="editable-title-band-3-1">
            <a:extLst>
              <a:ext uri="{FF2B5EF4-FFF2-40B4-BE49-F238E27FC236}">
                <a16:creationId xmlns:a16="http://schemas.microsoft.com/office/drawing/2014/main" id="{4C9B7E1A-1B72-4FE9-9B96-9DF8F19EA9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editable-title-band-3-2">
            <a:extLst>
              <a:ext uri="{FF2B5EF4-FFF2-40B4-BE49-F238E27FC236}">
                <a16:creationId xmlns:a16="http://schemas.microsoft.com/office/drawing/2014/main" id="{CE0B8D3D-7282-4700-A430-82BC48775287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editable-title-band-3-3">
            <a:extLst>
              <a:ext uri="{FF2B5EF4-FFF2-40B4-BE49-F238E27FC236}">
                <a16:creationId xmlns:a16="http://schemas.microsoft.com/office/drawing/2014/main" id="{D88AC160-FD32-45AF-ABBB-391DA4C0CD1E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editable-title-band-3-4">
            <a:extLst>
              <a:ext uri="{FF2B5EF4-FFF2-40B4-BE49-F238E27FC236}">
                <a16:creationId xmlns:a16="http://schemas.microsoft.com/office/drawing/2014/main" id="{6CCC1BAA-3A74-4DE3-BF2B-F1397EDCCA95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editable-title-band-3-5">
            <a:extLst>
              <a:ext uri="{FF2B5EF4-FFF2-40B4-BE49-F238E27FC236}">
                <a16:creationId xmlns:a16="http://schemas.microsoft.com/office/drawing/2014/main" id="{72B289ED-D0CF-4142-9DC0-E0E4F551844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editable-title-band-3-6">
            <a:extLst>
              <a:ext uri="{FF2B5EF4-FFF2-40B4-BE49-F238E27FC236}">
                <a16:creationId xmlns:a16="http://schemas.microsoft.com/office/drawing/2014/main" id="{D4239B94-D208-49AF-847B-583C86BA365D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editable-title-band-3-7">
            <a:extLst>
              <a:ext uri="{FF2B5EF4-FFF2-40B4-BE49-F238E27FC236}">
                <a16:creationId xmlns:a16="http://schemas.microsoft.com/office/drawing/2014/main" id="{E858A465-9AE4-4018-8B1B-A5DFB0CE90FC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editable-title-band-3-8">
            <a:extLst>
              <a:ext uri="{FF2B5EF4-FFF2-40B4-BE49-F238E27FC236}">
                <a16:creationId xmlns:a16="http://schemas.microsoft.com/office/drawing/2014/main" id="{E77FD022-A294-4DE0-889E-BDF94D8675D4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editable-slide-title-3">
            <a:extLst>
              <a:ext uri="{FF2B5EF4-FFF2-40B4-BE49-F238E27FC236}">
                <a16:creationId xmlns:a16="http://schemas.microsoft.com/office/drawing/2014/main" id="{892B8810-57F5-4921-BE1C-4F7F77A49009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RDKitの役割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E9FA6-7C28-25FA-1FAF-AA8DEC956775}"/>
              </a:ext>
            </a:extLst>
          </p:cNvPr>
          <p:cNvSpPr>
            <a:spLocks noGrp="1"/>
          </p:cNvSpPr>
          <p:nvPr/>
        </p:nvSpPr>
        <p:spPr>
          <a:xfrm>
            <a:off x="139092" y="1110452"/>
            <a:ext cx="886581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・分子構造を1行の文字列で表す記法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・原子：元素記号、結合：記号、分岐：()、環：数字で表す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・水素は省略する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・芳香族原子は小文字で表す</a:t>
            </a:r>
          </a:p>
          <a:p>
            <a:endParaRPr sz="240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342900" indent="-342900">
              <a:buFont typeface="Wingdings"/>
              <a:buChar char="l"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例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endParaRPr sz="240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endParaRPr sz="240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endParaRPr sz="240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endParaRPr sz="240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・エタノール：CCO　・酢酸：CC(=O)O　・ベンゼン：c1ccccc1</a:t>
            </a:r>
          </a:p>
          <a:p>
            <a:endParaRPr sz="240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342900" indent="-342900">
              <a:buFont typeface="Wingdings"/>
              <a:buChar char="l"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注意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・同じ分子に複数の正しい SMILES があり得る</a:t>
            </a: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・文字列はそのまま使えないので、RDKit で分子記述子に変換</a:t>
            </a:r>
          </a:p>
        </p:txBody>
      </p:sp>
      <p:pic>
        <p:nvPicPr>
          <p:cNvPr id="21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4" y="3429000"/>
            <a:ext cx="2176345" cy="1284400"/>
          </a:xfrm>
          <a:prstGeom prst="rect">
            <a:avLst/>
          </a:prstGeom>
        </p:spPr>
      </p:pic>
      <p:pic>
        <p:nvPicPr>
          <p:cNvPr id="22" name="図 6"/>
          <p:cNvPicPr>
            <a:picLocks noChangeAspect="1"/>
          </p:cNvPicPr>
          <p:nvPr/>
        </p:nvPicPr>
        <p:blipFill>
          <a:blip r:embed="rId4"/>
          <a:srcRect l="-1" t="14479" r="3930" b="11751"/>
          <a:stretch>
            <a:fillRect/>
          </a:stretch>
        </p:blipFill>
        <p:spPr>
          <a:xfrm>
            <a:off x="3428179" y="3429001"/>
            <a:ext cx="2082277" cy="1284399"/>
          </a:xfrm>
          <a:prstGeom prst="rect">
            <a:avLst/>
          </a:prstGeom>
        </p:spPr>
      </p:pic>
      <p:pic>
        <p:nvPicPr>
          <p:cNvPr id="23" name="図 8"/>
          <p:cNvPicPr>
            <a:picLocks noChangeAspect="1"/>
          </p:cNvPicPr>
          <p:nvPr/>
        </p:nvPicPr>
        <p:blipFill>
          <a:blip r:embed="rId5"/>
          <a:srcRect t="-140" r="50000"/>
          <a:stretch>
            <a:fillRect/>
          </a:stretch>
        </p:blipFill>
        <p:spPr>
          <a:xfrm>
            <a:off x="6317313" y="2655793"/>
            <a:ext cx="1909600" cy="2057607"/>
          </a:xfrm>
          <a:prstGeom prst="rect">
            <a:avLst/>
          </a:prstGeom>
        </p:spPr>
      </p:pic>
      <p:sp>
        <p:nvSpPr>
          <p:cNvPr id="8" name="editable-title-band-4-1">
            <a:extLst>
              <a:ext uri="{FF2B5EF4-FFF2-40B4-BE49-F238E27FC236}">
                <a16:creationId xmlns:a16="http://schemas.microsoft.com/office/drawing/2014/main" id="{E3789736-EDA9-4DA8-947B-E5C231534D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ditable-title-band-4-2">
            <a:extLst>
              <a:ext uri="{FF2B5EF4-FFF2-40B4-BE49-F238E27FC236}">
                <a16:creationId xmlns:a16="http://schemas.microsoft.com/office/drawing/2014/main" id="{3319ADFF-FBD2-4B1D-9105-24FCB8D20266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ditable-title-band-4-3">
            <a:extLst>
              <a:ext uri="{FF2B5EF4-FFF2-40B4-BE49-F238E27FC236}">
                <a16:creationId xmlns:a16="http://schemas.microsoft.com/office/drawing/2014/main" id="{9C393DEE-C19D-4F05-86D9-30E29AF58560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ditable-title-band-4-4">
            <a:extLst>
              <a:ext uri="{FF2B5EF4-FFF2-40B4-BE49-F238E27FC236}">
                <a16:creationId xmlns:a16="http://schemas.microsoft.com/office/drawing/2014/main" id="{749201CD-3FD4-4CB9-8545-E3ECA65A0585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ditable-title-band-4-5">
            <a:extLst>
              <a:ext uri="{FF2B5EF4-FFF2-40B4-BE49-F238E27FC236}">
                <a16:creationId xmlns:a16="http://schemas.microsoft.com/office/drawing/2014/main" id="{31ABF44A-3B80-4BE2-8DA7-2425B2FB9B8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ditable-title-band-4-6">
            <a:extLst>
              <a:ext uri="{FF2B5EF4-FFF2-40B4-BE49-F238E27FC236}">
                <a16:creationId xmlns:a16="http://schemas.microsoft.com/office/drawing/2014/main" id="{4479F3DE-2768-4CBD-A8F3-D0DEB8913A48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editable-title-band-4-7">
            <a:extLst>
              <a:ext uri="{FF2B5EF4-FFF2-40B4-BE49-F238E27FC236}">
                <a16:creationId xmlns:a16="http://schemas.microsoft.com/office/drawing/2014/main" id="{5E78BD47-0F46-4A06-99C6-5D2E587F8ED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ditable-title-band-4-8">
            <a:extLst>
              <a:ext uri="{FF2B5EF4-FFF2-40B4-BE49-F238E27FC236}">
                <a16:creationId xmlns:a16="http://schemas.microsoft.com/office/drawing/2014/main" id="{5AEF41F4-3852-4830-99C1-0AAE84126B25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ditable-slide-title-4">
            <a:extLst>
              <a:ext uri="{FF2B5EF4-FFF2-40B4-BE49-F238E27FC236}">
                <a16:creationId xmlns:a16="http://schemas.microsoft.com/office/drawing/2014/main" id="{25F6408D-FBF1-41E6-979E-2D72F64C84C3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SMILES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E9FA6-7C28-25FA-1FAF-AA8DEC956775}"/>
              </a:ext>
            </a:extLst>
          </p:cNvPr>
          <p:cNvSpPr>
            <a:spLocks noGrp="1"/>
          </p:cNvSpPr>
          <p:nvPr/>
        </p:nvSpPr>
        <p:spPr>
          <a:xfrm>
            <a:off x="278184" y="1260765"/>
            <a:ext cx="8865815" cy="491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分子記述子：分子の性質や構造を数値で表した特徴量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・1分子を「意味のある数値の列」に変換する</a:t>
            </a:r>
          </a:p>
          <a:p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342900" indent="-342900">
              <a:buFont typeface="Wingdings"/>
              <a:buChar char="l"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主な種類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分子の素性や性質を表す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MW：分子量</a:t>
            </a:r>
            <a:r>
              <a:rPr sz="255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　　</a:t>
            </a: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LogP：疎水性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TPSA：極性表面積</a:t>
            </a:r>
            <a:r>
              <a:rPr sz="255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　</a:t>
            </a: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HBD／HBA：水素結合の供与体／受容体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/>
              <a:t>Rotatable Bonds：</a:t>
            </a:r>
            <a:r>
              <a:rPr sz="255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回転可能結合数</a:t>
            </a:r>
          </a:p>
          <a:p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342900" indent="-342900">
              <a:buFont typeface="Wingdings"/>
              <a:buChar char="l"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特徴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科学的意味を理解しやすく、機械学習に使いやすい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55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55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ただし、これだけでは構造情報が不足</a:t>
            </a:r>
            <a:endParaRPr sz="255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" name="editable-title-band-5-1">
            <a:extLst>
              <a:ext uri="{FF2B5EF4-FFF2-40B4-BE49-F238E27FC236}">
                <a16:creationId xmlns:a16="http://schemas.microsoft.com/office/drawing/2014/main" id="{61333B22-6D88-4B48-BAB1-6AA9363011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-title-band-5-2">
            <a:extLst>
              <a:ext uri="{FF2B5EF4-FFF2-40B4-BE49-F238E27FC236}">
                <a16:creationId xmlns:a16="http://schemas.microsoft.com/office/drawing/2014/main" id="{A965F6D5-D7CF-41CF-BFB1-31A29C3FE3DA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editable-title-band-5-3">
            <a:extLst>
              <a:ext uri="{FF2B5EF4-FFF2-40B4-BE49-F238E27FC236}">
                <a16:creationId xmlns:a16="http://schemas.microsoft.com/office/drawing/2014/main" id="{2B2577A8-6695-4FAA-B1D7-1FFAEE59F394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ditable-title-band-5-4">
            <a:extLst>
              <a:ext uri="{FF2B5EF4-FFF2-40B4-BE49-F238E27FC236}">
                <a16:creationId xmlns:a16="http://schemas.microsoft.com/office/drawing/2014/main" id="{6B422F47-A9F1-464E-AE5C-D7315EA481AD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ditable-title-band-5-5">
            <a:extLst>
              <a:ext uri="{FF2B5EF4-FFF2-40B4-BE49-F238E27FC236}">
                <a16:creationId xmlns:a16="http://schemas.microsoft.com/office/drawing/2014/main" id="{5C01D11F-D0BA-45ED-B0E6-2B75E78B52C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ditable-title-band-5-6">
            <a:extLst>
              <a:ext uri="{FF2B5EF4-FFF2-40B4-BE49-F238E27FC236}">
                <a16:creationId xmlns:a16="http://schemas.microsoft.com/office/drawing/2014/main" id="{9ABCC6F0-478F-4DBE-8D92-908E867DA078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ditable-title-band-5-7">
            <a:extLst>
              <a:ext uri="{FF2B5EF4-FFF2-40B4-BE49-F238E27FC236}">
                <a16:creationId xmlns:a16="http://schemas.microsoft.com/office/drawing/2014/main" id="{8BFCC376-88D2-4BE0-95A8-EC96EA322341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ditable-title-band-5-8">
            <a:extLst>
              <a:ext uri="{FF2B5EF4-FFF2-40B4-BE49-F238E27FC236}">
                <a16:creationId xmlns:a16="http://schemas.microsoft.com/office/drawing/2014/main" id="{74F39D88-4C70-47F5-B40F-8A3E061D0228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ditable-slide-title-5">
            <a:extLst>
              <a:ext uri="{FF2B5EF4-FFF2-40B4-BE49-F238E27FC236}">
                <a16:creationId xmlns:a16="http://schemas.microsoft.com/office/drawing/2014/main" id="{9016E7F8-71AF-40F2-9605-EA97676F790B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分子記述子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E9FA6-7C28-25FA-1FAF-AA8DEC956775}"/>
              </a:ext>
            </a:extLst>
          </p:cNvPr>
          <p:cNvSpPr>
            <a:spLocks noGrp="1"/>
          </p:cNvSpPr>
          <p:nvPr/>
        </p:nvSpPr>
        <p:spPr>
          <a:xfrm>
            <a:off x="278184" y="1260765"/>
            <a:ext cx="88658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部分構造を特徴量化したベクトル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 marL="342900" indent="-342900">
              <a:buFont typeface="Wingdings"/>
              <a:buChar char="l"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使い方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類似度計算や機械学習の入力に使う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分子の部分構造を広く表現できる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pPr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00" dirty="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・</a:t>
            </a:r>
            <a:r>
              <a:rPr sz="2700" dirty="0" err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ハッシュ衝突があり、ビットの意味は記述子より読みにくい</a:t>
            </a:r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  <a:p>
            <a:endParaRPr sz="2700" dirty="0">
              <a:solidFill>
                <a:srgbClr val="000000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" name="editable-title-band-7-1">
            <a:extLst>
              <a:ext uri="{FF2B5EF4-FFF2-40B4-BE49-F238E27FC236}">
                <a16:creationId xmlns:a16="http://schemas.microsoft.com/office/drawing/2014/main" id="{139607C6-43F4-4F46-AF22-E37D8976AB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-title-band-7-2">
            <a:extLst>
              <a:ext uri="{FF2B5EF4-FFF2-40B4-BE49-F238E27FC236}">
                <a16:creationId xmlns:a16="http://schemas.microsoft.com/office/drawing/2014/main" id="{A43CA6EA-8D61-4713-BA04-B30D33C136EB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editable-title-band-7-3">
            <a:extLst>
              <a:ext uri="{FF2B5EF4-FFF2-40B4-BE49-F238E27FC236}">
                <a16:creationId xmlns:a16="http://schemas.microsoft.com/office/drawing/2014/main" id="{D63ADDFA-70D2-4587-ABFA-8501A4526250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editable-title-band-7-4">
            <a:extLst>
              <a:ext uri="{FF2B5EF4-FFF2-40B4-BE49-F238E27FC236}">
                <a16:creationId xmlns:a16="http://schemas.microsoft.com/office/drawing/2014/main" id="{4705403E-2E8A-472B-878B-854B890E0C92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ditable-title-band-7-5">
            <a:extLst>
              <a:ext uri="{FF2B5EF4-FFF2-40B4-BE49-F238E27FC236}">
                <a16:creationId xmlns:a16="http://schemas.microsoft.com/office/drawing/2014/main" id="{702895FA-89F2-484B-9D70-49D9F359949F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ditable-title-band-7-6">
            <a:extLst>
              <a:ext uri="{FF2B5EF4-FFF2-40B4-BE49-F238E27FC236}">
                <a16:creationId xmlns:a16="http://schemas.microsoft.com/office/drawing/2014/main" id="{77AC1D4B-A560-445E-A9CD-F45DDFC37F6A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ditable-title-band-7-7">
            <a:extLst>
              <a:ext uri="{FF2B5EF4-FFF2-40B4-BE49-F238E27FC236}">
                <a16:creationId xmlns:a16="http://schemas.microsoft.com/office/drawing/2014/main" id="{97CC38E1-C385-4DF9-98D2-9DDEA9859A2C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editable-title-band-7-8">
            <a:extLst>
              <a:ext uri="{FF2B5EF4-FFF2-40B4-BE49-F238E27FC236}">
                <a16:creationId xmlns:a16="http://schemas.microsoft.com/office/drawing/2014/main" id="{824E6851-4810-4BAC-A849-61D07E67A98A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ditable-slide-title-7">
            <a:extLst>
              <a:ext uri="{FF2B5EF4-FFF2-40B4-BE49-F238E27FC236}">
                <a16:creationId xmlns:a16="http://schemas.microsoft.com/office/drawing/2014/main" id="{3F65ACF5-8457-4A2B-837D-DBD27856FBC2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フィンガープリント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aim">
            <a:extLst>
              <a:ext uri="{FF2B5EF4-FFF2-40B4-BE49-F238E27FC236}">
                <a16:creationId xmlns:a16="http://schemas.microsoft.com/office/drawing/2014/main" id="{B7B617B5-EFF8-40F8-99B3-B6C2634DE0BA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7696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93750" lnSpcReduction="10000"/>
          </a:bodyPr>
          <a:lstStyle/>
          <a:p>
            <a:pPr algn="l">
              <a:buNone/>
              <a:defRPr sz="2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原子中心の円形環境を列挙し、ハッシュでビット化する</a:t>
            </a:r>
          </a:p>
        </p:txBody>
      </p:sp>
      <p:sp>
        <p:nvSpPr>
          <p:cNvPr id="4" name="morgan-arrow-1-line">
            <a:extLst>
              <a:ext uri="{FF2B5EF4-FFF2-40B4-BE49-F238E27FC236}">
                <a16:creationId xmlns:a16="http://schemas.microsoft.com/office/drawing/2014/main" id="{8587FDEB-8A0D-46B6-B7B8-F68F3273D731}"/>
              </a:ext>
            </a:extLst>
          </p:cNvPr>
          <p:cNvSpPr>
            <a:spLocks noGrp="1"/>
          </p:cNvSpPr>
          <p:nvPr/>
        </p:nvSpPr>
        <p:spPr>
          <a:xfrm>
            <a:off x="2762250" y="3009900"/>
            <a:ext cx="80962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morgan-arrow-1-head">
            <a:extLst>
              <a:ext uri="{FF2B5EF4-FFF2-40B4-BE49-F238E27FC236}">
                <a16:creationId xmlns:a16="http://schemas.microsoft.com/office/drawing/2014/main" id="{8DA9695E-F6B5-4643-A953-9D4ABEE14E48}"/>
              </a:ext>
            </a:extLst>
          </p:cNvPr>
          <p:cNvSpPr>
            <a:spLocks noGrp="1"/>
          </p:cNvSpPr>
          <p:nvPr/>
        </p:nvSpPr>
        <p:spPr>
          <a:xfrm>
            <a:off x="3514725" y="2952750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morgan-arrow-2-line">
            <a:extLst>
              <a:ext uri="{FF2B5EF4-FFF2-40B4-BE49-F238E27FC236}">
                <a16:creationId xmlns:a16="http://schemas.microsoft.com/office/drawing/2014/main" id="{769D092F-FFED-462D-B0C8-3CE99D7F624E}"/>
              </a:ext>
            </a:extLst>
          </p:cNvPr>
          <p:cNvSpPr>
            <a:spLocks noGrp="1"/>
          </p:cNvSpPr>
          <p:nvPr/>
        </p:nvSpPr>
        <p:spPr>
          <a:xfrm>
            <a:off x="5572125" y="3009900"/>
            <a:ext cx="80962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morgan-arrow-2-head">
            <a:extLst>
              <a:ext uri="{FF2B5EF4-FFF2-40B4-BE49-F238E27FC236}">
                <a16:creationId xmlns:a16="http://schemas.microsoft.com/office/drawing/2014/main" id="{7570E4FC-9B45-4880-8AEB-EF56EFF41727}"/>
              </a:ext>
            </a:extLst>
          </p:cNvPr>
          <p:cNvSpPr>
            <a:spLocks noGrp="1"/>
          </p:cNvSpPr>
          <p:nvPr/>
        </p:nvSpPr>
        <p:spPr>
          <a:xfrm>
            <a:off x="6324600" y="2952750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atom-environment">
            <a:extLst>
              <a:ext uri="{FF2B5EF4-FFF2-40B4-BE49-F238E27FC236}">
                <a16:creationId xmlns:a16="http://schemas.microsoft.com/office/drawing/2014/main" id="{68FA8238-C1E6-4150-9DA1-8AF28A1277F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000250" cy="2095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endParaRPr/>
          </a:p>
        </p:txBody>
      </p:sp>
      <p:sp>
        <p:nvSpPr>
          <p:cNvPr id="9" name="atom-heading">
            <a:extLst>
              <a:ext uri="{FF2B5EF4-FFF2-40B4-BE49-F238E27FC236}">
                <a16:creationId xmlns:a16="http://schemas.microsoft.com/office/drawing/2014/main" id="{FE845F68-E1AA-41A9-9634-D7DD947CD6E7}"/>
              </a:ext>
            </a:extLst>
          </p:cNvPr>
          <p:cNvSpPr>
            <a:spLocks noGrp="1"/>
          </p:cNvSpPr>
          <p:nvPr/>
        </p:nvSpPr>
        <p:spPr>
          <a:xfrm>
            <a:off x="1000125" y="20955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79103" lnSpcReduction="20000"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原子環境</a:t>
            </a:r>
          </a:p>
        </p:txBody>
      </p:sp>
      <p:sp>
        <p:nvSpPr>
          <p:cNvPr id="10" name="radius-2">
            <a:extLst>
              <a:ext uri="{FF2B5EF4-FFF2-40B4-BE49-F238E27FC236}">
                <a16:creationId xmlns:a16="http://schemas.microsoft.com/office/drawing/2014/main" id="{12584EC1-0F13-4686-8F26-7EA353599EFA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1524000" cy="1428750"/>
          </a:xfrm>
          <a:prstGeom prst="ellips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adius-1">
            <a:extLst>
              <a:ext uri="{FF2B5EF4-FFF2-40B4-BE49-F238E27FC236}">
                <a16:creationId xmlns:a16="http://schemas.microsoft.com/office/drawing/2014/main" id="{8DDF1BB9-22A8-4E16-9EDA-6B7C1F4BC0E1}"/>
              </a:ext>
            </a:extLst>
          </p:cNvPr>
          <p:cNvSpPr>
            <a:spLocks noGrp="1"/>
          </p:cNvSpPr>
          <p:nvPr/>
        </p:nvSpPr>
        <p:spPr>
          <a:xfrm>
            <a:off x="1333500" y="2695575"/>
            <a:ext cx="857250" cy="809625"/>
          </a:xfrm>
          <a:prstGeom prst="ellips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center-atom">
            <a:extLst>
              <a:ext uri="{FF2B5EF4-FFF2-40B4-BE49-F238E27FC236}">
                <a16:creationId xmlns:a16="http://schemas.microsoft.com/office/drawing/2014/main" id="{05591387-FF9F-4323-A2FD-1771F6D912E3}"/>
              </a:ext>
            </a:extLst>
          </p:cNvPr>
          <p:cNvSpPr>
            <a:spLocks noGrp="1"/>
          </p:cNvSpPr>
          <p:nvPr/>
        </p:nvSpPr>
        <p:spPr>
          <a:xfrm>
            <a:off x="1609725" y="2943225"/>
            <a:ext cx="304800" cy="3048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 fontScale="57609" lnSpcReduction="20000"/>
          </a:bodyPr>
          <a:lstStyle/>
          <a:p>
            <a:pPr algn="ctr">
              <a:buNone/>
              <a:defRPr sz="15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</a:t>
            </a:r>
          </a:p>
        </p:txBody>
      </p:sp>
      <p:sp>
        <p:nvSpPr>
          <p:cNvPr id="13" name="atom-o">
            <a:extLst>
              <a:ext uri="{FF2B5EF4-FFF2-40B4-BE49-F238E27FC236}">
                <a16:creationId xmlns:a16="http://schemas.microsoft.com/office/drawing/2014/main" id="{8C09B245-2400-49C0-A8C8-680B550245B5}"/>
              </a:ext>
            </a:extLst>
          </p:cNvPr>
          <p:cNvSpPr>
            <a:spLocks noGrp="1"/>
          </p:cNvSpPr>
          <p:nvPr/>
        </p:nvSpPr>
        <p:spPr>
          <a:xfrm>
            <a:off x="1952625" y="2533650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78929" lnSpcReduction="10000"/>
          </a:bodyPr>
          <a:lstStyle/>
          <a:p>
            <a:pPr algn="ctr">
              <a:buNone/>
              <a:defRPr sz="1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O</a:t>
            </a:r>
          </a:p>
        </p:txBody>
      </p:sp>
      <p:sp>
        <p:nvSpPr>
          <p:cNvPr id="14" name="atom-n">
            <a:extLst>
              <a:ext uri="{FF2B5EF4-FFF2-40B4-BE49-F238E27FC236}">
                <a16:creationId xmlns:a16="http://schemas.microsoft.com/office/drawing/2014/main" id="{1ED46F2B-6858-4BF2-8ABD-A9B0367FB53B}"/>
              </a:ext>
            </a:extLst>
          </p:cNvPr>
          <p:cNvSpPr>
            <a:spLocks noGrp="1"/>
          </p:cNvSpPr>
          <p:nvPr/>
        </p:nvSpPr>
        <p:spPr>
          <a:xfrm>
            <a:off x="2085975" y="3238500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78929" lnSpcReduction="10000"/>
          </a:bodyPr>
          <a:lstStyle/>
          <a:p>
            <a:pPr algn="ctr">
              <a:buNone/>
              <a:defRPr sz="1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N</a:t>
            </a:r>
          </a:p>
        </p:txBody>
      </p:sp>
      <p:sp>
        <p:nvSpPr>
          <p:cNvPr id="15" name="atom-c">
            <a:extLst>
              <a:ext uri="{FF2B5EF4-FFF2-40B4-BE49-F238E27FC236}">
                <a16:creationId xmlns:a16="http://schemas.microsoft.com/office/drawing/2014/main" id="{06CE3517-5A66-497C-B68C-95B856A88980}"/>
              </a:ext>
            </a:extLst>
          </p:cNvPr>
          <p:cNvSpPr>
            <a:spLocks noGrp="1"/>
          </p:cNvSpPr>
          <p:nvPr/>
        </p:nvSpPr>
        <p:spPr>
          <a:xfrm>
            <a:off x="1047750" y="3200400"/>
            <a:ext cx="33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78929" lnSpcReduction="10000"/>
          </a:bodyPr>
          <a:lstStyle/>
          <a:p>
            <a:pPr algn="ctr">
              <a:buNone/>
              <a:defRPr sz="1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</a:t>
            </a:r>
          </a:p>
        </p:txBody>
      </p:sp>
      <p:sp>
        <p:nvSpPr>
          <p:cNvPr id="16" name="radius-label">
            <a:extLst>
              <a:ext uri="{FF2B5EF4-FFF2-40B4-BE49-F238E27FC236}">
                <a16:creationId xmlns:a16="http://schemas.microsoft.com/office/drawing/2014/main" id="{0D126CA5-2345-4F6A-ABA1-30B3C285EBBE}"/>
              </a:ext>
            </a:extLst>
          </p:cNvPr>
          <p:cNvSpPr>
            <a:spLocks noGrp="1"/>
          </p:cNvSpPr>
          <p:nvPr/>
        </p:nvSpPr>
        <p:spPr>
          <a:xfrm>
            <a:off x="1190625" y="37719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82500" lnSpcReduction="10000"/>
          </a:bodyPr>
          <a:lstStyle/>
          <a:p>
            <a:pPr algn="ctr">
              <a:buNone/>
              <a:defRPr sz="14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radius = 2</a:t>
            </a:r>
          </a:p>
        </p:txBody>
      </p:sp>
      <p:sp>
        <p:nvSpPr>
          <p:cNvPr id="17" name="environment-ids">
            <a:extLst>
              <a:ext uri="{FF2B5EF4-FFF2-40B4-BE49-F238E27FC236}">
                <a16:creationId xmlns:a16="http://schemas.microsoft.com/office/drawing/2014/main" id="{3E11781F-A507-4E47-A105-AB11EE30A1B3}"/>
              </a:ext>
            </a:extLst>
          </p:cNvPr>
          <p:cNvSpPr>
            <a:spLocks noGrp="1"/>
          </p:cNvSpPr>
          <p:nvPr/>
        </p:nvSpPr>
        <p:spPr>
          <a:xfrm>
            <a:off x="3571875" y="2381250"/>
            <a:ext cx="200025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環境ごとのID</a:t>
            </a:r>
          </a:p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h₀, h₁, h₂, …</a:t>
            </a:r>
          </a:p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同じ環境 → 同じID</a:t>
            </a:r>
          </a:p>
        </p:txBody>
      </p:sp>
      <p:sp>
        <p:nvSpPr>
          <p:cNvPr id="18" name="fixed-vector">
            <a:extLst>
              <a:ext uri="{FF2B5EF4-FFF2-40B4-BE49-F238E27FC236}">
                <a16:creationId xmlns:a16="http://schemas.microsoft.com/office/drawing/2014/main" id="{D1D3D394-B36C-4F6F-B0BE-88729E51E29D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180975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endParaRPr/>
          </a:p>
        </p:txBody>
      </p:sp>
      <p:sp>
        <p:nvSpPr>
          <p:cNvPr id="19" name="vector-heading">
            <a:extLst>
              <a:ext uri="{FF2B5EF4-FFF2-40B4-BE49-F238E27FC236}">
                <a16:creationId xmlns:a16="http://schemas.microsoft.com/office/drawing/2014/main" id="{AFA75282-F0C0-4AC4-A2AC-BA301AEF398A}"/>
              </a:ext>
            </a:extLst>
          </p:cNvPr>
          <p:cNvSpPr>
            <a:spLocks noGrp="1"/>
          </p:cNvSpPr>
          <p:nvPr/>
        </p:nvSpPr>
        <p:spPr>
          <a:xfrm>
            <a:off x="6277562" y="2514600"/>
            <a:ext cx="2018126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b="1" dirty="0" err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固定長ベクトル</a:t>
            </a:r>
            <a:endParaRPr b="1" dirty="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0" name="morgan-bits-0">
            <a:extLst>
              <a:ext uri="{FF2B5EF4-FFF2-40B4-BE49-F238E27FC236}">
                <a16:creationId xmlns:a16="http://schemas.microsoft.com/office/drawing/2014/main" id="{A0A8A5C0-E9F2-4257-874E-00FF44166AC3}"/>
              </a:ext>
            </a:extLst>
          </p:cNvPr>
          <p:cNvSpPr>
            <a:spLocks noGrp="1"/>
          </p:cNvSpPr>
          <p:nvPr/>
        </p:nvSpPr>
        <p:spPr>
          <a:xfrm>
            <a:off x="6572250" y="29527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1" name="morgan-bits-1">
            <a:extLst>
              <a:ext uri="{FF2B5EF4-FFF2-40B4-BE49-F238E27FC236}">
                <a16:creationId xmlns:a16="http://schemas.microsoft.com/office/drawing/2014/main" id="{291F3254-B317-4063-BF7F-8927498F66DA}"/>
              </a:ext>
            </a:extLst>
          </p:cNvPr>
          <p:cNvSpPr>
            <a:spLocks noGrp="1"/>
          </p:cNvSpPr>
          <p:nvPr/>
        </p:nvSpPr>
        <p:spPr>
          <a:xfrm>
            <a:off x="6781800" y="2952750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2" name="morgan-bits-2">
            <a:extLst>
              <a:ext uri="{FF2B5EF4-FFF2-40B4-BE49-F238E27FC236}">
                <a16:creationId xmlns:a16="http://schemas.microsoft.com/office/drawing/2014/main" id="{2AC568DF-CE13-4E77-9515-6250C0B796EE}"/>
              </a:ext>
            </a:extLst>
          </p:cNvPr>
          <p:cNvSpPr>
            <a:spLocks noGrp="1"/>
          </p:cNvSpPr>
          <p:nvPr/>
        </p:nvSpPr>
        <p:spPr>
          <a:xfrm>
            <a:off x="6991350" y="29527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3" name="morgan-bits-3">
            <a:extLst>
              <a:ext uri="{FF2B5EF4-FFF2-40B4-BE49-F238E27FC236}">
                <a16:creationId xmlns:a16="http://schemas.microsoft.com/office/drawing/2014/main" id="{3517F842-C25A-432C-8ADD-1D703B42E212}"/>
              </a:ext>
            </a:extLst>
          </p:cNvPr>
          <p:cNvSpPr>
            <a:spLocks noGrp="1"/>
          </p:cNvSpPr>
          <p:nvPr/>
        </p:nvSpPr>
        <p:spPr>
          <a:xfrm>
            <a:off x="7200900" y="29527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morgan-bits-4">
            <a:extLst>
              <a:ext uri="{FF2B5EF4-FFF2-40B4-BE49-F238E27FC236}">
                <a16:creationId xmlns:a16="http://schemas.microsoft.com/office/drawing/2014/main" id="{7F8B43F0-043F-44B8-A356-63EDF0A46D7B}"/>
              </a:ext>
            </a:extLst>
          </p:cNvPr>
          <p:cNvSpPr>
            <a:spLocks noGrp="1"/>
          </p:cNvSpPr>
          <p:nvPr/>
        </p:nvSpPr>
        <p:spPr>
          <a:xfrm>
            <a:off x="7410450" y="2952750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5" name="morgan-bits-5">
            <a:extLst>
              <a:ext uri="{FF2B5EF4-FFF2-40B4-BE49-F238E27FC236}">
                <a16:creationId xmlns:a16="http://schemas.microsoft.com/office/drawing/2014/main" id="{B02DE710-7ADA-4606-8F64-660A1F78B63B}"/>
              </a:ext>
            </a:extLst>
          </p:cNvPr>
          <p:cNvSpPr>
            <a:spLocks noGrp="1"/>
          </p:cNvSpPr>
          <p:nvPr/>
        </p:nvSpPr>
        <p:spPr>
          <a:xfrm>
            <a:off x="7620000" y="2952750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6" name="morgan-bits-6">
            <a:extLst>
              <a:ext uri="{FF2B5EF4-FFF2-40B4-BE49-F238E27FC236}">
                <a16:creationId xmlns:a16="http://schemas.microsoft.com/office/drawing/2014/main" id="{DE11F776-8061-41FC-8F91-09FDD9663971}"/>
              </a:ext>
            </a:extLst>
          </p:cNvPr>
          <p:cNvSpPr>
            <a:spLocks noGrp="1"/>
          </p:cNvSpPr>
          <p:nvPr/>
        </p:nvSpPr>
        <p:spPr>
          <a:xfrm>
            <a:off x="7829550" y="29527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7" name="nbits-label">
            <a:extLst>
              <a:ext uri="{FF2B5EF4-FFF2-40B4-BE49-F238E27FC236}">
                <a16:creationId xmlns:a16="http://schemas.microsoft.com/office/drawing/2014/main" id="{7E6F0F7D-CEF6-4FAB-9A70-8C2057AF862A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300" b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nBits</a:t>
            </a:r>
            <a:r>
              <a:rPr sz="1400" b="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 = 1024 </a:t>
            </a:r>
            <a:r>
              <a:rPr sz="1400" b="0" dirty="0" err="1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など</a:t>
            </a:r>
            <a:endParaRPr sz="1400" b="0" dirty="0">
              <a:solidFill>
                <a:srgbClr val="666666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2" name="editable-title-band-8-1">
            <a:extLst>
              <a:ext uri="{FF2B5EF4-FFF2-40B4-BE49-F238E27FC236}">
                <a16:creationId xmlns:a16="http://schemas.microsoft.com/office/drawing/2014/main" id="{33757BAA-7F9D-405A-9CD8-E1638203F2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editable-title-band-8-2">
            <a:extLst>
              <a:ext uri="{FF2B5EF4-FFF2-40B4-BE49-F238E27FC236}">
                <a16:creationId xmlns:a16="http://schemas.microsoft.com/office/drawing/2014/main" id="{2B149347-8B22-48A1-A4C6-C29CE1BCF2E6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editable-title-band-8-3">
            <a:extLst>
              <a:ext uri="{FF2B5EF4-FFF2-40B4-BE49-F238E27FC236}">
                <a16:creationId xmlns:a16="http://schemas.microsoft.com/office/drawing/2014/main" id="{208D624C-EC60-4EB4-B113-3126A4B00E4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editable-title-band-8-4">
            <a:extLst>
              <a:ext uri="{FF2B5EF4-FFF2-40B4-BE49-F238E27FC236}">
                <a16:creationId xmlns:a16="http://schemas.microsoft.com/office/drawing/2014/main" id="{A29B93D2-8B87-4EFF-858E-BB7AA9692CF8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editable-title-band-8-5">
            <a:extLst>
              <a:ext uri="{FF2B5EF4-FFF2-40B4-BE49-F238E27FC236}">
                <a16:creationId xmlns:a16="http://schemas.microsoft.com/office/drawing/2014/main" id="{135FF4FF-E54F-4B5F-A3BC-E1B7423FE0E4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editable-title-band-8-6">
            <a:extLst>
              <a:ext uri="{FF2B5EF4-FFF2-40B4-BE49-F238E27FC236}">
                <a16:creationId xmlns:a16="http://schemas.microsoft.com/office/drawing/2014/main" id="{C87910F2-0AB7-415B-AEC6-17C7815853A7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editable-title-band-8-7">
            <a:extLst>
              <a:ext uri="{FF2B5EF4-FFF2-40B4-BE49-F238E27FC236}">
                <a16:creationId xmlns:a16="http://schemas.microsoft.com/office/drawing/2014/main" id="{D8FA4780-0F3D-45DF-B3E6-82BC05BBBF28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editable-title-band-8-8">
            <a:extLst>
              <a:ext uri="{FF2B5EF4-FFF2-40B4-BE49-F238E27FC236}">
                <a16:creationId xmlns:a16="http://schemas.microsoft.com/office/drawing/2014/main" id="{839EA5E3-C3FF-422F-B7B9-7292E2043188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editable-slide-title-8">
            <a:extLst>
              <a:ext uri="{FF2B5EF4-FFF2-40B4-BE49-F238E27FC236}">
                <a16:creationId xmlns:a16="http://schemas.microsoft.com/office/drawing/2014/main" id="{2B89D6FC-E042-4D85-AE64-E1D81C5FC6F0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代表的なもの：</a:t>
            </a:r>
            <a:r>
              <a:rPr sz="36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円形フィンガープリント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289911A-DC57-4037-8AAE-0DB96D55AEC0}"/>
              </a:ext>
            </a:extLst>
          </p:cNvPr>
          <p:cNvSpPr>
            <a:spLocks noGrp="1"/>
          </p:cNvSpPr>
          <p:nvPr/>
        </p:nvSpPr>
        <p:spPr>
          <a:xfrm>
            <a:off x="747384" y="5698093"/>
            <a:ext cx="566437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Morgan fingerprint：RDKitでの実装名</a:t>
            </a:r>
          </a:p>
          <a:p>
            <a:endParaRPr sz="2550" b="1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FC040B6-1389-4E77-8F03-69914FBA2BAA}"/>
              </a:ext>
            </a:extLst>
          </p:cNvPr>
          <p:cNvSpPr>
            <a:spLocks noGrp="1"/>
          </p:cNvSpPr>
          <p:nvPr/>
        </p:nvSpPr>
        <p:spPr>
          <a:xfrm>
            <a:off x="747384" y="4571523"/>
            <a:ext cx="563455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55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主要パラメータ</a:t>
            </a:r>
          </a:p>
          <a:p>
            <a:pPr>
              <a:buNone/>
              <a:defRPr sz="1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55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radius：環境の広さ　nBits：ベクトル長</a:t>
            </a:r>
          </a:p>
          <a:p>
            <a:endParaRPr sz="255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aim">
            <a:extLst>
              <a:ext uri="{FF2B5EF4-FFF2-40B4-BE49-F238E27FC236}">
                <a16:creationId xmlns:a16="http://schemas.microsoft.com/office/drawing/2014/main" id="{6242A813-62D3-423F-8A26-A09AC6A1D514}"/>
              </a:ext>
            </a:extLst>
          </p:cNvPr>
          <p:cNvSpPr>
            <a:spLocks noGrp="1"/>
          </p:cNvSpPr>
          <p:nvPr/>
        </p:nvSpPr>
        <p:spPr>
          <a:xfrm>
            <a:off x="461897" y="1409575"/>
            <a:ext cx="7696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93750" lnSpcReduction="10000"/>
          </a:bodyPr>
          <a:lstStyle/>
          <a:p>
            <a:pPr algn="l">
              <a:buNone/>
              <a:defRPr sz="2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ハッシュ化：原子環境を再現可能な整数へ変換する</a:t>
            </a:r>
          </a:p>
        </p:txBody>
      </p:sp>
      <p:sp>
        <p:nvSpPr>
          <p:cNvPr id="4" name="hash-arrow-1-line">
            <a:extLst>
              <a:ext uri="{FF2B5EF4-FFF2-40B4-BE49-F238E27FC236}">
                <a16:creationId xmlns:a16="http://schemas.microsoft.com/office/drawing/2014/main" id="{A2C6227E-DBA4-4088-8237-71AD7FB15EDE}"/>
              </a:ext>
            </a:extLst>
          </p:cNvPr>
          <p:cNvSpPr>
            <a:spLocks noGrp="1"/>
          </p:cNvSpPr>
          <p:nvPr/>
        </p:nvSpPr>
        <p:spPr>
          <a:xfrm>
            <a:off x="3065484" y="3764593"/>
            <a:ext cx="809625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hash-arrow-2-line">
            <a:extLst>
              <a:ext uri="{FF2B5EF4-FFF2-40B4-BE49-F238E27FC236}">
                <a16:creationId xmlns:a16="http://schemas.microsoft.com/office/drawing/2014/main" id="{4F76DFE6-A11E-4A00-8F78-E75F54C35E2A}"/>
              </a:ext>
            </a:extLst>
          </p:cNvPr>
          <p:cNvSpPr>
            <a:spLocks noGrp="1"/>
          </p:cNvSpPr>
          <p:nvPr/>
        </p:nvSpPr>
        <p:spPr>
          <a:xfrm>
            <a:off x="5684859" y="3764593"/>
            <a:ext cx="7620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hash-input">
            <a:extLst>
              <a:ext uri="{FF2B5EF4-FFF2-40B4-BE49-F238E27FC236}">
                <a16:creationId xmlns:a16="http://schemas.microsoft.com/office/drawing/2014/main" id="{2E56A02C-4CA7-46FD-8C8C-1F748315C879}"/>
              </a:ext>
            </a:extLst>
          </p:cNvPr>
          <p:cNvSpPr>
            <a:spLocks noGrp="1"/>
          </p:cNvSpPr>
          <p:nvPr/>
        </p:nvSpPr>
        <p:spPr>
          <a:xfrm>
            <a:off x="463463" y="2285274"/>
            <a:ext cx="2602021" cy="2893505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入力：原子と近傍</a:t>
            </a:r>
          </a:p>
          <a:p>
            <a:endParaRPr sz="2175" b="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・原子番号　　　 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・結合次数　　　 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・原子価　　　　 </a:t>
            </a:r>
          </a:p>
          <a:p>
            <a:pPr algn="l">
              <a:buNone/>
              <a:def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・形式電荷　etc…</a:t>
            </a:r>
          </a:p>
        </p:txBody>
      </p:sp>
      <p:sp>
        <p:nvSpPr>
          <p:cNvPr id="9" name="hash-function">
            <a:extLst>
              <a:ext uri="{FF2B5EF4-FFF2-40B4-BE49-F238E27FC236}">
                <a16:creationId xmlns:a16="http://schemas.microsoft.com/office/drawing/2014/main" id="{487EB208-7D9D-44D9-93C6-664C43AD2E51}"/>
              </a:ext>
            </a:extLst>
          </p:cNvPr>
          <p:cNvSpPr>
            <a:spLocks noGrp="1"/>
          </p:cNvSpPr>
          <p:nvPr/>
        </p:nvSpPr>
        <p:spPr>
          <a:xfrm>
            <a:off x="3607496" y="2677835"/>
            <a:ext cx="2077363" cy="215446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Hash関数</a:t>
            </a:r>
          </a:p>
          <a:p>
            <a:endParaRPr sz="2175" b="1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例)6,358,684</a:t>
            </a:r>
          </a:p>
          <a:p>
            <a:endParaRPr sz="2175" b="1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同じ入力なら</a:t>
            </a:r>
          </a:p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同じ値になる</a:t>
            </a:r>
          </a:p>
        </p:txBody>
      </p:sp>
      <p:sp>
        <p:nvSpPr>
          <p:cNvPr id="10" name="hash-fold">
            <a:extLst>
              <a:ext uri="{FF2B5EF4-FFF2-40B4-BE49-F238E27FC236}">
                <a16:creationId xmlns:a16="http://schemas.microsoft.com/office/drawing/2014/main" id="{DECB3FD1-0B86-406E-B6EF-852D8C07B429}"/>
              </a:ext>
            </a:extLst>
          </p:cNvPr>
          <p:cNvSpPr>
            <a:spLocks noGrp="1"/>
          </p:cNvSpPr>
          <p:nvPr/>
        </p:nvSpPr>
        <p:spPr>
          <a:xfrm>
            <a:off x="6226871" y="2677836"/>
            <a:ext cx="2305963" cy="215446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endParaRPr/>
          </a:p>
        </p:txBody>
      </p:sp>
      <p:sp>
        <p:nvSpPr>
          <p:cNvPr id="11" name="hash-fold-heading">
            <a:extLst>
              <a:ext uri="{FF2B5EF4-FFF2-40B4-BE49-F238E27FC236}">
                <a16:creationId xmlns:a16="http://schemas.microsoft.com/office/drawing/2014/main" id="{E053561E-A56D-4B74-AB1B-AE0D6A401EA8}"/>
              </a:ext>
            </a:extLst>
          </p:cNvPr>
          <p:cNvSpPr>
            <a:spLocks noGrp="1"/>
          </p:cNvSpPr>
          <p:nvPr/>
        </p:nvSpPr>
        <p:spPr>
          <a:xfrm>
            <a:off x="6542109" y="2839761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0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固定長へ格納</a:t>
            </a:r>
          </a:p>
        </p:txBody>
      </p:sp>
      <p:sp>
        <p:nvSpPr>
          <p:cNvPr id="12" name="hash-modulo">
            <a:extLst>
              <a:ext uri="{FF2B5EF4-FFF2-40B4-BE49-F238E27FC236}">
                <a16:creationId xmlns:a16="http://schemas.microsoft.com/office/drawing/2014/main" id="{D1E5F123-E9BD-43C6-857F-08FC6DBC48AA}"/>
              </a:ext>
            </a:extLst>
          </p:cNvPr>
          <p:cNvSpPr>
            <a:spLocks noGrp="1"/>
          </p:cNvSpPr>
          <p:nvPr/>
        </p:nvSpPr>
        <p:spPr>
          <a:xfrm>
            <a:off x="6542108" y="3359327"/>
            <a:ext cx="176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3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6,358,684 mod 1024</a:t>
            </a:r>
          </a:p>
        </p:txBody>
      </p:sp>
      <p:sp>
        <p:nvSpPr>
          <p:cNvPr id="13" name="hash-bit-label">
            <a:extLst>
              <a:ext uri="{FF2B5EF4-FFF2-40B4-BE49-F238E27FC236}">
                <a16:creationId xmlns:a16="http://schemas.microsoft.com/office/drawing/2014/main" id="{EFA635BD-1F3E-49C7-9B93-081C82F4D460}"/>
              </a:ext>
            </a:extLst>
          </p:cNvPr>
          <p:cNvSpPr>
            <a:spLocks noGrp="1"/>
          </p:cNvSpPr>
          <p:nvPr/>
        </p:nvSpPr>
        <p:spPr>
          <a:xfrm>
            <a:off x="6684982" y="388229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bit 668 = 1</a:t>
            </a:r>
          </a:p>
        </p:txBody>
      </p:sp>
      <p:sp>
        <p:nvSpPr>
          <p:cNvPr id="14" name="hash-bits-0">
            <a:extLst>
              <a:ext uri="{FF2B5EF4-FFF2-40B4-BE49-F238E27FC236}">
                <a16:creationId xmlns:a16="http://schemas.microsoft.com/office/drawing/2014/main" id="{D9893F6E-04FD-4DDB-AC9A-A06D8F8D686C}"/>
              </a:ext>
            </a:extLst>
          </p:cNvPr>
          <p:cNvSpPr>
            <a:spLocks noGrp="1"/>
          </p:cNvSpPr>
          <p:nvPr/>
        </p:nvSpPr>
        <p:spPr>
          <a:xfrm>
            <a:off x="6704034" y="4288468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5" name="hash-bits-1">
            <a:extLst>
              <a:ext uri="{FF2B5EF4-FFF2-40B4-BE49-F238E27FC236}">
                <a16:creationId xmlns:a16="http://schemas.microsoft.com/office/drawing/2014/main" id="{05F5E7B3-C3A7-486E-BDDE-532EBA7C637F}"/>
              </a:ext>
            </a:extLst>
          </p:cNvPr>
          <p:cNvSpPr>
            <a:spLocks noGrp="1"/>
          </p:cNvSpPr>
          <p:nvPr/>
        </p:nvSpPr>
        <p:spPr>
          <a:xfrm>
            <a:off x="6913584" y="4288468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6" name="hash-bits-2">
            <a:extLst>
              <a:ext uri="{FF2B5EF4-FFF2-40B4-BE49-F238E27FC236}">
                <a16:creationId xmlns:a16="http://schemas.microsoft.com/office/drawing/2014/main" id="{4268FB43-5024-42B5-B3D2-4CAA928E61B9}"/>
              </a:ext>
            </a:extLst>
          </p:cNvPr>
          <p:cNvSpPr>
            <a:spLocks noGrp="1"/>
          </p:cNvSpPr>
          <p:nvPr/>
        </p:nvSpPr>
        <p:spPr>
          <a:xfrm>
            <a:off x="7123134" y="4288468"/>
            <a:ext cx="209550" cy="209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7" name="hash-bits-3">
            <a:extLst>
              <a:ext uri="{FF2B5EF4-FFF2-40B4-BE49-F238E27FC236}">
                <a16:creationId xmlns:a16="http://schemas.microsoft.com/office/drawing/2014/main" id="{2BCCD857-60A9-43E0-930B-6BE94EFD1A9A}"/>
              </a:ext>
            </a:extLst>
          </p:cNvPr>
          <p:cNvSpPr>
            <a:spLocks noGrp="1"/>
          </p:cNvSpPr>
          <p:nvPr/>
        </p:nvSpPr>
        <p:spPr>
          <a:xfrm>
            <a:off x="7332684" y="4288468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8" name="hash-bits-4">
            <a:extLst>
              <a:ext uri="{FF2B5EF4-FFF2-40B4-BE49-F238E27FC236}">
                <a16:creationId xmlns:a16="http://schemas.microsoft.com/office/drawing/2014/main" id="{2C8C9C77-ED2D-4D95-97E7-472A96EB0449}"/>
              </a:ext>
            </a:extLst>
          </p:cNvPr>
          <p:cNvSpPr>
            <a:spLocks noGrp="1"/>
          </p:cNvSpPr>
          <p:nvPr/>
        </p:nvSpPr>
        <p:spPr>
          <a:xfrm>
            <a:off x="7542234" y="4288468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9" name="hash-bits-5">
            <a:extLst>
              <a:ext uri="{FF2B5EF4-FFF2-40B4-BE49-F238E27FC236}">
                <a16:creationId xmlns:a16="http://schemas.microsoft.com/office/drawing/2014/main" id="{3B61701F-A1DF-472B-9EE3-73099F3BDE25}"/>
              </a:ext>
            </a:extLst>
          </p:cNvPr>
          <p:cNvSpPr>
            <a:spLocks noGrp="1"/>
          </p:cNvSpPr>
          <p:nvPr/>
        </p:nvSpPr>
        <p:spPr>
          <a:xfrm>
            <a:off x="7751784" y="4288468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0" name="hash-bits-6">
            <a:extLst>
              <a:ext uri="{FF2B5EF4-FFF2-40B4-BE49-F238E27FC236}">
                <a16:creationId xmlns:a16="http://schemas.microsoft.com/office/drawing/2014/main" id="{F3BD3C19-1A1E-4458-8EBA-5B7A03F11378}"/>
              </a:ext>
            </a:extLst>
          </p:cNvPr>
          <p:cNvSpPr>
            <a:spLocks noGrp="1"/>
          </p:cNvSpPr>
          <p:nvPr/>
        </p:nvSpPr>
        <p:spPr>
          <a:xfrm>
            <a:off x="7961334" y="4288468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3" name="editable-title-band-9-1">
            <a:extLst>
              <a:ext uri="{FF2B5EF4-FFF2-40B4-BE49-F238E27FC236}">
                <a16:creationId xmlns:a16="http://schemas.microsoft.com/office/drawing/2014/main" id="{78F2ECF6-487D-49AC-90DD-D56E2A3AC1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editable-title-band-9-2">
            <a:extLst>
              <a:ext uri="{FF2B5EF4-FFF2-40B4-BE49-F238E27FC236}">
                <a16:creationId xmlns:a16="http://schemas.microsoft.com/office/drawing/2014/main" id="{F269490D-80A1-4B81-99E9-F5F8AA3072D4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editable-title-band-9-3">
            <a:extLst>
              <a:ext uri="{FF2B5EF4-FFF2-40B4-BE49-F238E27FC236}">
                <a16:creationId xmlns:a16="http://schemas.microsoft.com/office/drawing/2014/main" id="{FFF49459-03B6-4419-AA2C-758DC7B1B580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editable-title-band-9-4">
            <a:extLst>
              <a:ext uri="{FF2B5EF4-FFF2-40B4-BE49-F238E27FC236}">
                <a16:creationId xmlns:a16="http://schemas.microsoft.com/office/drawing/2014/main" id="{9CF7F2F9-E888-4423-833C-B10D75CEEC5C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editable-title-band-9-5">
            <a:extLst>
              <a:ext uri="{FF2B5EF4-FFF2-40B4-BE49-F238E27FC236}">
                <a16:creationId xmlns:a16="http://schemas.microsoft.com/office/drawing/2014/main" id="{0F110027-1515-437D-979A-C870DB455C5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editable-title-band-9-6">
            <a:extLst>
              <a:ext uri="{FF2B5EF4-FFF2-40B4-BE49-F238E27FC236}">
                <a16:creationId xmlns:a16="http://schemas.microsoft.com/office/drawing/2014/main" id="{0D1841B1-A630-4638-BEAD-26F7C39130CB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editable-title-band-9-7">
            <a:extLst>
              <a:ext uri="{FF2B5EF4-FFF2-40B4-BE49-F238E27FC236}">
                <a16:creationId xmlns:a16="http://schemas.microsoft.com/office/drawing/2014/main" id="{504143EF-958F-46FD-925C-2C3B7CA273E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editable-title-band-9-8">
            <a:extLst>
              <a:ext uri="{FF2B5EF4-FFF2-40B4-BE49-F238E27FC236}">
                <a16:creationId xmlns:a16="http://schemas.microsoft.com/office/drawing/2014/main" id="{1895D8D8-C70C-48DB-8318-DDA761CFA561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editable-slide-title-9">
            <a:extLst>
              <a:ext uri="{FF2B5EF4-FFF2-40B4-BE49-F238E27FC236}">
                <a16:creationId xmlns:a16="http://schemas.microsoft.com/office/drawing/2014/main" id="{C2EA8AE9-FC88-4517-9435-CE9E2A3E59F2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ハッシュ化</a:t>
            </a:r>
          </a:p>
        </p:txBody>
      </p:sp>
      <p:sp>
        <p:nvSpPr>
          <p:cNvPr id="2" name="三角形 1">
            <a:extLst>
              <a:ext uri="{FF2B5EF4-FFF2-40B4-BE49-F238E27FC236}">
                <a16:creationId xmlns:a16="http://schemas.microsoft.com/office/drawing/2014/main" id="{15BCDB85-6739-F71E-4CBB-C6B51DA77489}"/>
              </a:ext>
            </a:extLst>
          </p:cNvPr>
          <p:cNvSpPr>
            <a:spLocks noGrp="1"/>
          </p:cNvSpPr>
          <p:nvPr/>
        </p:nvSpPr>
        <p:spPr>
          <a:xfrm rot="5400000">
            <a:off x="3445204" y="3700161"/>
            <a:ext cx="178496" cy="128864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三角形 31">
            <a:extLst>
              <a:ext uri="{FF2B5EF4-FFF2-40B4-BE49-F238E27FC236}">
                <a16:creationId xmlns:a16="http://schemas.microsoft.com/office/drawing/2014/main" id="{5A1AB7D2-6625-EA81-CACD-EABFADA6CD27}"/>
              </a:ext>
            </a:extLst>
          </p:cNvPr>
          <p:cNvSpPr>
            <a:spLocks noGrp="1"/>
          </p:cNvSpPr>
          <p:nvPr/>
        </p:nvSpPr>
        <p:spPr>
          <a:xfrm rot="5400000">
            <a:off x="6052700" y="3702249"/>
            <a:ext cx="178496" cy="128864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664547-7CE8-E243-A6A1-147F51DD191D}"/>
              </a:ext>
            </a:extLst>
          </p:cNvPr>
          <p:cNvSpPr>
            <a:spLocks noGrp="1"/>
          </p:cNvSpPr>
          <p:nvPr/>
        </p:nvSpPr>
        <p:spPr>
          <a:xfrm>
            <a:off x="1160223" y="5331873"/>
            <a:ext cx="41088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一定のアルゴリズムで整数の列に変換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aim">
            <a:extLst>
              <a:ext uri="{FF2B5EF4-FFF2-40B4-BE49-F238E27FC236}">
                <a16:creationId xmlns:a16="http://schemas.microsoft.com/office/drawing/2014/main" id="{D410EE76-A198-410E-8EAF-A6163155BA87}"/>
              </a:ext>
            </a:extLst>
          </p:cNvPr>
          <p:cNvSpPr>
            <a:spLocks noGrp="1"/>
          </p:cNvSpPr>
          <p:nvPr/>
        </p:nvSpPr>
        <p:spPr>
          <a:xfrm>
            <a:off x="723899" y="1409700"/>
            <a:ext cx="794411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93750" lnSpcReduction="10000"/>
          </a:bodyPr>
          <a:lstStyle/>
          <a:p>
            <a:pPr algn="l">
              <a:buNone/>
              <a:defRPr sz="2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 dirty="0" err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異なる原子環境が同じビットに入ると、区別できなくなる</a:t>
            </a:r>
            <a:endParaRPr sz="2400" b="1" dirty="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" name="collision-arrow-a-line">
            <a:extLst>
              <a:ext uri="{FF2B5EF4-FFF2-40B4-BE49-F238E27FC236}">
                <a16:creationId xmlns:a16="http://schemas.microsoft.com/office/drawing/2014/main" id="{DEAF2CF6-78F7-4DF8-9348-701A73519BDF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1333500" cy="7143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ollision-arrow-a-head">
            <a:extLst>
              <a:ext uri="{FF2B5EF4-FFF2-40B4-BE49-F238E27FC236}">
                <a16:creationId xmlns:a16="http://schemas.microsoft.com/office/drawing/2014/main" id="{55575EEA-47C6-46AB-883F-B68CEDCF3D10}"/>
              </a:ext>
            </a:extLst>
          </p:cNvPr>
          <p:cNvSpPr>
            <a:spLocks noGrp="1"/>
          </p:cNvSpPr>
          <p:nvPr/>
        </p:nvSpPr>
        <p:spPr>
          <a:xfrm>
            <a:off x="4419600" y="3228975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llision-arrow-b-line">
            <a:extLst>
              <a:ext uri="{FF2B5EF4-FFF2-40B4-BE49-F238E27FC236}">
                <a16:creationId xmlns:a16="http://schemas.microsoft.com/office/drawing/2014/main" id="{4270CABB-547E-4054-ABAA-3DCAE8904B64}"/>
              </a:ext>
            </a:extLst>
          </p:cNvPr>
          <p:cNvSpPr>
            <a:spLocks noGrp="1"/>
          </p:cNvSpPr>
          <p:nvPr/>
        </p:nvSpPr>
        <p:spPr>
          <a:xfrm>
            <a:off x="3143250" y="3476625"/>
            <a:ext cx="1333500" cy="5238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ollision-arrow-b-head">
            <a:extLst>
              <a:ext uri="{FF2B5EF4-FFF2-40B4-BE49-F238E27FC236}">
                <a16:creationId xmlns:a16="http://schemas.microsoft.com/office/drawing/2014/main" id="{C86E3319-61FC-42A0-9FA1-791200A42A4A}"/>
              </a:ext>
            </a:extLst>
          </p:cNvPr>
          <p:cNvSpPr>
            <a:spLocks noGrp="1"/>
          </p:cNvSpPr>
          <p:nvPr/>
        </p:nvSpPr>
        <p:spPr>
          <a:xfrm>
            <a:off x="4419600" y="3419475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environment-a">
            <a:extLst>
              <a:ext uri="{FF2B5EF4-FFF2-40B4-BE49-F238E27FC236}">
                <a16:creationId xmlns:a16="http://schemas.microsoft.com/office/drawing/2014/main" id="{847DDB39-850E-4A2C-A539-2A4290C5A8B4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228600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原子環境 A</a:t>
            </a:r>
          </a:p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hash = 3,082</a:t>
            </a:r>
          </a:p>
        </p:txBody>
      </p:sp>
      <p:sp>
        <p:nvSpPr>
          <p:cNvPr id="9" name="environment-b">
            <a:extLst>
              <a:ext uri="{FF2B5EF4-FFF2-40B4-BE49-F238E27FC236}">
                <a16:creationId xmlns:a16="http://schemas.microsoft.com/office/drawing/2014/main" id="{94B01B06-02A6-475D-9125-8C38959C9DBB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2286000" cy="104775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原子環境 B</a:t>
            </a:r>
          </a:p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hash = 5,130</a:t>
            </a:r>
          </a:p>
        </p:txBody>
      </p:sp>
      <p:sp>
        <p:nvSpPr>
          <p:cNvPr id="10" name="collision-result">
            <a:extLst>
              <a:ext uri="{FF2B5EF4-FFF2-40B4-BE49-F238E27FC236}">
                <a16:creationId xmlns:a16="http://schemas.microsoft.com/office/drawing/2014/main" id="{490ADA89-F07E-479B-9B3C-D23B6624A77D}"/>
              </a:ext>
            </a:extLst>
          </p:cNvPr>
          <p:cNvSpPr>
            <a:spLocks noGrp="1"/>
          </p:cNvSpPr>
          <p:nvPr/>
        </p:nvSpPr>
        <p:spPr>
          <a:xfrm>
            <a:off x="4000501" y="2714625"/>
            <a:ext cx="2000251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mod 1024</a:t>
            </a:r>
          </a:p>
          <a:p>
            <a:endParaRPr sz="1950" b="1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どちらも bit 10</a:t>
            </a:r>
          </a:p>
          <a:p>
            <a:pPr algn="ctr">
              <a:buNone/>
              <a:def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→ 1</a:t>
            </a:r>
          </a:p>
        </p:txBody>
      </p:sp>
      <p:sp>
        <p:nvSpPr>
          <p:cNvPr id="11" name="collision-effect">
            <a:extLst>
              <a:ext uri="{FF2B5EF4-FFF2-40B4-BE49-F238E27FC236}">
                <a16:creationId xmlns:a16="http://schemas.microsoft.com/office/drawing/2014/main" id="{8E0A966C-B8D5-42A5-AB53-0D861043C697}"/>
              </a:ext>
            </a:extLst>
          </p:cNvPr>
          <p:cNvSpPr>
            <a:spLocks noGrp="1"/>
          </p:cNvSpPr>
          <p:nvPr/>
        </p:nvSpPr>
        <p:spPr>
          <a:xfrm>
            <a:off x="6238875" y="2000250"/>
            <a:ext cx="2000251" cy="2571750"/>
          </a:xfrm>
          <a:prstGeom prst="roundRect">
            <a:avLst>
              <a:gd name="adj" fmla="val 6061"/>
            </a:avLst>
          </a:prstGeom>
          <a:solidFill>
            <a:srgbClr val="F2F2F2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 fontScale="92847"/>
          </a:bodyPr>
          <a:lstStyle/>
          <a:p>
            <a:pPr algn="l">
              <a:buNone/>
              <a:defRPr sz="14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ハッシュ衝突</a:t>
            </a:r>
          </a:p>
          <a:p>
            <a:pPr algn="l">
              <a:buNone/>
              <a:defRPr sz="14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endParaRPr sz="1500" b="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  <a:p>
            <a:r>
              <a:rPr sz="150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・異なるデータが同じ　　　</a:t>
            </a:r>
          </a:p>
          <a:p>
            <a:r>
              <a:rPr sz="150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　ハッシュ値になる</a:t>
            </a:r>
          </a:p>
          <a:p>
            <a:endParaRPr sz="150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 sz="14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・別の部分構造を</a:t>
            </a:r>
          </a:p>
          <a:p>
            <a:pPr algn="l">
              <a:buNone/>
              <a:defRPr sz="14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　同じ特徴とみなす</a:t>
            </a:r>
          </a:p>
          <a:p>
            <a:endParaRPr sz="1500" b="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 sz="14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・類似度や学習に</a:t>
            </a:r>
          </a:p>
          <a:p>
            <a:pPr algn="l">
              <a:buNone/>
              <a:defRPr sz="14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　小さな誤差</a:t>
            </a:r>
          </a:p>
        </p:txBody>
      </p:sp>
      <p:sp>
        <p:nvSpPr>
          <p:cNvPr id="14" name="editable-title-band-10-1">
            <a:extLst>
              <a:ext uri="{FF2B5EF4-FFF2-40B4-BE49-F238E27FC236}">
                <a16:creationId xmlns:a16="http://schemas.microsoft.com/office/drawing/2014/main" id="{5E4DCB5C-5F9C-4F6D-953E-DA36489E77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editable-title-band-10-2">
            <a:extLst>
              <a:ext uri="{FF2B5EF4-FFF2-40B4-BE49-F238E27FC236}">
                <a16:creationId xmlns:a16="http://schemas.microsoft.com/office/drawing/2014/main" id="{501A979B-4D6B-4A30-8D45-21F4CF4D984E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editable-title-band-10-3">
            <a:extLst>
              <a:ext uri="{FF2B5EF4-FFF2-40B4-BE49-F238E27FC236}">
                <a16:creationId xmlns:a16="http://schemas.microsoft.com/office/drawing/2014/main" id="{A2408AD1-687A-4ED9-BE99-64759D48FE77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editable-title-band-10-4">
            <a:extLst>
              <a:ext uri="{FF2B5EF4-FFF2-40B4-BE49-F238E27FC236}">
                <a16:creationId xmlns:a16="http://schemas.microsoft.com/office/drawing/2014/main" id="{0F25C773-AD97-4C13-857C-B8069920051D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editable-title-band-10-5">
            <a:extLst>
              <a:ext uri="{FF2B5EF4-FFF2-40B4-BE49-F238E27FC236}">
                <a16:creationId xmlns:a16="http://schemas.microsoft.com/office/drawing/2014/main" id="{027F180E-7A7C-4CB1-BC02-C987841A46A7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editable-title-band-10-6">
            <a:extLst>
              <a:ext uri="{FF2B5EF4-FFF2-40B4-BE49-F238E27FC236}">
                <a16:creationId xmlns:a16="http://schemas.microsoft.com/office/drawing/2014/main" id="{9FED5002-D335-48E7-8901-DD94F918BCBF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editable-title-band-10-7">
            <a:extLst>
              <a:ext uri="{FF2B5EF4-FFF2-40B4-BE49-F238E27FC236}">
                <a16:creationId xmlns:a16="http://schemas.microsoft.com/office/drawing/2014/main" id="{EE25A4F5-1AD7-4EDA-8132-D1A4DF72A81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editable-title-band-10-8">
            <a:extLst>
              <a:ext uri="{FF2B5EF4-FFF2-40B4-BE49-F238E27FC236}">
                <a16:creationId xmlns:a16="http://schemas.microsoft.com/office/drawing/2014/main" id="{A2CBDE76-A697-425D-98F5-2104A87B374D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editable-slide-title-10">
            <a:extLst>
              <a:ext uri="{FF2B5EF4-FFF2-40B4-BE49-F238E27FC236}">
                <a16:creationId xmlns:a16="http://schemas.microsoft.com/office/drawing/2014/main" id="{98E9244F-17D4-44E1-8504-6834D4141D6B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4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ハッシュ衝突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CE4217C-3BBE-4EAB-FE08-B8F232381FB2}"/>
              </a:ext>
            </a:extLst>
          </p:cNvPr>
          <p:cNvSpPr>
            <a:spLocks noGrp="1"/>
          </p:cNvSpPr>
          <p:nvPr/>
        </p:nvSpPr>
        <p:spPr>
          <a:xfrm>
            <a:off x="301439" y="5105400"/>
            <a:ext cx="8541121" cy="4686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75" b="1" dirty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2048ビットなど、ビット数を大きくすることで衝突を減らす</a:t>
            </a:r>
          </a:p>
        </p:txBody>
      </p:sp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aim">
            <a:extLst>
              <a:ext uri="{FF2B5EF4-FFF2-40B4-BE49-F238E27FC236}">
                <a16:creationId xmlns:a16="http://schemas.microsoft.com/office/drawing/2014/main" id="{2A75CB8A-A748-491C-8953-4AE6ACD2E3B5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7696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rmAutofit fontScale="93750" lnSpcReduction="10000"/>
          </a:bodyPr>
          <a:lstStyle/>
          <a:p>
            <a:pPr algn="l">
              <a:buNone/>
              <a:defRPr sz="22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決められた部分構造の有無を並べる</a:t>
            </a:r>
          </a:p>
        </p:txBody>
      </p:sp>
      <p:sp>
        <p:nvSpPr>
          <p:cNvPr id="4" name="maccs-arrow-0-line">
            <a:extLst>
              <a:ext uri="{FF2B5EF4-FFF2-40B4-BE49-F238E27FC236}">
                <a16:creationId xmlns:a16="http://schemas.microsoft.com/office/drawing/2014/main" id="{8EBAC09F-99EE-43D3-AA61-4394D6789BC7}"/>
              </a:ext>
            </a:extLst>
          </p:cNvPr>
          <p:cNvSpPr>
            <a:spLocks noGrp="1"/>
          </p:cNvSpPr>
          <p:nvPr/>
        </p:nvSpPr>
        <p:spPr>
          <a:xfrm>
            <a:off x="1524000" y="3238500"/>
            <a:ext cx="2190750" cy="5238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maccs-arrow-0-head">
            <a:extLst>
              <a:ext uri="{FF2B5EF4-FFF2-40B4-BE49-F238E27FC236}">
                <a16:creationId xmlns:a16="http://schemas.microsoft.com/office/drawing/2014/main" id="{7224B956-5842-4B08-8D9B-41AA5A97A2EA}"/>
              </a:ext>
            </a:extLst>
          </p:cNvPr>
          <p:cNvSpPr>
            <a:spLocks noGrp="1"/>
          </p:cNvSpPr>
          <p:nvPr/>
        </p:nvSpPr>
        <p:spPr>
          <a:xfrm>
            <a:off x="3657600" y="3705225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maccs-arrow-1-line">
            <a:extLst>
              <a:ext uri="{FF2B5EF4-FFF2-40B4-BE49-F238E27FC236}">
                <a16:creationId xmlns:a16="http://schemas.microsoft.com/office/drawing/2014/main" id="{7A3DD77E-987F-45F2-8F8C-F87DBCE38503}"/>
              </a:ext>
            </a:extLst>
          </p:cNvPr>
          <p:cNvSpPr>
            <a:spLocks noGrp="1"/>
          </p:cNvSpPr>
          <p:nvPr/>
        </p:nvSpPr>
        <p:spPr>
          <a:xfrm>
            <a:off x="3429000" y="3238500"/>
            <a:ext cx="809625" cy="5238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maccs-arrow-1-head">
            <a:extLst>
              <a:ext uri="{FF2B5EF4-FFF2-40B4-BE49-F238E27FC236}">
                <a16:creationId xmlns:a16="http://schemas.microsoft.com/office/drawing/2014/main" id="{140AA45C-32C7-4767-9750-8AA0603A7308}"/>
              </a:ext>
            </a:extLst>
          </p:cNvPr>
          <p:cNvSpPr>
            <a:spLocks noGrp="1"/>
          </p:cNvSpPr>
          <p:nvPr/>
        </p:nvSpPr>
        <p:spPr>
          <a:xfrm>
            <a:off x="4181475" y="3705225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accs-arrow-2-line">
            <a:extLst>
              <a:ext uri="{FF2B5EF4-FFF2-40B4-BE49-F238E27FC236}">
                <a16:creationId xmlns:a16="http://schemas.microsoft.com/office/drawing/2014/main" id="{7E3C8600-9FB1-4F86-8886-9C9BAA1D9F57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571500" cy="52387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maccs-arrow-2-head">
            <a:extLst>
              <a:ext uri="{FF2B5EF4-FFF2-40B4-BE49-F238E27FC236}">
                <a16:creationId xmlns:a16="http://schemas.microsoft.com/office/drawing/2014/main" id="{4ADF1CFF-532A-4C4E-BFF5-F9D1E30B30FA}"/>
              </a:ext>
            </a:extLst>
          </p:cNvPr>
          <p:cNvSpPr>
            <a:spLocks noGrp="1"/>
          </p:cNvSpPr>
          <p:nvPr/>
        </p:nvSpPr>
        <p:spPr>
          <a:xfrm>
            <a:off x="4705350" y="3705225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maccs-arrow-3-line">
            <a:extLst>
              <a:ext uri="{FF2B5EF4-FFF2-40B4-BE49-F238E27FC236}">
                <a16:creationId xmlns:a16="http://schemas.microsoft.com/office/drawing/2014/main" id="{3F5CC934-7876-4885-82D2-6E199B51A0C5}"/>
              </a:ext>
            </a:extLst>
          </p:cNvPr>
          <p:cNvSpPr>
            <a:spLocks noGrp="1"/>
          </p:cNvSpPr>
          <p:nvPr/>
        </p:nvSpPr>
        <p:spPr>
          <a:xfrm flipV="1">
            <a:off x="5562600" y="3238500"/>
            <a:ext cx="1727548" cy="466725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maccs-arrow-3-head">
            <a:extLst>
              <a:ext uri="{FF2B5EF4-FFF2-40B4-BE49-F238E27FC236}">
                <a16:creationId xmlns:a16="http://schemas.microsoft.com/office/drawing/2014/main" id="{435D9FAB-A300-480D-A5C5-93F5CE535DF0}"/>
              </a:ext>
            </a:extLst>
          </p:cNvPr>
          <p:cNvSpPr>
            <a:spLocks noGrp="1"/>
          </p:cNvSpPr>
          <p:nvPr/>
        </p:nvSpPr>
        <p:spPr>
          <a:xfrm>
            <a:off x="5229225" y="3705225"/>
            <a:ext cx="114300" cy="114300"/>
          </a:xfrm>
          <a:prstGeom prst="triangle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maccs-key-0">
            <a:extLst>
              <a:ext uri="{FF2B5EF4-FFF2-40B4-BE49-F238E27FC236}">
                <a16:creationId xmlns:a16="http://schemas.microsoft.com/office/drawing/2014/main" id="{A4813FFD-F017-4C26-96BD-C9BAE176F4B9}"/>
              </a:ext>
            </a:extLst>
          </p:cNvPr>
          <p:cNvSpPr>
            <a:spLocks noGrp="1"/>
          </p:cNvSpPr>
          <p:nvPr/>
        </p:nvSpPr>
        <p:spPr>
          <a:xfrm>
            <a:off x="714375" y="2047875"/>
            <a:ext cx="16192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ベンゼン環</a:t>
            </a:r>
          </a:p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ある？</a:t>
            </a:r>
          </a:p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3" name="maccs-key-1">
            <a:extLst>
              <a:ext uri="{FF2B5EF4-FFF2-40B4-BE49-F238E27FC236}">
                <a16:creationId xmlns:a16="http://schemas.microsoft.com/office/drawing/2014/main" id="{0B69A78A-4740-4BE5-952E-4F79F22AB855}"/>
              </a:ext>
            </a:extLst>
          </p:cNvPr>
          <p:cNvSpPr>
            <a:spLocks noGrp="1"/>
          </p:cNvSpPr>
          <p:nvPr/>
        </p:nvSpPr>
        <p:spPr>
          <a:xfrm>
            <a:off x="2619375" y="2047875"/>
            <a:ext cx="1619250" cy="1190625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アミド結合</a:t>
            </a:r>
          </a:p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ある？</a:t>
            </a:r>
          </a:p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maccs-key-2">
            <a:extLst>
              <a:ext uri="{FF2B5EF4-FFF2-40B4-BE49-F238E27FC236}">
                <a16:creationId xmlns:a16="http://schemas.microsoft.com/office/drawing/2014/main" id="{C50D90B3-5C91-44C6-967D-F618AF47D740}"/>
              </a:ext>
            </a:extLst>
          </p:cNvPr>
          <p:cNvSpPr>
            <a:spLocks noGrp="1"/>
          </p:cNvSpPr>
          <p:nvPr/>
        </p:nvSpPr>
        <p:spPr>
          <a:xfrm>
            <a:off x="4524375" y="2047875"/>
            <a:ext cx="16192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ハロゲン</a:t>
            </a:r>
          </a:p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1個以上？</a:t>
            </a:r>
          </a:p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5" name="maccs-key-3">
            <a:extLst>
              <a:ext uri="{FF2B5EF4-FFF2-40B4-BE49-F238E27FC236}">
                <a16:creationId xmlns:a16="http://schemas.microsoft.com/office/drawing/2014/main" id="{5D0FA5E9-C67A-4958-8D43-A1FCE4E7CDA1}"/>
              </a:ext>
            </a:extLst>
          </p:cNvPr>
          <p:cNvSpPr>
            <a:spLocks noGrp="1"/>
          </p:cNvSpPr>
          <p:nvPr/>
        </p:nvSpPr>
        <p:spPr>
          <a:xfrm>
            <a:off x="6429375" y="2047875"/>
            <a:ext cx="1619250" cy="1190625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4288">
            <a:solidFill>
              <a:srgbClr val="111111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Clを含む？</a:t>
            </a:r>
          </a:p>
          <a:p>
            <a:pPr algn="ctr">
              <a:buNone/>
              <a:defRPr sz="16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6" name="maccs-bits-0">
            <a:extLst>
              <a:ext uri="{FF2B5EF4-FFF2-40B4-BE49-F238E27FC236}">
                <a16:creationId xmlns:a16="http://schemas.microsoft.com/office/drawing/2014/main" id="{70F32F5B-EC63-4F57-8E47-2773B102ACA1}"/>
              </a:ext>
            </a:extLst>
          </p:cNvPr>
          <p:cNvSpPr>
            <a:spLocks noGrp="1"/>
          </p:cNvSpPr>
          <p:nvPr/>
        </p:nvSpPr>
        <p:spPr>
          <a:xfrm>
            <a:off x="2857500" y="3733800"/>
            <a:ext cx="238125" cy="23812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7" name="maccs-bits-1">
            <a:extLst>
              <a:ext uri="{FF2B5EF4-FFF2-40B4-BE49-F238E27FC236}">
                <a16:creationId xmlns:a16="http://schemas.microsoft.com/office/drawing/2014/main" id="{598F5D14-CAA8-49AD-9A4F-7B19A17D64A7}"/>
              </a:ext>
            </a:extLst>
          </p:cNvPr>
          <p:cNvSpPr>
            <a:spLocks noGrp="1"/>
          </p:cNvSpPr>
          <p:nvPr/>
        </p:nvSpPr>
        <p:spPr>
          <a:xfrm>
            <a:off x="3095625" y="3733800"/>
            <a:ext cx="23812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8" name="maccs-bits-2">
            <a:extLst>
              <a:ext uri="{FF2B5EF4-FFF2-40B4-BE49-F238E27FC236}">
                <a16:creationId xmlns:a16="http://schemas.microsoft.com/office/drawing/2014/main" id="{D203DB12-C9BF-448E-99D8-FACE69C4FF38}"/>
              </a:ext>
            </a:extLst>
          </p:cNvPr>
          <p:cNvSpPr>
            <a:spLocks noGrp="1"/>
          </p:cNvSpPr>
          <p:nvPr/>
        </p:nvSpPr>
        <p:spPr>
          <a:xfrm>
            <a:off x="3333750" y="3733800"/>
            <a:ext cx="238125" cy="23812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9" name="maccs-bits-3">
            <a:extLst>
              <a:ext uri="{FF2B5EF4-FFF2-40B4-BE49-F238E27FC236}">
                <a16:creationId xmlns:a16="http://schemas.microsoft.com/office/drawing/2014/main" id="{BF1B529C-D129-45CB-A8F0-099D2FF687F7}"/>
              </a:ext>
            </a:extLst>
          </p:cNvPr>
          <p:cNvSpPr>
            <a:spLocks noGrp="1"/>
          </p:cNvSpPr>
          <p:nvPr/>
        </p:nvSpPr>
        <p:spPr>
          <a:xfrm>
            <a:off x="3571875" y="3733800"/>
            <a:ext cx="238125" cy="23812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0" name="maccs-bits-4">
            <a:extLst>
              <a:ext uri="{FF2B5EF4-FFF2-40B4-BE49-F238E27FC236}">
                <a16:creationId xmlns:a16="http://schemas.microsoft.com/office/drawing/2014/main" id="{156277EA-3C8C-40D1-8021-0FB4792EB63B}"/>
              </a:ext>
            </a:extLst>
          </p:cNvPr>
          <p:cNvSpPr>
            <a:spLocks noGrp="1"/>
          </p:cNvSpPr>
          <p:nvPr/>
        </p:nvSpPr>
        <p:spPr>
          <a:xfrm>
            <a:off x="3810000" y="3733800"/>
            <a:ext cx="23812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1" name="maccs-bits-5">
            <a:extLst>
              <a:ext uri="{FF2B5EF4-FFF2-40B4-BE49-F238E27FC236}">
                <a16:creationId xmlns:a16="http://schemas.microsoft.com/office/drawing/2014/main" id="{68CFCA72-58F6-4FF3-A864-CF2BDBC6CD0D}"/>
              </a:ext>
            </a:extLst>
          </p:cNvPr>
          <p:cNvSpPr>
            <a:spLocks noGrp="1"/>
          </p:cNvSpPr>
          <p:nvPr/>
        </p:nvSpPr>
        <p:spPr>
          <a:xfrm>
            <a:off x="4048125" y="3733800"/>
            <a:ext cx="23812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2" name="maccs-bits-6">
            <a:extLst>
              <a:ext uri="{FF2B5EF4-FFF2-40B4-BE49-F238E27FC236}">
                <a16:creationId xmlns:a16="http://schemas.microsoft.com/office/drawing/2014/main" id="{5A2688FF-2FCD-420B-AFB4-C4C42B25CF3B}"/>
              </a:ext>
            </a:extLst>
          </p:cNvPr>
          <p:cNvSpPr>
            <a:spLocks noGrp="1"/>
          </p:cNvSpPr>
          <p:nvPr/>
        </p:nvSpPr>
        <p:spPr>
          <a:xfrm>
            <a:off x="4286250" y="3733800"/>
            <a:ext cx="238125" cy="23812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3" name="maccs-bits-7">
            <a:extLst>
              <a:ext uri="{FF2B5EF4-FFF2-40B4-BE49-F238E27FC236}">
                <a16:creationId xmlns:a16="http://schemas.microsoft.com/office/drawing/2014/main" id="{8F5281C4-62BB-4368-9DEB-4A352ACC19BA}"/>
              </a:ext>
            </a:extLst>
          </p:cNvPr>
          <p:cNvSpPr>
            <a:spLocks noGrp="1"/>
          </p:cNvSpPr>
          <p:nvPr/>
        </p:nvSpPr>
        <p:spPr>
          <a:xfrm>
            <a:off x="4524375" y="3733800"/>
            <a:ext cx="23812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maccs-bits-8">
            <a:extLst>
              <a:ext uri="{FF2B5EF4-FFF2-40B4-BE49-F238E27FC236}">
                <a16:creationId xmlns:a16="http://schemas.microsoft.com/office/drawing/2014/main" id="{E886F16E-FDBD-4650-A1FC-02D99AC8EDC3}"/>
              </a:ext>
            </a:extLst>
          </p:cNvPr>
          <p:cNvSpPr>
            <a:spLocks noGrp="1"/>
          </p:cNvSpPr>
          <p:nvPr/>
        </p:nvSpPr>
        <p:spPr>
          <a:xfrm>
            <a:off x="4762500" y="3733800"/>
            <a:ext cx="238125" cy="23812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5" name="maccs-bits-9">
            <a:extLst>
              <a:ext uri="{FF2B5EF4-FFF2-40B4-BE49-F238E27FC236}">
                <a16:creationId xmlns:a16="http://schemas.microsoft.com/office/drawing/2014/main" id="{2A81E898-0D08-4B99-92B0-942B7BA50C9E}"/>
              </a:ext>
            </a:extLst>
          </p:cNvPr>
          <p:cNvSpPr>
            <a:spLocks noGrp="1"/>
          </p:cNvSpPr>
          <p:nvPr/>
        </p:nvSpPr>
        <p:spPr>
          <a:xfrm>
            <a:off x="5000625" y="3733800"/>
            <a:ext cx="23812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6" name="maccs-bits-10">
            <a:extLst>
              <a:ext uri="{FF2B5EF4-FFF2-40B4-BE49-F238E27FC236}">
                <a16:creationId xmlns:a16="http://schemas.microsoft.com/office/drawing/2014/main" id="{CF7BC5F8-CAD1-493D-A554-8CEAE8F6021E}"/>
              </a:ext>
            </a:extLst>
          </p:cNvPr>
          <p:cNvSpPr>
            <a:spLocks noGrp="1"/>
          </p:cNvSpPr>
          <p:nvPr/>
        </p:nvSpPr>
        <p:spPr>
          <a:xfrm>
            <a:off x="5238750" y="3733800"/>
            <a:ext cx="238125" cy="23812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7" name="maccs-bits-11">
            <a:extLst>
              <a:ext uri="{FF2B5EF4-FFF2-40B4-BE49-F238E27FC236}">
                <a16:creationId xmlns:a16="http://schemas.microsoft.com/office/drawing/2014/main" id="{2D29772C-02A3-4484-AD38-36D2957D8C7B}"/>
              </a:ext>
            </a:extLst>
          </p:cNvPr>
          <p:cNvSpPr>
            <a:spLocks noGrp="1"/>
          </p:cNvSpPr>
          <p:nvPr/>
        </p:nvSpPr>
        <p:spPr>
          <a:xfrm>
            <a:off x="5476875" y="3733800"/>
            <a:ext cx="238125" cy="238125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8" name="maccs-bits-12">
            <a:extLst>
              <a:ext uri="{FF2B5EF4-FFF2-40B4-BE49-F238E27FC236}">
                <a16:creationId xmlns:a16="http://schemas.microsoft.com/office/drawing/2014/main" id="{99B8F08C-1518-424B-BB72-A26859E721E9}"/>
              </a:ext>
            </a:extLst>
          </p:cNvPr>
          <p:cNvSpPr>
            <a:spLocks noGrp="1"/>
          </p:cNvSpPr>
          <p:nvPr/>
        </p:nvSpPr>
        <p:spPr>
          <a:xfrm>
            <a:off x="5715000" y="3733800"/>
            <a:ext cx="23812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9" name="maccs-bits-13">
            <a:extLst>
              <a:ext uri="{FF2B5EF4-FFF2-40B4-BE49-F238E27FC236}">
                <a16:creationId xmlns:a16="http://schemas.microsoft.com/office/drawing/2014/main" id="{1F8202C9-3655-4253-8EA6-2D8C00320111}"/>
              </a:ext>
            </a:extLst>
          </p:cNvPr>
          <p:cNvSpPr>
            <a:spLocks noGrp="1"/>
          </p:cNvSpPr>
          <p:nvPr/>
        </p:nvSpPr>
        <p:spPr>
          <a:xfrm>
            <a:off x="5953125" y="3733800"/>
            <a:ext cx="23812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  <p:txBody>
          <a:bodyPr lIns="9525" tIns="9525" rIns="9525" bIns="9525" anchor="ctr">
            <a:normAutofit/>
          </a:bodyPr>
          <a:lstStyle/>
          <a:p>
            <a:pPr algn="ctr">
              <a:buNone/>
              <a:def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0" name="maccs-vector-label">
            <a:extLst>
              <a:ext uri="{FF2B5EF4-FFF2-40B4-BE49-F238E27FC236}">
                <a16:creationId xmlns:a16="http://schemas.microsoft.com/office/drawing/2014/main" id="{E8FAA659-BD5A-4E55-BF91-31D0E3DD7F77}"/>
              </a:ext>
            </a:extLst>
          </p:cNvPr>
          <p:cNvSpPr>
            <a:spLocks noGrp="1"/>
          </p:cNvSpPr>
          <p:nvPr/>
        </p:nvSpPr>
        <p:spPr>
          <a:xfrm>
            <a:off x="2471117" y="4143375"/>
            <a:ext cx="420176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66675" tIns="47625" rIns="66675" bIns="47625" anchor="ctr">
            <a:noAutofit/>
          </a:bodyPr>
          <a:lstStyle/>
          <a:p>
            <a:pPr algn="ctr">
              <a:buNone/>
              <a:defRPr sz="1700" b="1">
                <a:solidFill>
                  <a:srgbClr val="111111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 dirty="0" err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構造キ</a:t>
            </a:r>
            <a:r>
              <a:rPr sz="2175" b="1" dirty="0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ー → 0 / 1 </a:t>
            </a:r>
            <a:r>
              <a:rPr sz="2175" b="1" dirty="0" err="1">
                <a:solidFill>
                  <a:srgbClr val="111111"/>
                </a:solidFill>
                <a:latin typeface="Noto Sans JP"/>
                <a:ea typeface="Noto Sans JP"/>
                <a:cs typeface="Noto Sans JP"/>
              </a:rPr>
              <a:t>の固定ベクトル</a:t>
            </a:r>
            <a:endParaRPr sz="2175" b="1" dirty="0">
              <a:solidFill>
                <a:srgbClr val="111111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4" name="editable-title-band-11-1">
            <a:extLst>
              <a:ext uri="{FF2B5EF4-FFF2-40B4-BE49-F238E27FC236}">
                <a16:creationId xmlns:a16="http://schemas.microsoft.com/office/drawing/2014/main" id="{00B064B6-CDE3-4BF9-90ED-5FAE78FAB7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editable-title-band-11-2">
            <a:extLst>
              <a:ext uri="{FF2B5EF4-FFF2-40B4-BE49-F238E27FC236}">
                <a16:creationId xmlns:a16="http://schemas.microsoft.com/office/drawing/2014/main" id="{3DF46524-40F5-4136-AEED-9E734BF21FAB}"/>
              </a:ext>
            </a:extLst>
          </p:cNvPr>
          <p:cNvSpPr>
            <a:spLocks noGrp="1"/>
          </p:cNvSpPr>
          <p:nvPr/>
        </p:nvSpPr>
        <p:spPr>
          <a:xfrm>
            <a:off x="1143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editable-title-band-11-3">
            <a:extLst>
              <a:ext uri="{FF2B5EF4-FFF2-40B4-BE49-F238E27FC236}">
                <a16:creationId xmlns:a16="http://schemas.microsoft.com/office/drawing/2014/main" id="{92421AE5-75AD-4442-BA41-7FB7352B1D2B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editable-title-band-11-4">
            <a:extLst>
              <a:ext uri="{FF2B5EF4-FFF2-40B4-BE49-F238E27FC236}">
                <a16:creationId xmlns:a16="http://schemas.microsoft.com/office/drawing/2014/main" id="{6A3C63EE-5CE9-47A0-AE26-64D2C7C2233C}"/>
              </a:ext>
            </a:extLst>
          </p:cNvPr>
          <p:cNvSpPr>
            <a:spLocks noGrp="1"/>
          </p:cNvSpPr>
          <p:nvPr/>
        </p:nvSpPr>
        <p:spPr>
          <a:xfrm>
            <a:off x="3429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editable-title-band-11-5">
            <a:extLst>
              <a:ext uri="{FF2B5EF4-FFF2-40B4-BE49-F238E27FC236}">
                <a16:creationId xmlns:a16="http://schemas.microsoft.com/office/drawing/2014/main" id="{E6A99E1E-237B-49CB-B05A-7CC311C8E11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editable-title-band-11-6">
            <a:extLst>
              <a:ext uri="{FF2B5EF4-FFF2-40B4-BE49-F238E27FC236}">
                <a16:creationId xmlns:a16="http://schemas.microsoft.com/office/drawing/2014/main" id="{7DD46C15-9DBD-45A4-8364-A5C23FD7B7BD}"/>
              </a:ext>
            </a:extLst>
          </p:cNvPr>
          <p:cNvSpPr>
            <a:spLocks noGrp="1"/>
          </p:cNvSpPr>
          <p:nvPr/>
        </p:nvSpPr>
        <p:spPr>
          <a:xfrm>
            <a:off x="5715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editable-title-band-11-7">
            <a:extLst>
              <a:ext uri="{FF2B5EF4-FFF2-40B4-BE49-F238E27FC236}">
                <a16:creationId xmlns:a16="http://schemas.microsoft.com/office/drawing/2014/main" id="{85979851-B674-49CE-BCE4-ABAD5E9C924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editable-title-band-11-8">
            <a:extLst>
              <a:ext uri="{FF2B5EF4-FFF2-40B4-BE49-F238E27FC236}">
                <a16:creationId xmlns:a16="http://schemas.microsoft.com/office/drawing/2014/main" id="{615B3E0A-08D5-4F73-9CDE-4C1BD2D93101}"/>
              </a:ext>
            </a:extLst>
          </p:cNvPr>
          <p:cNvSpPr>
            <a:spLocks noGrp="1"/>
          </p:cNvSpPr>
          <p:nvPr/>
        </p:nvSpPr>
        <p:spPr>
          <a:xfrm>
            <a:off x="8001000" y="0"/>
            <a:ext cx="1143000" cy="972026"/>
          </a:xfrm>
          <a:prstGeom prst="rect">
            <a:avLst/>
          </a:prstGeom>
          <a:solidFill>
            <a:srgbClr val="E97132"/>
          </a:solidFill>
          <a:ln w="0">
            <a:solidFill>
              <a:srgbClr val="E97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editable-slide-title-11">
            <a:extLst>
              <a:ext uri="{FF2B5EF4-FFF2-40B4-BE49-F238E27FC236}">
                <a16:creationId xmlns:a16="http://schemas.microsoft.com/office/drawing/2014/main" id="{D491F67C-BFFB-47A1-A583-6AEE24096098}"/>
              </a:ext>
            </a:extLst>
          </p:cNvPr>
          <p:cNvSpPr>
            <a:spLocks noGrp="1"/>
          </p:cNvSpPr>
          <p:nvPr/>
        </p:nvSpPr>
        <p:spPr>
          <a:xfrm>
            <a:off x="171450" y="104775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1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6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代表的なもの</a:t>
            </a:r>
            <a:r>
              <a:rPr sz="36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：</a:t>
            </a:r>
            <a:r>
              <a:rPr sz="36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構造キー型</a:t>
            </a:r>
          </a:p>
        </p:txBody>
      </p:sp>
      <p:graphicFrame>
        <p:nvGraphicFramePr>
          <p:cNvPr id="81" name="表 80"/>
          <p:cNvGraphicFramePr/>
          <p:nvPr/>
        </p:nvGraphicFramePr>
        <p:xfrm>
          <a:off x="609600" y="4714875"/>
          <a:ext cx="7924800" cy="1857375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比較項目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構造キー型（MACCS keys）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ハッシュ型（Morgan）</a:t>
                      </a:r>
                    </a:p>
                  </a:txBody>
                  <a:tcPr marL="47625" marR="47625" marT="28575" marB="2857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各ビットの意味</a:t>
                      </a:r>
                    </a:p>
                  </a:txBody>
                  <a:tcPr marL="47625" marR="47625" marT="28575" marB="2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固定されている（166種類)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固定されていない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ハッシュ衝突</a:t>
                      </a:r>
                    </a:p>
                  </a:txBody>
                  <a:tcPr marL="47625" marR="47625" marT="28575" marB="2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原則なし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起こり得る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解釈性</a:t>
                      </a:r>
                    </a:p>
                  </a:txBody>
                  <a:tcPr marL="47625" marR="47625" marT="28575" marB="2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高い（キー定義が明確）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低い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表現力</a:t>
                      </a:r>
                    </a:p>
                  </a:txBody>
                  <a:tcPr marL="47625" marR="47625" marT="28575" marB="285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低い（定義済み構造に限定）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>
                          <a:solidFill>
                            <a:srgbClr val="11111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高い（多様な局所構造を表現）</a:t>
                      </a:r>
                    </a:p>
                  </a:txBody>
                  <a:tcPr marL="47625" marR="47625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92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650</Words>
  <Application>Microsoft Macintosh PowerPoint</Application>
  <DocSecurity>0</DocSecurity>
  <PresentationFormat>画面に合わせる (4:3)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Noto Sans JP</vt:lpstr>
      <vt:lpstr>Aptos</vt:lpstr>
      <vt:lpstr>Aptos Display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Keishima Yoshihiko</cp:lastModifiedBy>
  <cp:revision>14</cp:revision>
  <dcterms:created xsi:type="dcterms:W3CDTF">2026-07-21T05:11:51Z</dcterms:created>
  <dcterms:modified xsi:type="dcterms:W3CDTF">2026-07-22T03:26:45Z</dcterms:modified>
</cp:coreProperties>
</file>