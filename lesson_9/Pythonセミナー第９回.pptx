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49"/>
    <p:restoredTop sz="94663"/>
  </p:normalViewPr>
  <p:slideViewPr>
    <p:cSldViewPr snapToGrid="0" showGuides="1">
      <p:cViewPr varScale="1">
        <p:scale>
          <a:sx n="62" d="100"/>
          <a:sy n="62" d="100"/>
        </p:scale>
        <p:origin x="224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5EA99-9BFF-CD2F-9B1C-16B3CC837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3A8DFB-BEEF-E859-B409-E21316684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204CAE-B5BE-C473-A255-DD98AD1F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AE149E-3630-03DC-9366-8B31A69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7DEB4C-ABE6-58AF-66DE-A5F2A643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75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A2CAE-F8B2-20C1-2041-8E52B721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24E43D-34D1-0C66-56C0-CEC13EF70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AADCF7-CE5A-0421-0004-1D6C2C8A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2CBD10-30E0-44D9-25FF-E7782384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FADCF-EA65-6B5B-BA22-5813B00B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55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2C5503-14CD-6A80-6405-4978209E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AC4D8B-5C4B-D988-E4FE-285116AB0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BFE17-06E7-1D1F-9C81-F16DE8BE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0CA8E-4B2F-1B7F-E4E6-0ADE3C9F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1084A-4C89-2401-224A-491F1B87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44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0F918-9DAA-FEB4-F924-CAC4C268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E97F9A-AAAC-2860-AACC-17522B78E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4B6179-C756-2DEA-489F-543EB7FE8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C47BE0-7464-8C8B-5852-A49AFBA5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D79163-CBAE-3C97-1CE7-DDD54677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95D0E7-14EF-2956-E2F7-5CD670BC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83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1C997-30DD-0E5E-1E11-AC399EED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432B33-F5A3-3A56-B5DC-2162537F8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A6777D-5C29-4037-1868-BD1CAE35B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46488D-A8EF-8FB1-8398-1EC979B7C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566204-66D7-54E1-339A-30A0DF625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BFE520-4981-5152-D897-1E82F2D3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BC6218-AFBB-D290-959E-4A857C47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0E188B-AD69-6338-2D79-1F3F83A6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28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BBABD-BC28-E39B-E459-2958EC07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4D62FF-9BAC-4FA4-1A1B-FCE2E6AB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7250D4-F40F-7F0C-D76F-A5281106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905B54-AF95-E983-5C12-85F0003D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73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443DF1-5EC0-2DCA-4EEF-FCDCF954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1349DD-8EB4-8CC4-4930-FD7C539A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92BAE5-E315-2CD1-2F76-9DD4BD9C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74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D793-0A73-2930-D053-0F36CD21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5F2B12-A5FA-5785-2695-BF6EB974E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2CDA47-E7EE-E936-ED18-0CCA07DE8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19A809-C04D-60F5-9FC4-F9C659ED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ED4016-4B51-3435-1CE2-345208B7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8C5D46-C9B0-4494-95EB-A1093B7C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713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B8FC2D-7580-00E4-FEFA-D03927EE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B63A7BE-F542-2E56-AB18-4B910A39EC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370F84-3BAD-49AF-2DA3-E1D8F0F2B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90261D-F766-FBF4-62DC-6B143E1C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3A9FA3-FBA4-3678-C445-94C8B4CD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21950B-FF7A-D37E-AEFE-A0FD5546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90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9B79F-0994-C1F8-5CBB-0EE8D2A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A59B1A-64E9-54E5-4F48-A368CB108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19AE67-BA05-E736-F301-3E5BA16C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DB38C-3AE6-7001-07E4-4EEDB6DC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61B876-85A3-B3A6-8B2B-30840CDC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41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A60C36-3034-BBBD-684D-40088EF35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2733B3-6657-C6B0-6A35-7147C8FC7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C085E-15AC-B36F-8441-C7B103C1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14BCF4-BB64-7ED4-F1F6-A3557164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2FE0AD-CBC5-9258-E50E-D5F1567F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06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CEBD1D-CAA9-4710-205F-F21864F8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D79260-AC25-67D1-A2C6-BBA8CC091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C26934-576B-3130-BC9B-6048A69A6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7B2DD-74F8-C148-B2DD-514DD54FE4F7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C51D38-4FE4-A16A-874F-03A87D93B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0F2FF-7A7A-C756-0DCC-A826F07A6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A881A-F8D5-EC40-A2DE-18EDC0701D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36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40DEC-1B30-A165-32F1-33505F35B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6943"/>
          </a:xfrm>
        </p:spPr>
        <p:txBody>
          <a:bodyPr/>
          <a:lstStyle/>
          <a:p>
            <a:r>
              <a:rPr kumimoji="1" lang="ja-JP" altLang="en-US"/>
              <a:t>第９回</a:t>
            </a:r>
            <a:r>
              <a:rPr kumimoji="1" lang="en-US" altLang="ja-JP" dirty="0"/>
              <a:t>Python</a:t>
            </a:r>
            <a:r>
              <a:rPr kumimoji="1" lang="ja-JP" altLang="en-US"/>
              <a:t>セミナー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76229E-6864-CD68-4B3E-C8F47F1A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9306"/>
            <a:ext cx="9144000" cy="299291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/>
              <a:t>有機低分子の物性予測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A0ED7B-CEB8-C357-4B48-C3DE4B424D36}"/>
              </a:ext>
            </a:extLst>
          </p:cNvPr>
          <p:cNvSpPr txBox="1"/>
          <p:nvPr/>
        </p:nvSpPr>
        <p:spPr>
          <a:xfrm>
            <a:off x="443271" y="3287005"/>
            <a:ext cx="113778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課題：</a:t>
            </a:r>
            <a:r>
              <a:rPr lang="ja-JP" altLang="en-US"/>
              <a:t>配布したデータセット（</a:t>
            </a:r>
            <a:r>
              <a:rPr lang="en-US" altLang="ja-JP" dirty="0" err="1"/>
              <a:t>SMILES,gap_eV</a:t>
            </a:r>
            <a:r>
              <a:rPr lang="en-US" altLang="ja-JP" dirty="0"/>
              <a:t>)</a:t>
            </a:r>
            <a:r>
              <a:rPr lang="ja-JP" altLang="en-US"/>
              <a:t>から</a:t>
            </a:r>
            <a:r>
              <a:rPr lang="ja-JP" altLang="en-US" b="1"/>
              <a:t>特徴量生成</a:t>
            </a:r>
            <a:r>
              <a:rPr lang="ja-JP" altLang="en-US"/>
              <a:t>を行い、</a:t>
            </a:r>
            <a:r>
              <a:rPr lang="en-US" altLang="ja-JP" dirty="0" err="1"/>
              <a:t>gap_eV</a:t>
            </a:r>
            <a:r>
              <a:rPr lang="ja-JP" altLang="en-US"/>
              <a:t>を予測するモデルを作成してください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調べて欲しい</a:t>
            </a:r>
            <a:r>
              <a:rPr kumimoji="1" lang="ja-JP" altLang="en-US"/>
              <a:t>用語：</a:t>
            </a:r>
            <a:r>
              <a:rPr kumimoji="1" lang="en-US" altLang="ja-JP" dirty="0"/>
              <a:t>QM9</a:t>
            </a:r>
            <a:r>
              <a:rPr lang="ja-JP" altLang="en-US"/>
              <a:t>、</a:t>
            </a:r>
            <a:r>
              <a:rPr kumimoji="1" lang="en-US" altLang="ja-JP" dirty="0" err="1"/>
              <a:t>Rdkit</a:t>
            </a:r>
            <a:r>
              <a:rPr kumimoji="1" lang="ja-JP" altLang="en-US"/>
              <a:t>、</a:t>
            </a:r>
            <a:r>
              <a:rPr kumimoji="1" lang="en-US" altLang="ja-JP" dirty="0"/>
              <a:t>SMILES</a:t>
            </a:r>
            <a:r>
              <a:rPr kumimoji="1" lang="ja-JP" altLang="en-US"/>
              <a:t>、分子記述子、フィンガープリント</a:t>
            </a:r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6920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7AFAA8-AD83-4168-1C72-F969AE690E5B}"/>
              </a:ext>
            </a:extLst>
          </p:cNvPr>
          <p:cNvSpPr txBox="1"/>
          <p:nvPr/>
        </p:nvSpPr>
        <p:spPr>
          <a:xfrm>
            <a:off x="-1" y="612844"/>
            <a:ext cx="121920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第９回のレギュレーションについて、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MAE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で評価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・データの追加は不可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・提出可能なモデルは最大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3</a:t>
            </a:r>
            <a:r>
              <a:rPr lang="ja-JP" altLang="en-US">
                <a:effectLst/>
                <a:latin typeface="Helvetica Neue" panose="02000503000000020004" pitchFamily="2" charset="0"/>
              </a:rPr>
              <a:t>個</a:t>
            </a:r>
            <a:endParaRPr lang="en-US" altLang="ja-JP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0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からモデルを学習させること（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LLM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、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NNP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をモデルに組み込むことは禁止）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・モデルの予測値を使用すること（ただし、予測値を組み合わせることは可）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・シード値は自由（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8[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エイト</a:t>
            </a:r>
            <a:r>
              <a:rPr lang="en-US" altLang="ja-JP" dirty="0">
                <a:effectLst/>
                <a:latin typeface="Helvetica Neue" panose="02000503000000020004" pitchFamily="2" charset="0"/>
              </a:rPr>
              <a:t>]</a:t>
            </a:r>
            <a:r>
              <a:rPr lang="ja-JP" altLang="en-US">
                <a:effectLst/>
                <a:latin typeface="Helvetica Neue" panose="02000503000000020004" pitchFamily="2" charset="0"/>
              </a:rPr>
              <a:t>を推奨します）</a:t>
            </a:r>
            <a:br>
              <a:rPr lang="ja-JP" altLang="en-US">
                <a:effectLst/>
                <a:latin typeface="Helvetica Neue" panose="02000503000000020004" pitchFamily="2" charset="0"/>
              </a:rPr>
            </a:br>
            <a:endParaRPr lang="ja-JP" altLang="en-US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抜け道が見つかれば、追加する可能性が大いにあります。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ご了承ください。</a:t>
            </a: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わからないことがあれば返信で聞いてください。（「これはいいんですか？」とか「この文の意味はなんですか？」とか）</a:t>
            </a:r>
          </a:p>
          <a:p>
            <a:pPr>
              <a:buNone/>
            </a:pPr>
            <a:br>
              <a:rPr lang="ja-JP" altLang="en-US">
                <a:effectLst/>
                <a:latin typeface="Helvetica Neue" panose="02000503000000020004" pitchFamily="2" charset="0"/>
              </a:rPr>
            </a:br>
            <a:endParaRPr lang="ja-JP" altLang="en-US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ja-JP" altLang="en-US">
                <a:effectLst/>
                <a:latin typeface="Helvetica Neue" panose="02000503000000020004" pitchFamily="2" charset="0"/>
              </a:rPr>
              <a:t>ヒント</a:t>
            </a:r>
          </a:p>
          <a:p>
            <a:r>
              <a:rPr lang="en-US" altLang="ja-JP" dirty="0">
                <a:effectLst/>
                <a:latin typeface="Helvetica Neue" panose="02000503000000020004" pitchFamily="2" charset="0"/>
                <a:ea typeface="Hiragino Sans" panose="020B0400000000000000" pitchFamily="34" charset="-128"/>
              </a:rPr>
              <a:t>SMILES</a:t>
            </a:r>
            <a:r>
              <a:rPr lang="ja-JP" altLang="en-US">
                <a:effectLst/>
                <a:latin typeface="Hiragino Sans" panose="020B0400000000000000" pitchFamily="34" charset="-128"/>
                <a:ea typeface="Hiragino Sans" panose="020B0400000000000000" pitchFamily="34" charset="-128"/>
              </a:rPr>
              <a:t>を変換して特徴量を生成する</a:t>
            </a:r>
          </a:p>
        </p:txBody>
      </p:sp>
    </p:spTree>
    <p:extLst>
      <p:ext uri="{BB962C8B-B14F-4D97-AF65-F5344CB8AC3E}">
        <p14:creationId xmlns:p14="http://schemas.microsoft.com/office/powerpoint/2010/main" val="165132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BBDED2-A2C4-1880-8694-3FFDCCF9F80F}"/>
              </a:ext>
            </a:extLst>
          </p:cNvPr>
          <p:cNvSpPr txBox="1"/>
          <p:nvPr/>
        </p:nvSpPr>
        <p:spPr>
          <a:xfrm>
            <a:off x="1059746" y="2274838"/>
            <a:ext cx="64171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データセット配布（</a:t>
            </a:r>
            <a:r>
              <a:rPr lang="en-US" altLang="ja-JP" dirty="0"/>
              <a:t>15</a:t>
            </a:r>
            <a:r>
              <a:rPr kumimoji="1" lang="en-US" altLang="ja-JP" dirty="0"/>
              <a:t>000</a:t>
            </a:r>
            <a:r>
              <a:rPr kumimoji="1" lang="ja-JP" altLang="en-US"/>
              <a:t>行）</a:t>
            </a:r>
            <a:endParaRPr kumimoji="1" lang="en-US" altLang="ja-JP" dirty="0"/>
          </a:p>
          <a:p>
            <a:r>
              <a:rPr lang="ja-JP" altLang="en-US"/>
              <a:t>↓</a:t>
            </a:r>
            <a:endParaRPr lang="en-US" altLang="ja-JP" dirty="0"/>
          </a:p>
          <a:p>
            <a:r>
              <a:rPr kumimoji="1" lang="ja-JP" altLang="en-US"/>
              <a:t>予測モデル作成</a:t>
            </a:r>
            <a:endParaRPr kumimoji="1" lang="en-US" altLang="ja-JP" dirty="0"/>
          </a:p>
          <a:p>
            <a:r>
              <a:rPr lang="ja-JP" altLang="en-US"/>
              <a:t>↓</a:t>
            </a:r>
            <a:endParaRPr lang="en-US" altLang="ja-JP" dirty="0"/>
          </a:p>
          <a:p>
            <a:r>
              <a:rPr lang="ja-JP" altLang="en-US"/>
              <a:t>用語の解説</a:t>
            </a:r>
            <a:endParaRPr lang="en-US" altLang="ja-JP" dirty="0"/>
          </a:p>
          <a:p>
            <a:r>
              <a:rPr kumimoji="1" lang="ja-JP" altLang="en-US"/>
              <a:t>↓</a:t>
            </a:r>
            <a:endParaRPr kumimoji="1" lang="en-US" altLang="ja-JP" dirty="0"/>
          </a:p>
          <a:p>
            <a:r>
              <a:rPr lang="ja-JP" altLang="en-US"/>
              <a:t>口頭で使ったモデルやこだわりを簡単に説明（１分程度で）</a:t>
            </a:r>
            <a:br>
              <a:rPr lang="en-US" altLang="ja-JP" dirty="0"/>
            </a:br>
            <a:r>
              <a:rPr lang="en-US" altLang="ja-JP" dirty="0"/>
              <a:t>(ex: </a:t>
            </a:r>
            <a:r>
              <a:rPr lang="en-US" altLang="ja-JP" dirty="0" err="1"/>
              <a:t>xgboost</a:t>
            </a:r>
            <a:r>
              <a:rPr lang="ja-JP" altLang="en-US"/>
              <a:t>のハイパラを調整した）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8190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CFEB44-D65A-FE7E-25A0-BD1B09FFF30E}"/>
              </a:ext>
            </a:extLst>
          </p:cNvPr>
          <p:cNvSpPr txBox="1"/>
          <p:nvPr/>
        </p:nvSpPr>
        <p:spPr>
          <a:xfrm>
            <a:off x="1729648" y="1002535"/>
            <a:ext cx="53495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配布物</a:t>
            </a:r>
            <a:endParaRPr lang="en-US" altLang="ja-JP" dirty="0"/>
          </a:p>
          <a:p>
            <a:r>
              <a:rPr lang="en-US" altLang="ja-JP" dirty="0"/>
              <a:t>qm9_bandgap_test_without_answer.csv</a:t>
            </a:r>
          </a:p>
          <a:p>
            <a:r>
              <a:rPr lang="en-US" altLang="ja-JP" dirty="0"/>
              <a:t>q</a:t>
            </a:r>
            <a:r>
              <a:rPr kumimoji="1" lang="en-US" altLang="ja-JP" dirty="0"/>
              <a:t>m9_bandgap_train.csv</a:t>
            </a:r>
          </a:p>
          <a:p>
            <a:r>
              <a:rPr lang="en-US" altLang="ja-JP" dirty="0"/>
              <a:t>qm9_bandgap_test_with_answer.csv(</a:t>
            </a:r>
            <a:r>
              <a:rPr lang="ja-JP" altLang="en-US"/>
              <a:t>当日配布）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提出物</a:t>
            </a:r>
            <a:endParaRPr kumimoji="1" lang="en-US" altLang="ja-JP" dirty="0"/>
          </a:p>
          <a:p>
            <a:r>
              <a:rPr lang="en-US" altLang="ja-JP" dirty="0" err="1"/>
              <a:t>submission.csv</a:t>
            </a:r>
            <a:r>
              <a:rPr lang="ja-JP" altLang="en-US"/>
              <a:t>（</a:t>
            </a:r>
            <a:r>
              <a:rPr lang="en-US" altLang="ja-JP" dirty="0" err="1"/>
              <a:t>smiles,gap_eV</a:t>
            </a:r>
            <a:r>
              <a:rPr lang="ja-JP" altLang="en-US"/>
              <a:t>の形式で）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15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274</Words>
  <Application>Microsoft Macintosh PowerPoint</Application>
  <PresentationFormat>ワイド画面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Hiragino Sans</vt:lpstr>
      <vt:lpstr>游ゴシック</vt:lpstr>
      <vt:lpstr>游ゴシック Light</vt:lpstr>
      <vt:lpstr>Arial</vt:lpstr>
      <vt:lpstr>Helvetica Neue</vt:lpstr>
      <vt:lpstr>Office テーマ</vt:lpstr>
      <vt:lpstr>第９回Pythonセミナー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Tamura Eito</dc:creator>
  <cp:lastModifiedBy>Tamura Eito</cp:lastModifiedBy>
  <cp:revision>6</cp:revision>
  <dcterms:created xsi:type="dcterms:W3CDTF">2026-07-14T02:44:28Z</dcterms:created>
  <dcterms:modified xsi:type="dcterms:W3CDTF">2026-07-15T08:22:20Z</dcterms:modified>
</cp:coreProperties>
</file>