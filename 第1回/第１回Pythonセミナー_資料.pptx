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1013" r:id="rId3"/>
    <p:sldId id="1001" r:id="rId4"/>
    <p:sldId id="1002" r:id="rId5"/>
    <p:sldId id="1022" r:id="rId6"/>
    <p:sldId id="1004" r:id="rId7"/>
    <p:sldId id="298" r:id="rId8"/>
    <p:sldId id="1009" r:id="rId9"/>
    <p:sldId id="1006" r:id="rId10"/>
    <p:sldId id="1007" r:id="rId11"/>
    <p:sldId id="1012" r:id="rId12"/>
    <p:sldId id="1021" r:id="rId13"/>
    <p:sldId id="1027" r:id="rId14"/>
    <p:sldId id="1011" r:id="rId15"/>
    <p:sldId id="1016" r:id="rId16"/>
    <p:sldId id="1010" r:id="rId17"/>
    <p:sldId id="1014" r:id="rId18"/>
    <p:sldId id="1017" r:id="rId19"/>
    <p:sldId id="1018" r:id="rId20"/>
    <p:sldId id="1020" r:id="rId21"/>
    <p:sldId id="999" r:id="rId22"/>
    <p:sldId id="1026" r:id="rId23"/>
    <p:sldId id="1000" r:id="rId2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B600"/>
    <a:srgbClr val="ECAC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082"/>
    <p:restoredTop sz="92671"/>
  </p:normalViewPr>
  <p:slideViewPr>
    <p:cSldViewPr snapToGrid="0">
      <p:cViewPr varScale="1">
        <p:scale>
          <a:sx n="117" d="100"/>
          <a:sy n="117" d="100"/>
        </p:scale>
        <p:origin x="232" y="184"/>
      </p:cViewPr>
      <p:guideLst/>
    </p:cSldViewPr>
  </p:slideViewPr>
  <p:notesTextViewPr>
    <p:cViewPr>
      <p:scale>
        <a:sx n="105" d="100"/>
        <a:sy n="10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371885-614E-D140-8EEB-457D1618D6CD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732D5F-57A3-B44C-8F1F-29F06C6927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8456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raw.githubusercontent.com/Homebrew/install/HEAD/install.sh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32D5F-57A3-B44C-8F1F-29F06C6927EF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6004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8445B-EA80-C65D-28CC-AFEB449DC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A8296BA-4423-594D-5EDE-32C2929961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E604FFE-2F04-9536-C758-00FF54641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0B95C35-9217-67EA-B83E-CD78A1B4B9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32D5F-57A3-B44C-8F1F-29F06C6927EF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75453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環境構築について</a:t>
            </a:r>
            <a:endParaRPr kumimoji="1" lang="en-US" altLang="ja-JP" dirty="0"/>
          </a:p>
          <a:p>
            <a:r>
              <a:rPr kumimoji="1" lang="ja-JP" altLang="en-US"/>
              <a:t>ーーーーーーーーーーー</a:t>
            </a:r>
            <a:endParaRPr kumimoji="1" lang="en-US" altLang="ja-JP" dirty="0"/>
          </a:p>
          <a:p>
            <a:r>
              <a:rPr kumimoji="1" lang="en-US" altLang="ja-JP" dirty="0"/>
              <a:t>python</a:t>
            </a:r>
            <a:r>
              <a:rPr kumimoji="1" lang="ja-JP" altLang="en-US"/>
              <a:t>本体は最低限の機能しかない、それに高度な機能をつけるのがパッケージ。</a:t>
            </a:r>
            <a:endParaRPr kumimoji="1" lang="en-US" altLang="ja-JP" dirty="0"/>
          </a:p>
          <a:p>
            <a:r>
              <a:rPr kumimoji="1" lang="ja-JP" altLang="en-US"/>
              <a:t>（計算なら</a:t>
            </a:r>
            <a:r>
              <a:rPr kumimoji="1" lang="en-US" altLang="ja-JP" dirty="0" err="1"/>
              <a:t>numpy</a:t>
            </a:r>
            <a:r>
              <a:rPr kumimoji="1" lang="ja-JP" altLang="en-US"/>
              <a:t>、グラフ作成なら</a:t>
            </a:r>
            <a:r>
              <a:rPr kumimoji="1" lang="en-US" altLang="ja-JP" dirty="0"/>
              <a:t>matplotlib</a:t>
            </a:r>
            <a:r>
              <a:rPr kumimoji="1" lang="ja-JP" altLang="en-US"/>
              <a:t>ってやつ。）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lang="ja-JP" altLang="en-US"/>
              <a:t>「自分の</a:t>
            </a:r>
            <a:r>
              <a:rPr lang="en" altLang="ja-JP" dirty="0"/>
              <a:t>PC</a:t>
            </a:r>
            <a:r>
              <a:rPr lang="ja-JP" altLang="en-US"/>
              <a:t>全体（グローバル環境）」にインストールしてしまうと、</a:t>
            </a:r>
            <a:r>
              <a:rPr lang="en" altLang="ja-JP" b="1" dirty="0"/>
              <a:t>A</a:t>
            </a:r>
            <a:r>
              <a:rPr lang="ja-JP" altLang="en-US" b="1"/>
              <a:t>を動かそうとすれば</a:t>
            </a:r>
            <a:r>
              <a:rPr lang="en" altLang="ja-JP" b="1" dirty="0"/>
              <a:t>B</a:t>
            </a:r>
            <a:r>
              <a:rPr lang="ja-JP" altLang="en-US" b="1"/>
              <a:t>が壊れ、</a:t>
            </a:r>
            <a:r>
              <a:rPr lang="en" altLang="ja-JP" b="1" dirty="0"/>
              <a:t>B</a:t>
            </a:r>
            <a:r>
              <a:rPr lang="ja-JP" altLang="en-US" b="1"/>
              <a:t>を動かそうとすれば</a:t>
            </a:r>
            <a:r>
              <a:rPr lang="en" altLang="ja-JP" b="1" dirty="0"/>
              <a:t>A</a:t>
            </a:r>
            <a:r>
              <a:rPr lang="ja-JP" altLang="en-US" b="1"/>
              <a:t>が壊れる</a:t>
            </a:r>
            <a:r>
              <a:rPr lang="ja-JP" altLang="en-US"/>
              <a:t>という地獄（依存関係の衝突）が発生します。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b="1"/>
              <a:t>・</a:t>
            </a:r>
            <a:r>
              <a:rPr lang="en" altLang="ja-JP" b="1" dirty="0"/>
              <a:t>Python</a:t>
            </a:r>
            <a:r>
              <a:rPr lang="ja-JP" altLang="en-US" b="1"/>
              <a:t>のバージョンは最新じゃダメなの？</a:t>
            </a:r>
          </a:p>
          <a:p>
            <a:r>
              <a:rPr lang="ja-JP" altLang="en-US"/>
              <a:t>「最新＝最強」と思われがちですが、開発現場ではそうではありません。</a:t>
            </a:r>
          </a:p>
          <a:p>
            <a:r>
              <a:rPr lang="ja-JP" altLang="en-US" b="1"/>
              <a:t>ライブラリの未対応</a:t>
            </a:r>
            <a:r>
              <a:rPr lang="en-US" altLang="ja-JP" b="1" dirty="0"/>
              <a:t>:</a:t>
            </a:r>
            <a:r>
              <a:rPr lang="ja-JP" altLang="en-US"/>
              <a:t> </a:t>
            </a:r>
            <a:r>
              <a:rPr lang="en" altLang="ja-JP" dirty="0"/>
              <a:t>Python 3.12</a:t>
            </a:r>
            <a:r>
              <a:rPr lang="ja-JP" altLang="en-US"/>
              <a:t>が出たばかりの時、主要なライブラリ（</a:t>
            </a:r>
            <a:r>
              <a:rPr lang="en" altLang="ja-JP" dirty="0" err="1"/>
              <a:t>PyTorch</a:t>
            </a:r>
            <a:r>
              <a:rPr lang="ja-JP" altLang="en-US"/>
              <a:t>など）がまだ</a:t>
            </a:r>
            <a:r>
              <a:rPr lang="en-US" altLang="ja-JP" dirty="0"/>
              <a:t>3.12</a:t>
            </a:r>
            <a:r>
              <a:rPr lang="ja-JP" altLang="en-US"/>
              <a:t>に対応しておらず動かない、ということがよくあります。</a:t>
            </a:r>
          </a:p>
          <a:p>
            <a:r>
              <a:rPr lang="ja-JP" altLang="en-US" b="1"/>
              <a:t>再現性の維持</a:t>
            </a:r>
            <a:r>
              <a:rPr lang="en-US" altLang="ja-JP" b="1" dirty="0"/>
              <a:t>:</a:t>
            </a:r>
            <a:r>
              <a:rPr lang="ja-JP" altLang="en-US"/>
              <a:t> 半年前に作ったプログラムを動かしたい時、</a:t>
            </a:r>
            <a:r>
              <a:rPr lang="en" altLang="ja-JP" dirty="0"/>
              <a:t>Python</a:t>
            </a:r>
            <a:r>
              <a:rPr lang="ja-JP" altLang="en-US"/>
              <a:t>のバージョンが変わっていると、書き方が変わっていてエラーになることがあります。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/>
              <a:t>・パッケージライブラリ問題</a:t>
            </a:r>
            <a:endParaRPr lang="en-US" altLang="ja-JP" dirty="0"/>
          </a:p>
          <a:p>
            <a:r>
              <a:rPr lang="ja-JP" altLang="en-US"/>
              <a:t>一応定義は違うくて、ライブラリの中にパッケージが入るみたい。</a:t>
            </a:r>
          </a:p>
          <a:p>
            <a:endParaRPr lang="en-US" altLang="ja-JP" dirty="0"/>
          </a:p>
          <a:p>
            <a:endParaRPr lang="ja-JP" altLang="en-US"/>
          </a:p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32D5F-57A3-B44C-8F1F-29F06C6927EF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4640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b="0"/>
              <a:t>・他の</a:t>
            </a:r>
            <a:r>
              <a:rPr lang="en" altLang="ja-JP" b="0" dirty="0" err="1"/>
              <a:t>uv</a:t>
            </a:r>
            <a:r>
              <a:rPr lang="ja-JP" altLang="en-US" b="0"/>
              <a:t>の理由</a:t>
            </a:r>
            <a:endParaRPr lang="en-US" altLang="ja-JP" b="0" dirty="0"/>
          </a:p>
          <a:p>
            <a:r>
              <a:rPr kumimoji="1" lang="en" altLang="ja-JP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uv</a:t>
            </a:r>
            <a:r>
              <a:rPr lang="en" altLang="ja-JP" dirty="0"/>
              <a:t> </a:t>
            </a:r>
            <a:r>
              <a:rPr lang="ja-JP" altLang="en-US"/>
              <a:t>は、これら</a:t>
            </a:r>
            <a:r>
              <a:rPr lang="ja-JP" altLang="en-US" b="0"/>
              <a:t>すべてを</a:t>
            </a:r>
            <a:r>
              <a:rPr lang="en-US" altLang="ja-JP" b="0" dirty="0"/>
              <a:t>1</a:t>
            </a:r>
            <a:r>
              <a:rPr lang="ja-JP" altLang="en-US" b="0"/>
              <a:t>つで、しかも爆速で行うツール</a:t>
            </a:r>
            <a:r>
              <a:rPr lang="ja-JP" altLang="en-US"/>
              <a:t>です（</a:t>
            </a:r>
            <a:r>
              <a:rPr lang="en" altLang="ja-JP" dirty="0"/>
              <a:t>Rust</a:t>
            </a:r>
            <a:r>
              <a:rPr lang="ja-JP" altLang="en-US"/>
              <a:t>という言語で書かれているため、</a:t>
            </a:r>
            <a:r>
              <a:rPr lang="en" altLang="ja-JP" dirty="0"/>
              <a:t>pip</a:t>
            </a:r>
            <a:r>
              <a:rPr lang="ja-JP" altLang="en-US"/>
              <a:t>より</a:t>
            </a:r>
            <a:r>
              <a:rPr lang="en-US" altLang="ja-JP" dirty="0"/>
              <a:t>10</a:t>
            </a:r>
            <a:r>
              <a:rPr lang="ja-JP" altLang="en-US"/>
              <a:t>倍以上早いこともあるみたい、実際早かった）。</a:t>
            </a:r>
          </a:p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32D5F-57A3-B44C-8F1F-29F06C6927EF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920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C43C1-8238-80EA-2EE4-F44708F44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3C68185-D665-EA6B-4109-330640EA86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E35CE43-1C07-CCF7-441D-7754E745A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CE9CEB7-6F3B-572D-063E-BCD0ADA181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32D5F-57A3-B44C-8F1F-29F06C6927EF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06786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0BFEC-9E33-8186-EAB8-F4AD0111D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7B4062F-25B9-13B8-BB0F-C74E96E8F4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5E6207A-367C-CDDE-82D3-38F65AC7D5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〜</a:t>
            </a:r>
            <a:r>
              <a:rPr kumimoji="1" lang="ja-JP" altLang="en-US"/>
              <a:t>シェルコマンドメモ</a:t>
            </a:r>
            <a:r>
              <a:rPr kumimoji="1" lang="en-US" altLang="ja-JP" dirty="0"/>
              <a:t>〜</a:t>
            </a:r>
          </a:p>
          <a:p>
            <a:r>
              <a:rPr kumimoji="1" lang="en-US" altLang="ja-JP" dirty="0" err="1"/>
              <a:t>pwd</a:t>
            </a:r>
            <a:r>
              <a:rPr lang="ja-JP" altLang="en-US"/>
              <a:t>：</a:t>
            </a:r>
            <a:r>
              <a:rPr lang="ja-JP" altLang="ja-JP"/>
              <a:t>自分が作業しているディレクトリの場所（絶対パス）を表示する</a:t>
            </a:r>
            <a:r>
              <a:rPr lang="ja-JP" altLang="en-US"/>
              <a:t>。</a:t>
            </a:r>
            <a:endParaRPr lang="en-US" altLang="ja-JP" dirty="0"/>
          </a:p>
          <a:p>
            <a:r>
              <a:rPr kumimoji="1" lang="ja-JP" altLang="en-US"/>
              <a:t>パス：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今いる場所、コンピュータ上の住所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〜</a:t>
            </a:r>
            <a:r>
              <a:rPr kumimoji="1" lang="ja-JP" altLang="en-US"/>
              <a:t>詳しい説明</a:t>
            </a:r>
            <a:r>
              <a:rPr kumimoji="1" lang="en-US" altLang="ja-JP" dirty="0"/>
              <a:t>〜</a:t>
            </a:r>
          </a:p>
          <a:p>
            <a:r>
              <a:rPr kumimoji="1" lang="en-US" altLang="ja-JP" dirty="0"/>
              <a:t>『</a:t>
            </a:r>
            <a:r>
              <a:rPr kumimoji="1" lang="ja-JP" altLang="en-US"/>
              <a:t>１</a:t>
            </a:r>
            <a:r>
              <a:rPr kumimoji="1" lang="en-US" altLang="ja-JP" dirty="0"/>
              <a:t>』</a:t>
            </a:r>
          </a:p>
          <a:p>
            <a:pPr marL="0" indent="0">
              <a:buNone/>
            </a:pPr>
            <a:r>
              <a:rPr lang="ja-JP" altLang="en-US" b="1"/>
              <a:t>・</a:t>
            </a:r>
            <a:r>
              <a:rPr lang="en" altLang="ja-JP" sz="1200" dirty="0"/>
              <a:t>/bin/bash -c </a:t>
            </a:r>
            <a:r>
              <a:rPr lang="en-US" altLang="ja-JP" sz="1200" dirty="0"/>
              <a:t>"..." 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sz="1200"/>
              <a:t>→</a:t>
            </a:r>
            <a:r>
              <a:rPr lang="en" altLang="ja-JP" sz="1200" dirty="0"/>
              <a:t> macOS</a:t>
            </a:r>
            <a:r>
              <a:rPr lang="ja-JP" altLang="en-US" sz="1200"/>
              <a:t>標準の</a:t>
            </a:r>
            <a:r>
              <a:rPr lang="en" altLang="ja-JP" sz="1200" dirty="0"/>
              <a:t>bash</a:t>
            </a:r>
            <a:r>
              <a:rPr lang="ja-JP" altLang="en-US" sz="1200"/>
              <a:t>シェルを使って、</a:t>
            </a:r>
            <a:r>
              <a:rPr lang="en-US" altLang="ja-JP" sz="1200" dirty="0"/>
              <a:t>"..."</a:t>
            </a:r>
            <a:r>
              <a:rPr lang="ja-JP" altLang="en-US" sz="1200"/>
              <a:t>内のコマンドを実行</a:t>
            </a:r>
          </a:p>
          <a:p>
            <a:pPr marL="0" indent="0">
              <a:buNone/>
            </a:pPr>
            <a:endParaRPr lang="en-US" altLang="ja-JP" b="1" dirty="0"/>
          </a:p>
          <a:p>
            <a:pPr marL="0" indent="0">
              <a:buNone/>
            </a:pPr>
            <a:r>
              <a:rPr lang="ja-JP" altLang="en-US"/>
              <a:t>・</a:t>
            </a:r>
            <a:r>
              <a:rPr lang="en" altLang="ja-JP" dirty="0"/>
              <a:t> </a:t>
            </a:r>
            <a:r>
              <a:rPr lang="en" altLang="ja-JP" sz="1200" dirty="0"/>
              <a:t>curl -</a:t>
            </a:r>
            <a:r>
              <a:rPr lang="en" altLang="ja-JP" sz="1200" dirty="0" err="1"/>
              <a:t>fsSL</a:t>
            </a:r>
            <a:r>
              <a:rPr lang="en" altLang="ja-JP" sz="1200" dirty="0"/>
              <a:t> </a:t>
            </a:r>
            <a:r>
              <a:rPr lang="en" altLang="ja-JP" sz="1200" dirty="0">
                <a:hlinkClick r:id="rId3"/>
              </a:rPr>
              <a:t>https://raw.githubusercontent.com/Homebrew/install/HEAD/install.sh</a:t>
            </a:r>
            <a:endParaRPr lang="en" altLang="ja-JP" sz="1200" dirty="0"/>
          </a:p>
          <a:p>
            <a:pPr marL="0" indent="0">
              <a:buNone/>
            </a:pPr>
            <a:r>
              <a:rPr lang="ja-JP" altLang="en-US" sz="1200"/>
              <a:t>→インターネット上にある</a:t>
            </a:r>
            <a:r>
              <a:rPr lang="en" altLang="ja-JP" sz="1200" dirty="0"/>
              <a:t>Homebrew</a:t>
            </a:r>
            <a:r>
              <a:rPr lang="ja-JP" altLang="en-US" sz="1200"/>
              <a:t>のインストール用スクリプトをダウンロード</a:t>
            </a:r>
            <a:endParaRPr lang="en-US" altLang="ja-JP" sz="1200" dirty="0"/>
          </a:p>
          <a:p>
            <a:pPr marL="0" indent="0">
              <a:buNone/>
            </a:pPr>
            <a:endParaRPr lang="ja-JP" altLang="en-US" sz="1200"/>
          </a:p>
          <a:p>
            <a:pPr marL="0" indent="0">
              <a:buNone/>
            </a:pPr>
            <a:r>
              <a:rPr lang="ja-JP" altLang="en-US" sz="1200"/>
              <a:t>・</a:t>
            </a:r>
            <a:r>
              <a:rPr lang="en" altLang="ja-JP" sz="1200" dirty="0"/>
              <a:t> curl</a:t>
            </a:r>
            <a:r>
              <a:rPr lang="ja-JP" altLang="en" sz="1200"/>
              <a:t>：</a:t>
            </a:r>
            <a:r>
              <a:rPr lang="en" altLang="ja-JP" sz="1200" dirty="0"/>
              <a:t>URL</a:t>
            </a:r>
            <a:r>
              <a:rPr lang="ja-JP" altLang="en-US" sz="1200"/>
              <a:t>からデータを取得するコマンド</a:t>
            </a:r>
            <a:endParaRPr lang="en-US" altLang="ja-JP" sz="1200" dirty="0"/>
          </a:p>
          <a:p>
            <a:pPr marL="0" indent="0">
              <a:buNone/>
            </a:pPr>
            <a:r>
              <a:rPr lang="ja-JP" altLang="en-US" sz="1200"/>
              <a:t>・</a:t>
            </a:r>
            <a:r>
              <a:rPr lang="en" altLang="ja-JP" sz="1200" dirty="0"/>
              <a:t>-f</a:t>
            </a:r>
            <a:r>
              <a:rPr lang="ja-JP" altLang="en" sz="1200"/>
              <a:t>：</a:t>
            </a:r>
            <a:r>
              <a:rPr lang="ja-JP" altLang="en-US" sz="1200"/>
              <a:t>エラー時にはファイルを出力しない</a:t>
            </a:r>
          </a:p>
          <a:p>
            <a:pPr marL="0" indent="0">
              <a:buNone/>
            </a:pPr>
            <a:r>
              <a:rPr lang="ja-JP" altLang="en-US" sz="1200"/>
              <a:t>・</a:t>
            </a:r>
            <a:r>
              <a:rPr lang="en-US" altLang="ja-JP" sz="1200" dirty="0"/>
              <a:t>-</a:t>
            </a:r>
            <a:r>
              <a:rPr lang="en" altLang="ja-JP" sz="1200" dirty="0"/>
              <a:t>s</a:t>
            </a:r>
            <a:r>
              <a:rPr lang="ja-JP" altLang="en" sz="1200"/>
              <a:t>：</a:t>
            </a:r>
            <a:r>
              <a:rPr lang="ja-JP" altLang="en-US" sz="1200"/>
              <a:t>進捗やエラーメッセージを表示しない</a:t>
            </a:r>
          </a:p>
          <a:p>
            <a:pPr marL="0" indent="0">
              <a:buNone/>
            </a:pPr>
            <a:r>
              <a:rPr lang="ja-JP" altLang="en-US" sz="1200"/>
              <a:t>・</a:t>
            </a:r>
            <a:r>
              <a:rPr lang="en-US" altLang="ja-JP" sz="1200" dirty="0"/>
              <a:t>-</a:t>
            </a:r>
            <a:r>
              <a:rPr lang="en" altLang="ja-JP" sz="1200" dirty="0"/>
              <a:t>S</a:t>
            </a:r>
            <a:r>
              <a:rPr lang="ja-JP" altLang="en" sz="1200"/>
              <a:t>：</a:t>
            </a:r>
            <a:r>
              <a:rPr lang="ja-JP" altLang="en-US" sz="1200"/>
              <a:t>エラーが起きた場合はエラーメッセージを表示</a:t>
            </a:r>
            <a:endParaRPr lang="en-US" altLang="ja-JP" sz="1200" dirty="0"/>
          </a:p>
          <a:p>
            <a:pPr marL="0" indent="0">
              <a:buNone/>
            </a:pPr>
            <a:r>
              <a:rPr lang="ja-JP" altLang="en-US" sz="1200"/>
              <a:t>・</a:t>
            </a:r>
            <a:r>
              <a:rPr lang="en-US" altLang="ja-JP" sz="1200" dirty="0"/>
              <a:t>-</a:t>
            </a:r>
            <a:r>
              <a:rPr lang="en" altLang="ja-JP" sz="1200" dirty="0"/>
              <a:t>L</a:t>
            </a:r>
            <a:r>
              <a:rPr lang="ja-JP" altLang="en" sz="1200"/>
              <a:t>：</a:t>
            </a:r>
            <a:r>
              <a:rPr lang="ja-JP" altLang="en-US" sz="1200"/>
              <a:t>リダイレクト先の</a:t>
            </a:r>
            <a:r>
              <a:rPr lang="en" altLang="ja-JP" sz="1200" dirty="0"/>
              <a:t>URL</a:t>
            </a:r>
            <a:r>
              <a:rPr lang="ja-JP" altLang="en-US" sz="1200"/>
              <a:t>をたどってダウンロード</a:t>
            </a:r>
            <a:endParaRPr lang="en-US" altLang="ja-JP" sz="1200" dirty="0"/>
          </a:p>
          <a:p>
            <a:endParaRPr kumimoji="1" lang="en-US" altLang="ja-JP" dirty="0"/>
          </a:p>
          <a:p>
            <a:r>
              <a:rPr kumimoji="1" lang="en-US" altLang="ja-JP" dirty="0"/>
              <a:t>『</a:t>
            </a:r>
            <a:r>
              <a:rPr kumimoji="1" lang="ja-JP" altLang="en-US"/>
              <a:t>２</a:t>
            </a:r>
            <a:r>
              <a:rPr kumimoji="1" lang="en-US" altLang="ja-JP" dirty="0"/>
              <a:t>』</a:t>
            </a:r>
          </a:p>
          <a:p>
            <a:pPr marL="0" indent="0"/>
            <a:r>
              <a:rPr lang="ja-JP" altLang="en-US" b="1"/>
              <a:t>・</a:t>
            </a:r>
            <a:r>
              <a:rPr lang="en" altLang="ja-JP" dirty="0"/>
              <a:t>echo 'eval "$(/opt/homebrew/bin/brew </a:t>
            </a:r>
            <a:r>
              <a:rPr lang="en" altLang="ja-JP" dirty="0" err="1"/>
              <a:t>shellenv</a:t>
            </a:r>
            <a:r>
              <a:rPr lang="en" altLang="ja-JP" dirty="0"/>
              <a:t>)"' &gt;&gt; /Users/lpc_0108/.</a:t>
            </a:r>
            <a:r>
              <a:rPr lang="en" altLang="ja-JP" dirty="0" err="1"/>
              <a:t>zprofile</a:t>
            </a:r>
            <a:endParaRPr lang="en-US" altLang="ja-JP" dirty="0"/>
          </a:p>
          <a:p>
            <a:pPr marL="0" indent="0"/>
            <a:r>
              <a:rPr lang="ja-JP" altLang="en-US"/>
              <a:t>→シェル起動時に自動で</a:t>
            </a:r>
            <a:r>
              <a:rPr lang="en" altLang="ja-JP" dirty="0"/>
              <a:t>Homebrew</a:t>
            </a:r>
            <a:r>
              <a:rPr lang="ja-JP" altLang="en-US"/>
              <a:t>の設定を読み込むために、</a:t>
            </a:r>
            <a:r>
              <a:rPr lang="en-US" altLang="ja-JP" dirty="0"/>
              <a:t>.</a:t>
            </a:r>
            <a:r>
              <a:rPr lang="en" altLang="ja-JP" dirty="0" err="1"/>
              <a:t>zprofile</a:t>
            </a:r>
            <a:r>
              <a:rPr lang="ja-JP" altLang="en-US"/>
              <a:t>に</a:t>
            </a:r>
            <a:endParaRPr lang="en-US" altLang="ja-JP" dirty="0"/>
          </a:p>
          <a:p>
            <a:pPr marL="0" indent="0"/>
            <a:r>
              <a:rPr lang="en" altLang="ja-JP" dirty="0"/>
              <a:t>eval "$(/opt/homebrew/bin/brew </a:t>
            </a:r>
            <a:r>
              <a:rPr lang="en" altLang="ja-JP" dirty="0" err="1"/>
              <a:t>shellenv</a:t>
            </a:r>
            <a:r>
              <a:rPr lang="en" altLang="ja-JP" dirty="0"/>
              <a:t>)"</a:t>
            </a:r>
            <a:r>
              <a:rPr lang="ja-JP" altLang="en-US"/>
              <a:t>という</a:t>
            </a:r>
            <a:r>
              <a:rPr lang="en-US" altLang="ja-JP" dirty="0"/>
              <a:t>1</a:t>
            </a:r>
            <a:r>
              <a:rPr lang="ja-JP" altLang="en-US"/>
              <a:t>行を追加</a:t>
            </a:r>
            <a:endParaRPr lang="en-US" altLang="ja-JP" b="1" dirty="0"/>
          </a:p>
          <a:p>
            <a:pPr lvl="1">
              <a:buFont typeface="Wingdings" pitchFamily="2" charset="2"/>
              <a:buChar char="Ø"/>
            </a:pPr>
            <a:endParaRPr lang="en" altLang="ja-JP" dirty="0"/>
          </a:p>
          <a:p>
            <a:pPr lvl="1">
              <a:buFont typeface="Wingdings" pitchFamily="2" charset="2"/>
              <a:buChar char="Ø"/>
            </a:pPr>
            <a:r>
              <a:rPr lang="en" altLang="ja-JP" dirty="0" err="1"/>
              <a:t>zprofile</a:t>
            </a:r>
            <a:r>
              <a:rPr lang="ja-JP" altLang="en-US"/>
              <a:t>は</a:t>
            </a:r>
            <a:r>
              <a:rPr lang="en" altLang="ja-JP" dirty="0" err="1"/>
              <a:t>Zsh</a:t>
            </a:r>
            <a:r>
              <a:rPr lang="ja-JP" altLang="en-US"/>
              <a:t>シェルを起動したときに最初に読み込まれる設定ファイル</a:t>
            </a:r>
            <a:endParaRPr lang="en-US" altLang="ja-JP" dirty="0"/>
          </a:p>
          <a:p>
            <a:pPr lvl="1">
              <a:buFont typeface="Wingdings" pitchFamily="2" charset="2"/>
              <a:buChar char="Ø"/>
            </a:pPr>
            <a:r>
              <a:rPr lang="en" altLang="ja-JP" dirty="0"/>
              <a:t>eval "$(...)"</a:t>
            </a:r>
            <a:r>
              <a:rPr lang="ja-JP" altLang="en-US"/>
              <a:t>という形で、環境変数の設定コマンドを評価して実行</a:t>
            </a:r>
            <a:endParaRPr lang="en-US" altLang="ja-JP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ja-JP" b="1" dirty="0"/>
          </a:p>
          <a:p>
            <a:r>
              <a:rPr lang="en" altLang="ja-JP" dirty="0"/>
              <a:t>eval "$(/opt/homebrew/bin/brew </a:t>
            </a:r>
            <a:r>
              <a:rPr lang="en" altLang="ja-JP" dirty="0" err="1"/>
              <a:t>shellenv</a:t>
            </a:r>
            <a:r>
              <a:rPr lang="en" altLang="ja-JP" dirty="0"/>
              <a:t>)"</a:t>
            </a:r>
            <a:endParaRPr lang="ja-JP" altLang="en-US"/>
          </a:p>
          <a:p>
            <a:pPr marL="0" indent="0"/>
            <a:r>
              <a:rPr lang="ja-JP" altLang="en-US"/>
              <a:t>→追加した行を今のターミナルでもすぐ反映させるために、同じコマンドを直接実行</a:t>
            </a:r>
            <a:endParaRPr lang="en-US" altLang="ja-JP" dirty="0"/>
          </a:p>
          <a:p>
            <a:pPr marL="0" indent="0"/>
            <a:endParaRPr lang="en-US" altLang="ja-JP" dirty="0"/>
          </a:p>
          <a:p>
            <a:pPr marL="0" indent="0"/>
            <a:r>
              <a:rPr lang="en-US" altLang="ja-JP" dirty="0"/>
              <a:t>『</a:t>
            </a:r>
            <a:r>
              <a:rPr lang="ja-JP" altLang="en-US"/>
              <a:t>３</a:t>
            </a:r>
            <a:r>
              <a:rPr lang="en-US" altLang="ja-JP" dirty="0"/>
              <a:t>』</a:t>
            </a:r>
          </a:p>
          <a:p>
            <a:pPr marL="0" indent="0">
              <a:buNone/>
            </a:pPr>
            <a:r>
              <a:rPr lang="ja-JP" altLang="en-US" b="1"/>
              <a:t>・</a:t>
            </a:r>
            <a:r>
              <a:rPr lang="en" altLang="ja-JP" sz="1200" dirty="0"/>
              <a:t>brew update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sz="1200"/>
              <a:t>→</a:t>
            </a:r>
            <a:r>
              <a:rPr lang="en-US" altLang="ja-JP" sz="1200" dirty="0"/>
              <a:t> </a:t>
            </a:r>
            <a:r>
              <a:rPr lang="en" altLang="ja-JP" sz="1200" dirty="0"/>
              <a:t>Homebrew</a:t>
            </a:r>
            <a:r>
              <a:rPr lang="ja-JP" altLang="en-US" sz="1200"/>
              <a:t>が管理しているパッケージの情報を最新化。これにより、最新バージョンの</a:t>
            </a:r>
            <a:r>
              <a:rPr lang="en" altLang="ja-JP" sz="1200" dirty="0" err="1"/>
              <a:t>pyenv</a:t>
            </a:r>
            <a:r>
              <a:rPr lang="ja-JP" altLang="en-US" sz="1200"/>
              <a:t>等をインストールできるようになる。</a:t>
            </a:r>
            <a:endParaRPr lang="en-US" altLang="ja-JP" sz="1200" dirty="0"/>
          </a:p>
          <a:p>
            <a:pPr marL="0" indent="0"/>
            <a:endParaRPr lang="en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58F5A13-A67C-575B-7085-0A8A28B3B2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F16424-DFB0-F840-9E39-76DB9A7C09EC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0096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E87D7-9698-097E-922C-68481B22F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52660C5-7E54-E5DE-20FA-6D171A705F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1D2F749-7E8F-018F-AD04-117B89309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26D5F98-B1FF-C8A1-D4A3-2381DEF68E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32D5F-57A3-B44C-8F1F-29F06C6927EF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08722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3C8C8-3154-B81E-2F33-DFCD034F1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2DF2DB0-D7ED-847A-1A2D-4635FF61E4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082E44C-980E-5613-70F8-D7864129EE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〜</a:t>
            </a:r>
            <a:r>
              <a:rPr kumimoji="1" lang="ja-JP" altLang="en-US"/>
              <a:t>シェルコマンドメモ</a:t>
            </a:r>
            <a:r>
              <a:rPr kumimoji="1" lang="en-US" altLang="ja-JP" dirty="0"/>
              <a:t>〜</a:t>
            </a:r>
          </a:p>
          <a:p>
            <a:r>
              <a:rPr kumimoji="1" lang="en-US" altLang="ja-JP" dirty="0" err="1"/>
              <a:t>mkdir</a:t>
            </a:r>
            <a:r>
              <a:rPr lang="ja-JP" altLang="en-US"/>
              <a:t>：ディレクトリを作る</a:t>
            </a:r>
            <a:endParaRPr lang="en-US" altLang="ja-JP" dirty="0"/>
          </a:p>
          <a:p>
            <a:r>
              <a:rPr kumimoji="1" lang="en-US" altLang="ja-JP" dirty="0"/>
              <a:t>cd:</a:t>
            </a:r>
            <a:r>
              <a:rPr kumimoji="1" lang="ja-JP" altLang="en-US"/>
              <a:t>移動。</a:t>
            </a:r>
            <a:endParaRPr kumimoji="1" lang="en-US" altLang="ja-JP" dirty="0"/>
          </a:p>
          <a:p>
            <a:r>
              <a:rPr kumimoji="1" lang="en-US" altLang="ja-JP" dirty="0"/>
              <a:t>vi:</a:t>
            </a:r>
            <a:r>
              <a:rPr kumimoji="1" lang="ja-JP" altLang="en-US"/>
              <a:t>ファイルの中身を見る、「</a:t>
            </a:r>
            <a:r>
              <a:rPr kumimoji="1" lang="en-US" altLang="ja-JP" dirty="0"/>
              <a:t>shift+: q</a:t>
            </a:r>
            <a:r>
              <a:rPr kumimoji="1" lang="ja-JP" altLang="en-US"/>
              <a:t>」で戻れる。</a:t>
            </a:r>
            <a:endParaRPr kumimoji="1" lang="en-US" altLang="ja-JP" dirty="0"/>
          </a:p>
          <a:p>
            <a:r>
              <a:rPr kumimoji="1" lang="en-US" altLang="ja-JP" dirty="0"/>
              <a:t>ls:</a:t>
            </a:r>
            <a:r>
              <a:rPr lang="ja-JP" altLang="ja-JP"/>
              <a:t>指定したフォルダ（ディレクトリ）の中にあるファイルやフォルダの一覧を表示する</a:t>
            </a:r>
            <a:r>
              <a:rPr lang="ja-JP" altLang="en-US"/>
              <a:t>。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/>
              <a:t>ファイルの削除＝</a:t>
            </a:r>
            <a:r>
              <a:rPr kumimoji="1" lang="en-US" altLang="ja-JP" dirty="0"/>
              <a:t>rm</a:t>
            </a:r>
          </a:p>
          <a:p>
            <a:r>
              <a:rPr kumimoji="1" lang="ja-JP" altLang="en-US"/>
              <a:t>ディレクトリの削除＝</a:t>
            </a:r>
            <a:r>
              <a:rPr kumimoji="1" lang="en-US" altLang="ja-JP" dirty="0"/>
              <a:t>rm –r</a:t>
            </a:r>
          </a:p>
          <a:p>
            <a:endParaRPr kumimoji="1" lang="en-US" altLang="ja-JP" dirty="0"/>
          </a:p>
          <a:p>
            <a:r>
              <a:rPr kumimoji="1" lang="ja-JP" altLang="en-US"/>
              <a:t>ここで</a:t>
            </a:r>
            <a:r>
              <a:rPr kumimoji="1" lang="en-US" altLang="ja-JP" dirty="0" err="1"/>
              <a:t>uv</a:t>
            </a:r>
            <a:r>
              <a:rPr kumimoji="1" lang="en-US" altLang="ja-JP" dirty="0"/>
              <a:t> run </a:t>
            </a:r>
            <a:r>
              <a:rPr kumimoji="1" lang="ja-JP" altLang="en-US"/>
              <a:t>やって動くこと確認しよう。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6F4A175-815C-065F-25C4-B4031C3CFF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32D5F-57A3-B44C-8F1F-29F06C6927EF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5685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F9C36-7D42-F04E-3E54-E6ACBCC67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A0909F2-79D9-7B2D-EBFE-008EBC72DA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7E04A65-C229-1120-4C13-22F480452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〜</a:t>
            </a:r>
            <a:r>
              <a:rPr kumimoji="1" lang="ja-JP" altLang="en-US"/>
              <a:t>シェルコマンドメモ</a:t>
            </a:r>
            <a:r>
              <a:rPr kumimoji="1" lang="en-US" altLang="ja-JP" dirty="0"/>
              <a:t>〜</a:t>
            </a:r>
          </a:p>
          <a:p>
            <a:r>
              <a:rPr kumimoji="1" lang="en-US" altLang="ja-JP" dirty="0" err="1"/>
              <a:t>mkdir</a:t>
            </a:r>
            <a:r>
              <a:rPr lang="ja-JP" altLang="en-US"/>
              <a:t>：ディレクトリを作る</a:t>
            </a:r>
            <a:endParaRPr lang="en-US" altLang="ja-JP" dirty="0"/>
          </a:p>
          <a:p>
            <a:r>
              <a:rPr kumimoji="1" lang="en-US" altLang="ja-JP" dirty="0"/>
              <a:t>cd:</a:t>
            </a:r>
            <a:r>
              <a:rPr kumimoji="1" lang="ja-JP" altLang="en-US"/>
              <a:t>移動。</a:t>
            </a:r>
            <a:endParaRPr kumimoji="1" lang="en-US" altLang="ja-JP" dirty="0"/>
          </a:p>
          <a:p>
            <a:r>
              <a:rPr kumimoji="1" lang="en-US" altLang="ja-JP" dirty="0"/>
              <a:t>vi:</a:t>
            </a:r>
            <a:r>
              <a:rPr kumimoji="1" lang="ja-JP" altLang="en-US"/>
              <a:t>ファイルの中身を見る、「</a:t>
            </a:r>
            <a:r>
              <a:rPr kumimoji="1" lang="en-US" altLang="ja-JP" dirty="0"/>
              <a:t>shift+: q</a:t>
            </a:r>
            <a:r>
              <a:rPr kumimoji="1" lang="ja-JP" altLang="en-US"/>
              <a:t>」で戻れる。</a:t>
            </a:r>
            <a:endParaRPr kumimoji="1" lang="en-US" altLang="ja-JP" dirty="0"/>
          </a:p>
          <a:p>
            <a:r>
              <a:rPr kumimoji="1" lang="en-US" altLang="ja-JP" dirty="0"/>
              <a:t>ls:</a:t>
            </a:r>
            <a:r>
              <a:rPr lang="ja-JP" altLang="ja-JP"/>
              <a:t>指定したフォルダ（ディレクトリ）の中にあるファイルやフォルダの一覧を表示する</a:t>
            </a:r>
            <a:r>
              <a:rPr lang="ja-JP" altLang="en-US"/>
              <a:t>。</a:t>
            </a:r>
            <a:endParaRPr kumimoji="1" lang="en-US" altLang="ja-JP" dirty="0"/>
          </a:p>
          <a:p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追加：</a:t>
            </a:r>
            <a:r>
              <a:rPr lang="en-US" altLang="ja-JP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uv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add </a:t>
            </a:r>
          </a:p>
          <a:p>
            <a:r>
              <a:rPr kumimoji="1" lang="ja-JP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削除：</a:t>
            </a:r>
            <a:r>
              <a:rPr kumimoji="1" lang="ja-JP" altLang="ja-JP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uv remove</a:t>
            </a:r>
            <a:endParaRPr kumimoji="1" lang="en-US" altLang="ja-JP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en-US" altLang="ja-JP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kumimoji="1" lang="ja-JP" altLang="en-US"/>
              <a:t>ーーーーーお試しで書くコードーーーーーーー</a:t>
            </a:r>
            <a:endParaRPr kumimoji="1" lang="en-US" altLang="ja-JP" dirty="0"/>
          </a:p>
          <a:p>
            <a:r>
              <a:rPr kumimoji="1" lang="en" altLang="ja-JP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</a:t>
            </a:r>
            <a:r>
              <a:rPr kumimoji="1" lang="en" altLang="ja-JP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numpy</a:t>
            </a:r>
            <a:r>
              <a:rPr kumimoji="1" lang="en" altLang="ja-JP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np</a:t>
            </a:r>
          </a:p>
          <a:p>
            <a:endParaRPr kumimoji="1" lang="en" altLang="ja-JP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kumimoji="1" lang="en" altLang="ja-JP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多次元配列を作成する</a:t>
            </a:r>
          </a:p>
          <a:p>
            <a:r>
              <a:rPr kumimoji="1" lang="en" altLang="ja-JP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</a:t>
            </a:r>
            <a:r>
              <a:rPr kumimoji="1" lang="en" altLang="ja-JP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kumimoji="1" lang="en" altLang="ja-JP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np.array</a:t>
            </a:r>
            <a:r>
              <a:rPr kumimoji="1" lang="en" altLang="ja-JP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([[1, 2], [3, 4]])</a:t>
            </a:r>
          </a:p>
          <a:p>
            <a:endParaRPr kumimoji="1" lang="en" altLang="ja-JP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kumimoji="1" lang="en" altLang="ja-JP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配列の形状を表示する</a:t>
            </a:r>
          </a:p>
          <a:p>
            <a:r>
              <a:rPr kumimoji="1" lang="en" altLang="ja-JP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</a:t>
            </a:r>
            <a:r>
              <a:rPr kumimoji="1" lang="en" altLang="ja-JP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arr.shape</a:t>
            </a:r>
            <a:r>
              <a:rPr kumimoji="1" lang="en" altLang="ja-JP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# 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実行結果：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(2, 2)</a:t>
            </a:r>
            <a:br>
              <a:rPr kumimoji="1" lang="ja-JP" altLang="ja-JP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kumimoji="1" lang="ja-JP" altLang="ja-JP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ja-JP" altLang="ja-JP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314BFB1-21F2-9E2E-AE8B-A6C5F1F202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32D5F-57A3-B44C-8F1F-29F06C6927EF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06543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・</a:t>
            </a:r>
            <a:r>
              <a:rPr kumimoji="1" lang="en-US" altLang="ja-JP" dirty="0" err="1"/>
              <a:t>uv</a:t>
            </a:r>
            <a:r>
              <a:rPr kumimoji="1" lang="en-US" altLang="ja-JP" dirty="0"/>
              <a:t> sync</a:t>
            </a:r>
            <a:r>
              <a:rPr kumimoji="1" lang="ja-JP" altLang="en-US"/>
              <a:t>のもっと重要な役割</a:t>
            </a:r>
            <a:endParaRPr kumimoji="1" lang="en-US" altLang="ja-JP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kumimoji="1" lang="ja-JP" altLang="ja-JP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Pythonプロジェクト管理ツール「uv」において、uv.lockファイルに定義された依存パッケージの正確なバージョンを、現在のプロジェクト環境（仮想環境など）にインストール・同期するためのコマンド</a:t>
            </a:r>
            <a:r>
              <a:rPr kumimoji="1" lang="ja-JP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kumimoji="1" lang="en-US" altLang="ja-JP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kumimoji="1" lang="ja-JP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仮想環境が存在しない場合は新規に作る機能もあり、それを今回ピックアップして説明したよ。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32D5F-57A3-B44C-8F1F-29F06C6927EF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75530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40665-19CE-63F6-D29D-9BB1A203F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44D9E08-532C-DF91-6345-DADF79F67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279313E-450D-D3CC-3FBF-F6D9E2E5D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『</a:t>
            </a:r>
            <a:r>
              <a:rPr kumimoji="1" lang="ja-JP" altLang="en-US"/>
              <a:t>課題</a:t>
            </a:r>
            <a:r>
              <a:rPr kumimoji="1" lang="en-US" altLang="ja-JP" dirty="0"/>
              <a:t>』</a:t>
            </a:r>
          </a:p>
          <a:p>
            <a:r>
              <a:rPr kumimoji="1" lang="ja-JP" altLang="en-US"/>
              <a:t>・</a:t>
            </a:r>
            <a:r>
              <a:rPr kumimoji="1" lang="en-US" altLang="ja-JP" dirty="0"/>
              <a:t>.</a:t>
            </a:r>
            <a:r>
              <a:rPr kumimoji="1" lang="en-US" altLang="ja-JP" dirty="0" err="1"/>
              <a:t>venv</a:t>
            </a:r>
            <a:r>
              <a:rPr kumimoji="1" lang="ja-JP" altLang="en-US"/>
              <a:t>作られない（藤井くん）</a:t>
            </a:r>
            <a:endParaRPr kumimoji="1" lang="en-US" altLang="ja-JP" dirty="0"/>
          </a:p>
          <a:p>
            <a:r>
              <a:rPr kumimoji="1" lang="en-US" altLang="ja-JP" dirty="0"/>
              <a:t>…</a:t>
            </a:r>
            <a:r>
              <a:rPr kumimoji="1" lang="ja-JP" altLang="en-US"/>
              <a:t>本来は</a:t>
            </a:r>
            <a:r>
              <a:rPr kumimoji="1" lang="en-US" altLang="ja-JP" dirty="0" err="1"/>
              <a:t>uv</a:t>
            </a:r>
            <a:r>
              <a:rPr kumimoji="1" lang="en-US" altLang="ja-JP" dirty="0"/>
              <a:t> sync</a:t>
            </a:r>
            <a:r>
              <a:rPr kumimoji="1" lang="ja-JP" altLang="en-US"/>
              <a:t>で仮想環境を作る。</a:t>
            </a:r>
            <a:endParaRPr kumimoji="1" lang="en-US" altLang="ja-JP" dirty="0"/>
          </a:p>
          <a:p>
            <a:r>
              <a:rPr kumimoji="1" lang="ja-JP" altLang="en-US"/>
              <a:t>　俺は勝手に入る、</a:t>
            </a:r>
            <a:r>
              <a:rPr kumimoji="1" lang="en-US" altLang="ja-JP" dirty="0" err="1"/>
              <a:t>uv</a:t>
            </a:r>
            <a:r>
              <a:rPr kumimoji="1" lang="en-US" altLang="ja-JP" dirty="0"/>
              <a:t> add</a:t>
            </a:r>
            <a:r>
              <a:rPr kumimoji="1" lang="ja-JP" altLang="en-US"/>
              <a:t>に</a:t>
            </a:r>
            <a:r>
              <a:rPr kumimoji="1" lang="en-US" altLang="ja-JP" dirty="0" err="1"/>
              <a:t>uv</a:t>
            </a:r>
            <a:r>
              <a:rPr kumimoji="1" lang="en-US" altLang="ja-JP" dirty="0"/>
              <a:t> sync</a:t>
            </a:r>
            <a:r>
              <a:rPr kumimoji="1" lang="ja-JP" altLang="en-US"/>
              <a:t>含む。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/>
              <a:t>・カーネルに作った環境出てこない。（谷くん）</a:t>
            </a:r>
            <a:endParaRPr kumimoji="1" lang="en-US" altLang="ja-JP" dirty="0"/>
          </a:p>
          <a:p>
            <a:r>
              <a:rPr kumimoji="1" lang="en-US" altLang="ja-JP" dirty="0"/>
              <a:t>…</a:t>
            </a:r>
            <a:r>
              <a:rPr kumimoji="1" lang="ja-JP" altLang="en-US"/>
              <a:t>不具合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/>
              <a:t>・新しい環境の名前が変わらない。</a:t>
            </a:r>
            <a:endParaRPr kumimoji="1" lang="en-US" altLang="ja-JP" dirty="0"/>
          </a:p>
          <a:p>
            <a:r>
              <a:rPr kumimoji="1" lang="en-US" altLang="ja-JP" dirty="0"/>
              <a:t>…</a:t>
            </a:r>
            <a:r>
              <a:rPr kumimoji="1" lang="ja-JP" altLang="en-US"/>
              <a:t>新しく作りなおしましょう。</a:t>
            </a:r>
            <a:endParaRPr kumimoji="1" lang="en-US" altLang="ja-JP" dirty="0"/>
          </a:p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22B631-8B9C-9D3E-177C-B50C592321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32D5F-57A3-B44C-8F1F-29F06C6927EF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86410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6DA99-7B81-6993-C5F2-7F4C4C5D0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156A12B-0EDB-6269-CFE5-C778A9C0DF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2A61135-78C8-E688-0C26-DB2F0D18C9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・他のサーバ</a:t>
            </a:r>
            <a:r>
              <a:rPr kumimoji="1" lang="en-US" altLang="ja-JP" dirty="0"/>
              <a:t>(</a:t>
            </a:r>
            <a:r>
              <a:rPr kumimoji="1" lang="ja-JP" altLang="en-US"/>
              <a:t>例えば</a:t>
            </a:r>
            <a:r>
              <a:rPr kumimoji="1" lang="en-US" altLang="ja-JP" dirty="0"/>
              <a:t>sage)</a:t>
            </a:r>
            <a:r>
              <a:rPr kumimoji="1" lang="ja-JP" altLang="en-US"/>
              <a:t>に繋ぎたいなら</a:t>
            </a:r>
            <a:endParaRPr kumimoji="1" lang="en-US" altLang="ja-JP" dirty="0"/>
          </a:p>
          <a:p>
            <a:r>
              <a:rPr lang="ja-JP" altLang="ja-JP" sz="1200">
                <a:latin typeface="Meiryo" panose="020B0604030504040204" pitchFamily="34" charset="-128"/>
                <a:ea typeface="Meiryo" panose="020B0604030504040204" pitchFamily="34" charset="-128"/>
              </a:rPr>
              <a:t>ssh &lt;</a:t>
            </a:r>
            <a:r>
              <a:rPr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sage</a:t>
            </a:r>
            <a:r>
              <a:rPr lang="ja-JP" altLang="ja-JP" sz="1200">
                <a:latin typeface="Meiryo" panose="020B0604030504040204" pitchFamily="34" charset="-128"/>
                <a:ea typeface="Meiryo" panose="020B0604030504040204" pitchFamily="34" charset="-128"/>
              </a:rPr>
              <a:t>のユーザー名&gt;@sage.naist.jp</a:t>
            </a:r>
            <a:r>
              <a:rPr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で入れる。研究室には複数の計算機サーバがあるよ。</a:t>
            </a:r>
            <a:endParaRPr lang="en-US" altLang="ja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en-US" altLang="ja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・</a:t>
            </a:r>
            <a:r>
              <a:rPr kumimoji="1"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config</a:t>
            </a:r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とは</a:t>
            </a:r>
            <a:endParaRPr kumimoji="1" lang="en-US" altLang="ja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kumimoji="1" lang="en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kumimoji="1" lang="ja-JP" altLang="ja-JP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onfiguration</a:t>
            </a:r>
            <a:r>
              <a:rPr kumimoji="1" lang="ja-JP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の略で設定という意味。サーバに繋ぐための設定を書き込むファイルという認識。</a:t>
            </a:r>
            <a:endParaRPr kumimoji="1" lang="en-US" altLang="ja-JP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en-US" altLang="ja-JP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kumimoji="1" lang="ja-JP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・</a:t>
            </a:r>
            <a:r>
              <a:rPr kumimoji="1" lang="en-US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kumimoji="1" lang="ja-JP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はどこにある？</a:t>
            </a:r>
            <a:endParaRPr kumimoji="1" lang="en-US" altLang="ja-JP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kumimoji="1" lang="en-US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/Users/&lt;</a:t>
            </a:r>
            <a:r>
              <a:rPr kumimoji="1" lang="ja-JP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ユーザ名</a:t>
            </a:r>
            <a:r>
              <a:rPr kumimoji="1" lang="en-US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&gt;/.ssh/config</a:t>
            </a:r>
            <a:r>
              <a:rPr kumimoji="1" lang="ja-JP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にある。</a:t>
            </a:r>
            <a:r>
              <a:rPr kumimoji="1" lang="en-US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 .ssh</a:t>
            </a:r>
            <a:r>
              <a:rPr kumimoji="1" lang="ja-JP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で簡単に移動できる。</a:t>
            </a:r>
            <a:r>
              <a:rPr kumimoji="1" lang="en-US" altLang="ja-JP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pwd</a:t>
            </a:r>
            <a:r>
              <a:rPr kumimoji="1" lang="ja-JP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と打てば現在地のパスが分かるから試してみて。</a:t>
            </a:r>
            <a:endParaRPr kumimoji="1" lang="en-US" altLang="ja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kumimoji="1" lang="en-US" altLang="ja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kumimoji="1" lang="ja-JP" altLang="en-US"/>
              <a:t>サーバのユーザ名</a:t>
            </a:r>
            <a:r>
              <a:rPr kumimoji="1" lang="en-US" altLang="ja-JP" dirty="0"/>
              <a:t>/.local</a:t>
            </a:r>
            <a:r>
              <a:rPr kumimoji="1" lang="ja-JP" altLang="en-US"/>
              <a:t>に保存されるから、</a:t>
            </a:r>
            <a:r>
              <a:rPr kumimoji="1" lang="ja-JP" altLang="ja-JP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curl -LsSf https://astral.sh/uv/install.sh | sh</a:t>
            </a:r>
            <a:r>
              <a:rPr kumimoji="1" lang="ja-JP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で大丈夫。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26F0535-B48E-4F55-F9A2-1078F33FB6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32D5F-57A3-B44C-8F1F-29F06C6927EF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39717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・他のメリット</a:t>
            </a:r>
            <a:endParaRPr kumimoji="1" lang="en-US" altLang="ja-JP" dirty="0"/>
          </a:p>
          <a:p>
            <a:r>
              <a:rPr kumimoji="1" lang="ja-JP" altLang="en-US"/>
              <a:t>ローカルは</a:t>
            </a:r>
            <a:r>
              <a:rPr kumimoji="1" lang="en-US" altLang="ja-JP" dirty="0"/>
              <a:t>OS</a:t>
            </a:r>
            <a:r>
              <a:rPr kumimoji="1" lang="ja-JP" altLang="en-US"/>
              <a:t>のバージョン変わったりするけど、サーバは変わらない。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32D5F-57A3-B44C-8F1F-29F06C6927EF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69077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ssh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32D5F-57A3-B44C-8F1F-29F06C6927EF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38873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7A845-AA91-B2ED-4D36-57C8A0EB7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01489E5-04A7-0472-8DF4-F1AF74914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3E946D9-1E76-5944-98A9-D5E9E4287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・他のサーバ</a:t>
            </a:r>
            <a:r>
              <a:rPr kumimoji="1" lang="en-US" altLang="ja-JP" dirty="0"/>
              <a:t>(</a:t>
            </a:r>
            <a:r>
              <a:rPr kumimoji="1" lang="ja-JP" altLang="en-US"/>
              <a:t>例えば</a:t>
            </a:r>
            <a:r>
              <a:rPr kumimoji="1" lang="en-US" altLang="ja-JP" dirty="0"/>
              <a:t>sage)</a:t>
            </a:r>
            <a:r>
              <a:rPr kumimoji="1" lang="ja-JP" altLang="en-US"/>
              <a:t>に繋ぎたいなら</a:t>
            </a:r>
            <a:endParaRPr kumimoji="1" lang="en-US" altLang="ja-JP" dirty="0"/>
          </a:p>
          <a:p>
            <a:r>
              <a:rPr lang="ja-JP" altLang="ja-JP" sz="1200">
                <a:latin typeface="Meiryo" panose="020B0604030504040204" pitchFamily="34" charset="-128"/>
                <a:ea typeface="Meiryo" panose="020B0604030504040204" pitchFamily="34" charset="-128"/>
              </a:rPr>
              <a:t>ssh &lt;</a:t>
            </a:r>
            <a:r>
              <a:rPr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sage</a:t>
            </a:r>
            <a:r>
              <a:rPr lang="ja-JP" altLang="ja-JP" sz="1200">
                <a:latin typeface="Meiryo" panose="020B0604030504040204" pitchFamily="34" charset="-128"/>
                <a:ea typeface="Meiryo" panose="020B0604030504040204" pitchFamily="34" charset="-128"/>
              </a:rPr>
              <a:t>のユーザー名&gt;@sage.naist.jp</a:t>
            </a:r>
            <a:r>
              <a:rPr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で入れる。研究室には複数の計算機サーバがあるよ。</a:t>
            </a:r>
            <a:endParaRPr lang="en-US" altLang="ja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en-US" altLang="ja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・</a:t>
            </a:r>
            <a:r>
              <a:rPr kumimoji="1"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config</a:t>
            </a:r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とは</a:t>
            </a:r>
            <a:endParaRPr kumimoji="1" lang="en-US" altLang="ja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kumimoji="1" lang="en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kumimoji="1" lang="ja-JP" altLang="ja-JP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onfiguration</a:t>
            </a:r>
            <a:r>
              <a:rPr kumimoji="1" lang="ja-JP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の略で設定という意味。サーバに繋ぐための設定を書き込むファイルという認識。</a:t>
            </a:r>
            <a:endParaRPr kumimoji="1" lang="en-US" altLang="ja-JP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en-US" altLang="ja-JP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kumimoji="1" lang="ja-JP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・</a:t>
            </a:r>
            <a:r>
              <a:rPr kumimoji="1" lang="en-US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kumimoji="1" lang="ja-JP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はどこにある？</a:t>
            </a:r>
            <a:endParaRPr kumimoji="1" lang="en-US" altLang="ja-JP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kumimoji="1" lang="en-US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/Users/&lt;</a:t>
            </a:r>
            <a:r>
              <a:rPr kumimoji="1" lang="ja-JP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ユーザ名</a:t>
            </a:r>
            <a:r>
              <a:rPr kumimoji="1" lang="en-US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&gt;/.ssh/config</a:t>
            </a:r>
            <a:r>
              <a:rPr kumimoji="1" lang="ja-JP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にある。</a:t>
            </a:r>
            <a:r>
              <a:rPr kumimoji="1" lang="en-US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 .ssh</a:t>
            </a:r>
            <a:r>
              <a:rPr kumimoji="1" lang="ja-JP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で簡単に移動できる。</a:t>
            </a:r>
            <a:r>
              <a:rPr kumimoji="1" lang="en-US" altLang="ja-JP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pwd</a:t>
            </a:r>
            <a:r>
              <a:rPr kumimoji="1" lang="ja-JP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と打てば現在地のパスが分かるから試してみて。</a:t>
            </a:r>
            <a:endParaRPr kumimoji="1" lang="en-US" altLang="ja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kumimoji="1" lang="en-US" altLang="ja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kumimoji="1" lang="ja-JP" altLang="en-US"/>
              <a:t>サーバのユーザ名</a:t>
            </a:r>
            <a:r>
              <a:rPr kumimoji="1" lang="en-US" altLang="ja-JP" dirty="0"/>
              <a:t>/.local</a:t>
            </a:r>
            <a:r>
              <a:rPr kumimoji="1" lang="ja-JP" altLang="en-US"/>
              <a:t>に保存されるから、</a:t>
            </a:r>
            <a:r>
              <a:rPr kumimoji="1" lang="ja-JP" altLang="ja-JP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curl -LsSf https://astral.sh/uv/install.sh | sh</a:t>
            </a:r>
            <a:r>
              <a:rPr kumimoji="1" lang="ja-JP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で大丈夫。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AAB0827-4E15-0DD4-E635-D1B3F21C08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32D5F-57A3-B44C-8F1F-29F06C6927EF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11739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F5D61-06E9-8FA2-C73D-19F83BF54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317B984-F469-CC3C-94A7-C4DD79143A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99CF59F-529D-2B0A-72F3-6440DC458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・他のサーバ</a:t>
            </a:r>
            <a:r>
              <a:rPr kumimoji="1" lang="en-US" altLang="ja-JP" dirty="0"/>
              <a:t>(</a:t>
            </a:r>
            <a:r>
              <a:rPr kumimoji="1" lang="ja-JP" altLang="en-US"/>
              <a:t>例えば</a:t>
            </a:r>
            <a:r>
              <a:rPr kumimoji="1" lang="en-US" altLang="ja-JP" dirty="0"/>
              <a:t>sage)</a:t>
            </a:r>
            <a:r>
              <a:rPr kumimoji="1" lang="ja-JP" altLang="en-US"/>
              <a:t>に繋ぎたいなら</a:t>
            </a:r>
            <a:endParaRPr kumimoji="1" lang="en-US" altLang="ja-JP" dirty="0"/>
          </a:p>
          <a:p>
            <a:r>
              <a:rPr lang="ja-JP" altLang="ja-JP" sz="1200">
                <a:latin typeface="Meiryo" panose="020B0604030504040204" pitchFamily="34" charset="-128"/>
                <a:ea typeface="Meiryo" panose="020B0604030504040204" pitchFamily="34" charset="-128"/>
              </a:rPr>
              <a:t>ssh &lt;</a:t>
            </a:r>
            <a:r>
              <a:rPr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sage</a:t>
            </a:r>
            <a:r>
              <a:rPr lang="ja-JP" altLang="ja-JP" sz="1200">
                <a:latin typeface="Meiryo" panose="020B0604030504040204" pitchFamily="34" charset="-128"/>
                <a:ea typeface="Meiryo" panose="020B0604030504040204" pitchFamily="34" charset="-128"/>
              </a:rPr>
              <a:t>のユーザー名&gt;@sage.naist.jp</a:t>
            </a:r>
            <a:r>
              <a:rPr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で入れる。研究室には複数の計算機サーバがあるよ。</a:t>
            </a:r>
            <a:endParaRPr lang="en-US" altLang="ja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en-US" altLang="ja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・</a:t>
            </a:r>
            <a:r>
              <a:rPr kumimoji="1"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config</a:t>
            </a:r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とは</a:t>
            </a:r>
            <a:endParaRPr kumimoji="1" lang="en-US" altLang="ja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kumimoji="1" lang="en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kumimoji="1" lang="ja-JP" altLang="ja-JP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onfiguration</a:t>
            </a:r>
            <a:r>
              <a:rPr kumimoji="1" lang="ja-JP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の略で設定という意味。サーバに繋ぐための設定を書き込むファイルという認識。</a:t>
            </a:r>
            <a:endParaRPr kumimoji="1" lang="en-US" altLang="ja-JP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en-US" altLang="ja-JP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kumimoji="1" lang="ja-JP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・</a:t>
            </a:r>
            <a:r>
              <a:rPr kumimoji="1" lang="en-US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kumimoji="1" lang="ja-JP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はどこにある？</a:t>
            </a:r>
            <a:endParaRPr kumimoji="1" lang="en-US" altLang="ja-JP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kumimoji="1" lang="en-US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/Users/&lt;</a:t>
            </a:r>
            <a:r>
              <a:rPr kumimoji="1" lang="ja-JP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ユーザ名</a:t>
            </a:r>
            <a:r>
              <a:rPr kumimoji="1" lang="en-US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&gt;/.ssh/config</a:t>
            </a:r>
            <a:r>
              <a:rPr kumimoji="1" lang="ja-JP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にある。</a:t>
            </a:r>
            <a:r>
              <a:rPr kumimoji="1" lang="en-US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 .ssh</a:t>
            </a:r>
            <a:r>
              <a:rPr kumimoji="1" lang="ja-JP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で簡単に移動できる。</a:t>
            </a:r>
            <a:r>
              <a:rPr kumimoji="1" lang="en-US" altLang="ja-JP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pwd</a:t>
            </a:r>
            <a:r>
              <a:rPr kumimoji="1" lang="ja-JP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と打てば現在地のパスが分かるから試してみて。</a:t>
            </a:r>
            <a:endParaRPr kumimoji="1" lang="en-US" altLang="ja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kumimoji="1" lang="en-US" altLang="ja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09B99E-EF04-E6EF-EFA6-1430B70FDA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32D5F-57A3-B44C-8F1F-29F06C6927EF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7219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51AA7-9D70-CEFD-AEB3-6FA217B3B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32415C6-35B8-AC59-9E37-E93F2C8D1A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0113D86-0081-F098-C2FB-23D8BF1B4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/>
              <a:t>サーバのユーザ名</a:t>
            </a:r>
            <a:r>
              <a:rPr kumimoji="1" lang="en-US" altLang="ja-JP" dirty="0"/>
              <a:t>/.local</a:t>
            </a:r>
            <a:r>
              <a:rPr kumimoji="1" lang="ja-JP" altLang="en-US"/>
              <a:t>に保存されるから、</a:t>
            </a:r>
            <a:r>
              <a:rPr kumimoji="1" lang="ja-JP" altLang="ja-JP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curl -LsSf https://astral.sh/uv/install.sh | sh</a:t>
            </a:r>
            <a:r>
              <a:rPr kumimoji="1" lang="ja-JP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で大丈夫。</a:t>
            </a:r>
            <a:endParaRPr kumimoji="1" lang="ja-JP" altLang="en-US"/>
          </a:p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981FC15-8B41-CC33-8BB3-3A8A7B40F2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32D5F-57A3-B44C-8F1F-29F06C6927EF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91053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CFA2E-63B5-A740-D83C-5F7B63B71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5FE7331-3B33-C58D-1B5B-5F30EEB3F8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C37785F-3EA5-D8F8-C659-A3A3E19DC6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Memo</a:t>
            </a:r>
          </a:p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46C1F81-4FC4-1B75-6B80-A8FFC5DA07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32D5F-57A3-B44C-8F1F-29F06C6927EF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7137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AC5A3B-F616-B126-C896-2BEAD6D605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FE9E6FA-0403-6784-8AC1-88C4D8593C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DB6B8B-0312-FCE9-7D39-AF6FCAEE0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D54EE-4A20-FF49-A97D-3B331D502004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A0A11C-3AF9-E8E6-CFD4-3D485EC7F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A46D45-8ECC-6D2A-C048-48BEEC8C1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25DF7-1467-224E-9ECF-706D43EF62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0847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5E2E7-9281-DFD7-1EA1-D86E3B6C34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9700" y="18255"/>
            <a:ext cx="10515600" cy="1325563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kumimoji="1" lang="ja-JP" altLang="en-US"/>
              <a:t>背景　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AFB6361-B932-FB59-EF3D-39E4099E0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689" y="1253331"/>
            <a:ext cx="11193327" cy="1855629"/>
          </a:xfrm>
        </p:spPr>
        <p:txBody>
          <a:bodyPr>
            <a:normAutofit/>
          </a:bodyPr>
          <a:lstStyle>
            <a:lvl1pPr>
              <a:spcBef>
                <a:spcPts val="400"/>
              </a:spcBef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7B5F64-2872-76A5-2CD4-E6F62736D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D54EE-4A20-FF49-A97D-3B331D502004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6E6EB6-8BA0-181F-1D27-C57DECF60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E12833-1D27-FC92-AF64-4DBC9E836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25DF7-1467-224E-9ECF-706D43EF62B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AAA05B8E-E6F3-1725-FFF3-A4BCDD288ADB}"/>
              </a:ext>
            </a:extLst>
          </p:cNvPr>
          <p:cNvCxnSpPr>
            <a:cxnSpLocks/>
          </p:cNvCxnSpPr>
          <p:nvPr userDrawn="1"/>
        </p:nvCxnSpPr>
        <p:spPr>
          <a:xfrm>
            <a:off x="279700" y="968187"/>
            <a:ext cx="11632600" cy="0"/>
          </a:xfrm>
          <a:prstGeom prst="line">
            <a:avLst/>
          </a:prstGeom>
          <a:ln w="2286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5291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C30F7B-11A5-86BC-236F-6513B983E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697C38B-498C-8E1E-6839-52CBC9294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63FE3A-7535-39AD-E008-1A6443295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D54EE-4A20-FF49-A97D-3B331D502004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8599F3C-1565-6C57-5606-6326E242C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3452AD-27F8-BDD7-C330-4C2338367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25DF7-1467-224E-9ECF-706D43EF62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8053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91889F-88B8-36B0-43ED-55E24480C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B869607-BCF2-C7E4-6026-8CB7A61D09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272DD6A-7D4F-86D6-94BF-CC8E2AE30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748AB23-2447-C716-95EF-9DC06F32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D54EE-4A20-FF49-A97D-3B331D502004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3ADE423-E1EC-F871-5C76-BC7517089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6467DD3-1FB3-2825-CD8F-C0F6AE6AE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25DF7-1467-224E-9ECF-706D43EF62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5174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BE7A4A-955B-8186-4B3F-E3241E75E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62616BB-250D-127B-7CD1-7F893A049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6D2F514-272D-31BE-DE30-04949ED68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6B0EB2F-6485-B507-664C-7368BBF893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DD938CF-1D36-D93D-8821-ABE7275C5B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17F854E-2E15-3BE6-B6BD-FA1B5A102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D54EE-4A20-FF49-A97D-3B331D502004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A9F0EDF-07F2-AB1E-71B4-0A01138D5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E18917A-466B-3837-1FBF-4ABFDCA43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25DF7-1467-224E-9ECF-706D43EF62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4796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1940D89-13D5-82ED-B0FD-5F7B21556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D54EE-4A20-FF49-A97D-3B331D502004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1012733-4F18-7A50-DFD1-547AE71D7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1CAD26B-AC27-C324-BAA4-5FDDDEF3B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25DF7-1467-224E-9ECF-706D43EF62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3947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4F1DAA9-11C6-44A7-94D2-E39F491B9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92EC910-50A5-2A40-50ED-5BDB03C61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5AE516-B154-A420-0B8B-C654D2B55E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DD54EE-4A20-FF49-A97D-3B331D502004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DA0D90F-CC25-1A08-9163-058C2286C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981BDF-DB02-6912-C83B-4F2004F059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725DF7-1467-224E-9ECF-706D43EF62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4199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omebrew/brew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98B9D8-F104-6D61-51F7-AEBF4806DA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2252" y="624445"/>
            <a:ext cx="7427495" cy="1320048"/>
          </a:xfrm>
        </p:spPr>
        <p:txBody>
          <a:bodyPr>
            <a:normAutofit/>
          </a:bodyPr>
          <a:lstStyle/>
          <a:p>
            <a:r>
              <a:rPr kumimoji="1" lang="ja-JP" altLang="en-US" sz="4800">
                <a:solidFill>
                  <a:schemeClr val="tx1">
                    <a:lumMod val="75000"/>
                    <a:lumOff val="25000"/>
                  </a:schemeClr>
                </a:solidFill>
              </a:rPr>
              <a:t>第一回</a:t>
            </a:r>
            <a:r>
              <a:rPr kumimoji="1" lang="en-US" altLang="ja-JP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Python</a:t>
            </a:r>
            <a:r>
              <a:rPr kumimoji="1" lang="ja-JP" altLang="en-US" sz="4800">
                <a:solidFill>
                  <a:schemeClr val="tx1">
                    <a:lumMod val="75000"/>
                    <a:lumOff val="25000"/>
                  </a:schemeClr>
                </a:solidFill>
              </a:rPr>
              <a:t> セミナー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F2F16D9-C632-0524-CF63-7813C3D6DB84}"/>
              </a:ext>
            </a:extLst>
          </p:cNvPr>
          <p:cNvCxnSpPr>
            <a:cxnSpLocks/>
          </p:cNvCxnSpPr>
          <p:nvPr/>
        </p:nvCxnSpPr>
        <p:spPr>
          <a:xfrm>
            <a:off x="2382252" y="1944493"/>
            <a:ext cx="7316919" cy="0"/>
          </a:xfrm>
          <a:prstGeom prst="line">
            <a:avLst/>
          </a:prstGeom>
          <a:ln w="4127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13DA5EC-4603-7A9F-B5B8-1715B698F576}"/>
              </a:ext>
            </a:extLst>
          </p:cNvPr>
          <p:cNvSpPr txBox="1"/>
          <p:nvPr/>
        </p:nvSpPr>
        <p:spPr>
          <a:xfrm>
            <a:off x="3178389" y="2891813"/>
            <a:ext cx="5724644" cy="32348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基礎知識　仮想環境とは</a:t>
            </a:r>
            <a:endParaRPr lang="en-US" altLang="ja-JP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ja-JP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　　　</a:t>
            </a:r>
            <a:r>
              <a:rPr lang="ja-JP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　</a:t>
            </a:r>
            <a:r>
              <a:rPr lang="ja-JP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　仮想環境を作るためのツール</a:t>
            </a:r>
            <a:endParaRPr lang="en-US" altLang="ja-JP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ja-JP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　実践　　仮想環境を作ってみよう</a:t>
            </a:r>
            <a:endParaRPr lang="en-US" altLang="ja-JP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ja-JP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　　　　　サーバに接続しよう</a:t>
            </a:r>
            <a:endParaRPr lang="en-US" altLang="ja-JP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ja-JP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　　　　　サーバで仮想環境を作ろう</a:t>
            </a:r>
            <a:endParaRPr lang="en-US" altLang="ja-JP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686A1FC-BCB0-A835-3073-81E1A345238A}"/>
              </a:ext>
            </a:extLst>
          </p:cNvPr>
          <p:cNvSpPr txBox="1"/>
          <p:nvPr/>
        </p:nvSpPr>
        <p:spPr>
          <a:xfrm>
            <a:off x="5034536" y="245734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＜目次＞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E90208A-6EA6-27D0-54B6-B687578422B7}"/>
              </a:ext>
            </a:extLst>
          </p:cNvPr>
          <p:cNvSpPr/>
          <p:nvPr/>
        </p:nvSpPr>
        <p:spPr>
          <a:xfrm>
            <a:off x="3144545" y="3055537"/>
            <a:ext cx="45719" cy="349691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67C989C-9140-B707-3E77-75E8DE2D71C6}"/>
              </a:ext>
            </a:extLst>
          </p:cNvPr>
          <p:cNvSpPr/>
          <p:nvPr/>
        </p:nvSpPr>
        <p:spPr>
          <a:xfrm>
            <a:off x="3142568" y="4181718"/>
            <a:ext cx="45719" cy="349691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0556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CD33D-C173-F47C-763F-84BE0CC4B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9B3666-04EA-EB4F-82F7-277ADAE96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2252" y="624445"/>
            <a:ext cx="7427495" cy="1320048"/>
          </a:xfrm>
        </p:spPr>
        <p:txBody>
          <a:bodyPr>
            <a:normAutofit/>
          </a:bodyPr>
          <a:lstStyle/>
          <a:p>
            <a:r>
              <a:rPr kumimoji="1" lang="ja-JP" altLang="en-US" sz="4800">
                <a:solidFill>
                  <a:schemeClr val="tx1">
                    <a:lumMod val="75000"/>
                    <a:lumOff val="25000"/>
                  </a:schemeClr>
                </a:solidFill>
              </a:rPr>
              <a:t>第一回</a:t>
            </a:r>
            <a:r>
              <a:rPr kumimoji="1" lang="en-US" altLang="ja-JP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Python</a:t>
            </a:r>
            <a:r>
              <a:rPr kumimoji="1" lang="ja-JP" altLang="en-US" sz="4800">
                <a:solidFill>
                  <a:schemeClr val="tx1">
                    <a:lumMod val="75000"/>
                    <a:lumOff val="25000"/>
                  </a:schemeClr>
                </a:solidFill>
              </a:rPr>
              <a:t> セミナー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F8B89F5E-A8D4-5649-A3E1-CF5BC5CB00E5}"/>
              </a:ext>
            </a:extLst>
          </p:cNvPr>
          <p:cNvCxnSpPr>
            <a:cxnSpLocks/>
          </p:cNvCxnSpPr>
          <p:nvPr/>
        </p:nvCxnSpPr>
        <p:spPr>
          <a:xfrm>
            <a:off x="2382252" y="1944493"/>
            <a:ext cx="7316919" cy="0"/>
          </a:xfrm>
          <a:prstGeom prst="line">
            <a:avLst/>
          </a:prstGeom>
          <a:ln w="4127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C7E9F00-91B1-8A95-61CD-22F215168D38}"/>
              </a:ext>
            </a:extLst>
          </p:cNvPr>
          <p:cNvSpPr txBox="1"/>
          <p:nvPr/>
        </p:nvSpPr>
        <p:spPr>
          <a:xfrm>
            <a:off x="3178389" y="2891813"/>
            <a:ext cx="5724644" cy="32348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基礎知識　仮想環境とは</a:t>
            </a:r>
            <a:endParaRPr lang="en-US" altLang="ja-JP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ja-JP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　　　</a:t>
            </a:r>
            <a:r>
              <a:rPr lang="ja-JP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　</a:t>
            </a:r>
            <a:r>
              <a:rPr lang="ja-JP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　仮想環境を作るためのツール</a:t>
            </a:r>
            <a:endParaRPr lang="en-US" altLang="ja-JP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ja-JP" altLang="en-US" sz="2400">
                <a:solidFill>
                  <a:schemeClr val="bg1">
                    <a:lumMod val="85000"/>
                  </a:schemeClr>
                </a:solidFill>
              </a:rPr>
              <a:t>　実践　　仮想環境を作ってみよう</a:t>
            </a:r>
            <a:endParaRPr lang="en-US" altLang="ja-JP" sz="24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ja-JP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　　　　　</a:t>
            </a:r>
            <a:r>
              <a:rPr lang="ja-JP" altLang="en-US" sz="2400">
                <a:solidFill>
                  <a:schemeClr val="bg1">
                    <a:lumMod val="85000"/>
                  </a:schemeClr>
                </a:solidFill>
              </a:rPr>
              <a:t>サーバに接続しよう</a:t>
            </a:r>
            <a:endParaRPr lang="en-US" altLang="ja-JP" sz="24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ja-JP" altLang="en-US" sz="2400">
                <a:solidFill>
                  <a:schemeClr val="bg1">
                    <a:lumMod val="85000"/>
                  </a:schemeClr>
                </a:solidFill>
              </a:rPr>
              <a:t>　　　　　サーバで仮想環境を作ろう</a:t>
            </a:r>
            <a:endParaRPr lang="en-US" altLang="ja-JP" sz="24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7D78F3A-2580-1C24-0D2B-F7BC07CDE961}"/>
              </a:ext>
            </a:extLst>
          </p:cNvPr>
          <p:cNvSpPr txBox="1"/>
          <p:nvPr/>
        </p:nvSpPr>
        <p:spPr>
          <a:xfrm>
            <a:off x="5034536" y="245734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＜目次＞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2715D79-F649-F246-5B59-4A996241E4A1}"/>
              </a:ext>
            </a:extLst>
          </p:cNvPr>
          <p:cNvSpPr/>
          <p:nvPr/>
        </p:nvSpPr>
        <p:spPr>
          <a:xfrm>
            <a:off x="3144545" y="3055537"/>
            <a:ext cx="45719" cy="349691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3DD7008-187E-75E6-0802-A15B89C2C4BA}"/>
              </a:ext>
            </a:extLst>
          </p:cNvPr>
          <p:cNvSpPr/>
          <p:nvPr/>
        </p:nvSpPr>
        <p:spPr>
          <a:xfrm>
            <a:off x="3142568" y="4181718"/>
            <a:ext cx="45719" cy="349691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3645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角丸四角形 34">
            <a:extLst>
              <a:ext uri="{FF2B5EF4-FFF2-40B4-BE49-F238E27FC236}">
                <a16:creationId xmlns:a16="http://schemas.microsoft.com/office/drawing/2014/main" id="{0AE9A83F-E3B9-EBF1-4E0A-CD4D6C28A10C}"/>
              </a:ext>
            </a:extLst>
          </p:cNvPr>
          <p:cNvSpPr/>
          <p:nvPr/>
        </p:nvSpPr>
        <p:spPr>
          <a:xfrm>
            <a:off x="6381532" y="2804312"/>
            <a:ext cx="5293800" cy="3561028"/>
          </a:xfrm>
          <a:prstGeom prst="roundRect">
            <a:avLst>
              <a:gd name="adj" fmla="val 7663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角丸四角形 31">
            <a:extLst>
              <a:ext uri="{FF2B5EF4-FFF2-40B4-BE49-F238E27FC236}">
                <a16:creationId xmlns:a16="http://schemas.microsoft.com/office/drawing/2014/main" id="{7E90F826-2F1F-5C3F-D8EC-8CA01AD5616A}"/>
              </a:ext>
            </a:extLst>
          </p:cNvPr>
          <p:cNvSpPr/>
          <p:nvPr/>
        </p:nvSpPr>
        <p:spPr>
          <a:xfrm>
            <a:off x="9116717" y="3640165"/>
            <a:ext cx="2034851" cy="1761208"/>
          </a:xfrm>
          <a:prstGeom prst="roundRect">
            <a:avLst>
              <a:gd name="adj" fmla="val 6928"/>
            </a:avLst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角丸四角形 32">
            <a:extLst>
              <a:ext uri="{FF2B5EF4-FFF2-40B4-BE49-F238E27FC236}">
                <a16:creationId xmlns:a16="http://schemas.microsoft.com/office/drawing/2014/main" id="{14A93E8C-2F27-B718-23B1-A03EFCF3E0D6}"/>
              </a:ext>
            </a:extLst>
          </p:cNvPr>
          <p:cNvSpPr/>
          <p:nvPr/>
        </p:nvSpPr>
        <p:spPr>
          <a:xfrm>
            <a:off x="9322769" y="3481194"/>
            <a:ext cx="1648638" cy="313005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1F415D2C-B765-B402-EBC2-428BDAFAF0E0}"/>
              </a:ext>
            </a:extLst>
          </p:cNvPr>
          <p:cNvSpPr txBox="1"/>
          <p:nvPr/>
        </p:nvSpPr>
        <p:spPr>
          <a:xfrm>
            <a:off x="9379863" y="3478505"/>
            <a:ext cx="1527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/>
              <a:t>プロジェクト</a:t>
            </a:r>
            <a:r>
              <a:rPr lang="en-US" altLang="ja-JP" sz="1600" dirty="0"/>
              <a:t>B</a:t>
            </a:r>
            <a:endParaRPr kumimoji="1" lang="ja-JP" altLang="en-US" sz="1600"/>
          </a:p>
        </p:txBody>
      </p:sp>
      <p:sp>
        <p:nvSpPr>
          <p:cNvPr id="29" name="角丸四角形 28">
            <a:extLst>
              <a:ext uri="{FF2B5EF4-FFF2-40B4-BE49-F238E27FC236}">
                <a16:creationId xmlns:a16="http://schemas.microsoft.com/office/drawing/2014/main" id="{EE958C25-E96F-3F50-A994-B334ED6B2F93}"/>
              </a:ext>
            </a:extLst>
          </p:cNvPr>
          <p:cNvSpPr/>
          <p:nvPr/>
        </p:nvSpPr>
        <p:spPr>
          <a:xfrm>
            <a:off x="6875814" y="3640165"/>
            <a:ext cx="2034851" cy="1761208"/>
          </a:xfrm>
          <a:prstGeom prst="roundRect">
            <a:avLst>
              <a:gd name="adj" fmla="val 6928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角丸四角形 26">
            <a:extLst>
              <a:ext uri="{FF2B5EF4-FFF2-40B4-BE49-F238E27FC236}">
                <a16:creationId xmlns:a16="http://schemas.microsoft.com/office/drawing/2014/main" id="{F4070638-749D-0D97-CA52-E6335DFF0F58}"/>
              </a:ext>
            </a:extLst>
          </p:cNvPr>
          <p:cNvSpPr/>
          <p:nvPr/>
        </p:nvSpPr>
        <p:spPr>
          <a:xfrm>
            <a:off x="7081866" y="3481194"/>
            <a:ext cx="1648638" cy="3130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F4430FA-D5E2-0D0A-2AC1-449D361D6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基礎知識　仮想環境とは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215A7B5-A393-CD27-FBED-23B961382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689" y="1253332"/>
            <a:ext cx="11193327" cy="948448"/>
          </a:xfrm>
        </p:spPr>
        <p:txBody>
          <a:bodyPr/>
          <a:lstStyle/>
          <a:p>
            <a:pPr>
              <a:spcBef>
                <a:spcPts val="400"/>
              </a:spcBef>
            </a:pPr>
            <a:r>
              <a:rPr kumimoji="1" lang="ja-JP" altLang="en-US"/>
              <a:t>仮想環境とは、プロジェクトごとに自分で作る独立した環境のこと。</a:t>
            </a:r>
            <a:endParaRPr kumimoji="1" lang="en-US" altLang="ja-JP" dirty="0"/>
          </a:p>
          <a:p>
            <a:pPr>
              <a:spcBef>
                <a:spcPts val="400"/>
              </a:spcBef>
            </a:pPr>
            <a:r>
              <a:rPr lang="ja-JP" altLang="en-US">
                <a:solidFill>
                  <a:srgbClr val="F9B600"/>
                </a:solidFill>
              </a:rPr>
              <a:t>特定のバージョンの</a:t>
            </a:r>
            <a:r>
              <a:rPr lang="en-US" altLang="ja-JP" dirty="0">
                <a:solidFill>
                  <a:srgbClr val="F9B600"/>
                </a:solidFill>
              </a:rPr>
              <a:t>Python</a:t>
            </a:r>
            <a:r>
              <a:rPr lang="ja-JP" altLang="en-US"/>
              <a:t>と、</a:t>
            </a:r>
            <a:r>
              <a:rPr lang="ja-JP" altLang="en-US">
                <a:solidFill>
                  <a:srgbClr val="F9B600"/>
                </a:solidFill>
              </a:rPr>
              <a:t>パッケージ（ライブラリ）</a:t>
            </a:r>
            <a:r>
              <a:rPr lang="ja-JP" altLang="en-US"/>
              <a:t>の２つを用意する。</a:t>
            </a:r>
            <a:endParaRPr lang="en-US" altLang="ja-JP" dirty="0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C609A9-FEF9-EB4E-73A5-E2F05721CC9E}"/>
              </a:ext>
            </a:extLst>
          </p:cNvPr>
          <p:cNvCxnSpPr/>
          <p:nvPr/>
        </p:nvCxnSpPr>
        <p:spPr>
          <a:xfrm>
            <a:off x="1985211" y="457200"/>
            <a:ext cx="0" cy="372979"/>
          </a:xfrm>
          <a:prstGeom prst="line">
            <a:avLst/>
          </a:prstGeom>
          <a:ln w="2159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C9E96F4-D041-D060-9BF5-C505E6DFA44E}"/>
              </a:ext>
            </a:extLst>
          </p:cNvPr>
          <p:cNvSpPr txBox="1"/>
          <p:nvPr/>
        </p:nvSpPr>
        <p:spPr>
          <a:xfrm>
            <a:off x="13663556" y="4340610"/>
            <a:ext cx="664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仮想環境内で問題が起きても、メインの環境には影響ないよ。</a:t>
            </a:r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F61C577-C832-5AA5-F251-585849B0F1DF}"/>
              </a:ext>
            </a:extLst>
          </p:cNvPr>
          <p:cNvSpPr txBox="1"/>
          <p:nvPr/>
        </p:nvSpPr>
        <p:spPr>
          <a:xfrm>
            <a:off x="7138960" y="3478505"/>
            <a:ext cx="1534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/>
              <a:t>プロジェクト</a:t>
            </a:r>
            <a:r>
              <a:rPr kumimoji="1" lang="en-US" altLang="ja-JP" sz="1600" dirty="0"/>
              <a:t>A</a:t>
            </a:r>
            <a:endParaRPr kumimoji="1" lang="ja-JP" altLang="en-US" sz="160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9ADF72F-1CC0-AA59-22D0-64B8579E6F68}"/>
              </a:ext>
            </a:extLst>
          </p:cNvPr>
          <p:cNvSpPr txBox="1"/>
          <p:nvPr/>
        </p:nvSpPr>
        <p:spPr>
          <a:xfrm>
            <a:off x="7065809" y="5590444"/>
            <a:ext cx="4513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必要な道具を詰め込んだ箱を</a:t>
            </a:r>
            <a:r>
              <a:rPr lang="ja-JP" alt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用意する感じ</a:t>
            </a:r>
            <a:endParaRPr kumimoji="1" lang="ja-JP" alt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77B34F0-099A-8F5A-7ABE-11230A129F44}"/>
              </a:ext>
            </a:extLst>
          </p:cNvPr>
          <p:cNvSpPr txBox="1"/>
          <p:nvPr/>
        </p:nvSpPr>
        <p:spPr>
          <a:xfrm>
            <a:off x="8462559" y="295851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イメージ</a:t>
            </a:r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02E5C432-7257-0A9B-805E-256ECC34916D}"/>
              </a:ext>
            </a:extLst>
          </p:cNvPr>
          <p:cNvGrpSpPr/>
          <p:nvPr/>
        </p:nvGrpSpPr>
        <p:grpSpPr>
          <a:xfrm>
            <a:off x="279700" y="2570141"/>
            <a:ext cx="6369456" cy="1833505"/>
            <a:chOff x="279700" y="2627291"/>
            <a:chExt cx="6369456" cy="1833505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3FCE5A4D-E0F4-1106-588F-989221D12667}"/>
                </a:ext>
              </a:extLst>
            </p:cNvPr>
            <p:cNvSpPr txBox="1"/>
            <p:nvPr/>
          </p:nvSpPr>
          <p:spPr>
            <a:xfrm>
              <a:off x="435689" y="2627291"/>
              <a:ext cx="35493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Python </a:t>
              </a:r>
              <a:r>
                <a:rPr kumimoji="1" lang="ja-JP" altLang="en-US" sz="20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のバージョンについて</a:t>
              </a:r>
              <a:endParaRPr kumimoji="1" lang="en-US" altLang="ja-JP" sz="20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0D996A97-E6ED-0DE1-E73B-64B0021D11BD}"/>
                </a:ext>
              </a:extLst>
            </p:cNvPr>
            <p:cNvSpPr txBox="1"/>
            <p:nvPr/>
          </p:nvSpPr>
          <p:spPr>
            <a:xfrm>
              <a:off x="279700" y="3034646"/>
              <a:ext cx="636945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バージョンによって文法や使える機能が異なるので、</a:t>
              </a:r>
              <a:endPara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r>
                <a:rPr lang="ja-JP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仮想環境ごとに</a:t>
              </a:r>
              <a:r>
                <a:rPr lang="en" altLang="ja-JP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Python</a:t>
              </a:r>
              <a:r>
                <a:rPr lang="ja-JP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のバージョンを指定する必要あり。</a:t>
              </a:r>
              <a:endPara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413AD4EF-23C3-562E-1FC0-12B452730C65}"/>
                </a:ext>
              </a:extLst>
            </p:cNvPr>
            <p:cNvSpPr txBox="1"/>
            <p:nvPr/>
          </p:nvSpPr>
          <p:spPr>
            <a:xfrm>
              <a:off x="435689" y="3629799"/>
              <a:ext cx="283898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（例）</a:t>
              </a:r>
              <a:endParaRPr kumimoji="1"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r>
                <a:rPr lang="en-US" altLang="ja-JP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Python2 </a:t>
              </a:r>
              <a:r>
                <a:rPr lang="ja-JP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→</a:t>
              </a:r>
              <a:r>
                <a:rPr lang="en-US" altLang="ja-JP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" altLang="ja-JP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print "Hello World"</a:t>
              </a:r>
              <a:endPara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r>
                <a:rPr lang="en-US" altLang="ja-JP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Python3 </a:t>
              </a:r>
              <a:r>
                <a:rPr lang="ja-JP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→</a:t>
              </a:r>
              <a:r>
                <a:rPr lang="en-US" altLang="ja-JP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" altLang="ja-JP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print("Hello World")</a:t>
              </a:r>
              <a:endParaRPr lang="ja-JP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8429B1F2-44D3-96F0-0016-7AD47D6AE699}"/>
                </a:ext>
              </a:extLst>
            </p:cNvPr>
            <p:cNvSpPr/>
            <p:nvPr/>
          </p:nvSpPr>
          <p:spPr>
            <a:xfrm>
              <a:off x="435689" y="2685178"/>
              <a:ext cx="45719" cy="257532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96045D34-3E54-7E92-B9D5-FBD5BB725B01}"/>
              </a:ext>
            </a:extLst>
          </p:cNvPr>
          <p:cNvGrpSpPr/>
          <p:nvPr/>
        </p:nvGrpSpPr>
        <p:grpSpPr>
          <a:xfrm>
            <a:off x="279700" y="4709942"/>
            <a:ext cx="6369456" cy="1836726"/>
            <a:chOff x="279700" y="4858532"/>
            <a:chExt cx="6369456" cy="1836726"/>
          </a:xfrm>
        </p:grpSpPr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B7904682-A813-DA95-9F8F-3F749EBB6111}"/>
                </a:ext>
              </a:extLst>
            </p:cNvPr>
            <p:cNvSpPr txBox="1"/>
            <p:nvPr/>
          </p:nvSpPr>
          <p:spPr>
            <a:xfrm>
              <a:off x="504267" y="4858532"/>
              <a:ext cx="24929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0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パッケージについて</a:t>
              </a:r>
              <a:endParaRPr kumimoji="1" lang="ja-JP" altLang="en-US" sz="2000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911E3B66-FE70-F745-B3CD-EB68CB774A3C}"/>
                </a:ext>
              </a:extLst>
            </p:cNvPr>
            <p:cNvSpPr/>
            <p:nvPr/>
          </p:nvSpPr>
          <p:spPr>
            <a:xfrm>
              <a:off x="458548" y="4920553"/>
              <a:ext cx="45719" cy="257532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DA12EAF9-95BF-78CB-6B55-25DF35924624}"/>
                </a:ext>
              </a:extLst>
            </p:cNvPr>
            <p:cNvSpPr txBox="1"/>
            <p:nvPr/>
          </p:nvSpPr>
          <p:spPr>
            <a:xfrm>
              <a:off x="279700" y="5258642"/>
              <a:ext cx="636945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標準機能（＝</a:t>
              </a:r>
              <a:r>
                <a:rPr lang="en-US" altLang="ja-JP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Python</a:t>
              </a:r>
              <a:r>
                <a:rPr lang="ja-JP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）だけでなく、追加のパッケージを</a:t>
              </a:r>
              <a:endPara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r>
                <a:rPr lang="ja-JP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入れることで、さまざまな処理を簡単に行える。</a:t>
              </a: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0257EB52-0C08-33B3-224A-EB629A325B15}"/>
                </a:ext>
              </a:extLst>
            </p:cNvPr>
            <p:cNvSpPr txBox="1"/>
            <p:nvPr/>
          </p:nvSpPr>
          <p:spPr>
            <a:xfrm>
              <a:off x="427779" y="5864261"/>
              <a:ext cx="325890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（例）</a:t>
              </a:r>
              <a:endParaRPr kumimoji="1"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r>
                <a:rPr lang="ja-JP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数値計算をしたいときは</a:t>
              </a:r>
              <a:r>
                <a:rPr lang="en-US" altLang="ja-JP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altLang="ja-JP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… NumPy</a:t>
              </a:r>
            </a:p>
            <a:p>
              <a:r>
                <a:rPr lang="ja-JP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グラフを描きたいときは </a:t>
              </a:r>
              <a:r>
                <a:rPr lang="en-US" altLang="ja-JP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… Matplotlib</a:t>
              </a:r>
            </a:p>
          </p:txBody>
        </p:sp>
      </p:grp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DCFCD6C-95FF-9ACC-B8FB-026BEC635CC5}"/>
              </a:ext>
            </a:extLst>
          </p:cNvPr>
          <p:cNvSpPr txBox="1"/>
          <p:nvPr/>
        </p:nvSpPr>
        <p:spPr>
          <a:xfrm>
            <a:off x="7165546" y="4060405"/>
            <a:ext cx="15130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ja-JP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 2.7</a:t>
            </a:r>
          </a:p>
          <a:p>
            <a:r>
              <a:rPr lang="en" altLang="ja-JP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NumPy 1.16</a:t>
            </a:r>
          </a:p>
          <a:p>
            <a:r>
              <a:rPr lang="en" altLang="ja-JP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Matplotlib 2.2</a:t>
            </a:r>
          </a:p>
          <a:p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A90FE2A-C370-F323-0BD2-2579243BA696}"/>
              </a:ext>
            </a:extLst>
          </p:cNvPr>
          <p:cNvSpPr txBox="1"/>
          <p:nvPr/>
        </p:nvSpPr>
        <p:spPr>
          <a:xfrm>
            <a:off x="9490021" y="3976552"/>
            <a:ext cx="131407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ja-JP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 3.11</a:t>
            </a:r>
          </a:p>
          <a:p>
            <a:r>
              <a:rPr lang="en" altLang="ja-JP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NumPy 2.0</a:t>
            </a:r>
          </a:p>
          <a:p>
            <a:r>
              <a:rPr lang="en" altLang="ja-JP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pandas 2.2</a:t>
            </a:r>
          </a:p>
          <a:p>
            <a:r>
              <a:rPr lang="en" altLang="ja-JP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PyTorch</a:t>
            </a:r>
            <a:r>
              <a:rPr lang="en" altLang="ja-JP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2.3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4215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CD7457-DA3B-854A-5E56-132580304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基礎知識　仮想環境を作るためのツール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82E0E8-84C4-0921-61C5-99D50F719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689" y="1253331"/>
            <a:ext cx="11193327" cy="1076617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ja-JP" dirty="0"/>
              <a:t>Python</a:t>
            </a:r>
            <a:r>
              <a:rPr kumimoji="1" lang="ja-JP" altLang="en-US"/>
              <a:t>のバージョン指定や、パッケージをいれるためのツールが複数ある。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/>
              <a:t>今回は</a:t>
            </a:r>
            <a:r>
              <a:rPr lang="en-US" altLang="ja-JP" dirty="0"/>
              <a:t>『</a:t>
            </a:r>
            <a:r>
              <a:rPr lang="en-US" altLang="ja-JP" dirty="0" err="1">
                <a:solidFill>
                  <a:srgbClr val="ECAC0A"/>
                </a:solidFill>
              </a:rPr>
              <a:t>uv</a:t>
            </a:r>
            <a:r>
              <a:rPr lang="en-US" altLang="ja-JP" dirty="0"/>
              <a:t>』</a:t>
            </a:r>
            <a:r>
              <a:rPr lang="ja-JP" altLang="en-US"/>
              <a:t>を使うことを想定して進める。</a:t>
            </a:r>
            <a:endParaRPr kumimoji="1" lang="ja-JP" altLang="en-US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C0F94458-4CEC-CFD0-FBBD-1CF91D2D83CE}"/>
              </a:ext>
            </a:extLst>
          </p:cNvPr>
          <p:cNvCxnSpPr/>
          <p:nvPr/>
        </p:nvCxnSpPr>
        <p:spPr>
          <a:xfrm>
            <a:off x="1985211" y="457200"/>
            <a:ext cx="0" cy="372979"/>
          </a:xfrm>
          <a:prstGeom prst="line">
            <a:avLst/>
          </a:prstGeom>
          <a:ln w="2159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E03BAEBD-25B9-96B1-C8DC-6152EC58DE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258588"/>
              </p:ext>
            </p:extLst>
          </p:nvPr>
        </p:nvGraphicFramePr>
        <p:xfrm>
          <a:off x="4242231" y="2843587"/>
          <a:ext cx="7507705" cy="3665500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588168">
                  <a:extLst>
                    <a:ext uri="{9D8B030D-6E8A-4147-A177-3AD203B41FA5}">
                      <a16:colId xmlns:a16="http://schemas.microsoft.com/office/drawing/2014/main" val="2117970306"/>
                    </a:ext>
                  </a:extLst>
                </a:gridCol>
                <a:gridCol w="1888958">
                  <a:extLst>
                    <a:ext uri="{9D8B030D-6E8A-4147-A177-3AD203B41FA5}">
                      <a16:colId xmlns:a16="http://schemas.microsoft.com/office/drawing/2014/main" val="3701534415"/>
                    </a:ext>
                  </a:extLst>
                </a:gridCol>
                <a:gridCol w="1876927">
                  <a:extLst>
                    <a:ext uri="{9D8B030D-6E8A-4147-A177-3AD203B41FA5}">
                      <a16:colId xmlns:a16="http://schemas.microsoft.com/office/drawing/2014/main" val="836436086"/>
                    </a:ext>
                  </a:extLst>
                </a:gridCol>
                <a:gridCol w="2153652">
                  <a:extLst>
                    <a:ext uri="{9D8B030D-6E8A-4147-A177-3AD203B41FA5}">
                      <a16:colId xmlns:a16="http://schemas.microsoft.com/office/drawing/2014/main" val="845219485"/>
                    </a:ext>
                  </a:extLst>
                </a:gridCol>
              </a:tblGrid>
              <a:tr h="366550">
                <a:tc>
                  <a:txBody>
                    <a:bodyPr/>
                    <a:lstStyle/>
                    <a:p>
                      <a:pPr algn="ctr"/>
                      <a:r>
                        <a:rPr lang="ja-JP" altLang="en-US"/>
                        <a:t>ツール名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Python </a:t>
                      </a:r>
                      <a:r>
                        <a:rPr lang="en-US" dirty="0" err="1"/>
                        <a:t>ver</a:t>
                      </a:r>
                      <a:r>
                        <a:rPr lang="ja-JP" altLang="en-US"/>
                        <a:t>指定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/>
                        <a:t>仮想環境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/>
                        <a:t>パッケージ管理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935847"/>
                  </a:ext>
                </a:extLst>
              </a:tr>
              <a:tr h="366550">
                <a:tc>
                  <a:txBody>
                    <a:bodyPr/>
                    <a:lstStyle/>
                    <a:p>
                      <a:r>
                        <a:rPr lang="en-US" dirty="0"/>
                        <a:t>pip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/>
                        <a:t>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3244202"/>
                  </a:ext>
                </a:extLst>
              </a:tr>
              <a:tr h="366550">
                <a:tc>
                  <a:txBody>
                    <a:bodyPr/>
                    <a:lstStyle/>
                    <a:p>
                      <a:r>
                        <a:rPr lang="en-US" dirty="0" err="1"/>
                        <a:t>virtualenv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/>
                        <a:t>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2150788"/>
                  </a:ext>
                </a:extLst>
              </a:tr>
              <a:tr h="366550">
                <a:tc>
                  <a:txBody>
                    <a:bodyPr/>
                    <a:lstStyle/>
                    <a:p>
                      <a:r>
                        <a:rPr lang="en-US" dirty="0" err="1"/>
                        <a:t>pyenv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/>
                        <a:t>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4087267"/>
                  </a:ext>
                </a:extLst>
              </a:tr>
              <a:tr h="366550">
                <a:tc>
                  <a:txBody>
                    <a:bodyPr/>
                    <a:lstStyle/>
                    <a:p>
                      <a:r>
                        <a:rPr lang="en-US" dirty="0"/>
                        <a:t>Docker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4766356"/>
                  </a:ext>
                </a:extLst>
              </a:tr>
              <a:tr h="366550">
                <a:tc>
                  <a:txBody>
                    <a:bodyPr/>
                    <a:lstStyle/>
                    <a:p>
                      <a:r>
                        <a:rPr lang="en-US" dirty="0" err="1"/>
                        <a:t>Pipenv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/>
                        <a:t>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2881132"/>
                  </a:ext>
                </a:extLst>
              </a:tr>
              <a:tr h="366550">
                <a:tc>
                  <a:txBody>
                    <a:bodyPr/>
                    <a:lstStyle/>
                    <a:p>
                      <a:r>
                        <a:rPr lang="en-US"/>
                        <a:t>Poetry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8054910"/>
                  </a:ext>
                </a:extLst>
              </a:tr>
              <a:tr h="366550">
                <a:tc>
                  <a:txBody>
                    <a:bodyPr/>
                    <a:lstStyle/>
                    <a:p>
                      <a:r>
                        <a:rPr lang="en-US" dirty="0"/>
                        <a:t>Rye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3449500"/>
                  </a:ext>
                </a:extLst>
              </a:tr>
              <a:tr h="366550">
                <a:tc>
                  <a:txBody>
                    <a:bodyPr/>
                    <a:lstStyle/>
                    <a:p>
                      <a:r>
                        <a:rPr lang="en-US"/>
                        <a:t>uv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7106576"/>
                  </a:ext>
                </a:extLst>
              </a:tr>
              <a:tr h="366550">
                <a:tc>
                  <a:txBody>
                    <a:bodyPr/>
                    <a:lstStyle/>
                    <a:p>
                      <a:r>
                        <a:rPr lang="en-US" dirty="0" err="1"/>
                        <a:t>Miniconda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4610898"/>
                  </a:ext>
                </a:extLst>
              </a:tr>
            </a:tbl>
          </a:graphicData>
        </a:graphic>
      </p:graphicFrame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B0B6451-72B8-656D-5D73-45C3D8536D88}"/>
              </a:ext>
            </a:extLst>
          </p:cNvPr>
          <p:cNvSpPr txBox="1"/>
          <p:nvPr/>
        </p:nvSpPr>
        <p:spPr>
          <a:xfrm>
            <a:off x="6403339" y="2428473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〜</a:t>
            </a:r>
            <a:r>
              <a:rPr kumimoji="1" lang="ja-JP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ツール一覧とできること</a:t>
            </a:r>
            <a:r>
              <a:rPr kumimoji="1" lang="en-US" altLang="ja-JP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〜</a:t>
            </a:r>
            <a:endParaRPr kumimoji="1" lang="ja-JP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C013C17-2FE7-ED99-EC53-B7C6A60E1BDB}"/>
              </a:ext>
            </a:extLst>
          </p:cNvPr>
          <p:cNvSpPr txBox="1"/>
          <p:nvPr/>
        </p:nvSpPr>
        <p:spPr>
          <a:xfrm>
            <a:off x="579451" y="4528053"/>
            <a:ext cx="3262432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全てまとめて行えるツール</a:t>
            </a:r>
          </a:p>
          <a:p>
            <a: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＝ 環境構築が比較的簡単</a:t>
            </a:r>
          </a:p>
          <a:p>
            <a:endParaRPr kumimoji="1" lang="ja-JP" altLang="en-US"/>
          </a:p>
        </p:txBody>
      </p:sp>
      <p:cxnSp>
        <p:nvCxnSpPr>
          <p:cNvPr id="15" name="カギ線コネクタ 14">
            <a:extLst>
              <a:ext uri="{FF2B5EF4-FFF2-40B4-BE49-F238E27FC236}">
                <a16:creationId xmlns:a16="http://schemas.microsoft.com/office/drawing/2014/main" id="{E3B6CE3C-0F7C-0EA1-11E5-3C4CC0DB51F7}"/>
              </a:ext>
            </a:extLst>
          </p:cNvPr>
          <p:cNvCxnSpPr>
            <a:cxnSpLocks/>
          </p:cNvCxnSpPr>
          <p:nvPr/>
        </p:nvCxnSpPr>
        <p:spPr>
          <a:xfrm>
            <a:off x="2406107" y="5237922"/>
            <a:ext cx="1640684" cy="750283"/>
          </a:xfrm>
          <a:prstGeom prst="bentConnector3">
            <a:avLst>
              <a:gd name="adj1" fmla="val 325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4CF69BB-83D7-0A12-EE79-0AAFD9669FD5}"/>
              </a:ext>
            </a:extLst>
          </p:cNvPr>
          <p:cNvSpPr/>
          <p:nvPr/>
        </p:nvSpPr>
        <p:spPr>
          <a:xfrm>
            <a:off x="4242231" y="5769735"/>
            <a:ext cx="7507705" cy="386366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2788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53D77-0757-A072-4BFD-8637C52D4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671482-4C1C-5D6F-2DD5-545C175405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2252" y="624445"/>
            <a:ext cx="7427495" cy="1320048"/>
          </a:xfrm>
        </p:spPr>
        <p:txBody>
          <a:bodyPr>
            <a:normAutofit/>
          </a:bodyPr>
          <a:lstStyle/>
          <a:p>
            <a:r>
              <a:rPr kumimoji="1" lang="ja-JP" altLang="en-US" sz="4800">
                <a:solidFill>
                  <a:schemeClr val="tx1">
                    <a:lumMod val="75000"/>
                    <a:lumOff val="25000"/>
                  </a:schemeClr>
                </a:solidFill>
              </a:rPr>
              <a:t>第一回</a:t>
            </a:r>
            <a:r>
              <a:rPr kumimoji="1" lang="en-US" altLang="ja-JP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Python</a:t>
            </a:r>
            <a:r>
              <a:rPr kumimoji="1" lang="ja-JP" altLang="en-US" sz="4800">
                <a:solidFill>
                  <a:schemeClr val="tx1">
                    <a:lumMod val="75000"/>
                    <a:lumOff val="25000"/>
                  </a:schemeClr>
                </a:solidFill>
              </a:rPr>
              <a:t> セミナー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E67BF5D1-4F61-4875-F6EA-151CC382D294}"/>
              </a:ext>
            </a:extLst>
          </p:cNvPr>
          <p:cNvCxnSpPr>
            <a:cxnSpLocks/>
          </p:cNvCxnSpPr>
          <p:nvPr/>
        </p:nvCxnSpPr>
        <p:spPr>
          <a:xfrm>
            <a:off x="2382252" y="1944493"/>
            <a:ext cx="7316919" cy="0"/>
          </a:xfrm>
          <a:prstGeom prst="line">
            <a:avLst/>
          </a:prstGeom>
          <a:ln w="4127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40EF7AE-A6C9-F023-8E33-351A32115BA0}"/>
              </a:ext>
            </a:extLst>
          </p:cNvPr>
          <p:cNvSpPr txBox="1"/>
          <p:nvPr/>
        </p:nvSpPr>
        <p:spPr>
          <a:xfrm>
            <a:off x="3178389" y="2891813"/>
            <a:ext cx="5724644" cy="32348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400">
                <a:solidFill>
                  <a:schemeClr val="bg1">
                    <a:lumMod val="85000"/>
                  </a:schemeClr>
                </a:solidFill>
              </a:rPr>
              <a:t>基礎知識　仮想環境とは</a:t>
            </a:r>
            <a:endParaRPr lang="en-US" altLang="ja-JP" sz="24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ja-JP" altLang="en-US" sz="2400">
                <a:solidFill>
                  <a:schemeClr val="bg1">
                    <a:lumMod val="85000"/>
                  </a:schemeClr>
                </a:solidFill>
              </a:rPr>
              <a:t>　　　</a:t>
            </a:r>
            <a:r>
              <a:rPr lang="ja-JP" altLang="en-US" sz="2400" dirty="0">
                <a:solidFill>
                  <a:schemeClr val="bg1">
                    <a:lumMod val="85000"/>
                  </a:schemeClr>
                </a:solidFill>
              </a:rPr>
              <a:t>　</a:t>
            </a:r>
            <a:r>
              <a:rPr lang="ja-JP" altLang="en-US" sz="2400">
                <a:solidFill>
                  <a:schemeClr val="bg1">
                    <a:lumMod val="85000"/>
                  </a:schemeClr>
                </a:solidFill>
              </a:rPr>
              <a:t>　仮想環境を作るためのツール</a:t>
            </a:r>
            <a:endParaRPr lang="en-US" altLang="ja-JP" sz="24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ja-JP" altLang="en-US" sz="2400">
                <a:solidFill>
                  <a:schemeClr val="bg1">
                    <a:lumMod val="85000"/>
                  </a:schemeClr>
                </a:solidFill>
              </a:rPr>
              <a:t>　</a:t>
            </a:r>
            <a:r>
              <a:rPr lang="ja-JP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実践　　仮想環境を作ってみよう</a:t>
            </a:r>
            <a:endParaRPr lang="en-US" altLang="ja-JP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ja-JP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　　　　　</a:t>
            </a:r>
            <a:r>
              <a:rPr lang="ja-JP" altLang="en-US" sz="2400">
                <a:solidFill>
                  <a:schemeClr val="bg1">
                    <a:lumMod val="85000"/>
                  </a:schemeClr>
                </a:solidFill>
              </a:rPr>
              <a:t>サーバに接続しよう</a:t>
            </a:r>
            <a:endParaRPr lang="en-US" altLang="ja-JP" sz="24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ja-JP" altLang="en-US" sz="2400">
                <a:solidFill>
                  <a:schemeClr val="bg1">
                    <a:lumMod val="85000"/>
                  </a:schemeClr>
                </a:solidFill>
              </a:rPr>
              <a:t>　　　　　サーバで仮想環境を作ろう</a:t>
            </a:r>
            <a:endParaRPr lang="en-US" altLang="ja-JP" sz="24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BABD537-9A8F-D3DE-48BD-5A510ED9AC88}"/>
              </a:ext>
            </a:extLst>
          </p:cNvPr>
          <p:cNvSpPr txBox="1"/>
          <p:nvPr/>
        </p:nvSpPr>
        <p:spPr>
          <a:xfrm>
            <a:off x="5034536" y="245734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＜目次＞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2B474EB-CB58-5812-3732-2DA144458030}"/>
              </a:ext>
            </a:extLst>
          </p:cNvPr>
          <p:cNvSpPr/>
          <p:nvPr/>
        </p:nvSpPr>
        <p:spPr>
          <a:xfrm>
            <a:off x="3144545" y="3055537"/>
            <a:ext cx="45719" cy="349691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B9D5C50-9FC7-ED80-0066-F972FD3D9936}"/>
              </a:ext>
            </a:extLst>
          </p:cNvPr>
          <p:cNvSpPr/>
          <p:nvPr/>
        </p:nvSpPr>
        <p:spPr>
          <a:xfrm>
            <a:off x="3142568" y="4181718"/>
            <a:ext cx="45719" cy="349691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034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CA7D4D-A25B-0AC0-ED30-068AA508B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　実践　　仮想環境を作ってみよう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4301BE9-0060-5775-E931-99BDADB87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689" y="1253331"/>
            <a:ext cx="11193327" cy="804069"/>
          </a:xfrm>
        </p:spPr>
        <p:txBody>
          <a:bodyPr>
            <a:normAutofit lnSpcReduction="10000"/>
          </a:bodyPr>
          <a:lstStyle/>
          <a:p>
            <a:r>
              <a:rPr kumimoji="1" lang="ja-JP" altLang="en-US"/>
              <a:t>実際に </a:t>
            </a:r>
            <a:r>
              <a:rPr kumimoji="1" lang="en-US" altLang="ja-JP" dirty="0" err="1"/>
              <a:t>uv</a:t>
            </a:r>
            <a:r>
              <a:rPr kumimoji="1" lang="en-US" altLang="ja-JP" dirty="0"/>
              <a:t> </a:t>
            </a:r>
            <a:r>
              <a:rPr kumimoji="1" lang="ja-JP" altLang="en-US"/>
              <a:t>を使って仮想環境を作ってみよう。</a:t>
            </a:r>
            <a:endParaRPr kumimoji="1" lang="en-US" altLang="ja-JP" dirty="0"/>
          </a:p>
          <a:p>
            <a:r>
              <a:rPr kumimoji="1" lang="ja-JP" altLang="en-US"/>
              <a:t>順番に</a:t>
            </a:r>
            <a:r>
              <a:rPr kumimoji="1" lang="en-US" altLang="ja-JP" dirty="0" err="1"/>
              <a:t>uv</a:t>
            </a:r>
            <a:r>
              <a:rPr kumimoji="1" lang="ja-JP" altLang="en-US"/>
              <a:t>のインストールから実行まで説明していきます。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AFFADA3-8019-2D0E-AC99-21C8ABEABB1F}"/>
              </a:ext>
            </a:extLst>
          </p:cNvPr>
          <p:cNvCxnSpPr/>
          <p:nvPr/>
        </p:nvCxnSpPr>
        <p:spPr>
          <a:xfrm>
            <a:off x="1985211" y="457200"/>
            <a:ext cx="0" cy="372979"/>
          </a:xfrm>
          <a:prstGeom prst="line">
            <a:avLst/>
          </a:prstGeom>
          <a:ln w="2159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FCF37ED-2652-7C05-FF2C-8DA861C1428F}"/>
              </a:ext>
            </a:extLst>
          </p:cNvPr>
          <p:cNvSpPr txBox="1"/>
          <p:nvPr/>
        </p:nvSpPr>
        <p:spPr>
          <a:xfrm>
            <a:off x="784502" y="3292476"/>
            <a:ext cx="7049815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⓪ brew</a:t>
            </a:r>
            <a:r>
              <a:rPr kumimoji="1" lang="ja-JP" altLang="en-US" sz="2200">
                <a:solidFill>
                  <a:schemeClr val="tx1">
                    <a:lumMod val="75000"/>
                    <a:lumOff val="25000"/>
                  </a:schemeClr>
                </a:solidFill>
              </a:rPr>
              <a:t>インストール＋</a:t>
            </a:r>
            <a:r>
              <a:rPr kumimoji="1" lang="en-US" altLang="ja-JP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brew</a:t>
            </a:r>
            <a:r>
              <a:rPr kumimoji="1" lang="ja-JP" altLang="en-US" sz="2200">
                <a:solidFill>
                  <a:schemeClr val="tx1">
                    <a:lumMod val="75000"/>
                    <a:lumOff val="25000"/>
                  </a:schemeClr>
                </a:solidFill>
              </a:rPr>
              <a:t>を使って</a:t>
            </a:r>
            <a:r>
              <a:rPr kumimoji="1" lang="en-US" altLang="ja-JP" sz="2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uv</a:t>
            </a:r>
            <a:r>
              <a:rPr lang="ja-JP" altLang="en-US" sz="2200">
                <a:solidFill>
                  <a:schemeClr val="tx1">
                    <a:lumMod val="75000"/>
                    <a:lumOff val="25000"/>
                  </a:schemeClr>
                </a:solidFill>
              </a:rPr>
              <a:t>を</a:t>
            </a:r>
            <a:r>
              <a:rPr kumimoji="1" lang="ja-JP" altLang="en-US" sz="2200">
                <a:solidFill>
                  <a:schemeClr val="tx1">
                    <a:lumMod val="75000"/>
                    <a:lumOff val="25000"/>
                  </a:schemeClr>
                </a:solidFill>
              </a:rPr>
              <a:t>インストール</a:t>
            </a:r>
            <a:endParaRPr kumimoji="1" lang="en-US" altLang="ja-JP" sz="2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ja-JP" sz="2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kumimoji="1" lang="en-US" altLang="ja-JP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① </a:t>
            </a:r>
            <a:r>
              <a:rPr kumimoji="1" lang="ja-JP" altLang="en-US" sz="2200">
                <a:solidFill>
                  <a:schemeClr val="tx1">
                    <a:lumMod val="75000"/>
                    <a:lumOff val="25000"/>
                  </a:schemeClr>
                </a:solidFill>
              </a:rPr>
              <a:t>仮想環境作成の準備</a:t>
            </a:r>
            <a:r>
              <a:rPr kumimoji="1" lang="en-US" altLang="ja-JP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</a:t>
            </a:r>
            <a:r>
              <a:rPr lang="en-US" altLang="ja-JP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Python</a:t>
            </a:r>
            <a:r>
              <a:rPr lang="ja-JP" altLang="en-US" sz="2200">
                <a:solidFill>
                  <a:schemeClr val="tx1">
                    <a:lumMod val="75000"/>
                    <a:lumOff val="25000"/>
                  </a:schemeClr>
                </a:solidFill>
              </a:rPr>
              <a:t>バージョン指定</a:t>
            </a:r>
            <a:endParaRPr lang="en-US" altLang="ja-JP" sz="2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kumimoji="1" lang="en-US" altLang="ja-JP" sz="2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ja-JP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② </a:t>
            </a:r>
            <a:r>
              <a:rPr lang="ja-JP" altLang="en-US" sz="2200">
                <a:solidFill>
                  <a:schemeClr val="tx1">
                    <a:lumMod val="75000"/>
                    <a:lumOff val="25000"/>
                  </a:schemeClr>
                </a:solidFill>
              </a:rPr>
              <a:t>パッケージの準備</a:t>
            </a:r>
            <a:endParaRPr lang="en-US" altLang="ja-JP" sz="2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kumimoji="1" lang="en-US" altLang="ja-JP" sz="2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ja-JP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③ </a:t>
            </a:r>
            <a:r>
              <a:rPr lang="ja-JP" altLang="en-US" sz="2200">
                <a:solidFill>
                  <a:schemeClr val="tx1">
                    <a:lumMod val="75000"/>
                    <a:lumOff val="25000"/>
                  </a:schemeClr>
                </a:solidFill>
              </a:rPr>
              <a:t>実行</a:t>
            </a:r>
            <a:endParaRPr kumimoji="1" lang="en-US" altLang="ja-JP" sz="2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3458B8E-E3F9-FCA4-2F07-A7D94B1AB202}"/>
              </a:ext>
            </a:extLst>
          </p:cNvPr>
          <p:cNvSpPr txBox="1"/>
          <p:nvPr/>
        </p:nvSpPr>
        <p:spPr>
          <a:xfrm>
            <a:off x="435689" y="2570141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>
                <a:solidFill>
                  <a:schemeClr val="tx1">
                    <a:lumMod val="75000"/>
                    <a:lumOff val="25000"/>
                  </a:schemeClr>
                </a:solidFill>
              </a:rPr>
              <a:t>流れ</a:t>
            </a:r>
            <a:endParaRPr kumimoji="1" lang="en-US" altLang="ja-JP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088C202-8446-6C11-E525-87C454A21CDC}"/>
              </a:ext>
            </a:extLst>
          </p:cNvPr>
          <p:cNvSpPr/>
          <p:nvPr/>
        </p:nvSpPr>
        <p:spPr>
          <a:xfrm>
            <a:off x="435689" y="2628028"/>
            <a:ext cx="45719" cy="2575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右中かっこ 12">
            <a:extLst>
              <a:ext uri="{FF2B5EF4-FFF2-40B4-BE49-F238E27FC236}">
                <a16:creationId xmlns:a16="http://schemas.microsoft.com/office/drawing/2014/main" id="{8029F25B-3064-0C55-AF04-EBC8827DE68E}"/>
              </a:ext>
            </a:extLst>
          </p:cNvPr>
          <p:cNvSpPr/>
          <p:nvPr/>
        </p:nvSpPr>
        <p:spPr>
          <a:xfrm>
            <a:off x="7669847" y="3856379"/>
            <a:ext cx="294710" cy="1775792"/>
          </a:xfrm>
          <a:prstGeom prst="rightBrace">
            <a:avLst/>
          </a:prstGeom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BB6D116-6EBB-2E29-72E4-ABD932D7CADA}"/>
              </a:ext>
            </a:extLst>
          </p:cNvPr>
          <p:cNvSpPr txBox="1"/>
          <p:nvPr/>
        </p:nvSpPr>
        <p:spPr>
          <a:xfrm>
            <a:off x="8321737" y="4390332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/>
              <a:t>２回目以降は</a:t>
            </a:r>
            <a:endParaRPr lang="en-US" altLang="ja-JP" sz="2000" dirty="0"/>
          </a:p>
          <a:p>
            <a:r>
              <a:rPr kumimoji="1" lang="en-US" altLang="ja-JP" sz="2000" dirty="0"/>
              <a:t>①〜③</a:t>
            </a:r>
            <a:r>
              <a:rPr kumimoji="1" lang="ja-JP" altLang="en-US" sz="2000"/>
              <a:t>を</a:t>
            </a:r>
            <a:r>
              <a:rPr kumimoji="1" lang="ja-JP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繰り返す</a:t>
            </a:r>
            <a:r>
              <a:rPr kumimoji="1" lang="ja-JP" altLang="en-US" sz="2000"/>
              <a:t>だけ</a:t>
            </a:r>
            <a:endParaRPr kumimoji="1" lang="ja-JP" altLang="en-US"/>
          </a:p>
        </p:txBody>
      </p:sp>
      <p:sp>
        <p:nvSpPr>
          <p:cNvPr id="16" name="下矢印 15">
            <a:extLst>
              <a:ext uri="{FF2B5EF4-FFF2-40B4-BE49-F238E27FC236}">
                <a16:creationId xmlns:a16="http://schemas.microsoft.com/office/drawing/2014/main" id="{90F548DC-10E7-06EB-BC67-70AC305D186F}"/>
              </a:ext>
            </a:extLst>
          </p:cNvPr>
          <p:cNvSpPr/>
          <p:nvPr/>
        </p:nvSpPr>
        <p:spPr>
          <a:xfrm>
            <a:off x="1410491" y="3698537"/>
            <a:ext cx="178130" cy="249382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下矢印 16">
            <a:extLst>
              <a:ext uri="{FF2B5EF4-FFF2-40B4-BE49-F238E27FC236}">
                <a16:creationId xmlns:a16="http://schemas.microsoft.com/office/drawing/2014/main" id="{57F227EE-3DC7-D209-D291-8F962A672FAA}"/>
              </a:ext>
            </a:extLst>
          </p:cNvPr>
          <p:cNvSpPr/>
          <p:nvPr/>
        </p:nvSpPr>
        <p:spPr>
          <a:xfrm>
            <a:off x="1396636" y="4373452"/>
            <a:ext cx="178130" cy="249382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下矢印 17">
            <a:extLst>
              <a:ext uri="{FF2B5EF4-FFF2-40B4-BE49-F238E27FC236}">
                <a16:creationId xmlns:a16="http://schemas.microsoft.com/office/drawing/2014/main" id="{772A858C-2BF7-67CC-D7B2-6A4745916CF1}"/>
              </a:ext>
            </a:extLst>
          </p:cNvPr>
          <p:cNvSpPr/>
          <p:nvPr/>
        </p:nvSpPr>
        <p:spPr>
          <a:xfrm>
            <a:off x="1410491" y="5036179"/>
            <a:ext cx="178130" cy="249382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5436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C0648-CF98-E21A-3F60-EB95417E3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15FAF4-E35F-2166-EB9B-F16802682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869" y="2198521"/>
            <a:ext cx="11539710" cy="520108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ja-JP" b="1" dirty="0"/>
              <a:t>Homebrew</a:t>
            </a:r>
            <a:r>
              <a:rPr lang="ja-JP" altLang="en-US" b="1"/>
              <a:t>のインストール</a:t>
            </a:r>
            <a:endParaRPr lang="en-US" altLang="ja-JP" b="1" dirty="0"/>
          </a:p>
          <a:p>
            <a:pPr marL="0" indent="0">
              <a:buNone/>
            </a:pPr>
            <a:endParaRPr lang="en-US" altLang="ja-JP" b="1" dirty="0"/>
          </a:p>
          <a:p>
            <a:pPr marL="0" indent="0">
              <a:buNone/>
            </a:pPr>
            <a:endParaRPr lang="en-US" altLang="ja-JP" b="1" dirty="0"/>
          </a:p>
          <a:p>
            <a:pPr marL="0" indent="0">
              <a:buNone/>
            </a:pPr>
            <a:endParaRPr lang="en-US" altLang="ja-JP" b="1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ja-JP" altLang="en-US" sz="2400"/>
          </a:p>
          <a:p>
            <a:pPr marL="0" indent="0">
              <a:buNone/>
            </a:pPr>
            <a:endParaRPr lang="ja-JP" altLang="en-US" sz="2400"/>
          </a:p>
          <a:p>
            <a:pPr marL="0" indent="0">
              <a:buNone/>
            </a:pPr>
            <a:endParaRPr lang="en" altLang="ja-JP" sz="2400" dirty="0"/>
          </a:p>
          <a:p>
            <a:pPr marL="0" indent="0">
              <a:buNone/>
            </a:pPr>
            <a:endParaRPr lang="en" altLang="ja-JP" sz="2400" dirty="0"/>
          </a:p>
          <a:p>
            <a:pPr marL="0" indent="0">
              <a:buNone/>
            </a:pPr>
            <a:endParaRPr lang="en" altLang="ja-JP" sz="2400" dirty="0"/>
          </a:p>
          <a:p>
            <a:pPr marL="0" indent="0">
              <a:buNone/>
            </a:pPr>
            <a:endParaRPr lang="ja-JP" altLang="en-US" b="1"/>
          </a:p>
          <a:p>
            <a:endParaRPr kumimoji="1" lang="en-US" altLang="ja-JP" b="1" dirty="0"/>
          </a:p>
          <a:p>
            <a:endParaRPr kumimoji="1" lang="en-US" altLang="ja-JP" b="1" dirty="0"/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FACD5ECF-03A5-4594-5DE1-D588A72D76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45199"/>
              </p:ext>
            </p:extLst>
          </p:nvPr>
        </p:nvGraphicFramePr>
        <p:xfrm>
          <a:off x="558665" y="2758392"/>
          <a:ext cx="10615867" cy="4136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5867">
                  <a:extLst>
                    <a:ext uri="{9D8B030D-6E8A-4147-A177-3AD203B41FA5}">
                      <a16:colId xmlns:a16="http://schemas.microsoft.com/office/drawing/2014/main" val="3142271984"/>
                    </a:ext>
                  </a:extLst>
                </a:gridCol>
              </a:tblGrid>
              <a:tr h="413613">
                <a:tc>
                  <a:txBody>
                    <a:bodyPr/>
                    <a:lstStyle/>
                    <a:p>
                      <a:pPr algn="ctr"/>
                      <a:r>
                        <a:rPr kumimoji="1" lang="en" altLang="ja-JP" sz="2000" dirty="0"/>
                        <a:t>/bin/bash -c "$(curl -</a:t>
                      </a:r>
                      <a:r>
                        <a:rPr kumimoji="1" lang="en" altLang="ja-JP" sz="2000" dirty="0" err="1"/>
                        <a:t>fsSL</a:t>
                      </a:r>
                      <a:r>
                        <a:rPr kumimoji="1" lang="en" altLang="ja-JP" sz="2000" dirty="0"/>
                        <a:t> https://</a:t>
                      </a:r>
                      <a:r>
                        <a:rPr kumimoji="1" lang="en" altLang="ja-JP" sz="2000" dirty="0" err="1"/>
                        <a:t>raw.githubusercontent.com</a:t>
                      </a:r>
                      <a:r>
                        <a:rPr kumimoji="1" lang="en" altLang="ja-JP" sz="2000" dirty="0"/>
                        <a:t>/Homebrew/install/HEAD/</a:t>
                      </a:r>
                      <a:r>
                        <a:rPr kumimoji="1" lang="en" altLang="ja-JP" sz="2000" dirty="0" err="1"/>
                        <a:t>install.sh</a:t>
                      </a:r>
                      <a:r>
                        <a:rPr kumimoji="1" lang="en" altLang="ja-JP" sz="2000" dirty="0"/>
                        <a:t>)"</a:t>
                      </a:r>
                      <a:endParaRPr kumimoji="1" lang="ja-JP" altLang="en-US" sz="20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880748"/>
                  </a:ext>
                </a:extLst>
              </a:tr>
            </a:tbl>
          </a:graphicData>
        </a:graphic>
      </p:graphicFrame>
      <p:sp>
        <p:nvSpPr>
          <p:cNvPr id="8" name="タイトル 1">
            <a:extLst>
              <a:ext uri="{FF2B5EF4-FFF2-40B4-BE49-F238E27FC236}">
                <a16:creationId xmlns:a16="http://schemas.microsoft.com/office/drawing/2014/main" id="{F29E6C33-87F2-27A3-D03B-F29E5894F527}"/>
              </a:ext>
            </a:extLst>
          </p:cNvPr>
          <p:cNvSpPr txBox="1">
            <a:spLocks/>
          </p:cNvSpPr>
          <p:nvPr/>
        </p:nvSpPr>
        <p:spPr>
          <a:xfrm>
            <a:off x="303146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　前準備　</a:t>
            </a:r>
            <a:r>
              <a:rPr lang="en-US" altLang="ja-JP" dirty="0"/>
              <a:t>Homebrew</a:t>
            </a:r>
            <a:r>
              <a:rPr lang="ja-JP" altLang="en-US"/>
              <a:t>を入れる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B9C498E0-55E7-CEC3-B010-FF2316180517}"/>
              </a:ext>
            </a:extLst>
          </p:cNvPr>
          <p:cNvCxnSpPr/>
          <p:nvPr/>
        </p:nvCxnSpPr>
        <p:spPr>
          <a:xfrm>
            <a:off x="1985211" y="457200"/>
            <a:ext cx="0" cy="372979"/>
          </a:xfrm>
          <a:prstGeom prst="line">
            <a:avLst/>
          </a:prstGeom>
          <a:ln w="2159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コンテンツ プレースホルダー 2">
            <a:extLst>
              <a:ext uri="{FF2B5EF4-FFF2-40B4-BE49-F238E27FC236}">
                <a16:creationId xmlns:a16="http://schemas.microsoft.com/office/drawing/2014/main" id="{5F7A3699-7555-04EC-6F3D-7C0C5F049710}"/>
              </a:ext>
            </a:extLst>
          </p:cNvPr>
          <p:cNvSpPr txBox="1">
            <a:spLocks/>
          </p:cNvSpPr>
          <p:nvPr/>
        </p:nvSpPr>
        <p:spPr>
          <a:xfrm>
            <a:off x="501869" y="3402408"/>
            <a:ext cx="11539710" cy="1064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2"/>
            </a:pPr>
            <a:r>
              <a:rPr lang="en" altLang="ja-JP" b="1" dirty="0"/>
              <a:t>brew</a:t>
            </a:r>
            <a:r>
              <a:rPr lang="ja-JP" altLang="en-US" b="1"/>
              <a:t>コマンドが使えるように</a:t>
            </a:r>
            <a:r>
              <a:rPr lang="en" altLang="ja-JP" b="1" dirty="0"/>
              <a:t>PATH</a:t>
            </a:r>
            <a:r>
              <a:rPr lang="ja-JP" altLang="en-US" b="1"/>
              <a:t>を設定</a:t>
            </a:r>
            <a:endParaRPr lang="en-US" altLang="ja-JP" b="1" dirty="0"/>
          </a:p>
          <a:p>
            <a:pPr marL="0" indent="0"/>
            <a:endParaRPr lang="en-US" altLang="ja-JP" b="1" dirty="0"/>
          </a:p>
          <a:p>
            <a:pPr marL="0" indent="0"/>
            <a:endParaRPr lang="en-US" altLang="ja-JP" b="1" dirty="0"/>
          </a:p>
          <a:p>
            <a:pPr marL="0" indent="0"/>
            <a:endParaRPr lang="en-US" altLang="ja-JP" b="1" dirty="0"/>
          </a:p>
          <a:p>
            <a:pPr marL="0" indent="0"/>
            <a:endParaRPr lang="en" altLang="ja-JP" dirty="0"/>
          </a:p>
          <a:p>
            <a:pPr marL="0" indent="0"/>
            <a:endParaRPr lang="en" altLang="ja-JP" dirty="0"/>
          </a:p>
          <a:p>
            <a:pPr marL="0" indent="0"/>
            <a:endParaRPr lang="ja-JP" altLang="en-US" b="1"/>
          </a:p>
          <a:p>
            <a:endParaRPr lang="en-US" altLang="ja-JP" b="1" dirty="0"/>
          </a:p>
          <a:p>
            <a:endParaRPr lang="en-US" altLang="ja-JP" b="1" dirty="0"/>
          </a:p>
        </p:txBody>
      </p:sp>
      <p:graphicFrame>
        <p:nvGraphicFramePr>
          <p:cNvPr id="16" name="表 15">
            <a:extLst>
              <a:ext uri="{FF2B5EF4-FFF2-40B4-BE49-F238E27FC236}">
                <a16:creationId xmlns:a16="http://schemas.microsoft.com/office/drawing/2014/main" id="{1523933F-5A2F-540D-52F2-99BA76AB91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145280"/>
              </p:ext>
            </p:extLst>
          </p:nvPr>
        </p:nvGraphicFramePr>
        <p:xfrm>
          <a:off x="545523" y="3934749"/>
          <a:ext cx="11426118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26118">
                  <a:extLst>
                    <a:ext uri="{9D8B030D-6E8A-4147-A177-3AD203B41FA5}">
                      <a16:colId xmlns:a16="http://schemas.microsoft.com/office/drawing/2014/main" val="3142271984"/>
                    </a:ext>
                  </a:extLst>
                </a:gridCol>
              </a:tblGrid>
              <a:tr h="413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2000" dirty="0">
                          <a:solidFill>
                            <a:schemeClr val="accent1"/>
                          </a:solidFill>
                        </a:rPr>
                        <a:t># </a:t>
                      </a:r>
                      <a:r>
                        <a:rPr lang="ja-JP" altLang="en-US" sz="2000">
                          <a:solidFill>
                            <a:schemeClr val="accent1"/>
                          </a:solidFill>
                        </a:rPr>
                        <a:t>ログインシェル用設定ファイル </a:t>
                      </a:r>
                      <a:r>
                        <a:rPr lang="en-US" altLang="ja-JP" sz="2000" dirty="0">
                          <a:solidFill>
                            <a:schemeClr val="accent1"/>
                          </a:solidFill>
                        </a:rPr>
                        <a:t>(~/.</a:t>
                      </a:r>
                      <a:r>
                        <a:rPr lang="en" altLang="ja-JP" sz="2000" dirty="0" err="1">
                          <a:solidFill>
                            <a:schemeClr val="accent1"/>
                          </a:solidFill>
                        </a:rPr>
                        <a:t>zprofile</a:t>
                      </a:r>
                      <a:r>
                        <a:rPr lang="en" altLang="ja-JP" sz="2000" dirty="0">
                          <a:solidFill>
                            <a:schemeClr val="accent1"/>
                          </a:solidFill>
                        </a:rPr>
                        <a:t>) </a:t>
                      </a:r>
                      <a:r>
                        <a:rPr lang="ja-JP" altLang="en-US" sz="2000">
                          <a:solidFill>
                            <a:schemeClr val="accent1"/>
                          </a:solidFill>
                        </a:rPr>
                        <a:t>に追記</a:t>
                      </a:r>
                      <a:endParaRPr kumimoji="1" lang="en" altLang="ja-JP" sz="2000" dirty="0">
                        <a:solidFill>
                          <a:schemeClr val="accent1"/>
                        </a:solidFill>
                      </a:endParaRPr>
                    </a:p>
                    <a:p>
                      <a:pPr algn="l"/>
                      <a:r>
                        <a:rPr kumimoji="1" lang="en" altLang="ja-JP" sz="2000" dirty="0"/>
                        <a:t>(echo; echo ‘eval “$(/opt/homebrew/bin/brew </a:t>
                      </a:r>
                      <a:r>
                        <a:rPr kumimoji="1" lang="en" altLang="ja-JP" sz="2000" dirty="0" err="1"/>
                        <a:t>shellenv</a:t>
                      </a:r>
                      <a:r>
                        <a:rPr kumimoji="1" lang="en" altLang="ja-JP" sz="2000" dirty="0"/>
                        <a:t>)”’) &gt;&gt; /Users/&lt;</a:t>
                      </a:r>
                      <a:r>
                        <a:rPr kumimoji="1" lang="ja-JP" altLang="en-US" sz="2000"/>
                        <a:t>ユーザ名</a:t>
                      </a:r>
                      <a:r>
                        <a:rPr kumimoji="1" lang="en-US" altLang="ja-JP" sz="2000" dirty="0"/>
                        <a:t>&gt;</a:t>
                      </a:r>
                      <a:r>
                        <a:rPr kumimoji="1" lang="en" altLang="ja-JP" sz="2000" dirty="0"/>
                        <a:t>/.</a:t>
                      </a:r>
                      <a:r>
                        <a:rPr kumimoji="1" lang="en" altLang="ja-JP" sz="2000" dirty="0" err="1"/>
                        <a:t>zprofile</a:t>
                      </a:r>
                      <a:endParaRPr kumimoji="1" lang="en" altLang="ja-JP" sz="2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2000" dirty="0">
                          <a:solidFill>
                            <a:schemeClr val="accent1"/>
                          </a:solidFill>
                        </a:rPr>
                        <a:t># </a:t>
                      </a:r>
                      <a:r>
                        <a:rPr lang="ja-JP" altLang="en-US" sz="2000">
                          <a:solidFill>
                            <a:schemeClr val="accent1"/>
                          </a:solidFill>
                        </a:rPr>
                        <a:t>今開いているシェルにも即反映</a:t>
                      </a:r>
                      <a:endParaRPr kumimoji="1" lang="en" altLang="ja-JP" sz="2000" dirty="0">
                        <a:solidFill>
                          <a:schemeClr val="accent1"/>
                        </a:solidFill>
                      </a:endParaRPr>
                    </a:p>
                    <a:p>
                      <a:pPr algn="l"/>
                      <a:r>
                        <a:rPr kumimoji="1" lang="en" altLang="ja-JP" sz="2000" dirty="0"/>
                        <a:t>eval "$(/opt/homebrew/bin/brew </a:t>
                      </a:r>
                      <a:r>
                        <a:rPr kumimoji="1" lang="en" altLang="ja-JP" sz="2000" dirty="0" err="1"/>
                        <a:t>shellenv</a:t>
                      </a:r>
                      <a:r>
                        <a:rPr kumimoji="1" lang="en" altLang="ja-JP" sz="2000" dirty="0"/>
                        <a:t>)"</a:t>
                      </a:r>
                      <a:endParaRPr kumimoji="1" lang="ja-JP" altLang="en-US" sz="20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880748"/>
                  </a:ext>
                </a:extLst>
              </a:tr>
            </a:tbl>
          </a:graphicData>
        </a:graphic>
      </p:graphicFrame>
      <p:sp>
        <p:nvSpPr>
          <p:cNvPr id="17" name="コンテンツ プレースホルダー 2">
            <a:extLst>
              <a:ext uri="{FF2B5EF4-FFF2-40B4-BE49-F238E27FC236}">
                <a16:creationId xmlns:a16="http://schemas.microsoft.com/office/drawing/2014/main" id="{2EAE881D-33E3-38BE-1E61-A0441DFD7CF4}"/>
              </a:ext>
            </a:extLst>
          </p:cNvPr>
          <p:cNvSpPr txBox="1">
            <a:spLocks/>
          </p:cNvSpPr>
          <p:nvPr/>
        </p:nvSpPr>
        <p:spPr>
          <a:xfrm>
            <a:off x="488727" y="5396237"/>
            <a:ext cx="11539710" cy="762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3"/>
            </a:pPr>
            <a:r>
              <a:rPr lang="en-US" altLang="ja-JP" b="1" dirty="0"/>
              <a:t>brew</a:t>
            </a:r>
            <a:r>
              <a:rPr lang="ja-JP" altLang="en-US" b="1"/>
              <a:t>の最新化、インストールされていることの確認</a:t>
            </a:r>
            <a:endParaRPr lang="ja-JP" altLang="en-US"/>
          </a:p>
          <a:p>
            <a:pPr marL="0" indent="0"/>
            <a:endParaRPr lang="en-US" altLang="ja-JP" dirty="0"/>
          </a:p>
          <a:p>
            <a:pPr marL="0" indent="0"/>
            <a:endParaRPr lang="en-US" altLang="ja-JP" b="1" dirty="0"/>
          </a:p>
          <a:p>
            <a:pPr marL="0" indent="0"/>
            <a:endParaRPr lang="en" altLang="ja-JP" dirty="0"/>
          </a:p>
          <a:p>
            <a:pPr marL="0" indent="0"/>
            <a:endParaRPr lang="en" altLang="ja-JP" dirty="0"/>
          </a:p>
          <a:p>
            <a:pPr marL="0" indent="0"/>
            <a:endParaRPr lang="ja-JP" altLang="en-US" b="1"/>
          </a:p>
          <a:p>
            <a:endParaRPr lang="en-US" altLang="ja-JP" b="1" dirty="0"/>
          </a:p>
          <a:p>
            <a:endParaRPr lang="en-US" altLang="ja-JP" b="1" dirty="0"/>
          </a:p>
        </p:txBody>
      </p:sp>
      <p:graphicFrame>
        <p:nvGraphicFramePr>
          <p:cNvPr id="20" name="表 19">
            <a:extLst>
              <a:ext uri="{FF2B5EF4-FFF2-40B4-BE49-F238E27FC236}">
                <a16:creationId xmlns:a16="http://schemas.microsoft.com/office/drawing/2014/main" id="{5EA92872-8DC4-6666-196A-8E1BF4D380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428269"/>
              </p:ext>
            </p:extLst>
          </p:nvPr>
        </p:nvGraphicFramePr>
        <p:xfrm>
          <a:off x="545523" y="5899084"/>
          <a:ext cx="1061586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5867">
                  <a:extLst>
                    <a:ext uri="{9D8B030D-6E8A-4147-A177-3AD203B41FA5}">
                      <a16:colId xmlns:a16="http://schemas.microsoft.com/office/drawing/2014/main" val="3142271984"/>
                    </a:ext>
                  </a:extLst>
                </a:gridCol>
              </a:tblGrid>
              <a:tr h="413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2000" dirty="0">
                          <a:solidFill>
                            <a:schemeClr val="bg1"/>
                          </a:solidFill>
                        </a:rPr>
                        <a:t>brew update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dirty="0">
                          <a:solidFill>
                            <a:schemeClr val="bg1"/>
                          </a:solidFill>
                        </a:rPr>
                        <a:t>brew --version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880748"/>
                  </a:ext>
                </a:extLst>
              </a:tr>
            </a:tbl>
          </a:graphicData>
        </a:graphic>
      </p:graphicFrame>
      <p:sp>
        <p:nvSpPr>
          <p:cNvPr id="21" name="コンテンツ プレースホルダー 2">
            <a:extLst>
              <a:ext uri="{FF2B5EF4-FFF2-40B4-BE49-F238E27FC236}">
                <a16:creationId xmlns:a16="http://schemas.microsoft.com/office/drawing/2014/main" id="{F60D10B5-3407-9A71-A76B-EB1987243446}"/>
              </a:ext>
            </a:extLst>
          </p:cNvPr>
          <p:cNvSpPr txBox="1">
            <a:spLocks/>
          </p:cNvSpPr>
          <p:nvPr/>
        </p:nvSpPr>
        <p:spPr>
          <a:xfrm>
            <a:off x="435689" y="1253331"/>
            <a:ext cx="11193327" cy="804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074EA67-B086-7BB9-D2D6-7B0379B69C6E}"/>
              </a:ext>
            </a:extLst>
          </p:cNvPr>
          <p:cNvSpPr txBox="1"/>
          <p:nvPr/>
        </p:nvSpPr>
        <p:spPr>
          <a:xfrm>
            <a:off x="419498" y="1199751"/>
            <a:ext cx="110527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Homebrew</a:t>
            </a:r>
            <a:r>
              <a:rPr lang="ja-JP" altLang="en-US"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とは、</a:t>
            </a:r>
            <a:r>
              <a:rPr lang="ja-JP" altLang="ja-JP"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macOSに標準で入っていない開発ツールを、</a:t>
            </a:r>
            <a:endParaRPr lang="en-US" altLang="ja-JP" sz="2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</a:endParaRPr>
          </a:p>
          <a:p>
            <a:pPr>
              <a:buNone/>
            </a:pPr>
            <a:r>
              <a:rPr lang="ja-JP" altLang="ja-JP"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コマンド1つで安全にインストール・管理できるようにするため</a:t>
            </a:r>
            <a:r>
              <a:rPr lang="ja-JP" altLang="en-US"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のもの。</a:t>
            </a:r>
            <a:endParaRPr lang="ja-JP" altLang="ja-JP" sz="240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15398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029C2-3C13-40C6-12F3-E7A1D5ED5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角丸四角形 32">
            <a:extLst>
              <a:ext uri="{FF2B5EF4-FFF2-40B4-BE49-F238E27FC236}">
                <a16:creationId xmlns:a16="http://schemas.microsoft.com/office/drawing/2014/main" id="{6508CB64-4DD2-2C3D-C196-807CEF090961}"/>
              </a:ext>
            </a:extLst>
          </p:cNvPr>
          <p:cNvSpPr/>
          <p:nvPr/>
        </p:nvSpPr>
        <p:spPr>
          <a:xfrm>
            <a:off x="7664116" y="1565539"/>
            <a:ext cx="8109284" cy="2128159"/>
          </a:xfrm>
          <a:prstGeom prst="roundRect">
            <a:avLst>
              <a:gd name="adj" fmla="val 7663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D23CEA55-0DCA-C92B-F6EF-1287AE6C7627}"/>
              </a:ext>
            </a:extLst>
          </p:cNvPr>
          <p:cNvSpPr/>
          <p:nvPr/>
        </p:nvSpPr>
        <p:spPr>
          <a:xfrm>
            <a:off x="7664116" y="4857699"/>
            <a:ext cx="5031250" cy="5002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722B36D-7CA5-83E5-00A8-EB7DED8D7063}"/>
              </a:ext>
            </a:extLst>
          </p:cNvPr>
          <p:cNvSpPr/>
          <p:nvPr/>
        </p:nvSpPr>
        <p:spPr>
          <a:xfrm>
            <a:off x="448941" y="1510747"/>
            <a:ext cx="3036381" cy="45719"/>
          </a:xfrm>
          <a:prstGeom prst="rect">
            <a:avLst/>
          </a:prstGeom>
          <a:solidFill>
            <a:srgbClr val="F9B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A11FBB4-EAC7-EE0C-5B15-AA7F9F07E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　実践　　仮想環境を作ってみよう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B9F49B-87D0-4712-86B9-2C5E2BA11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689" y="1253332"/>
            <a:ext cx="11193327" cy="529432"/>
          </a:xfrm>
        </p:spPr>
        <p:txBody>
          <a:bodyPr>
            <a:normAutofit/>
          </a:bodyPr>
          <a:lstStyle/>
          <a:p>
            <a:r>
              <a:rPr lang="en-US" altLang="ja-JP" b="1" dirty="0"/>
              <a:t>⓪ </a:t>
            </a:r>
            <a:r>
              <a:rPr lang="en-US" altLang="ja-JP" b="1" dirty="0" err="1"/>
              <a:t>uv</a:t>
            </a:r>
            <a:r>
              <a:rPr lang="ja-JP" altLang="en-US" b="1"/>
              <a:t>のインストール</a:t>
            </a:r>
            <a:endParaRPr lang="en-US" altLang="ja-JP" b="1" dirty="0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CC7E624-D9B1-C46A-A541-E97D59728246}"/>
              </a:ext>
            </a:extLst>
          </p:cNvPr>
          <p:cNvCxnSpPr/>
          <p:nvPr/>
        </p:nvCxnSpPr>
        <p:spPr>
          <a:xfrm>
            <a:off x="1985211" y="457200"/>
            <a:ext cx="0" cy="372979"/>
          </a:xfrm>
          <a:prstGeom prst="line">
            <a:avLst/>
          </a:prstGeom>
          <a:ln w="2159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0B81B0AB-5F72-EC22-19D9-C5D729515F60}"/>
              </a:ext>
            </a:extLst>
          </p:cNvPr>
          <p:cNvGrpSpPr/>
          <p:nvPr/>
        </p:nvGrpSpPr>
        <p:grpSpPr>
          <a:xfrm>
            <a:off x="279699" y="1894611"/>
            <a:ext cx="8315661" cy="1484573"/>
            <a:chOff x="279699" y="2627291"/>
            <a:chExt cx="8315661" cy="1484573"/>
          </a:xfrm>
        </p:grpSpPr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674F3039-201F-DDE9-C269-D1FF37DC20E7}"/>
                </a:ext>
              </a:extLst>
            </p:cNvPr>
            <p:cNvSpPr txBox="1"/>
            <p:nvPr/>
          </p:nvSpPr>
          <p:spPr>
            <a:xfrm>
              <a:off x="435689" y="2627291"/>
              <a:ext cx="2236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0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インストール方法</a:t>
              </a:r>
              <a:endParaRPr kumimoji="1" lang="en-US" altLang="ja-JP" sz="20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D37B67AF-7233-5320-8483-4C0EDA37540E}"/>
                </a:ext>
              </a:extLst>
            </p:cNvPr>
            <p:cNvSpPr txBox="1"/>
            <p:nvPr/>
          </p:nvSpPr>
          <p:spPr>
            <a:xfrm>
              <a:off x="279699" y="3034646"/>
              <a:ext cx="831566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ja-JP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ターミナルに以下のコマンドを打ってください。</a:t>
              </a:r>
              <a:endParaRPr lang="en" altLang="ja-JP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spcBef>
                  <a:spcPts val="600"/>
                </a:spcBef>
              </a:pPr>
              <a:r>
                <a:rPr lang="ja-JP" altLang="ja-JP" b="1">
                  <a:solidFill>
                    <a:schemeClr val="bg1"/>
                  </a:solidFill>
                  <a:highlight>
                    <a:srgbClr val="000000"/>
                  </a:highlight>
                </a:rPr>
                <a:t>brew install uv</a:t>
              </a:r>
              <a:endParaRPr lang="ja-JP" altLang="en-US" b="1">
                <a:solidFill>
                  <a:schemeClr val="bg1"/>
                </a:solidFill>
                <a:highlight>
                  <a:srgbClr val="000000"/>
                </a:highlight>
              </a:endParaRPr>
            </a:p>
            <a:p>
              <a:pPr>
                <a:spcBef>
                  <a:spcPts val="600"/>
                </a:spcBef>
              </a:pPr>
              <a:r>
                <a:rPr lang="ja-JP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これで、</a:t>
              </a:r>
              <a:r>
                <a:rPr lang="ja-JP" altLang="ja-JP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brewという専用の道具箱（フォルダ）の中</a:t>
              </a:r>
              <a:r>
                <a:rPr lang="ja-JP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に</a:t>
              </a:r>
              <a:r>
                <a:rPr lang="en-US" altLang="ja-JP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uv</a:t>
              </a:r>
              <a:r>
                <a:rPr lang="ja-JP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が入ります。</a:t>
              </a:r>
              <a:endPara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1EEBCAA9-0A1F-AB89-4FA9-25CC95AF2E5D}"/>
                </a:ext>
              </a:extLst>
            </p:cNvPr>
            <p:cNvSpPr/>
            <p:nvPr/>
          </p:nvSpPr>
          <p:spPr>
            <a:xfrm>
              <a:off x="435689" y="2685178"/>
              <a:ext cx="45719" cy="257532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86836FE7-D2B7-20B3-9B81-D7DAA013246F}"/>
              </a:ext>
            </a:extLst>
          </p:cNvPr>
          <p:cNvGrpSpPr/>
          <p:nvPr/>
        </p:nvGrpSpPr>
        <p:grpSpPr>
          <a:xfrm>
            <a:off x="279700" y="3965204"/>
            <a:ext cx="6369456" cy="1761572"/>
            <a:chOff x="279700" y="2627291"/>
            <a:chExt cx="6369456" cy="1761572"/>
          </a:xfrm>
        </p:grpSpPr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D0110E4A-5745-8C5F-A11B-EC2B1280879B}"/>
                </a:ext>
              </a:extLst>
            </p:cNvPr>
            <p:cNvSpPr txBox="1"/>
            <p:nvPr/>
          </p:nvSpPr>
          <p:spPr>
            <a:xfrm>
              <a:off x="435689" y="2627291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0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確認方法</a:t>
              </a:r>
              <a:endParaRPr kumimoji="1" lang="en-US" altLang="ja-JP" sz="20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E79E0E85-DC5E-2488-5841-8347E6B93342}"/>
                </a:ext>
              </a:extLst>
            </p:cNvPr>
            <p:cNvSpPr txBox="1"/>
            <p:nvPr/>
          </p:nvSpPr>
          <p:spPr>
            <a:xfrm>
              <a:off x="279700" y="3034646"/>
              <a:ext cx="6369456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ja-JP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ターミナルに以下のコマンドを打ってください。</a:t>
              </a:r>
              <a:endPara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spcBef>
                  <a:spcPts val="600"/>
                </a:spcBef>
              </a:pPr>
              <a:r>
                <a:rPr lang="ja-JP" altLang="ja-JP" b="1">
                  <a:solidFill>
                    <a:schemeClr val="bg1"/>
                  </a:solidFill>
                  <a:highlight>
                    <a:srgbClr val="000000"/>
                  </a:highlight>
                </a:rPr>
                <a:t>uv --version</a:t>
              </a:r>
              <a:endParaRPr lang="en-US" altLang="ja-JP" b="1" dirty="0">
                <a:solidFill>
                  <a:schemeClr val="bg1"/>
                </a:solidFill>
                <a:highlight>
                  <a:srgbClr val="000000"/>
                </a:highlight>
              </a:endParaRPr>
            </a:p>
            <a:p>
              <a:pPr>
                <a:spcBef>
                  <a:spcPts val="600"/>
                </a:spcBef>
              </a:pPr>
              <a:r>
                <a:rPr lang="ja-JP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インストールできていれば、右のように今入っている</a:t>
              </a:r>
              <a:br>
                <a:rPr lang="en-US" altLang="ja-JP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</a:br>
              <a:r>
                <a:rPr lang="en-US" altLang="ja-JP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uv</a:t>
              </a:r>
              <a:r>
                <a:rPr lang="ja-JP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のバージョンが表示されます。</a:t>
              </a:r>
              <a:endPara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452F5441-EF84-06D0-53CC-30950DF85ECF}"/>
                </a:ext>
              </a:extLst>
            </p:cNvPr>
            <p:cNvSpPr/>
            <p:nvPr/>
          </p:nvSpPr>
          <p:spPr>
            <a:xfrm>
              <a:off x="435689" y="2685178"/>
              <a:ext cx="45719" cy="2575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BF7127AC-1BA8-4C54-AE48-EF82B72B2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9412" y="4924161"/>
            <a:ext cx="4889500" cy="368300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A1C60195-D71F-A520-20AD-0424A01A6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0111" y="2094666"/>
            <a:ext cx="7772400" cy="1487540"/>
          </a:xfrm>
          <a:prstGeom prst="rect">
            <a:avLst/>
          </a:prstGeom>
        </p:spPr>
      </p:pic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72E77B7-274E-4DDD-7EAE-BE4657C59ABB}"/>
              </a:ext>
            </a:extLst>
          </p:cNvPr>
          <p:cNvSpPr txBox="1"/>
          <p:nvPr/>
        </p:nvSpPr>
        <p:spPr>
          <a:xfrm>
            <a:off x="9635681" y="1673033"/>
            <a:ext cx="3986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b</a:t>
            </a:r>
            <a:r>
              <a:rPr kumimoji="1" lang="en-US" altLang="ja-JP" dirty="0"/>
              <a:t>rew list</a:t>
            </a:r>
            <a:r>
              <a:rPr kumimoji="1" lang="ja-JP" altLang="en-US"/>
              <a:t>で道具箱の中身が確認できる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89B5DADE-8BB2-CCB7-35F9-63AC9737C22D}"/>
              </a:ext>
            </a:extLst>
          </p:cNvPr>
          <p:cNvSpPr txBox="1"/>
          <p:nvPr/>
        </p:nvSpPr>
        <p:spPr>
          <a:xfrm>
            <a:off x="612207" y="6200745"/>
            <a:ext cx="7632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次：</a:t>
            </a:r>
            <a:r>
              <a:rPr kumimoji="1" lang="en-US" altLang="ja-JP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uv</a:t>
            </a:r>
            <a:r>
              <a:rPr kumimoji="1" lang="ja-JP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を使って</a:t>
            </a:r>
            <a:r>
              <a:rPr kumimoji="1" lang="en-US" altLang="ja-JP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Python</a:t>
            </a:r>
            <a:r>
              <a:rPr kumimoji="1" lang="ja-JP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バージョン</a:t>
            </a:r>
            <a:r>
              <a:rPr lang="ja-JP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＋パッケージの準備をしよう</a:t>
            </a:r>
            <a:endParaRPr kumimoji="1" lang="ja-JP" altLang="en-US" sz="2000" b="1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6" name="右矢印 35">
            <a:extLst>
              <a:ext uri="{FF2B5EF4-FFF2-40B4-BE49-F238E27FC236}">
                <a16:creationId xmlns:a16="http://schemas.microsoft.com/office/drawing/2014/main" id="{F1AFC5AB-C558-9657-CC21-DA6386233A40}"/>
              </a:ext>
            </a:extLst>
          </p:cNvPr>
          <p:cNvSpPr/>
          <p:nvPr/>
        </p:nvSpPr>
        <p:spPr>
          <a:xfrm>
            <a:off x="279699" y="6258296"/>
            <a:ext cx="325943" cy="263638"/>
          </a:xfrm>
          <a:prstGeom prst="rightArrow">
            <a:avLst/>
          </a:prstGeom>
          <a:solidFill>
            <a:srgbClr val="F9B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9855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31F09-05D4-424A-F2C3-E0B3E6197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2A2DC7D5-42B3-290E-5618-6C5AB41AFFD0}"/>
              </a:ext>
            </a:extLst>
          </p:cNvPr>
          <p:cNvSpPr/>
          <p:nvPr/>
        </p:nvSpPr>
        <p:spPr>
          <a:xfrm>
            <a:off x="6549637" y="3849333"/>
            <a:ext cx="5314535" cy="235828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AF09856-6A0A-2949-0900-E44D8892B5F7}"/>
              </a:ext>
            </a:extLst>
          </p:cNvPr>
          <p:cNvSpPr/>
          <p:nvPr/>
        </p:nvSpPr>
        <p:spPr>
          <a:xfrm>
            <a:off x="7326047" y="1681656"/>
            <a:ext cx="4049523" cy="161082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1F70995-96AD-68D3-1FE9-B136EF157A15}"/>
              </a:ext>
            </a:extLst>
          </p:cNvPr>
          <p:cNvSpPr/>
          <p:nvPr/>
        </p:nvSpPr>
        <p:spPr>
          <a:xfrm>
            <a:off x="448940" y="1510746"/>
            <a:ext cx="6200215" cy="45719"/>
          </a:xfrm>
          <a:prstGeom prst="rect">
            <a:avLst/>
          </a:prstGeom>
          <a:solidFill>
            <a:srgbClr val="F9B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F1DB611-E153-8076-B79B-7CB0B0422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　実践　　仮想環境を作ってみよう</a:t>
            </a:r>
            <a:endParaRPr kumimoji="1" lang="ja-JP" altLang="en-US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432BE6EF-4F20-7002-8750-B06F308FE112}"/>
              </a:ext>
            </a:extLst>
          </p:cNvPr>
          <p:cNvCxnSpPr/>
          <p:nvPr/>
        </p:nvCxnSpPr>
        <p:spPr>
          <a:xfrm>
            <a:off x="1985211" y="457200"/>
            <a:ext cx="0" cy="372979"/>
          </a:xfrm>
          <a:prstGeom prst="line">
            <a:avLst/>
          </a:prstGeom>
          <a:ln w="2159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A2200288-8D1B-B983-48BE-78B8BF8474F2}"/>
              </a:ext>
            </a:extLst>
          </p:cNvPr>
          <p:cNvGrpSpPr/>
          <p:nvPr/>
        </p:nvGrpSpPr>
        <p:grpSpPr>
          <a:xfrm>
            <a:off x="279700" y="1885472"/>
            <a:ext cx="6369456" cy="1484573"/>
            <a:chOff x="279700" y="2627291"/>
            <a:chExt cx="6369456" cy="1484573"/>
          </a:xfrm>
        </p:grpSpPr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FB472508-FFBB-E62D-C8BD-E1DDC2F182C3}"/>
                </a:ext>
              </a:extLst>
            </p:cNvPr>
            <p:cNvSpPr txBox="1"/>
            <p:nvPr/>
          </p:nvSpPr>
          <p:spPr>
            <a:xfrm>
              <a:off x="435689" y="2627291"/>
              <a:ext cx="47948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環境作りの準備＋</a:t>
              </a:r>
              <a:r>
                <a:rPr kumimoji="1" lang="en-US" altLang="ja-JP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Python</a:t>
              </a:r>
              <a:r>
                <a:rPr kumimoji="1" lang="ja-JP" altLang="en-US" sz="20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バージョン指定</a:t>
              </a:r>
              <a:endParaRPr kumimoji="1" lang="en-US" altLang="ja-JP" sz="20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082ED755-3498-7B56-D89F-21D2145FDFF9}"/>
                </a:ext>
              </a:extLst>
            </p:cNvPr>
            <p:cNvSpPr txBox="1"/>
            <p:nvPr/>
          </p:nvSpPr>
          <p:spPr>
            <a:xfrm>
              <a:off x="279700" y="3034646"/>
              <a:ext cx="636945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ja-JP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ターミナルに以下のコマンドを打ってください。</a:t>
              </a:r>
              <a:endParaRPr lang="en" altLang="ja-JP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spcBef>
                  <a:spcPts val="600"/>
                </a:spcBef>
              </a:pPr>
              <a:r>
                <a:rPr lang="en-US" altLang="ja-JP" b="1" dirty="0" err="1">
                  <a:solidFill>
                    <a:schemeClr val="bg1"/>
                  </a:solidFill>
                  <a:highlight>
                    <a:srgbClr val="000000"/>
                  </a:highlight>
                </a:rPr>
                <a:t>uv</a:t>
              </a:r>
              <a:r>
                <a:rPr lang="en-US" altLang="ja-JP" b="1" dirty="0">
                  <a:solidFill>
                    <a:schemeClr val="bg1"/>
                  </a:solidFill>
                  <a:highlight>
                    <a:srgbClr val="000000"/>
                  </a:highlight>
                </a:rPr>
                <a:t> </a:t>
              </a:r>
              <a:r>
                <a:rPr lang="en-US" altLang="ja-JP" b="1" dirty="0" err="1">
                  <a:solidFill>
                    <a:schemeClr val="bg1"/>
                  </a:solidFill>
                  <a:highlight>
                    <a:srgbClr val="000000"/>
                  </a:highlight>
                </a:rPr>
                <a:t>init</a:t>
              </a:r>
              <a:r>
                <a:rPr lang="en-US" altLang="ja-JP" b="1" dirty="0">
                  <a:solidFill>
                    <a:schemeClr val="bg1"/>
                  </a:solidFill>
                  <a:highlight>
                    <a:srgbClr val="000000"/>
                  </a:highlight>
                </a:rPr>
                <a:t> --python 3.11</a:t>
              </a:r>
            </a:p>
            <a:p>
              <a:pPr>
                <a:spcBef>
                  <a:spcPts val="600"/>
                </a:spcBef>
              </a:pPr>
              <a:r>
                <a:rPr lang="ja-JP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ディレクトリ内に右のように複数のファイルが入ります。</a:t>
              </a:r>
              <a:endPara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863068F0-762A-3956-84E7-79249257738C}"/>
                </a:ext>
              </a:extLst>
            </p:cNvPr>
            <p:cNvSpPr/>
            <p:nvPr/>
          </p:nvSpPr>
          <p:spPr>
            <a:xfrm>
              <a:off x="435689" y="2685178"/>
              <a:ext cx="45719" cy="257532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FD587F21-B897-17CE-8856-987C307A2A65}"/>
              </a:ext>
            </a:extLst>
          </p:cNvPr>
          <p:cNvGrpSpPr/>
          <p:nvPr/>
        </p:nvGrpSpPr>
        <p:grpSpPr>
          <a:xfrm>
            <a:off x="279700" y="3879770"/>
            <a:ext cx="6369456" cy="2931123"/>
            <a:chOff x="279700" y="2627291"/>
            <a:chExt cx="6369456" cy="2931123"/>
          </a:xfrm>
        </p:grpSpPr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E2E28137-87B2-AA73-B42C-73601F851F53}"/>
                </a:ext>
              </a:extLst>
            </p:cNvPr>
            <p:cNvSpPr txBox="1"/>
            <p:nvPr/>
          </p:nvSpPr>
          <p:spPr>
            <a:xfrm>
              <a:off x="435689" y="2627291"/>
              <a:ext cx="42883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ディレクトリに入るファイルの説明</a:t>
              </a:r>
              <a:endParaRPr kumimoji="1" lang="en-US" altLang="ja-JP" sz="20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F2376E86-5C71-4B91-634A-3F01AF95F6CE}"/>
                </a:ext>
              </a:extLst>
            </p:cNvPr>
            <p:cNvSpPr txBox="1"/>
            <p:nvPr/>
          </p:nvSpPr>
          <p:spPr>
            <a:xfrm>
              <a:off x="279700" y="3034646"/>
              <a:ext cx="6369456" cy="2523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ざっくりした説明は右のもの。</a:t>
              </a:r>
              <a:endPara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endPara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r>
                <a:rPr lang="ja-JP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一番重要なのは</a:t>
              </a:r>
              <a:r>
                <a:rPr lang="en-US" altLang="ja-JP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toml</a:t>
              </a:r>
              <a:r>
                <a:rPr lang="ja-JP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ファイル。</a:t>
              </a:r>
              <a:endPara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r>
                <a:rPr lang="ja-JP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この中で使うパッケージ等、設定が保存される。</a:t>
              </a:r>
              <a:endPara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endPara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r>
                <a:rPr lang="ja-JP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進めながら説明します。</a:t>
              </a:r>
              <a:endPara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endPara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endPara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endPara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89128655-D44E-4797-B1B3-A4AB0210CD01}"/>
                </a:ext>
              </a:extLst>
            </p:cNvPr>
            <p:cNvSpPr/>
            <p:nvPr/>
          </p:nvSpPr>
          <p:spPr>
            <a:xfrm>
              <a:off x="435689" y="2685178"/>
              <a:ext cx="45719" cy="2575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pic>
        <p:nvPicPr>
          <p:cNvPr id="8" name="図 7">
            <a:extLst>
              <a:ext uri="{FF2B5EF4-FFF2-40B4-BE49-F238E27FC236}">
                <a16:creationId xmlns:a16="http://schemas.microsoft.com/office/drawing/2014/main" id="{6216B021-EC08-8C59-886B-B1445A70A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7705" y="1787962"/>
            <a:ext cx="3848100" cy="1384300"/>
          </a:xfrm>
          <a:prstGeom prst="rect">
            <a:avLst/>
          </a:prstGeom>
        </p:spPr>
      </p:pic>
      <p:sp>
        <p:nvSpPr>
          <p:cNvPr id="21" name="コンテンツ プレースホルダー 2">
            <a:extLst>
              <a:ext uri="{FF2B5EF4-FFF2-40B4-BE49-F238E27FC236}">
                <a16:creationId xmlns:a16="http://schemas.microsoft.com/office/drawing/2014/main" id="{2FC0BDE5-B532-D66A-189F-98097231ECB3}"/>
              </a:ext>
            </a:extLst>
          </p:cNvPr>
          <p:cNvSpPr txBox="1">
            <a:spLocks/>
          </p:cNvSpPr>
          <p:nvPr/>
        </p:nvSpPr>
        <p:spPr>
          <a:xfrm>
            <a:off x="435689" y="1253331"/>
            <a:ext cx="11193327" cy="4847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b="1" dirty="0"/>
              <a:t>① </a:t>
            </a:r>
            <a:r>
              <a:rPr lang="ja-JP" altLang="en-US" b="1"/>
              <a:t>仮想環境の準備＋</a:t>
            </a:r>
            <a:r>
              <a:rPr lang="en-US" altLang="ja-JP" b="1" dirty="0"/>
              <a:t>Python</a:t>
            </a:r>
            <a:r>
              <a:rPr lang="ja-JP" altLang="en-US" b="1"/>
              <a:t>バージョン指定</a:t>
            </a:r>
            <a:endParaRPr lang="en-US" altLang="ja-JP" b="1" dirty="0"/>
          </a:p>
          <a:p>
            <a:endParaRPr lang="en-US" altLang="ja-JP" b="1" dirty="0"/>
          </a:p>
          <a:p>
            <a:endParaRPr lang="ja-JP" altLang="en-US"/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56197F27-22C6-3995-252D-98FC138513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263" y="3937657"/>
            <a:ext cx="5100048" cy="2185735"/>
          </a:xfrm>
          <a:prstGeom prst="rect">
            <a:avLst/>
          </a:prstGeom>
        </p:spPr>
      </p:pic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E215DD0D-6548-CF2A-25D4-46E7B2EA0323}"/>
              </a:ext>
            </a:extLst>
          </p:cNvPr>
          <p:cNvSpPr/>
          <p:nvPr/>
        </p:nvSpPr>
        <p:spPr>
          <a:xfrm>
            <a:off x="6739390" y="4655128"/>
            <a:ext cx="4972753" cy="2850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05B54E13-A455-4591-2315-CBF2FA5D612D}"/>
              </a:ext>
            </a:extLst>
          </p:cNvPr>
          <p:cNvSpPr/>
          <p:nvPr/>
        </p:nvSpPr>
        <p:spPr>
          <a:xfrm>
            <a:off x="6719910" y="5485915"/>
            <a:ext cx="4972753" cy="2850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3265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F31FD-84F3-8825-413F-44B6072D3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角丸四角形 30">
            <a:extLst>
              <a:ext uri="{FF2B5EF4-FFF2-40B4-BE49-F238E27FC236}">
                <a16:creationId xmlns:a16="http://schemas.microsoft.com/office/drawing/2014/main" id="{543403C9-C73C-F7CD-A8CD-487CC69C14C2}"/>
              </a:ext>
            </a:extLst>
          </p:cNvPr>
          <p:cNvSpPr/>
          <p:nvPr/>
        </p:nvSpPr>
        <p:spPr>
          <a:xfrm>
            <a:off x="6215461" y="1335507"/>
            <a:ext cx="5815823" cy="5065295"/>
          </a:xfrm>
          <a:prstGeom prst="roundRect">
            <a:avLst>
              <a:gd name="adj" fmla="val 7663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798DB90-F454-30DF-1927-263DD864117B}"/>
              </a:ext>
            </a:extLst>
          </p:cNvPr>
          <p:cNvSpPr/>
          <p:nvPr/>
        </p:nvSpPr>
        <p:spPr>
          <a:xfrm>
            <a:off x="448941" y="1510746"/>
            <a:ext cx="3006953" cy="46800"/>
          </a:xfrm>
          <a:prstGeom prst="rect">
            <a:avLst/>
          </a:prstGeom>
          <a:solidFill>
            <a:srgbClr val="F9B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506EDE9-500D-4503-B527-D795CC7A1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　実践　　仮想環境を作ってみよう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DF35EF0-6BF1-923D-5B0D-464C4919A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690" y="1253331"/>
            <a:ext cx="4910330" cy="834907"/>
          </a:xfrm>
        </p:spPr>
        <p:txBody>
          <a:bodyPr>
            <a:normAutofit/>
          </a:bodyPr>
          <a:lstStyle/>
          <a:p>
            <a:r>
              <a:rPr lang="en-US" altLang="ja-JP" b="1" dirty="0"/>
              <a:t>② </a:t>
            </a:r>
            <a:r>
              <a:rPr lang="ja-JP" altLang="en-US" b="1"/>
              <a:t>パッケージの準備</a:t>
            </a:r>
            <a:endParaRPr kumimoji="1" lang="ja-JP" altLang="en-US" b="1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323AF217-E53A-25DF-C608-748A11D5643D}"/>
              </a:ext>
            </a:extLst>
          </p:cNvPr>
          <p:cNvCxnSpPr/>
          <p:nvPr/>
        </p:nvCxnSpPr>
        <p:spPr>
          <a:xfrm>
            <a:off x="1985211" y="457200"/>
            <a:ext cx="0" cy="372979"/>
          </a:xfrm>
          <a:prstGeom prst="line">
            <a:avLst/>
          </a:prstGeom>
          <a:ln w="2159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EF17B8B4-227F-CDCA-12F0-99D754943E1C}"/>
              </a:ext>
            </a:extLst>
          </p:cNvPr>
          <p:cNvGrpSpPr/>
          <p:nvPr/>
        </p:nvGrpSpPr>
        <p:grpSpPr>
          <a:xfrm>
            <a:off x="279700" y="1894611"/>
            <a:ext cx="6369456" cy="1407629"/>
            <a:chOff x="279700" y="2627291"/>
            <a:chExt cx="6369456" cy="1407629"/>
          </a:xfrm>
        </p:grpSpPr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DE909DA9-66D5-2F0F-E271-ECA542001A1A}"/>
                </a:ext>
              </a:extLst>
            </p:cNvPr>
            <p:cNvSpPr txBox="1"/>
            <p:nvPr/>
          </p:nvSpPr>
          <p:spPr>
            <a:xfrm>
              <a:off x="435689" y="2627291"/>
              <a:ext cx="32624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0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使うパッケージを用意する</a:t>
              </a:r>
              <a:endParaRPr kumimoji="1" lang="en-US" altLang="ja-JP" sz="20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A933DFAD-E3B0-BC04-1ACF-57DD340773B7}"/>
                </a:ext>
              </a:extLst>
            </p:cNvPr>
            <p:cNvSpPr txBox="1"/>
            <p:nvPr/>
          </p:nvSpPr>
          <p:spPr>
            <a:xfrm>
              <a:off x="279700" y="3034646"/>
              <a:ext cx="6369456" cy="10002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ja-JP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例として</a:t>
              </a:r>
              <a:r>
                <a:rPr lang="en-US" altLang="ja-JP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numpy</a:t>
              </a:r>
              <a:r>
                <a:rPr lang="ja-JP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（</a:t>
              </a:r>
              <a:r>
                <a:rPr lang="ja-JP" altLang="ja-JP"/>
                <a:t>数値計算</a:t>
              </a:r>
              <a:r>
                <a:rPr lang="ja-JP" altLang="en-US"/>
                <a:t>のためのパッケージ</a:t>
              </a:r>
              <a:r>
                <a:rPr lang="ja-JP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）を</a:t>
              </a:r>
              <a:br>
                <a:rPr lang="en-US" altLang="ja-JP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</a:br>
              <a:r>
                <a:rPr lang="ja-JP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入れる。以下のコマンドを打ってください。</a:t>
              </a:r>
              <a:endParaRPr lang="en" altLang="ja-JP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spcBef>
                  <a:spcPts val="600"/>
                </a:spcBef>
              </a:pPr>
              <a:r>
                <a:rPr lang="en-US" altLang="ja-JP" b="1" dirty="0" err="1">
                  <a:solidFill>
                    <a:schemeClr val="bg1"/>
                  </a:solidFill>
                  <a:highlight>
                    <a:srgbClr val="000000"/>
                  </a:highlight>
                </a:rPr>
                <a:t>uv</a:t>
              </a:r>
              <a:r>
                <a:rPr lang="en-US" altLang="ja-JP" b="1" dirty="0">
                  <a:solidFill>
                    <a:schemeClr val="bg1"/>
                  </a:solidFill>
                  <a:highlight>
                    <a:srgbClr val="000000"/>
                  </a:highlight>
                </a:rPr>
                <a:t> add </a:t>
              </a:r>
              <a:r>
                <a:rPr lang="en-US" altLang="ja-JP" b="1" dirty="0" err="1">
                  <a:solidFill>
                    <a:schemeClr val="bg1"/>
                  </a:solidFill>
                  <a:highlight>
                    <a:srgbClr val="000000"/>
                  </a:highlight>
                </a:rPr>
                <a:t>numpy</a:t>
              </a:r>
              <a:r>
                <a:rPr lang="en-US" altLang="ja-JP" b="1" dirty="0">
                  <a:solidFill>
                    <a:schemeClr val="bg1"/>
                  </a:solidFill>
                  <a:highlight>
                    <a:srgbClr val="000000"/>
                  </a:highlight>
                </a:rPr>
                <a:t> </a:t>
              </a: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B497F59F-D2F6-3EE3-58F5-FBC605F291B2}"/>
                </a:ext>
              </a:extLst>
            </p:cNvPr>
            <p:cNvSpPr/>
            <p:nvPr/>
          </p:nvSpPr>
          <p:spPr>
            <a:xfrm>
              <a:off x="435689" y="2685178"/>
              <a:ext cx="45719" cy="257532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26" name="図 25">
            <a:extLst>
              <a:ext uri="{FF2B5EF4-FFF2-40B4-BE49-F238E27FC236}">
                <a16:creationId xmlns:a16="http://schemas.microsoft.com/office/drawing/2014/main" id="{20A5CDA3-BA61-F08F-38DD-9254F294B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8064" y="2033339"/>
            <a:ext cx="4457700" cy="1600200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20FFA7AF-FB52-F40A-FFB2-E89BF5E8A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114" y="4144671"/>
            <a:ext cx="4927600" cy="2082800"/>
          </a:xfrm>
          <a:prstGeom prst="rect">
            <a:avLst/>
          </a:prstGeom>
        </p:spPr>
      </p:pic>
      <p:sp>
        <p:nvSpPr>
          <p:cNvPr id="29" name="下矢印 28">
            <a:extLst>
              <a:ext uri="{FF2B5EF4-FFF2-40B4-BE49-F238E27FC236}">
                <a16:creationId xmlns:a16="http://schemas.microsoft.com/office/drawing/2014/main" id="{10C40420-58D1-6300-4C32-01C8656486AD}"/>
              </a:ext>
            </a:extLst>
          </p:cNvPr>
          <p:cNvSpPr/>
          <p:nvPr/>
        </p:nvSpPr>
        <p:spPr>
          <a:xfrm>
            <a:off x="9123373" y="3766001"/>
            <a:ext cx="265891" cy="283171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62FA3CDD-18DC-4D48-A3B6-9E16E1F50126}"/>
              </a:ext>
            </a:extLst>
          </p:cNvPr>
          <p:cNvSpPr txBox="1"/>
          <p:nvPr/>
        </p:nvSpPr>
        <p:spPr>
          <a:xfrm>
            <a:off x="6419455" y="1579443"/>
            <a:ext cx="5301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/>
              <a:t>t</a:t>
            </a:r>
            <a:r>
              <a:rPr kumimoji="1" lang="en-US" altLang="ja-JP" dirty="0" err="1"/>
              <a:t>oml</a:t>
            </a:r>
            <a:r>
              <a:rPr kumimoji="1" lang="en-US" altLang="ja-JP" dirty="0"/>
              <a:t> </a:t>
            </a:r>
            <a:r>
              <a:rPr kumimoji="1" lang="ja-JP" altLang="en-US"/>
              <a:t>の中に</a:t>
            </a:r>
            <a:r>
              <a:rPr kumimoji="1" lang="en-US" altLang="ja-JP" dirty="0" err="1"/>
              <a:t>numpy</a:t>
            </a:r>
            <a:r>
              <a:rPr kumimoji="1" lang="ja-JP" altLang="en-US"/>
              <a:t>を使うという設定が記入される</a:t>
            </a:r>
            <a:r>
              <a:rPr kumimoji="1" lang="en-US" altLang="ja-JP" dirty="0"/>
              <a:t> </a:t>
            </a:r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75DE741C-0F50-28F4-665A-4D8EC5DDA7BC}"/>
              </a:ext>
            </a:extLst>
          </p:cNvPr>
          <p:cNvSpPr/>
          <p:nvPr/>
        </p:nvSpPr>
        <p:spPr>
          <a:xfrm>
            <a:off x="458548" y="3956142"/>
            <a:ext cx="1201810" cy="45719"/>
          </a:xfrm>
          <a:prstGeom prst="rect">
            <a:avLst/>
          </a:prstGeom>
          <a:solidFill>
            <a:srgbClr val="F9B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コンテンツ プレースホルダー 2">
            <a:extLst>
              <a:ext uri="{FF2B5EF4-FFF2-40B4-BE49-F238E27FC236}">
                <a16:creationId xmlns:a16="http://schemas.microsoft.com/office/drawing/2014/main" id="{4F862371-3AA9-CCB8-29AA-ABB8425DFE96}"/>
              </a:ext>
            </a:extLst>
          </p:cNvPr>
          <p:cNvSpPr txBox="1">
            <a:spLocks/>
          </p:cNvSpPr>
          <p:nvPr/>
        </p:nvSpPr>
        <p:spPr>
          <a:xfrm>
            <a:off x="448941" y="3694887"/>
            <a:ext cx="11193327" cy="804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b="1" dirty="0"/>
              <a:t>③ </a:t>
            </a:r>
            <a:r>
              <a:rPr lang="ja-JP" altLang="en-US" b="1"/>
              <a:t>実行</a:t>
            </a:r>
            <a:endParaRPr lang="en-US" altLang="ja-JP" b="1" dirty="0"/>
          </a:p>
          <a:p>
            <a:endParaRPr lang="ja-JP" altLang="en-US"/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F3C3435B-56DB-FFE8-EB0B-5904A1DA9344}"/>
              </a:ext>
            </a:extLst>
          </p:cNvPr>
          <p:cNvGrpSpPr/>
          <p:nvPr/>
        </p:nvGrpSpPr>
        <p:grpSpPr>
          <a:xfrm>
            <a:off x="271166" y="4344537"/>
            <a:ext cx="6369456" cy="2192459"/>
            <a:chOff x="279700" y="2627291"/>
            <a:chExt cx="6369456" cy="2192459"/>
          </a:xfrm>
        </p:grpSpPr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F6DDD75E-3FDD-80C4-5265-591A377C9D01}"/>
                </a:ext>
              </a:extLst>
            </p:cNvPr>
            <p:cNvSpPr txBox="1"/>
            <p:nvPr/>
          </p:nvSpPr>
          <p:spPr>
            <a:xfrm>
              <a:off x="435689" y="2627291"/>
              <a:ext cx="30059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0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どうコードを実行するか</a:t>
              </a:r>
              <a:endParaRPr kumimoji="1" lang="en-US" altLang="ja-JP" sz="20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6F0E14FF-F78A-B1F6-5F9B-C22409A8CDAF}"/>
                </a:ext>
              </a:extLst>
            </p:cNvPr>
            <p:cNvSpPr txBox="1"/>
            <p:nvPr/>
          </p:nvSpPr>
          <p:spPr>
            <a:xfrm>
              <a:off x="279700" y="3034646"/>
              <a:ext cx="6369456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ja-JP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ノートブック形式（</a:t>
              </a:r>
              <a:r>
                <a:rPr lang="en-US" altLang="ja-JP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.</a:t>
              </a:r>
              <a:r>
                <a:rPr lang="en-US" altLang="ja-JP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ipynb</a:t>
              </a:r>
              <a:r>
                <a:rPr lang="ja-JP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）でファイルを作って</a:t>
              </a:r>
              <a:endPara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spcBef>
                  <a:spcPts val="600"/>
                </a:spcBef>
              </a:pPr>
              <a:r>
                <a:rPr lang="ja-JP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実行する。</a:t>
              </a:r>
              <a:endPara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spcBef>
                  <a:spcPts val="600"/>
                </a:spcBef>
              </a:pPr>
              <a:endPara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spcBef>
                  <a:spcPts val="600"/>
                </a:spcBef>
              </a:pPr>
              <a:r>
                <a:rPr lang="en-US" altLang="ja-JP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①</a:t>
              </a:r>
              <a:r>
                <a:rPr lang="ja-JP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デフォルトのファイルを実行する。</a:t>
              </a:r>
              <a:endPara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spcBef>
                  <a:spcPts val="600"/>
                </a:spcBef>
              </a:pPr>
              <a:r>
                <a:rPr lang="en-US" altLang="ja-JP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②</a:t>
              </a:r>
              <a:r>
                <a:rPr lang="ja-JP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お試しで</a:t>
              </a:r>
              <a:r>
                <a:rPr lang="en-US" altLang="ja-JP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numpy</a:t>
              </a:r>
              <a:r>
                <a:rPr lang="ja-JP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の機能を確認する。</a:t>
              </a:r>
              <a:endPara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39AE6380-4885-E760-8EDB-282C63AA2E10}"/>
                </a:ext>
              </a:extLst>
            </p:cNvPr>
            <p:cNvSpPr/>
            <p:nvPr/>
          </p:nvSpPr>
          <p:spPr>
            <a:xfrm>
              <a:off x="435689" y="2685178"/>
              <a:ext cx="45719" cy="257532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06AD7EEA-8FC9-7951-FB29-B40CA4C47B0F}"/>
              </a:ext>
            </a:extLst>
          </p:cNvPr>
          <p:cNvSpPr/>
          <p:nvPr/>
        </p:nvSpPr>
        <p:spPr>
          <a:xfrm>
            <a:off x="-4273972" y="2305575"/>
            <a:ext cx="4065800" cy="21969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2D51DD23-9EC2-D4CC-33C4-C4C711A546A5}"/>
              </a:ext>
            </a:extLst>
          </p:cNvPr>
          <p:cNvSpPr txBox="1"/>
          <p:nvPr/>
        </p:nvSpPr>
        <p:spPr>
          <a:xfrm>
            <a:off x="-4131316" y="2540725"/>
            <a:ext cx="381489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2.5 </a:t>
            </a:r>
            <a:r>
              <a:rPr kumimoji="1" lang="ja-JP" altLang="en-US" b="1"/>
              <a:t>ノートブック形式を使うために</a:t>
            </a:r>
            <a:endParaRPr kumimoji="1" lang="en-US" altLang="ja-JP" b="1" dirty="0"/>
          </a:p>
          <a:p>
            <a:endParaRPr lang="en-US" altLang="ja-JP" dirty="0"/>
          </a:p>
          <a:p>
            <a:r>
              <a:rPr lang="ja-JP" altLang="en-US"/>
              <a:t>パッケージのように、</a:t>
            </a:r>
            <a:endParaRPr lang="en-US" altLang="ja-JP" dirty="0"/>
          </a:p>
          <a:p>
            <a:r>
              <a:rPr lang="en-US" altLang="ja-JP" dirty="0"/>
              <a:t>『</a:t>
            </a:r>
            <a:r>
              <a:rPr lang="en-US" altLang="ja-JP" dirty="0" err="1"/>
              <a:t>ipykernel</a:t>
            </a:r>
            <a:r>
              <a:rPr lang="en-US" altLang="ja-JP" dirty="0"/>
              <a:t>』</a:t>
            </a:r>
            <a:r>
              <a:rPr lang="ja-JP" altLang="en-US"/>
              <a:t>というのもいれます！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en-US" altLang="ja-JP" b="1" dirty="0" err="1">
                <a:solidFill>
                  <a:schemeClr val="bg1"/>
                </a:solidFill>
                <a:highlight>
                  <a:srgbClr val="000000"/>
                </a:highlight>
              </a:rPr>
              <a:t>uv</a:t>
            </a:r>
            <a:r>
              <a:rPr lang="en-US" altLang="ja-JP" b="1" dirty="0">
                <a:solidFill>
                  <a:schemeClr val="bg1"/>
                </a:solidFill>
                <a:highlight>
                  <a:srgbClr val="000000"/>
                </a:highlight>
              </a:rPr>
              <a:t> add </a:t>
            </a:r>
            <a:r>
              <a:rPr lang="en-US" altLang="ja-JP" b="1" dirty="0" err="1">
                <a:solidFill>
                  <a:schemeClr val="bg1"/>
                </a:solidFill>
                <a:highlight>
                  <a:srgbClr val="000000"/>
                </a:highlight>
              </a:rPr>
              <a:t>ipykernel</a:t>
            </a:r>
            <a:r>
              <a:rPr lang="en-US" altLang="ja-JP" b="1" dirty="0">
                <a:solidFill>
                  <a:schemeClr val="bg1"/>
                </a:solidFill>
                <a:highlight>
                  <a:srgbClr val="000000"/>
                </a:highlight>
              </a:rPr>
              <a:t> </a:t>
            </a:r>
          </a:p>
          <a:p>
            <a:endParaRPr kumimoji="1" lang="en-US" altLang="ja-JP" dirty="0"/>
          </a:p>
          <a:p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969BBB84-54EE-9F8C-6502-61736079EEE1}"/>
              </a:ext>
            </a:extLst>
          </p:cNvPr>
          <p:cNvSpPr/>
          <p:nvPr/>
        </p:nvSpPr>
        <p:spPr>
          <a:xfrm>
            <a:off x="-4131316" y="2575907"/>
            <a:ext cx="45719" cy="2575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下矢印 40">
            <a:extLst>
              <a:ext uri="{FF2B5EF4-FFF2-40B4-BE49-F238E27FC236}">
                <a16:creationId xmlns:a16="http://schemas.microsoft.com/office/drawing/2014/main" id="{63407259-F3ED-A4C5-CA2C-1839293FED36}"/>
              </a:ext>
            </a:extLst>
          </p:cNvPr>
          <p:cNvSpPr/>
          <p:nvPr/>
        </p:nvSpPr>
        <p:spPr>
          <a:xfrm rot="16200000">
            <a:off x="-325818" y="3251107"/>
            <a:ext cx="635327" cy="62347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02C7C53-57FC-AF70-4CCF-0DE9915A0678}"/>
              </a:ext>
            </a:extLst>
          </p:cNvPr>
          <p:cNvSpPr txBox="1"/>
          <p:nvPr/>
        </p:nvSpPr>
        <p:spPr>
          <a:xfrm>
            <a:off x="-10519960" y="967851"/>
            <a:ext cx="104890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b="1">
                <a:solidFill>
                  <a:srgbClr val="FF0000"/>
                </a:solidFill>
              </a:rPr>
              <a:t>・スライド通り進めたのに.venvが作られない場合がある</a:t>
            </a:r>
            <a:br>
              <a:rPr lang="ja-JP" altLang="ja-JP">
                <a:solidFill>
                  <a:srgbClr val="FF0000"/>
                </a:solidFill>
              </a:rPr>
            </a:br>
            <a:r>
              <a:rPr lang="ja-JP" altLang="ja-JP">
                <a:solidFill>
                  <a:srgbClr val="FF0000"/>
                </a:solidFill>
              </a:rPr>
              <a:t>私のスライドでは、「uv init --python 3.11」→「uv add ~」の順で進めていました。</a:t>
            </a:r>
            <a:br>
              <a:rPr lang="ja-JP" altLang="ja-JP">
                <a:solidFill>
                  <a:srgbClr val="FF0000"/>
                </a:solidFill>
              </a:rPr>
            </a:br>
            <a:r>
              <a:rPr lang="ja-JP" altLang="ja-JP">
                <a:solidFill>
                  <a:srgbClr val="FF0000"/>
                </a:solidFill>
              </a:rPr>
              <a:t>この手順で.venvまで作られる場合と、「uv init --python 3.11」→「uv sync」→「uv add ~」のように、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lang="ja-JP" altLang="ja-JP">
                <a:solidFill>
                  <a:srgbClr val="FF0000"/>
                </a:solidFill>
              </a:rPr>
              <a:t>間にもう１ステップ挟まないと.venvが作られない人がいるようです。</a:t>
            </a:r>
            <a:endParaRPr kumimoji="1" lang="ja-JP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731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角丸四角形 23">
            <a:extLst>
              <a:ext uri="{FF2B5EF4-FFF2-40B4-BE49-F238E27FC236}">
                <a16:creationId xmlns:a16="http://schemas.microsoft.com/office/drawing/2014/main" id="{7C996BAB-03CE-B0A5-0294-83F9E3DE691D}"/>
              </a:ext>
            </a:extLst>
          </p:cNvPr>
          <p:cNvSpPr/>
          <p:nvPr/>
        </p:nvSpPr>
        <p:spPr>
          <a:xfrm>
            <a:off x="120559" y="5246914"/>
            <a:ext cx="11984356" cy="1447802"/>
          </a:xfrm>
          <a:prstGeom prst="roundRect">
            <a:avLst>
              <a:gd name="adj" fmla="val 766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00A2093-AEBC-D097-DAF0-EAA7AF184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　演習　　仮想環境を使い回す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5F22524-00D3-27A3-0823-F40342C68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同じ環境を別のディレクトリ内で使いまわすこともできる。</a:t>
            </a:r>
            <a:endParaRPr lang="en-US" altLang="ja-JP" dirty="0"/>
          </a:p>
          <a:p>
            <a:endParaRPr lang="en-US" altLang="ja-JP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A3791C2-AA19-6086-485F-08398561E6E4}"/>
              </a:ext>
            </a:extLst>
          </p:cNvPr>
          <p:cNvSpPr txBox="1"/>
          <p:nvPr/>
        </p:nvSpPr>
        <p:spPr>
          <a:xfrm>
            <a:off x="435689" y="1954189"/>
            <a:ext cx="11594386" cy="4119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500"/>
              </a:spcBef>
            </a:pPr>
            <a:r>
              <a:rPr kumimoji="1" lang="en-US" altLang="ja-JP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①</a:t>
            </a:r>
            <a:r>
              <a:rPr lang="ja-JP" altLang="en-US" sz="2000" b="1">
                <a:solidFill>
                  <a:schemeClr val="tx1">
                    <a:lumMod val="75000"/>
                    <a:lumOff val="25000"/>
                  </a:schemeClr>
                </a:solidFill>
              </a:rPr>
              <a:t>使いたい環境の</a:t>
            </a:r>
            <a:r>
              <a:rPr lang="en-US" altLang="ja-JP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toml</a:t>
            </a:r>
            <a:r>
              <a:rPr lang="ja-JP" altLang="en-US" sz="2000" b="1">
                <a:solidFill>
                  <a:schemeClr val="tx1">
                    <a:lumMod val="75000"/>
                    <a:lumOff val="25000"/>
                  </a:schemeClr>
                </a:solidFill>
              </a:rPr>
              <a:t>ファイルをコピーして持ってくる。</a:t>
            </a:r>
            <a:endParaRPr lang="en-US" altLang="ja-JP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500"/>
              </a:spcBef>
            </a:pPr>
            <a:endParaRPr kumimoji="1" lang="en-US" altLang="ja-JP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500"/>
              </a:spcBef>
            </a:pPr>
            <a:r>
              <a:rPr kumimoji="1" lang="ja-JP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（練習）シェルコマンド「</a:t>
            </a:r>
            <a:r>
              <a:rPr kumimoji="1" lang="en-US" altLang="ja-JP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cd</a:t>
            </a:r>
            <a:r>
              <a:rPr kumimoji="1" lang="ja-JP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」「</a:t>
            </a:r>
            <a:r>
              <a:rPr kumimoji="1" lang="en-US" altLang="ja-JP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mkdir</a:t>
            </a:r>
            <a:r>
              <a:rPr kumimoji="1" lang="ja-JP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」「</a:t>
            </a:r>
            <a:r>
              <a:rPr lang="en-US" altLang="ja-JP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cp</a:t>
            </a:r>
            <a:r>
              <a:rPr kumimoji="1" lang="ja-JP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」を使って、</a:t>
            </a:r>
            <a:endParaRPr kumimoji="1" lang="en-US" altLang="ja-JP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500"/>
              </a:spcBef>
            </a:pPr>
            <a: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　　　　</a:t>
            </a:r>
            <a:r>
              <a:rPr kumimoji="1" lang="en-US" altLang="ja-JP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toml</a:t>
            </a:r>
            <a:r>
              <a:rPr kumimoji="1" lang="ja-JP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ファイルを別のディレクトリにコピーしよう。</a:t>
            </a:r>
            <a:endParaRPr kumimoji="1" lang="en-US" altLang="ja-JP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500"/>
              </a:spcBef>
            </a:pPr>
            <a:endParaRPr lang="en-US" altLang="ja-JP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500"/>
              </a:spcBef>
            </a:pPr>
            <a: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・</a:t>
            </a:r>
            <a:r>
              <a:rPr lang="en-US" altLang="ja-JP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mkdir</a:t>
            </a:r>
            <a: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で新しいディレクトリを作る。</a:t>
            </a:r>
            <a:endParaRPr lang="en-US" altLang="ja-JP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500"/>
              </a:spcBef>
            </a:pPr>
            <a: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・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cp</a:t>
            </a:r>
            <a: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（コピーのためのシェルコマンド）で新しいディレクトリに、</a:t>
            </a:r>
            <a:endParaRPr lang="en-US" altLang="ja-JP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500"/>
              </a:spcBef>
            </a:pPr>
            <a: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　過去に作った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『</a:t>
            </a:r>
            <a:r>
              <a:rPr lang="en-US" altLang="ja-JP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toml</a:t>
            </a:r>
            <a: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ファイル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』</a:t>
            </a:r>
            <a: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と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『</a:t>
            </a:r>
            <a:r>
              <a:rPr lang="en-US" altLang="ja-JP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uv.lock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』</a:t>
            </a:r>
            <a: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をコピーしてくる。</a:t>
            </a:r>
            <a:endParaRPr lang="en-US" altLang="ja-JP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500"/>
              </a:spcBef>
            </a:pP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　　↓</a:t>
            </a:r>
            <a:endParaRPr lang="en-US" altLang="ja-JP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500"/>
              </a:spcBef>
            </a:pP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sample1</a:t>
            </a:r>
            <a: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という名前のディレクトリで作った仮想環境を、新しいディレクトリ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sample2</a:t>
            </a:r>
            <a: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で使いたいなら</a:t>
            </a:r>
            <a:endParaRPr lang="en-US" altLang="ja-JP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500"/>
              </a:spcBef>
            </a:pPr>
            <a:r>
              <a:rPr lang="en-US" altLang="ja-JP" sz="2000" b="1" dirty="0">
                <a:solidFill>
                  <a:schemeClr val="bg1"/>
                </a:solidFill>
                <a:highlight>
                  <a:srgbClr val="000000"/>
                </a:highlight>
              </a:rPr>
              <a:t>cp sample1/</a:t>
            </a:r>
            <a:r>
              <a:rPr lang="en-US" altLang="ja-JP" sz="2000" b="1" dirty="0" err="1">
                <a:solidFill>
                  <a:schemeClr val="bg1"/>
                </a:solidFill>
                <a:highlight>
                  <a:srgbClr val="000000"/>
                </a:highlight>
              </a:rPr>
              <a:t>pyproject.toml</a:t>
            </a:r>
            <a:r>
              <a:rPr lang="en-US" altLang="ja-JP" sz="2000" b="1" dirty="0">
                <a:solidFill>
                  <a:schemeClr val="bg1"/>
                </a:solidFill>
                <a:highlight>
                  <a:srgbClr val="000000"/>
                </a:highlight>
              </a:rPr>
              <a:t> sample2/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9C26E1D-E7C0-8D9D-0370-84C01F98FE94}"/>
              </a:ext>
            </a:extLst>
          </p:cNvPr>
          <p:cNvSpPr/>
          <p:nvPr/>
        </p:nvSpPr>
        <p:spPr>
          <a:xfrm>
            <a:off x="435689" y="2025478"/>
            <a:ext cx="45719" cy="2575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カギ線コネクタ 11">
            <a:extLst>
              <a:ext uri="{FF2B5EF4-FFF2-40B4-BE49-F238E27FC236}">
                <a16:creationId xmlns:a16="http://schemas.microsoft.com/office/drawing/2014/main" id="{C76BF379-0351-EF94-0ED7-14AE35D67A8D}"/>
              </a:ext>
            </a:extLst>
          </p:cNvPr>
          <p:cNvCxnSpPr>
            <a:cxnSpLocks/>
          </p:cNvCxnSpPr>
          <p:nvPr/>
        </p:nvCxnSpPr>
        <p:spPr>
          <a:xfrm flipV="1">
            <a:off x="2623457" y="5987143"/>
            <a:ext cx="1524003" cy="315686"/>
          </a:xfrm>
          <a:prstGeom prst="bentConnector3">
            <a:avLst>
              <a:gd name="adj1" fmla="val 1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66DC6BB5-0198-2887-B496-8EFFA5ED7938}"/>
              </a:ext>
            </a:extLst>
          </p:cNvPr>
          <p:cNvCxnSpPr/>
          <p:nvPr/>
        </p:nvCxnSpPr>
        <p:spPr>
          <a:xfrm flipV="1">
            <a:off x="2634343" y="6073265"/>
            <a:ext cx="0" cy="2295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65E89AD-92AB-D036-287D-35D8145E161F}"/>
              </a:ext>
            </a:extLst>
          </p:cNvPr>
          <p:cNvSpPr txBox="1"/>
          <p:nvPr/>
        </p:nvSpPr>
        <p:spPr>
          <a:xfrm>
            <a:off x="1709057" y="619397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これを</a:t>
            </a:r>
            <a:endParaRPr kumimoji="1" lang="ja-JP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8992605-F3A9-EC20-48A1-9CB3F1126559}"/>
              </a:ext>
            </a:extLst>
          </p:cNvPr>
          <p:cNvSpPr txBox="1"/>
          <p:nvPr/>
        </p:nvSpPr>
        <p:spPr>
          <a:xfrm>
            <a:off x="4231859" y="614498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こっちにコピー</a:t>
            </a:r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319B5780-129A-F4E5-E5EE-0FC344632657}"/>
              </a:ext>
            </a:extLst>
          </p:cNvPr>
          <p:cNvCxnSpPr/>
          <p:nvPr/>
        </p:nvCxnSpPr>
        <p:spPr>
          <a:xfrm>
            <a:off x="1985211" y="457200"/>
            <a:ext cx="0" cy="372979"/>
          </a:xfrm>
          <a:prstGeom prst="line">
            <a:avLst/>
          </a:prstGeom>
          <a:ln w="2159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3776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5D588-DD7E-AC25-B18E-0EA33C084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AD8C99-D4EC-3322-5388-D8E826682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　演習　　仮想環境を使い回す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50557DC-54B2-DB95-71B7-D7C3DDF2F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同じ環境を別のディレクトリ内で使いまわすこともできる。</a:t>
            </a:r>
            <a:endParaRPr lang="en-US" altLang="ja-JP" dirty="0"/>
          </a:p>
          <a:p>
            <a:endParaRPr lang="en-US" altLang="ja-JP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C4E7F7B-554B-4BAA-50C5-ED20E1613C39}"/>
              </a:ext>
            </a:extLst>
          </p:cNvPr>
          <p:cNvSpPr txBox="1"/>
          <p:nvPr/>
        </p:nvSpPr>
        <p:spPr>
          <a:xfrm>
            <a:off x="435689" y="1954189"/>
            <a:ext cx="1159438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500"/>
              </a:spcBef>
            </a:pPr>
            <a:r>
              <a:rPr lang="en-US" altLang="ja-JP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②</a:t>
            </a:r>
            <a:r>
              <a:rPr lang="ja-JP" altLang="en-US" sz="2000" b="1">
                <a:solidFill>
                  <a:schemeClr val="tx1">
                    <a:lumMod val="75000"/>
                    <a:lumOff val="25000"/>
                  </a:schemeClr>
                </a:solidFill>
              </a:rPr>
              <a:t>２つのファイルを使って新たに仮想環境を作ろう</a:t>
            </a:r>
            <a:endParaRPr lang="en-US" altLang="ja-JP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500"/>
              </a:spcBef>
            </a:pPr>
            <a:endParaRPr lang="en-US" altLang="ja-JP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500"/>
              </a:spcBef>
            </a:pPr>
            <a: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以下のコマンドを打てば、先ほどコピーしたファイルを元に、同じ仮想環境が作られる。</a:t>
            </a:r>
            <a:endParaRPr lang="en-US" altLang="ja-JP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500"/>
              </a:spcBef>
            </a:pPr>
            <a:r>
              <a:rPr lang="en-US" altLang="ja-JP" sz="2000" b="1" dirty="0" err="1">
                <a:solidFill>
                  <a:schemeClr val="bg1"/>
                </a:solidFill>
                <a:highlight>
                  <a:srgbClr val="000000"/>
                </a:highlight>
              </a:rPr>
              <a:t>uv</a:t>
            </a:r>
            <a:r>
              <a:rPr lang="en-US" altLang="ja-JP" sz="2000" b="1" dirty="0">
                <a:solidFill>
                  <a:schemeClr val="bg1"/>
                </a:solidFill>
                <a:highlight>
                  <a:srgbClr val="000000"/>
                </a:highlight>
              </a:rPr>
              <a:t> sync</a:t>
            </a:r>
          </a:p>
          <a:p>
            <a:pPr>
              <a:spcBef>
                <a:spcPts val="500"/>
              </a:spcBef>
            </a:pPr>
            <a:endParaRPr lang="en-US" altLang="ja-JP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500"/>
              </a:spcBef>
            </a:pPr>
            <a:endParaRPr lang="en-US" altLang="ja-JP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500"/>
              </a:spcBef>
            </a:pPr>
            <a:endParaRPr lang="en-US" altLang="ja-JP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4452732-0A15-31A4-3B33-4B5D9897E3DE}"/>
              </a:ext>
            </a:extLst>
          </p:cNvPr>
          <p:cNvSpPr/>
          <p:nvPr/>
        </p:nvSpPr>
        <p:spPr>
          <a:xfrm>
            <a:off x="435689" y="2025478"/>
            <a:ext cx="45719" cy="2575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4C1F5623-888E-42E2-B13D-4AFED0B3F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689" y="4040350"/>
            <a:ext cx="3683000" cy="115570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081FDA2-3362-3307-317E-150F9B0E7215}"/>
              </a:ext>
            </a:extLst>
          </p:cNvPr>
          <p:cNvSpPr txBox="1"/>
          <p:nvPr/>
        </p:nvSpPr>
        <p:spPr>
          <a:xfrm>
            <a:off x="4517571" y="4344036"/>
            <a:ext cx="27959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← こうなっていれば</a:t>
            </a:r>
            <a:r>
              <a:rPr kumimoji="1" lang="en-US" altLang="ja-JP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OK</a:t>
            </a:r>
            <a:r>
              <a:rPr kumimoji="1" lang="ja-JP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。</a:t>
            </a:r>
            <a:endParaRPr kumimoji="1" lang="en-US" altLang="ja-JP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ja-JP" altLang="en-US"/>
              <a:t>　</a:t>
            </a:r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8B5BD697-3FAA-4B3B-AEB7-3611326194BC}"/>
              </a:ext>
            </a:extLst>
          </p:cNvPr>
          <p:cNvCxnSpPr/>
          <p:nvPr/>
        </p:nvCxnSpPr>
        <p:spPr>
          <a:xfrm>
            <a:off x="1985211" y="457200"/>
            <a:ext cx="0" cy="372979"/>
          </a:xfrm>
          <a:prstGeom prst="line">
            <a:avLst/>
          </a:prstGeom>
          <a:ln w="2159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3990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76543B-C972-E002-F7C1-78D1840F7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エラー対応（</a:t>
            </a:r>
            <a:r>
              <a:rPr lang="en-US" altLang="ja-JP" dirty="0"/>
              <a:t>Slack</a:t>
            </a:r>
            <a:r>
              <a:rPr lang="ja-JP" altLang="en-US"/>
              <a:t>から転用）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863E78-A395-F075-A5F8-805AD980C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700" y="1343818"/>
            <a:ext cx="11587435" cy="5308107"/>
          </a:xfrm>
        </p:spPr>
        <p:txBody>
          <a:bodyPr>
            <a:normAutofit/>
          </a:bodyPr>
          <a:lstStyle/>
          <a:p>
            <a:r>
              <a:rPr lang="ja-JP" altLang="ja-JP" sz="2000" b="1"/>
              <a:t>・スライド通り進めたのに.venvが作られない場合が</a:t>
            </a:r>
            <a:r>
              <a:rPr lang="ja-JP" altLang="en-US" sz="2000" b="1"/>
              <a:t>ある</a:t>
            </a:r>
            <a:endParaRPr lang="en-US" altLang="ja-JP" sz="2000" b="1" dirty="0"/>
          </a:p>
          <a:p>
            <a:r>
              <a:rPr lang="ja-JP" altLang="en-US" sz="2000" b="1"/>
              <a:t>　</a:t>
            </a:r>
            <a:r>
              <a:rPr lang="ja-JP" altLang="ja-JP" sz="2000"/>
              <a:t>私のスライドでは、「uv init --python 3.11」→「uv add ~」の順で進めていました。</a:t>
            </a:r>
            <a:br>
              <a:rPr lang="ja-JP" altLang="ja-JP" sz="2000"/>
            </a:br>
            <a:r>
              <a:rPr lang="ja-JP" altLang="ja-JP" sz="2000"/>
              <a:t>この手順で.venvまで作られる場合と、「uv init --python 3.11」→「uv sync」→「uv add ~」のように、間にもう１ステップ挟まないと.venvが作られない人がいるようです。</a:t>
            </a:r>
            <a:endParaRPr lang="en-US" altLang="ja-JP" sz="2000" dirty="0"/>
          </a:p>
          <a:p>
            <a:endParaRPr lang="en-US" altLang="ja-JP" sz="2000" b="1" dirty="0"/>
          </a:p>
          <a:p>
            <a:r>
              <a:rPr lang="ja-JP" altLang="ja-JP" sz="2000" b="1"/>
              <a:t>・”カーネル選択”に作った環境出てこない場合があ</a:t>
            </a:r>
            <a:r>
              <a:rPr lang="ja-JP" altLang="en-US" sz="2000" b="1"/>
              <a:t>る</a:t>
            </a:r>
            <a:endParaRPr lang="en-US" altLang="ja-JP" sz="2000" b="1" dirty="0"/>
          </a:p>
          <a:p>
            <a:r>
              <a:rPr lang="ja-JP" altLang="en-US" sz="2000" b="1"/>
              <a:t>　</a:t>
            </a:r>
            <a:r>
              <a:rPr lang="ja-JP" altLang="ja-JP" sz="2000"/>
              <a:t>現時点で原因が分かりません、分かり次第連絡します。</a:t>
            </a:r>
            <a:br>
              <a:rPr lang="ja-JP" altLang="ja-JP" sz="2000"/>
            </a:br>
            <a:endParaRPr lang="en-US" altLang="ja-JP" sz="2000" b="1" dirty="0"/>
          </a:p>
          <a:p>
            <a:r>
              <a:rPr lang="ja-JP" altLang="ja-JP" sz="2000" b="1"/>
              <a:t>・複製した環境の名前が出てこない場合があ</a:t>
            </a:r>
            <a:r>
              <a:rPr lang="ja-JP" altLang="en-US" sz="2000" b="1"/>
              <a:t>る</a:t>
            </a:r>
            <a:endParaRPr lang="en-US" altLang="ja-JP" sz="2000" b="1" dirty="0"/>
          </a:p>
          <a:p>
            <a:r>
              <a:rPr lang="ja-JP" altLang="en-US" sz="2000" b="1"/>
              <a:t>　</a:t>
            </a:r>
            <a:r>
              <a:rPr lang="ja-JP" altLang="ja-JP" sz="2000"/>
              <a:t>あるディレクトリでは上手くいった後、別のディレクトリに環境を複製したが、”カーネル選択”にその複製した環境が出ない問題のことです。</a:t>
            </a:r>
            <a:br>
              <a:rPr lang="en-US" altLang="ja-JP" sz="2000" dirty="0"/>
            </a:br>
            <a:r>
              <a:rPr lang="ja-JP" altLang="ja-JP" sz="2000"/>
              <a:t>これはtomlファイル内の「name = “ディレクトリの名前”」が、前のディレクトリの名前のままであることが原因でした。なので、①tomlファイル等をコピーする、②tomlファイルの中身の該当部分を書き換える、③uv syncと打つ、の手順で上手くいくはずです。</a:t>
            </a:r>
            <a:endParaRPr kumimoji="1" lang="ja-JP" altLang="en-US" sz="2000"/>
          </a:p>
        </p:txBody>
      </p:sp>
    </p:spTree>
    <p:extLst>
      <p:ext uri="{BB962C8B-B14F-4D97-AF65-F5344CB8AC3E}">
        <p14:creationId xmlns:p14="http://schemas.microsoft.com/office/powerpoint/2010/main" val="3400284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6E27D-73A3-BAAA-50B0-D76F893B0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F9AC5A-6671-07D4-F2E2-77A18BA1A7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2252" y="624445"/>
            <a:ext cx="7427495" cy="1320048"/>
          </a:xfrm>
        </p:spPr>
        <p:txBody>
          <a:bodyPr>
            <a:normAutofit/>
          </a:bodyPr>
          <a:lstStyle/>
          <a:p>
            <a:r>
              <a:rPr kumimoji="1" lang="ja-JP" altLang="en-US" sz="4800">
                <a:solidFill>
                  <a:schemeClr val="tx1">
                    <a:lumMod val="75000"/>
                    <a:lumOff val="25000"/>
                  </a:schemeClr>
                </a:solidFill>
              </a:rPr>
              <a:t>第一回</a:t>
            </a:r>
            <a:r>
              <a:rPr kumimoji="1" lang="en-US" altLang="ja-JP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Python</a:t>
            </a:r>
            <a:r>
              <a:rPr kumimoji="1" lang="ja-JP" altLang="en-US" sz="4800">
                <a:solidFill>
                  <a:schemeClr val="tx1">
                    <a:lumMod val="75000"/>
                    <a:lumOff val="25000"/>
                  </a:schemeClr>
                </a:solidFill>
              </a:rPr>
              <a:t> セミナー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0642F2F-5CED-7F2D-04AA-4790C7983ECC}"/>
              </a:ext>
            </a:extLst>
          </p:cNvPr>
          <p:cNvCxnSpPr>
            <a:cxnSpLocks/>
          </p:cNvCxnSpPr>
          <p:nvPr/>
        </p:nvCxnSpPr>
        <p:spPr>
          <a:xfrm>
            <a:off x="2382252" y="1944493"/>
            <a:ext cx="7316919" cy="0"/>
          </a:xfrm>
          <a:prstGeom prst="line">
            <a:avLst/>
          </a:prstGeom>
          <a:ln w="4127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1F03D52-026F-2BC9-3E91-22A82F2739CC}"/>
              </a:ext>
            </a:extLst>
          </p:cNvPr>
          <p:cNvSpPr txBox="1"/>
          <p:nvPr/>
        </p:nvSpPr>
        <p:spPr>
          <a:xfrm>
            <a:off x="3178389" y="2891813"/>
            <a:ext cx="5724644" cy="32348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基礎知識　</a:t>
            </a:r>
            <a:r>
              <a:rPr lang="ja-JP" altLang="en-US" sz="2400">
                <a:solidFill>
                  <a:schemeClr val="bg1">
                    <a:lumMod val="85000"/>
                  </a:schemeClr>
                </a:solidFill>
              </a:rPr>
              <a:t>仮想環境とは</a:t>
            </a:r>
            <a:endParaRPr lang="en-US" altLang="ja-JP" sz="24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ja-JP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　　　</a:t>
            </a:r>
            <a:r>
              <a:rPr lang="ja-JP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　</a:t>
            </a:r>
            <a:r>
              <a:rPr lang="ja-JP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　</a:t>
            </a:r>
            <a:r>
              <a:rPr lang="ja-JP" altLang="en-US" sz="2400">
                <a:solidFill>
                  <a:schemeClr val="bg1">
                    <a:lumMod val="85000"/>
                  </a:schemeClr>
                </a:solidFill>
              </a:rPr>
              <a:t>仮想環境を作るためのツール</a:t>
            </a:r>
            <a:endParaRPr lang="en-US" altLang="ja-JP" sz="24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ja-JP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　実践　　</a:t>
            </a:r>
            <a:r>
              <a:rPr lang="ja-JP" altLang="en-US" sz="2400">
                <a:solidFill>
                  <a:schemeClr val="bg1">
                    <a:lumMod val="85000"/>
                  </a:schemeClr>
                </a:solidFill>
              </a:rPr>
              <a:t>仮想環境を作ってみよう</a:t>
            </a:r>
            <a:endParaRPr lang="en-US" altLang="ja-JP" sz="24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ja-JP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　　　　　サーバに接続しよう</a:t>
            </a:r>
            <a:endParaRPr lang="en-US" altLang="ja-JP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ja-JP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　　　　　</a:t>
            </a:r>
            <a:r>
              <a:rPr lang="ja-JP" altLang="en-US" sz="2400" strike="sngStrike">
                <a:solidFill>
                  <a:schemeClr val="bg1">
                    <a:lumMod val="85000"/>
                  </a:schemeClr>
                </a:solidFill>
              </a:rPr>
              <a:t>サーバで仮想環境を作ろう</a:t>
            </a:r>
            <a:endParaRPr lang="en-US" altLang="ja-JP" sz="2400" strike="sngStrike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66D21F1-24E8-8284-722A-D0152186DE5E}"/>
              </a:ext>
            </a:extLst>
          </p:cNvPr>
          <p:cNvSpPr txBox="1"/>
          <p:nvPr/>
        </p:nvSpPr>
        <p:spPr>
          <a:xfrm>
            <a:off x="5034536" y="245734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＜目次＞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072A21D-D1A9-C0DB-E182-9E077F71A253}"/>
              </a:ext>
            </a:extLst>
          </p:cNvPr>
          <p:cNvSpPr/>
          <p:nvPr/>
        </p:nvSpPr>
        <p:spPr>
          <a:xfrm>
            <a:off x="3144545" y="3055537"/>
            <a:ext cx="45719" cy="349691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C9590A0-CF61-800D-41B4-B2CFB24A9215}"/>
              </a:ext>
            </a:extLst>
          </p:cNvPr>
          <p:cNvSpPr/>
          <p:nvPr/>
        </p:nvSpPr>
        <p:spPr>
          <a:xfrm>
            <a:off x="3142568" y="4181718"/>
            <a:ext cx="45719" cy="349691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1423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0A91E-5B86-90F1-EEF7-BBAD764F4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>
            <a:extLst>
              <a:ext uri="{FF2B5EF4-FFF2-40B4-BE49-F238E27FC236}">
                <a16:creationId xmlns:a16="http://schemas.microsoft.com/office/drawing/2014/main" id="{D4971837-8DD4-844E-5828-CDA297063AE6}"/>
              </a:ext>
            </a:extLst>
          </p:cNvPr>
          <p:cNvSpPr/>
          <p:nvPr/>
        </p:nvSpPr>
        <p:spPr>
          <a:xfrm>
            <a:off x="6176313" y="3661110"/>
            <a:ext cx="5941162" cy="904726"/>
          </a:xfrm>
          <a:prstGeom prst="roundRect">
            <a:avLst>
              <a:gd name="adj" fmla="val 7663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C42F1E36-74AF-2CF0-ABD8-B37E9A2F1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700" y="18255"/>
            <a:ext cx="10515600" cy="1325563"/>
          </a:xfrm>
        </p:spPr>
        <p:txBody>
          <a:bodyPr/>
          <a:lstStyle/>
          <a:p>
            <a:r>
              <a:rPr lang="ja-JP" altLang="en-US"/>
              <a:t>　実践　　サーバに接続しよう</a:t>
            </a:r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75F68DA4-2D97-9856-48D8-B26BD39236D3}"/>
              </a:ext>
            </a:extLst>
          </p:cNvPr>
          <p:cNvCxnSpPr/>
          <p:nvPr/>
        </p:nvCxnSpPr>
        <p:spPr>
          <a:xfrm>
            <a:off x="1985211" y="457200"/>
            <a:ext cx="0" cy="372979"/>
          </a:xfrm>
          <a:prstGeom prst="line">
            <a:avLst/>
          </a:prstGeom>
          <a:ln w="2159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BCE6396-A570-6CCF-CB9E-4819721CB89A}"/>
              </a:ext>
            </a:extLst>
          </p:cNvPr>
          <p:cNvSpPr txBox="1"/>
          <p:nvPr/>
        </p:nvSpPr>
        <p:spPr>
          <a:xfrm>
            <a:off x="435690" y="1207586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>
                <a:solidFill>
                  <a:schemeClr val="tx1">
                    <a:lumMod val="75000"/>
                    <a:lumOff val="25000"/>
                  </a:schemeClr>
                </a:solidFill>
              </a:rPr>
              <a:t>サーバに繋ぐ</a:t>
            </a:r>
            <a:endParaRPr kumimoji="1" lang="en-US" altLang="ja-JP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69FFFA4-29BA-7130-4F30-3E05D6166DAE}"/>
              </a:ext>
            </a:extLst>
          </p:cNvPr>
          <p:cNvSpPr/>
          <p:nvPr/>
        </p:nvSpPr>
        <p:spPr>
          <a:xfrm>
            <a:off x="435690" y="1265473"/>
            <a:ext cx="45719" cy="2575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コンテンツ プレースホルダー 2">
            <a:extLst>
              <a:ext uri="{FF2B5EF4-FFF2-40B4-BE49-F238E27FC236}">
                <a16:creationId xmlns:a16="http://schemas.microsoft.com/office/drawing/2014/main" id="{075BBADB-E7CB-9C17-97BF-920DA2C47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701" y="1728907"/>
            <a:ext cx="11770126" cy="4857243"/>
          </a:xfrm>
        </p:spPr>
        <p:txBody>
          <a:bodyPr>
            <a:normAutofit lnSpcReduction="10000"/>
          </a:bodyPr>
          <a:lstStyle/>
          <a:p>
            <a:pPr>
              <a:spcBef>
                <a:spcPts val="600"/>
              </a:spcBef>
            </a:pPr>
            <a:r>
              <a:rPr lang="ja-JP" altLang="en-US" sz="2000"/>
              <a:t>・下のコマンド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はサーバに繋ぐ時のコマンド。</a:t>
            </a:r>
            <a:endParaRPr lang="en-US" altLang="ja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spcBef>
                <a:spcPts val="600"/>
              </a:spcBef>
            </a:pPr>
            <a:r>
              <a:rPr lang="en-US" altLang="ja-JP" sz="2000" b="1" dirty="0">
                <a:solidFill>
                  <a:schemeClr val="bg1"/>
                </a:solidFill>
                <a:highlight>
                  <a:srgbClr val="000000"/>
                </a:highlight>
              </a:rPr>
              <a:t>ssh</a:t>
            </a:r>
            <a:r>
              <a:rPr lang="ja-JP" altLang="ja-JP" sz="2000" b="1">
                <a:solidFill>
                  <a:schemeClr val="bg1"/>
                </a:solidFill>
                <a:highlight>
                  <a:srgbClr val="000000"/>
                </a:highlight>
              </a:rPr>
              <a:t> </a:t>
            </a:r>
            <a:r>
              <a:rPr lang="en-US" altLang="ja-JP" sz="2000" b="1" dirty="0">
                <a:solidFill>
                  <a:schemeClr val="bg1"/>
                </a:solidFill>
                <a:highlight>
                  <a:srgbClr val="000000"/>
                </a:highlight>
              </a:rPr>
              <a:t>&lt;</a:t>
            </a:r>
            <a:r>
              <a:rPr lang="ja-JP" altLang="en-US" sz="1800" b="1">
                <a:solidFill>
                  <a:schemeClr val="bg1"/>
                </a:solidFill>
                <a:highlight>
                  <a:srgbClr val="000000"/>
                </a:highlight>
              </a:rPr>
              <a:t>ユーザ名</a:t>
            </a:r>
            <a:r>
              <a:rPr lang="en-US" altLang="ja-JP" sz="2000" b="1" dirty="0">
                <a:solidFill>
                  <a:schemeClr val="bg1"/>
                </a:solidFill>
                <a:highlight>
                  <a:srgbClr val="000000"/>
                </a:highlight>
              </a:rPr>
              <a:t>&gt;@&lt;</a:t>
            </a:r>
            <a:r>
              <a:rPr lang="ja-JP" altLang="en-US" sz="1800" b="1">
                <a:solidFill>
                  <a:schemeClr val="bg1"/>
                </a:solidFill>
                <a:highlight>
                  <a:srgbClr val="000000"/>
                </a:highlight>
              </a:rPr>
              <a:t>サーバ情報</a:t>
            </a:r>
            <a:r>
              <a:rPr lang="en-US" altLang="ja-JP" sz="2000" b="1" dirty="0">
                <a:solidFill>
                  <a:schemeClr val="bg1"/>
                </a:solidFill>
                <a:highlight>
                  <a:srgbClr val="000000"/>
                </a:highlight>
              </a:rPr>
              <a:t>&gt;</a:t>
            </a:r>
          </a:p>
          <a:p>
            <a:pPr>
              <a:spcBef>
                <a:spcPts val="600"/>
              </a:spcBef>
            </a:pPr>
            <a:endParaRPr lang="en-US" altLang="ja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spcBef>
                <a:spcPts val="600"/>
              </a:spcBef>
            </a:pPr>
            <a:endParaRPr lang="en-US" altLang="ja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spcBef>
                <a:spcPts val="600"/>
              </a:spcBef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＜例＞研究室の</a:t>
            </a:r>
            <a:r>
              <a:rPr lang="en-US" altLang="ja-JP" sz="2000" b="1" dirty="0">
                <a:latin typeface="Meiryo" panose="020B0604030504040204" pitchFamily="34" charset="-128"/>
                <a:ea typeface="Meiryo" panose="020B0604030504040204" pitchFamily="34" charset="-128"/>
              </a:rPr>
              <a:t>vaccine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という計算機に繋ぎます。</a:t>
            </a:r>
            <a:endParaRPr lang="en-US" altLang="ja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spcBef>
                <a:spcPts val="600"/>
              </a:spcBef>
            </a:pPr>
            <a:endParaRPr lang="en-US" altLang="ja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spcBef>
                <a:spcPts val="600"/>
              </a:spcBef>
            </a:pPr>
            <a:r>
              <a:rPr lang="en-US" altLang="ja-JP" sz="2000" b="1" dirty="0">
                <a:solidFill>
                  <a:schemeClr val="bg1"/>
                </a:solidFill>
                <a:highlight>
                  <a:srgbClr val="000000"/>
                </a:highlight>
              </a:rPr>
              <a:t>ssh</a:t>
            </a:r>
            <a:r>
              <a:rPr lang="ja-JP" altLang="ja-JP" sz="2000" b="1">
                <a:solidFill>
                  <a:schemeClr val="bg1"/>
                </a:solidFill>
                <a:highlight>
                  <a:srgbClr val="000000"/>
                </a:highlight>
              </a:rPr>
              <a:t> </a:t>
            </a:r>
            <a:r>
              <a:rPr lang="en-US" altLang="ja-JP" sz="2000" b="1" dirty="0">
                <a:solidFill>
                  <a:schemeClr val="bg1"/>
                </a:solidFill>
                <a:highlight>
                  <a:srgbClr val="000000"/>
                </a:highlight>
              </a:rPr>
              <a:t>&lt;</a:t>
            </a:r>
            <a:r>
              <a:rPr lang="ja-JP" altLang="en-US" sz="1800" b="1">
                <a:solidFill>
                  <a:schemeClr val="bg1"/>
                </a:solidFill>
                <a:highlight>
                  <a:srgbClr val="000000"/>
                </a:highlight>
              </a:rPr>
              <a:t>ユーザ名</a:t>
            </a:r>
            <a:r>
              <a:rPr lang="en-US" altLang="ja-JP" sz="2000" b="1" dirty="0">
                <a:solidFill>
                  <a:schemeClr val="bg1"/>
                </a:solidFill>
                <a:highlight>
                  <a:srgbClr val="000000"/>
                </a:highlight>
              </a:rPr>
              <a:t>&gt;@vaccine-00</a:t>
            </a:r>
          </a:p>
          <a:p>
            <a:pPr>
              <a:spcBef>
                <a:spcPts val="600"/>
              </a:spcBef>
            </a:pPr>
            <a:endParaRPr lang="en-US" altLang="ja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spcBef>
                <a:spcPts val="600"/>
              </a:spcBef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　</a:t>
            </a:r>
            <a:endParaRPr lang="en-US" altLang="ja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spcBef>
                <a:spcPts val="600"/>
              </a:spcBef>
            </a:pPr>
            <a:endParaRPr lang="en-US" altLang="ja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2000"/>
              <a:t>・初期パスワードで一度接続する。</a:t>
            </a:r>
            <a:endParaRPr lang="en-US" altLang="ja-JP" sz="2000" dirty="0"/>
          </a:p>
          <a:p>
            <a:r>
              <a:rPr lang="en-US" altLang="ja-JP" sz="2000" dirty="0"/>
              <a:t>『</a:t>
            </a:r>
            <a:r>
              <a:rPr lang="ja-JP" altLang="ja-JP" sz="2000"/>
              <a:t>hpctech</a:t>
            </a:r>
            <a:r>
              <a:rPr lang="en-US" altLang="ja-JP" sz="2000" dirty="0"/>
              <a:t>』</a:t>
            </a:r>
          </a:p>
          <a:p>
            <a:endParaRPr lang="en-US" altLang="ja-JP" sz="2000" dirty="0"/>
          </a:p>
          <a:p>
            <a:r>
              <a:rPr lang="ja-JP" altLang="en-US" sz="2000"/>
              <a:t>・接続できたら、パスワードを変更する。パスワード変更のコマンドを打とう。</a:t>
            </a:r>
            <a:endParaRPr lang="en-US" altLang="ja-JP" sz="2000" dirty="0"/>
          </a:p>
          <a:p>
            <a:r>
              <a:rPr lang="ja-JP" altLang="ja-JP" sz="2000" b="1">
                <a:solidFill>
                  <a:schemeClr val="bg1"/>
                </a:solidFill>
                <a:highlight>
                  <a:srgbClr val="000000"/>
                </a:highlight>
              </a:rPr>
              <a:t>passwd &lt;user name&gt;</a:t>
            </a:r>
            <a:endParaRPr lang="en-US" altLang="ja-JP" sz="2000" b="1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>
              <a:spcBef>
                <a:spcPts val="600"/>
              </a:spcBef>
            </a:pPr>
            <a:endParaRPr lang="en-US" altLang="ja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spcBef>
                <a:spcPts val="600"/>
              </a:spcBef>
            </a:pPr>
            <a:endParaRPr lang="en-US" altLang="ja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spcBef>
                <a:spcPts val="600"/>
              </a:spcBef>
            </a:pPr>
            <a:endParaRPr lang="en-US" altLang="ja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spcBef>
                <a:spcPts val="600"/>
              </a:spcBef>
            </a:pPr>
            <a:endParaRPr lang="en-US" altLang="ja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1370159-A687-B51E-6EE0-92E9101B8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359" y="3704352"/>
            <a:ext cx="5683070" cy="81824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FB92EEF-9C35-6AE9-73D1-4181D5DFC240}"/>
              </a:ext>
            </a:extLst>
          </p:cNvPr>
          <p:cNvSpPr/>
          <p:nvPr/>
        </p:nvSpPr>
        <p:spPr>
          <a:xfrm>
            <a:off x="242629" y="2953265"/>
            <a:ext cx="11912300" cy="1865870"/>
          </a:xfrm>
          <a:prstGeom prst="rect">
            <a:avLst/>
          </a:prstGeom>
          <a:noFill/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9718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469CBE35-6653-2A9F-4FA4-D03C06B4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700" y="18255"/>
            <a:ext cx="10515600" cy="1325563"/>
          </a:xfrm>
        </p:spPr>
        <p:txBody>
          <a:bodyPr/>
          <a:lstStyle/>
          <a:p>
            <a:r>
              <a:rPr lang="ja-JP" altLang="en-US"/>
              <a:t>　実践　　サーバに接続しよう</a:t>
            </a:r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BAE2A5C4-1E4F-56DD-861A-1A09205BCC68}"/>
              </a:ext>
            </a:extLst>
          </p:cNvPr>
          <p:cNvCxnSpPr/>
          <p:nvPr/>
        </p:nvCxnSpPr>
        <p:spPr>
          <a:xfrm>
            <a:off x="1985211" y="457200"/>
            <a:ext cx="0" cy="372979"/>
          </a:xfrm>
          <a:prstGeom prst="line">
            <a:avLst/>
          </a:prstGeom>
          <a:ln w="2159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546DF0F7-50C0-DF1E-81B8-349EFE12E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689" y="1253332"/>
            <a:ext cx="11193327" cy="948448"/>
          </a:xfrm>
        </p:spPr>
        <p:txBody>
          <a:bodyPr/>
          <a:lstStyle/>
          <a:p>
            <a:pPr>
              <a:spcBef>
                <a:spcPts val="400"/>
              </a:spcBef>
            </a:pPr>
            <a:r>
              <a:rPr lang="ja-JP" altLang="en-US"/>
              <a:t>処理に時間のかかる計算などをする時は計算機サーバを用いる。</a:t>
            </a:r>
            <a:endParaRPr lang="en-US" altLang="ja-JP" dirty="0"/>
          </a:p>
          <a:p>
            <a:pPr>
              <a:spcBef>
                <a:spcPts val="400"/>
              </a:spcBef>
            </a:pPr>
            <a:r>
              <a:rPr lang="ja-JP" altLang="en-US"/>
              <a:t>ここでは研究室のサーバへの接続の仕方を知る。</a:t>
            </a:r>
            <a:endParaRPr lang="en-US" altLang="ja-JP" dirty="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E55C2AF6-D192-51FC-05CE-BAE410A842F1}"/>
              </a:ext>
            </a:extLst>
          </p:cNvPr>
          <p:cNvGrpSpPr/>
          <p:nvPr/>
        </p:nvGrpSpPr>
        <p:grpSpPr>
          <a:xfrm>
            <a:off x="279700" y="2201780"/>
            <a:ext cx="11193327" cy="1484573"/>
            <a:chOff x="279699" y="2627291"/>
            <a:chExt cx="11193327" cy="1484573"/>
          </a:xfrm>
        </p:grpSpPr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8297B2E2-C3D1-9E81-50B8-13581E745C09}"/>
                </a:ext>
              </a:extLst>
            </p:cNvPr>
            <p:cNvSpPr txBox="1"/>
            <p:nvPr/>
          </p:nvSpPr>
          <p:spPr>
            <a:xfrm>
              <a:off x="435689" y="2627291"/>
              <a:ext cx="4813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拡張機能「</a:t>
              </a:r>
              <a:r>
                <a:rPr kumimoji="1" lang="en-US" altLang="ja-JP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Remote SSH</a:t>
              </a:r>
              <a:r>
                <a:rPr kumimoji="1" lang="ja-JP" altLang="en-US" sz="20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」のインストール</a:t>
              </a:r>
              <a:endParaRPr kumimoji="1" lang="en-US" altLang="ja-JP" sz="20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13053834-D4C2-0CEE-0460-0D2F7B8F6ADD}"/>
                </a:ext>
              </a:extLst>
            </p:cNvPr>
            <p:cNvSpPr txBox="1"/>
            <p:nvPr/>
          </p:nvSpPr>
          <p:spPr>
            <a:xfrm>
              <a:off x="279699" y="3034646"/>
              <a:ext cx="11193327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ja-JP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サーバ上で</a:t>
              </a:r>
              <a:r>
                <a:rPr lang="en-US" altLang="ja-JP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VSC</a:t>
              </a:r>
              <a:r>
                <a:rPr lang="ja-JP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の機能を用いたりするために、</a:t>
              </a:r>
              <a:endPara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spcBef>
                  <a:spcPts val="600"/>
                </a:spcBef>
              </a:pPr>
              <a:r>
                <a:rPr lang="en-US" altLang="ja-JP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Remote</a:t>
              </a:r>
              <a:r>
                <a:rPr lang="ja-JP" altLang="en-US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altLang="ja-JP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SSH</a:t>
              </a:r>
              <a:r>
                <a:rPr lang="ja-JP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という拡張機能を</a:t>
              </a:r>
              <a:r>
                <a:rPr lang="en-US" altLang="ja-JP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VSC</a:t>
              </a:r>
              <a:r>
                <a:rPr lang="ja-JP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上でインストールする。</a:t>
              </a:r>
              <a:endPara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spcBef>
                  <a:spcPts val="600"/>
                </a:spcBef>
              </a:pPr>
              <a:endPara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A80E5387-3FBA-B502-355B-BD9EC8D16924}"/>
                </a:ext>
              </a:extLst>
            </p:cNvPr>
            <p:cNvSpPr/>
            <p:nvPr/>
          </p:nvSpPr>
          <p:spPr>
            <a:xfrm>
              <a:off x="435689" y="2685178"/>
              <a:ext cx="45719" cy="257532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10" name="図 9">
            <a:extLst>
              <a:ext uri="{FF2B5EF4-FFF2-40B4-BE49-F238E27FC236}">
                <a16:creationId xmlns:a16="http://schemas.microsoft.com/office/drawing/2014/main" id="{EA37FCFC-9EDB-8199-6AEE-2C8F7F2FC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555" y="2187474"/>
            <a:ext cx="4432681" cy="4572765"/>
          </a:xfrm>
          <a:prstGeom prst="rect">
            <a:avLst/>
          </a:prstGeom>
        </p:spPr>
      </p:pic>
      <p:sp>
        <p:nvSpPr>
          <p:cNvPr id="11" name="円/楕円 10">
            <a:extLst>
              <a:ext uri="{FF2B5EF4-FFF2-40B4-BE49-F238E27FC236}">
                <a16:creationId xmlns:a16="http://schemas.microsoft.com/office/drawing/2014/main" id="{7205E5E8-802B-7BB8-5B2A-0352F83BFE9F}"/>
              </a:ext>
            </a:extLst>
          </p:cNvPr>
          <p:cNvSpPr/>
          <p:nvPr/>
        </p:nvSpPr>
        <p:spPr>
          <a:xfrm>
            <a:off x="7411453" y="4860758"/>
            <a:ext cx="541421" cy="55345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角丸四角形 11">
            <a:extLst>
              <a:ext uri="{FF2B5EF4-FFF2-40B4-BE49-F238E27FC236}">
                <a16:creationId xmlns:a16="http://schemas.microsoft.com/office/drawing/2014/main" id="{7904AC63-0B2C-52DA-8F9C-AAA40A4EE888}"/>
              </a:ext>
            </a:extLst>
          </p:cNvPr>
          <p:cNvSpPr/>
          <p:nvPr/>
        </p:nvSpPr>
        <p:spPr>
          <a:xfrm>
            <a:off x="7952874" y="3260557"/>
            <a:ext cx="3188368" cy="77002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カギ線コネクタ 13">
            <a:extLst>
              <a:ext uri="{FF2B5EF4-FFF2-40B4-BE49-F238E27FC236}">
                <a16:creationId xmlns:a16="http://schemas.microsoft.com/office/drawing/2014/main" id="{84C3B788-E931-8B64-E130-D0C2F7EE8447}"/>
              </a:ext>
            </a:extLst>
          </p:cNvPr>
          <p:cNvCxnSpPr>
            <a:cxnSpLocks/>
          </p:cNvCxnSpPr>
          <p:nvPr/>
        </p:nvCxnSpPr>
        <p:spPr>
          <a:xfrm>
            <a:off x="5876363" y="4620126"/>
            <a:ext cx="1371600" cy="517358"/>
          </a:xfrm>
          <a:prstGeom prst="bentConnector3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84A1B8C-0422-E78A-6095-B1375DD093DA}"/>
              </a:ext>
            </a:extLst>
          </p:cNvPr>
          <p:cNvSpPr txBox="1"/>
          <p:nvPr/>
        </p:nvSpPr>
        <p:spPr>
          <a:xfrm>
            <a:off x="1050985" y="4278640"/>
            <a:ext cx="48013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前回やった拡張機能のインストールの復習。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kumimoji="1" lang="ja-JP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ここのアイコンを押して、欲しい拡張機能</a:t>
            </a:r>
            <a:endParaRPr kumimoji="1" lang="en-US" altLang="ja-JP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の名前で検索しよう。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kumimoji="1" lang="ja-JP" altLang="en-US"/>
          </a:p>
        </p:txBody>
      </p:sp>
      <p:sp>
        <p:nvSpPr>
          <p:cNvPr id="20" name="円/楕円 19">
            <a:extLst>
              <a:ext uri="{FF2B5EF4-FFF2-40B4-BE49-F238E27FC236}">
                <a16:creationId xmlns:a16="http://schemas.microsoft.com/office/drawing/2014/main" id="{C3562900-0925-896E-5A9B-E62427D4B86C}"/>
              </a:ext>
            </a:extLst>
          </p:cNvPr>
          <p:cNvSpPr/>
          <p:nvPr/>
        </p:nvSpPr>
        <p:spPr>
          <a:xfrm>
            <a:off x="493441" y="3975492"/>
            <a:ext cx="5394954" cy="1426829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5656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7DB7C-838A-3B40-757C-E718EF258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4FCFF01E-1403-7D7D-8ECB-8AC5EF234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700" y="18255"/>
            <a:ext cx="10515600" cy="1325563"/>
          </a:xfrm>
        </p:spPr>
        <p:txBody>
          <a:bodyPr/>
          <a:lstStyle/>
          <a:p>
            <a:r>
              <a:rPr lang="ja-JP" altLang="en-US"/>
              <a:t>　実践　　サーバに接続しよう</a:t>
            </a:r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6B7AA9AC-EC61-80ED-D26F-C5B2DD70F804}"/>
              </a:ext>
            </a:extLst>
          </p:cNvPr>
          <p:cNvCxnSpPr/>
          <p:nvPr/>
        </p:nvCxnSpPr>
        <p:spPr>
          <a:xfrm>
            <a:off x="1985211" y="457200"/>
            <a:ext cx="0" cy="372979"/>
          </a:xfrm>
          <a:prstGeom prst="line">
            <a:avLst/>
          </a:prstGeom>
          <a:ln w="2159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" name="図 22">
            <a:extLst>
              <a:ext uri="{FF2B5EF4-FFF2-40B4-BE49-F238E27FC236}">
                <a16:creationId xmlns:a16="http://schemas.microsoft.com/office/drawing/2014/main" id="{DA68E959-37D9-7457-D6C9-E2401B0F8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216" y="3173348"/>
            <a:ext cx="7772400" cy="879508"/>
          </a:xfrm>
          <a:prstGeom prst="rect">
            <a:avLst/>
          </a:prstGeom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36880895-7FEC-FCA3-D44F-EB42D148971F}"/>
              </a:ext>
            </a:extLst>
          </p:cNvPr>
          <p:cNvSpPr txBox="1"/>
          <p:nvPr/>
        </p:nvSpPr>
        <p:spPr>
          <a:xfrm>
            <a:off x="435690" y="1207586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>
                <a:solidFill>
                  <a:schemeClr val="tx1">
                    <a:lumMod val="75000"/>
                    <a:lumOff val="25000"/>
                  </a:schemeClr>
                </a:solidFill>
              </a:rPr>
              <a:t>サーバに繋ぐ準備する</a:t>
            </a:r>
            <a:endParaRPr kumimoji="1" lang="en-US" altLang="ja-JP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DFAB037-D230-0F41-339C-E9F719BCD314}"/>
              </a:ext>
            </a:extLst>
          </p:cNvPr>
          <p:cNvSpPr/>
          <p:nvPr/>
        </p:nvSpPr>
        <p:spPr>
          <a:xfrm>
            <a:off x="435690" y="1265473"/>
            <a:ext cx="45719" cy="2575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1C3A12C5-8B6C-2CD2-40AC-E8C083F55D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584" y="3132453"/>
            <a:ext cx="7772400" cy="3207387"/>
          </a:xfrm>
          <a:prstGeom prst="rect">
            <a:avLst/>
          </a:prstGeom>
        </p:spPr>
      </p:pic>
      <p:sp>
        <p:nvSpPr>
          <p:cNvPr id="32" name="円/楕円 31">
            <a:extLst>
              <a:ext uri="{FF2B5EF4-FFF2-40B4-BE49-F238E27FC236}">
                <a16:creationId xmlns:a16="http://schemas.microsoft.com/office/drawing/2014/main" id="{4177DB16-D244-F028-0056-1A27AC8CA025}"/>
              </a:ext>
            </a:extLst>
          </p:cNvPr>
          <p:cNvSpPr/>
          <p:nvPr/>
        </p:nvSpPr>
        <p:spPr>
          <a:xfrm>
            <a:off x="44122" y="4991093"/>
            <a:ext cx="541421" cy="55345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円/楕円 32">
            <a:extLst>
              <a:ext uri="{FF2B5EF4-FFF2-40B4-BE49-F238E27FC236}">
                <a16:creationId xmlns:a16="http://schemas.microsoft.com/office/drawing/2014/main" id="{4B470083-38FE-C185-8490-A03A7CE21EE1}"/>
              </a:ext>
            </a:extLst>
          </p:cNvPr>
          <p:cNvSpPr/>
          <p:nvPr/>
        </p:nvSpPr>
        <p:spPr>
          <a:xfrm>
            <a:off x="2964436" y="3916484"/>
            <a:ext cx="270331" cy="2727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コンテンツ プレースホルダー 2">
            <a:extLst>
              <a:ext uri="{FF2B5EF4-FFF2-40B4-BE49-F238E27FC236}">
                <a16:creationId xmlns:a16="http://schemas.microsoft.com/office/drawing/2014/main" id="{21058B4F-F0F8-A081-C738-B6CECA306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700" y="1728909"/>
            <a:ext cx="11866581" cy="1325562"/>
          </a:xfrm>
        </p:spPr>
        <p:txBody>
          <a:bodyPr>
            <a:normAutofit fontScale="92500"/>
          </a:bodyPr>
          <a:lstStyle/>
          <a:p>
            <a:pPr>
              <a:spcBef>
                <a:spcPts val="400"/>
              </a:spcBef>
            </a:pPr>
            <a:r>
              <a:rPr lang="ja-JP" altLang="en-US"/>
              <a:t>一旦無心で進めます。</a:t>
            </a:r>
            <a:endParaRPr lang="en-US" altLang="ja-JP" dirty="0"/>
          </a:p>
          <a:p>
            <a:r>
              <a:rPr lang="en-US" altLang="ja-JP" dirty="0"/>
              <a:t>①</a:t>
            </a:r>
            <a:r>
              <a:rPr lang="ja-JP" altLang="en-US"/>
              <a:t>アイコン押す、</a:t>
            </a:r>
            <a:r>
              <a:rPr lang="en-US" altLang="ja-JP" dirty="0"/>
              <a:t>②SSH</a:t>
            </a:r>
            <a:r>
              <a:rPr lang="ja-JP" altLang="en-US"/>
              <a:t>の右の＋押す、</a:t>
            </a:r>
            <a:r>
              <a:rPr lang="en-US" altLang="ja-JP" dirty="0"/>
              <a:t>③</a:t>
            </a:r>
            <a:r>
              <a:rPr lang="ja-JP" altLang="en-US"/>
              <a:t>「</a:t>
            </a:r>
            <a:r>
              <a:rPr lang="ja-JP" altLang="ja-JP">
                <a:latin typeface="Meiryo" panose="020B0604030504040204" pitchFamily="34" charset="-128"/>
                <a:ea typeface="Meiryo" panose="020B0604030504040204" pitchFamily="34" charset="-128"/>
              </a:rPr>
              <a:t>ssh &lt;vaccineのユーザー名&gt;@</a:t>
            </a:r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vaccine-00</a:t>
            </a:r>
            <a:r>
              <a:rPr lang="ja-JP" altLang="en-US"/>
              <a:t>」</a:t>
            </a:r>
            <a:endParaRPr lang="en-US" altLang="ja-JP" dirty="0"/>
          </a:p>
          <a:p>
            <a:r>
              <a:rPr lang="ja-JP" altLang="en-US"/>
              <a:t>と入力、</a:t>
            </a:r>
            <a:r>
              <a:rPr lang="en-US" altLang="ja-JP" dirty="0"/>
              <a:t>④『/Users/username/.ssh/config』</a:t>
            </a:r>
            <a:r>
              <a:rPr lang="ja-JP" altLang="en-US"/>
              <a:t>を押す。</a:t>
            </a:r>
            <a:endParaRPr lang="en-US" altLang="ja-JP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17BFCFFE-8022-49C1-C914-B27CA42B93C7}"/>
              </a:ext>
            </a:extLst>
          </p:cNvPr>
          <p:cNvSpPr txBox="1"/>
          <p:nvPr/>
        </p:nvSpPr>
        <p:spPr>
          <a:xfrm>
            <a:off x="512256" y="491311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①</a:t>
            </a:r>
            <a:endParaRPr lang="ja-JP" altLang="en-US">
              <a:solidFill>
                <a:srgbClr val="FF0000"/>
              </a:solidFill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64A8CDD3-5131-9C72-7860-540B4AD1382A}"/>
              </a:ext>
            </a:extLst>
          </p:cNvPr>
          <p:cNvSpPr txBox="1"/>
          <p:nvPr/>
        </p:nvSpPr>
        <p:spPr>
          <a:xfrm>
            <a:off x="2798856" y="3575779"/>
            <a:ext cx="7726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②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31039CF3-7394-9D9A-1C96-073055A8BFC7}"/>
              </a:ext>
            </a:extLst>
          </p:cNvPr>
          <p:cNvSpPr txBox="1"/>
          <p:nvPr/>
        </p:nvSpPr>
        <p:spPr>
          <a:xfrm>
            <a:off x="4064784" y="3175684"/>
            <a:ext cx="402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③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6297DE62-BBE9-876B-7F1D-76AB83D61D01}"/>
              </a:ext>
            </a:extLst>
          </p:cNvPr>
          <p:cNvSpPr txBox="1"/>
          <p:nvPr/>
        </p:nvSpPr>
        <p:spPr>
          <a:xfrm>
            <a:off x="10795300" y="3442857"/>
            <a:ext cx="804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④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D539A5B-03B2-6FBF-4B18-1CCB59C8B959}"/>
              </a:ext>
            </a:extLst>
          </p:cNvPr>
          <p:cNvSpPr txBox="1"/>
          <p:nvPr/>
        </p:nvSpPr>
        <p:spPr>
          <a:xfrm>
            <a:off x="8284656" y="5282443"/>
            <a:ext cx="10228313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・なぜ今回の</a:t>
            </a:r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④</a:t>
            </a:r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ステップを行ったか</a:t>
            </a:r>
            <a:endParaRPr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spcBef>
                <a:spcPts val="600"/>
              </a:spcBef>
            </a:pPr>
            <a:r>
              <a:rPr lang="ja-JP" altLang="en-US"/>
              <a:t>先ほどの作業をすることで、</a:t>
            </a:r>
            <a:r>
              <a:rPr lang="en-US" altLang="ja-JP" b="1" dirty="0"/>
              <a:t>config</a:t>
            </a:r>
            <a:r>
              <a:rPr lang="ja-JP" altLang="en-US"/>
              <a:t>というファイル内に今打ち込んだサーバの情報が記入される。</a:t>
            </a:r>
            <a:endParaRPr lang="en-US" altLang="ja-JP" dirty="0"/>
          </a:p>
          <a:p>
            <a:pPr>
              <a:spcBef>
                <a:spcPts val="600"/>
              </a:spcBef>
            </a:pPr>
            <a:r>
              <a:rPr lang="ja-JP" altLang="en-US"/>
              <a:t>この状態まで進めれば、</a:t>
            </a:r>
            <a:r>
              <a:rPr lang="en-US" altLang="ja-JP" dirty="0"/>
              <a:t>VSC</a:t>
            </a:r>
            <a:r>
              <a:rPr lang="ja-JP" altLang="en-US"/>
              <a:t>から簡単にサーバに接続できます。</a:t>
            </a:r>
            <a:endParaRPr lang="en-US" altLang="ja-JP" dirty="0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2312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27ED3-B997-C361-D83F-4379FC3D8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5A6E20DF-2ABA-B708-E962-45238482E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700" y="18255"/>
            <a:ext cx="10515600" cy="1325563"/>
          </a:xfrm>
        </p:spPr>
        <p:txBody>
          <a:bodyPr/>
          <a:lstStyle/>
          <a:p>
            <a:r>
              <a:rPr lang="ja-JP" altLang="en-US"/>
              <a:t>　実践　　サーバに接続しよう</a:t>
            </a:r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BEEF97B5-75DC-B5A4-4184-13DD4525C894}"/>
              </a:ext>
            </a:extLst>
          </p:cNvPr>
          <p:cNvCxnSpPr/>
          <p:nvPr/>
        </p:nvCxnSpPr>
        <p:spPr>
          <a:xfrm>
            <a:off x="1985211" y="457200"/>
            <a:ext cx="0" cy="372979"/>
          </a:xfrm>
          <a:prstGeom prst="line">
            <a:avLst/>
          </a:prstGeom>
          <a:ln w="2159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2C1F05B-8AA9-5046-608B-216A1574F6E3}"/>
              </a:ext>
            </a:extLst>
          </p:cNvPr>
          <p:cNvSpPr txBox="1"/>
          <p:nvPr/>
        </p:nvSpPr>
        <p:spPr>
          <a:xfrm>
            <a:off x="435690" y="1207586"/>
            <a:ext cx="34131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VSC</a:t>
            </a:r>
            <a:r>
              <a:rPr lang="ja-JP" altLang="en-US" sz="2000" b="1">
                <a:solidFill>
                  <a:schemeClr val="tx1">
                    <a:lumMod val="75000"/>
                    <a:lumOff val="25000"/>
                  </a:schemeClr>
                </a:solidFill>
              </a:rPr>
              <a:t>上でサーバに接続しよう</a:t>
            </a:r>
            <a:endParaRPr kumimoji="1" lang="en-US" altLang="ja-JP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D6D580D0-CA87-170B-D8AE-31F86E10C473}"/>
              </a:ext>
            </a:extLst>
          </p:cNvPr>
          <p:cNvSpPr/>
          <p:nvPr/>
        </p:nvSpPr>
        <p:spPr>
          <a:xfrm>
            <a:off x="435690" y="1265473"/>
            <a:ext cx="45719" cy="2575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484A5D79-DEE1-A1F2-B223-B3EBDD41E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700" y="1665583"/>
            <a:ext cx="5633615" cy="5087749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8BCFC9CD-E6C5-D86B-BC71-24093EBA4F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2290" y="1665583"/>
            <a:ext cx="5510010" cy="5094160"/>
          </a:xfrm>
          <a:prstGeom prst="rect">
            <a:avLst/>
          </a:prstGeom>
        </p:spPr>
      </p:pic>
      <p:sp>
        <p:nvSpPr>
          <p:cNvPr id="10" name="円/楕円 9">
            <a:extLst>
              <a:ext uri="{FF2B5EF4-FFF2-40B4-BE49-F238E27FC236}">
                <a16:creationId xmlns:a16="http://schemas.microsoft.com/office/drawing/2014/main" id="{79E0F07C-B09F-311C-0A59-0BFE88879157}"/>
              </a:ext>
            </a:extLst>
          </p:cNvPr>
          <p:cNvSpPr/>
          <p:nvPr/>
        </p:nvSpPr>
        <p:spPr>
          <a:xfrm>
            <a:off x="8989" y="6342457"/>
            <a:ext cx="541421" cy="55345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>
            <a:extLst>
              <a:ext uri="{FF2B5EF4-FFF2-40B4-BE49-F238E27FC236}">
                <a16:creationId xmlns:a16="http://schemas.microsoft.com/office/drawing/2014/main" id="{73BC8BCF-1560-01DF-EA1F-D2DE3FEDE2B1}"/>
              </a:ext>
            </a:extLst>
          </p:cNvPr>
          <p:cNvSpPr/>
          <p:nvPr/>
        </p:nvSpPr>
        <p:spPr>
          <a:xfrm>
            <a:off x="1546254" y="1721225"/>
            <a:ext cx="1191986" cy="55345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>
            <a:extLst>
              <a:ext uri="{FF2B5EF4-FFF2-40B4-BE49-F238E27FC236}">
                <a16:creationId xmlns:a16="http://schemas.microsoft.com/office/drawing/2014/main" id="{1C5AA3DE-D3D4-41AB-933E-11A5DAE6CCA4}"/>
              </a:ext>
            </a:extLst>
          </p:cNvPr>
          <p:cNvSpPr/>
          <p:nvPr/>
        </p:nvSpPr>
        <p:spPr>
          <a:xfrm>
            <a:off x="7846882" y="1823644"/>
            <a:ext cx="541421" cy="55345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3FDD3B9-69F7-6F49-CC1A-2F9BA9481FE3}"/>
              </a:ext>
            </a:extLst>
          </p:cNvPr>
          <p:cNvSpPr txBox="1"/>
          <p:nvPr/>
        </p:nvSpPr>
        <p:spPr>
          <a:xfrm>
            <a:off x="388473" y="609990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①</a:t>
            </a:r>
            <a:endParaRPr lang="ja-JP" altLang="en-US">
              <a:solidFill>
                <a:srgbClr val="FF0000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46D2BC3-1629-F0FF-552D-F83260AA45D9}"/>
              </a:ext>
            </a:extLst>
          </p:cNvPr>
          <p:cNvSpPr txBox="1"/>
          <p:nvPr/>
        </p:nvSpPr>
        <p:spPr>
          <a:xfrm>
            <a:off x="2725782" y="163897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②</a:t>
            </a:r>
            <a:endParaRPr lang="ja-JP" altLang="en-US">
              <a:solidFill>
                <a:srgbClr val="FF0000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3579F3A-A09F-836F-E2D3-F4AC32826A09}"/>
              </a:ext>
            </a:extLst>
          </p:cNvPr>
          <p:cNvSpPr txBox="1"/>
          <p:nvPr/>
        </p:nvSpPr>
        <p:spPr>
          <a:xfrm>
            <a:off x="8388303" y="181328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③</a:t>
            </a:r>
            <a:endParaRPr lang="ja-JP" altLang="en-US">
              <a:solidFill>
                <a:srgbClr val="FF0000"/>
              </a:solidFill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DFFFFB3-204E-32E0-ABA9-EFBDC38CC00E}"/>
              </a:ext>
            </a:extLst>
          </p:cNvPr>
          <p:cNvSpPr txBox="1"/>
          <p:nvPr/>
        </p:nvSpPr>
        <p:spPr>
          <a:xfrm>
            <a:off x="8186600" y="3105834"/>
            <a:ext cx="37257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Config</a:t>
            </a:r>
            <a:r>
              <a:rPr kumimoji="1" lang="ja-JP" altLang="en-US">
                <a:solidFill>
                  <a:srgbClr val="FF0000"/>
                </a:solidFill>
              </a:rPr>
              <a:t>に記入した情報を元に、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r>
              <a:rPr lang="ja-JP" altLang="en-US">
                <a:solidFill>
                  <a:srgbClr val="FF0000"/>
                </a:solidFill>
              </a:rPr>
              <a:t>ここに「</a:t>
            </a:r>
            <a:r>
              <a:rPr lang="en-US" altLang="ja-JP" dirty="0">
                <a:solidFill>
                  <a:srgbClr val="FF0000"/>
                </a:solidFill>
              </a:rPr>
              <a:t>vaccine-00</a:t>
            </a:r>
            <a:r>
              <a:rPr lang="ja-JP" altLang="en-US">
                <a:solidFill>
                  <a:srgbClr val="FF0000"/>
                </a:solidFill>
              </a:rPr>
              <a:t>」が表示される</a:t>
            </a:r>
            <a:endParaRPr kumimoji="1" lang="ja-JP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5732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40D44-FB8E-B06F-F2A1-CF489B757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30A32A94-B979-2FD3-67BE-6BD6DD92D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700" y="18255"/>
            <a:ext cx="10515600" cy="1325563"/>
          </a:xfrm>
        </p:spPr>
        <p:txBody>
          <a:bodyPr/>
          <a:lstStyle/>
          <a:p>
            <a:r>
              <a:rPr lang="ja-JP" altLang="en-US"/>
              <a:t>　実践　　サーバに接続しよう</a:t>
            </a:r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F38E7AB-9E05-1B0E-7AAB-A0CF07D093F9}"/>
              </a:ext>
            </a:extLst>
          </p:cNvPr>
          <p:cNvCxnSpPr/>
          <p:nvPr/>
        </p:nvCxnSpPr>
        <p:spPr>
          <a:xfrm>
            <a:off x="1985211" y="457200"/>
            <a:ext cx="0" cy="372979"/>
          </a:xfrm>
          <a:prstGeom prst="line">
            <a:avLst/>
          </a:prstGeom>
          <a:ln w="2159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8B7BF42-4416-1E5F-19D6-C804E2270E7E}"/>
              </a:ext>
            </a:extLst>
          </p:cNvPr>
          <p:cNvSpPr txBox="1"/>
          <p:nvPr/>
        </p:nvSpPr>
        <p:spPr>
          <a:xfrm>
            <a:off x="435690" y="1207586"/>
            <a:ext cx="34131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VSC</a:t>
            </a:r>
            <a:r>
              <a:rPr lang="ja-JP" altLang="en-US" sz="2000" b="1">
                <a:solidFill>
                  <a:schemeClr val="tx1">
                    <a:lumMod val="75000"/>
                    <a:lumOff val="25000"/>
                  </a:schemeClr>
                </a:solidFill>
              </a:rPr>
              <a:t>上でサーバに接続しよう</a:t>
            </a:r>
            <a:endParaRPr kumimoji="1" lang="en-US" altLang="ja-JP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651A242B-64E9-E3DA-38CB-CFE6D7B64694}"/>
              </a:ext>
            </a:extLst>
          </p:cNvPr>
          <p:cNvSpPr/>
          <p:nvPr/>
        </p:nvSpPr>
        <p:spPr>
          <a:xfrm>
            <a:off x="435690" y="1265473"/>
            <a:ext cx="45719" cy="2575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DDCC182-9AC3-6C9D-1DFF-A1D0D96DE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09" y="1782763"/>
            <a:ext cx="7772400" cy="1180617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2B5C54E-D8F5-B70A-61D0-067DF64D8DB0}"/>
              </a:ext>
            </a:extLst>
          </p:cNvPr>
          <p:cNvSpPr txBox="1"/>
          <p:nvPr/>
        </p:nvSpPr>
        <p:spPr>
          <a:xfrm>
            <a:off x="435689" y="3155957"/>
            <a:ext cx="849463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・初期パスワードで一度接続する。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『</a:t>
            </a:r>
            <a:r>
              <a:rPr lang="ja-JP" altLang="ja-JP">
                <a:solidFill>
                  <a:schemeClr val="tx1">
                    <a:lumMod val="75000"/>
                    <a:lumOff val="25000"/>
                  </a:schemeClr>
                </a:solidFill>
              </a:rPr>
              <a:t>hpctech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』</a:t>
            </a:r>
          </a:p>
          <a:p>
            <a:endParaRPr kumimoji="1" lang="en-US" altLang="ja-JP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・接続できたら、パスワードを変更する。パスワード変更のコマンドを打とう。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ja-JP" altLang="ja-JP" b="1">
                <a:solidFill>
                  <a:schemeClr val="bg1"/>
                </a:solidFill>
                <a:highlight>
                  <a:srgbClr val="000000"/>
                </a:highlight>
              </a:rPr>
              <a:t>passwd &lt;user name&gt;</a:t>
            </a:r>
            <a:endParaRPr lang="en-US" altLang="ja-JP" b="1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58DCD842-8A44-4186-EACB-EDDFB7046B77}"/>
              </a:ext>
            </a:extLst>
          </p:cNvPr>
          <p:cNvGrpSpPr/>
          <p:nvPr/>
        </p:nvGrpSpPr>
        <p:grpSpPr>
          <a:xfrm>
            <a:off x="279700" y="4894186"/>
            <a:ext cx="10693100" cy="1546128"/>
            <a:chOff x="279700" y="2627291"/>
            <a:chExt cx="6369456" cy="1546128"/>
          </a:xfrm>
        </p:grpSpPr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D8208EFA-BCFC-6F96-2E00-77B899C0BA9C}"/>
                </a:ext>
              </a:extLst>
            </p:cNvPr>
            <p:cNvSpPr txBox="1"/>
            <p:nvPr/>
          </p:nvSpPr>
          <p:spPr>
            <a:xfrm>
              <a:off x="435689" y="2627291"/>
              <a:ext cx="9749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MI</a:t>
              </a:r>
              <a:r>
                <a:rPr lang="ja-JP" altLang="en-US" sz="20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altLang="ja-JP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wiki</a:t>
              </a:r>
              <a:endParaRPr kumimoji="1" lang="en-US" altLang="ja-JP" sz="20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BC9C8B30-22C7-F2A6-B478-0A3BD0834056}"/>
                </a:ext>
              </a:extLst>
            </p:cNvPr>
            <p:cNvSpPr txBox="1"/>
            <p:nvPr/>
          </p:nvSpPr>
          <p:spPr>
            <a:xfrm>
              <a:off x="279700" y="3034646"/>
              <a:ext cx="6369456" cy="1138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MI</a:t>
              </a:r>
              <a:r>
                <a:rPr lang="ja-JP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研のサイトがあり、そこにサーバ関連の情報がまとめられている。</a:t>
              </a:r>
              <a:endPara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r>
                <a:rPr lang="ja-JP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今回話さない詳しい内容も書かれているので、時間があるときに見てみてください。</a:t>
              </a:r>
              <a:endPara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r>
                <a:rPr lang="ja-JP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リンク：</a:t>
              </a:r>
              <a:r>
                <a:rPr lang="en" altLang="ja-JP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https://</a:t>
              </a:r>
              <a:r>
                <a:rPr lang="en" altLang="ja-JP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sites.google.com</a:t>
              </a:r>
              <a:r>
                <a:rPr lang="en" altLang="ja-JP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/view/mi-lab-wiki/</a:t>
              </a:r>
              <a:r>
                <a:rPr lang="ja-JP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計算機関連</a:t>
              </a:r>
              <a:r>
                <a:rPr lang="en-US" altLang="ja-JP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?</a:t>
              </a:r>
              <a:r>
                <a:rPr lang="en" altLang="ja-JP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authuser</a:t>
              </a:r>
              <a:r>
                <a:rPr lang="en" altLang="ja-JP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=1</a:t>
              </a:r>
              <a:endPara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endPara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3BBF0BF2-A687-E5AF-D36C-CD1C1793E25F}"/>
                </a:ext>
              </a:extLst>
            </p:cNvPr>
            <p:cNvSpPr/>
            <p:nvPr/>
          </p:nvSpPr>
          <p:spPr>
            <a:xfrm>
              <a:off x="435689" y="2685178"/>
              <a:ext cx="45719" cy="2575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3032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4D02269-8D30-CFC3-1C73-275598C01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953D5108-B770-EE20-99D3-055515E77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700" y="18255"/>
            <a:ext cx="10515600" cy="1325563"/>
          </a:xfrm>
        </p:spPr>
        <p:txBody>
          <a:bodyPr/>
          <a:lstStyle/>
          <a:p>
            <a:r>
              <a:rPr lang="ja-JP" altLang="en-US"/>
              <a:t>　実践　　サーバ上で仮想環境をつくろう</a:t>
            </a:r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3E5E51BA-0ABF-F619-233F-C2FA5D536154}"/>
              </a:ext>
            </a:extLst>
          </p:cNvPr>
          <p:cNvCxnSpPr/>
          <p:nvPr/>
        </p:nvCxnSpPr>
        <p:spPr>
          <a:xfrm>
            <a:off x="1985211" y="457200"/>
            <a:ext cx="0" cy="372979"/>
          </a:xfrm>
          <a:prstGeom prst="line">
            <a:avLst/>
          </a:prstGeom>
          <a:ln w="2159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FE1EEAC-99F3-4741-6A51-F9930CBE9211}"/>
              </a:ext>
            </a:extLst>
          </p:cNvPr>
          <p:cNvSpPr txBox="1"/>
          <p:nvPr/>
        </p:nvSpPr>
        <p:spPr>
          <a:xfrm>
            <a:off x="435690" y="1207586"/>
            <a:ext cx="55707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>
                <a:solidFill>
                  <a:schemeClr val="tx1">
                    <a:lumMod val="75000"/>
                    <a:lumOff val="25000"/>
                  </a:schemeClr>
                </a:solidFill>
              </a:rPr>
              <a:t>自分用のディレクトリにいることを確認しよう</a:t>
            </a:r>
            <a:endParaRPr kumimoji="1" lang="en-US" altLang="ja-JP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A14ACC97-639F-BB47-97EB-2E26EBC268B7}"/>
              </a:ext>
            </a:extLst>
          </p:cNvPr>
          <p:cNvSpPr/>
          <p:nvPr/>
        </p:nvSpPr>
        <p:spPr>
          <a:xfrm>
            <a:off x="435690" y="1265473"/>
            <a:ext cx="45719" cy="2575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D91520E-308A-9D09-BC09-CDE6C834EFEB}"/>
              </a:ext>
            </a:extLst>
          </p:cNvPr>
          <p:cNvSpPr txBox="1"/>
          <p:nvPr/>
        </p:nvSpPr>
        <p:spPr>
          <a:xfrm>
            <a:off x="279700" y="1721225"/>
            <a:ext cx="90556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シェルコマンド「</a:t>
            </a:r>
            <a:r>
              <a:rPr lang="en-US" altLang="ja-JP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pwd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」を使ってみよう。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パス（今いる場所、コンピュータ上の住所）が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/home/&lt;user name&gt;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になっているはず。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AF6FE07-B7F7-0768-D18D-8F28638629A1}"/>
              </a:ext>
            </a:extLst>
          </p:cNvPr>
          <p:cNvSpPr txBox="1"/>
          <p:nvPr/>
        </p:nvSpPr>
        <p:spPr>
          <a:xfrm>
            <a:off x="435690" y="2726709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>
                <a:solidFill>
                  <a:schemeClr val="tx1">
                    <a:lumMod val="75000"/>
                    <a:lumOff val="25000"/>
                  </a:schemeClr>
                </a:solidFill>
              </a:rPr>
              <a:t>仮想環境を作ろう</a:t>
            </a:r>
            <a:endParaRPr kumimoji="1" lang="en-US" altLang="ja-JP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9348686-F3DE-18DB-FBFC-3455B9169DFF}"/>
              </a:ext>
            </a:extLst>
          </p:cNvPr>
          <p:cNvSpPr/>
          <p:nvPr/>
        </p:nvSpPr>
        <p:spPr>
          <a:xfrm>
            <a:off x="435690" y="2784596"/>
            <a:ext cx="45719" cy="2575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A978931-4EFC-629E-6848-99C375144714}"/>
              </a:ext>
            </a:extLst>
          </p:cNvPr>
          <p:cNvSpPr txBox="1"/>
          <p:nvPr/>
        </p:nvSpPr>
        <p:spPr>
          <a:xfrm>
            <a:off x="279700" y="3208973"/>
            <a:ext cx="1152636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仮想環境の作り方はローカル（自分の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PC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上）と同じ、復習でもう一度やってみましょう。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ja-JP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ただ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、サーバ（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vaccine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）上では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homebrew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のインストールが複雑で分からづらい（できないことはないが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…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）。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代わりに以下のコマンドを打って、</a:t>
            </a:r>
            <a:r>
              <a:rPr lang="en-US" altLang="ja-JP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uv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のインストールを行ってください。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他の作業（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①〜③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）は同じです！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DFF3490-F530-8710-6F74-EEB4194BD63F}"/>
              </a:ext>
            </a:extLst>
          </p:cNvPr>
          <p:cNvSpPr txBox="1"/>
          <p:nvPr/>
        </p:nvSpPr>
        <p:spPr>
          <a:xfrm>
            <a:off x="279700" y="4509710"/>
            <a:ext cx="4354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b="1">
                <a:solidFill>
                  <a:schemeClr val="bg1"/>
                </a:solidFill>
                <a:highlight>
                  <a:srgbClr val="000000"/>
                </a:highlight>
              </a:rPr>
              <a:t>curl -LsSf https://astral.sh/uv/install.sh | sh</a:t>
            </a:r>
            <a:endParaRPr kumimoji="1" lang="ja-JP" altLang="en-US" b="1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48187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>
            <a:extLst>
              <a:ext uri="{FF2B5EF4-FFF2-40B4-BE49-F238E27FC236}">
                <a16:creationId xmlns:a16="http://schemas.microsoft.com/office/drawing/2014/main" id="{C5C15D38-A87C-77F1-3F96-ECDBE69EB97A}"/>
              </a:ext>
            </a:extLst>
          </p:cNvPr>
          <p:cNvSpPr txBox="1">
            <a:spLocks/>
          </p:cNvSpPr>
          <p:nvPr/>
        </p:nvSpPr>
        <p:spPr>
          <a:xfrm>
            <a:off x="279700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おわり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84F59A0-BD08-1E40-00ED-7C8080DD0981}"/>
              </a:ext>
            </a:extLst>
          </p:cNvPr>
          <p:cNvSpPr txBox="1"/>
          <p:nvPr/>
        </p:nvSpPr>
        <p:spPr>
          <a:xfrm>
            <a:off x="1112107" y="2736502"/>
            <a:ext cx="9520555" cy="14619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kumimoji="1" lang="ja-JP" altLang="en-U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次回からの</a:t>
            </a:r>
            <a:r>
              <a:rPr kumimoji="1"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kumimoji="1" lang="ja-JP" altLang="en-U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セミナーでも研究でも、</a:t>
            </a:r>
            <a:br>
              <a:rPr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kumimoji="1" lang="ja-JP" altLang="en-U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想環境作りが必要になる場面がたくさんあると思います。</a:t>
            </a:r>
            <a:endParaRPr kumimoji="1" lang="en-US" altLang="ja-JP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600"/>
              </a:spcBef>
            </a:pPr>
            <a:r>
              <a:rPr kumimoji="1" lang="ja-JP" altLang="en-U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回数を重ねて慣れていきましょう</a:t>
            </a:r>
          </a:p>
        </p:txBody>
      </p:sp>
    </p:spTree>
    <p:extLst>
      <p:ext uri="{BB962C8B-B14F-4D97-AF65-F5344CB8AC3E}">
        <p14:creationId xmlns:p14="http://schemas.microsoft.com/office/powerpoint/2010/main" val="5429927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149F4-D5FA-AA76-4723-FC6636A7F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EE4E7EFC-EB80-6009-5135-48EED030A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700" y="18255"/>
            <a:ext cx="10515600" cy="1325563"/>
          </a:xfrm>
        </p:spPr>
        <p:txBody>
          <a:bodyPr/>
          <a:lstStyle/>
          <a:p>
            <a:r>
              <a:rPr lang="ja-JP" altLang="en-US"/>
              <a:t>　おまけ　　サーバ上で</a:t>
            </a:r>
            <a:r>
              <a:rPr lang="en-US" altLang="ja-JP" dirty="0"/>
              <a:t>Homebrew</a:t>
            </a:r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438211D5-7F1A-9308-1D01-1473B664D699}"/>
              </a:ext>
            </a:extLst>
          </p:cNvPr>
          <p:cNvCxnSpPr/>
          <p:nvPr/>
        </p:nvCxnSpPr>
        <p:spPr>
          <a:xfrm>
            <a:off x="1985211" y="457200"/>
            <a:ext cx="0" cy="372979"/>
          </a:xfrm>
          <a:prstGeom prst="line">
            <a:avLst/>
          </a:prstGeom>
          <a:ln w="2159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41A9EF2-01FE-541F-E1D3-1F42DCB0A1FC}"/>
              </a:ext>
            </a:extLst>
          </p:cNvPr>
          <p:cNvSpPr txBox="1"/>
          <p:nvPr/>
        </p:nvSpPr>
        <p:spPr>
          <a:xfrm>
            <a:off x="435690" y="1207586"/>
            <a:ext cx="3775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>
                <a:solidFill>
                  <a:schemeClr val="tx1">
                    <a:lumMod val="75000"/>
                    <a:lumOff val="25000"/>
                  </a:schemeClr>
                </a:solidFill>
              </a:rPr>
              <a:t>以下のコマンドの手順でできる</a:t>
            </a:r>
            <a:endParaRPr kumimoji="1" lang="en-US" altLang="ja-JP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301D6333-CFA9-E042-E407-0333ECA7C5EE}"/>
              </a:ext>
            </a:extLst>
          </p:cNvPr>
          <p:cNvSpPr/>
          <p:nvPr/>
        </p:nvSpPr>
        <p:spPr>
          <a:xfrm>
            <a:off x="435690" y="1265473"/>
            <a:ext cx="45719" cy="2575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33BB8CC-E6DF-E741-8023-966986343465}"/>
              </a:ext>
            </a:extLst>
          </p:cNvPr>
          <p:cNvSpPr txBox="1"/>
          <p:nvPr/>
        </p:nvSpPr>
        <p:spPr>
          <a:xfrm>
            <a:off x="297924" y="1900412"/>
            <a:ext cx="6483891" cy="26007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ja-JP" altLang="ja-JP" sz="2000"/>
              <a:t>mkdir -p ~/.homebrew</a:t>
            </a:r>
          </a:p>
          <a:p>
            <a:pPr>
              <a:spcBef>
                <a:spcPts val="600"/>
              </a:spcBef>
            </a:pPr>
            <a:r>
              <a:rPr lang="ja-JP" altLang="ja-JP" sz="2000"/>
              <a:t>git clone </a:t>
            </a:r>
            <a:r>
              <a:rPr lang="ja-JP" altLang="ja-JP" sz="2000">
                <a:hlinkClick r:id="rId3"/>
              </a:rPr>
              <a:t>https://github.com/Homebrew/brew</a:t>
            </a:r>
            <a:r>
              <a:rPr lang="ja-JP" altLang="ja-JP" sz="2000"/>
              <a:t> ~/.homebrew</a:t>
            </a:r>
          </a:p>
          <a:p>
            <a:pPr>
              <a:spcBef>
                <a:spcPts val="600"/>
              </a:spcBef>
            </a:pPr>
            <a:r>
              <a:rPr lang="ja-JP" altLang="ja-JP" sz="2000"/>
              <a:t>export PATH="$HOME/.homebrew/bin:$PATH"</a:t>
            </a:r>
          </a:p>
          <a:p>
            <a:pPr>
              <a:spcBef>
                <a:spcPts val="600"/>
              </a:spcBef>
            </a:pPr>
            <a:r>
              <a:rPr lang="ja-JP" altLang="ja-JP" sz="2000"/>
              <a:t>eval "$($HOME/.homebrew/bin/brew shellenv)"</a:t>
            </a:r>
          </a:p>
          <a:p>
            <a:pPr>
              <a:spcBef>
                <a:spcPts val="600"/>
              </a:spcBef>
            </a:pPr>
            <a:r>
              <a:rPr lang="ja-JP" altLang="ja-JP" sz="2000"/>
              <a:t>source ~/.bashrc</a:t>
            </a:r>
          </a:p>
          <a:p>
            <a:pPr>
              <a:spcBef>
                <a:spcPts val="600"/>
              </a:spcBef>
            </a:pPr>
            <a:r>
              <a:rPr lang="ja-JP" altLang="ja-JP" sz="2000"/>
              <a:t>brew --version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2789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393B0-0F9D-396A-C5C9-E3D85158D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DD5C428-B2B4-ABFE-615B-AE30AD08E0F1}"/>
              </a:ext>
            </a:extLst>
          </p:cNvPr>
          <p:cNvSpPr/>
          <p:nvPr/>
        </p:nvSpPr>
        <p:spPr>
          <a:xfrm>
            <a:off x="182380" y="3956304"/>
            <a:ext cx="3255764" cy="4571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BB7A147-64B5-7DB1-149D-C179010B3AC5}"/>
              </a:ext>
            </a:extLst>
          </p:cNvPr>
          <p:cNvSpPr/>
          <p:nvPr/>
        </p:nvSpPr>
        <p:spPr>
          <a:xfrm>
            <a:off x="182380" y="2871216"/>
            <a:ext cx="3659526" cy="4571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1E4FE4A-EDBA-CF8F-B60C-C88E4C98312C}"/>
              </a:ext>
            </a:extLst>
          </p:cNvPr>
          <p:cNvSpPr/>
          <p:nvPr/>
        </p:nvSpPr>
        <p:spPr>
          <a:xfrm>
            <a:off x="182380" y="792480"/>
            <a:ext cx="2195060" cy="4571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328217C-F961-0D83-BA6F-53156EE58889}"/>
              </a:ext>
            </a:extLst>
          </p:cNvPr>
          <p:cNvSpPr/>
          <p:nvPr/>
        </p:nvSpPr>
        <p:spPr>
          <a:xfrm>
            <a:off x="157997" y="346734"/>
            <a:ext cx="3683909" cy="45719"/>
          </a:xfrm>
          <a:prstGeom prst="rect">
            <a:avLst/>
          </a:prstGeom>
          <a:solidFill>
            <a:srgbClr val="FCD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9E4BBBB-B27B-FBAF-E13F-2272776844ED}"/>
              </a:ext>
            </a:extLst>
          </p:cNvPr>
          <p:cNvSpPr txBox="1"/>
          <p:nvPr/>
        </p:nvSpPr>
        <p:spPr>
          <a:xfrm>
            <a:off x="0" y="146304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（</a:t>
            </a:r>
            <a:r>
              <a:rPr lang="ja-JP" altLang="en-US"/>
              <a:t>おまけ</a:t>
            </a:r>
            <a:r>
              <a:rPr kumimoji="1" lang="ja-JP" altLang="en-US"/>
              <a:t>）シェルコマンドってなんだ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60FC95B-8B83-2DEC-226A-E5356E91FCE9}"/>
              </a:ext>
            </a:extLst>
          </p:cNvPr>
          <p:cNvSpPr txBox="1"/>
          <p:nvPr/>
        </p:nvSpPr>
        <p:spPr>
          <a:xfrm>
            <a:off x="157997" y="592883"/>
            <a:ext cx="6160661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/>
              <a:t>▪️シェルコマンドとは</a:t>
            </a:r>
            <a:endParaRPr kumimoji="1" lang="en-US" altLang="ja-JP" sz="1600" dirty="0"/>
          </a:p>
          <a:p>
            <a:endParaRPr lang="en-US" altLang="ja-JP" sz="1600" dirty="0"/>
          </a:p>
          <a:p>
            <a:r>
              <a:rPr kumimoji="1" lang="ja-JP" altLang="en-US" sz="1600"/>
              <a:t>ターミナル、シェル、コマンドに分解すると分かりやすい。</a:t>
            </a:r>
            <a:endParaRPr kumimoji="1" lang="en-US" altLang="ja-JP" sz="1600" dirty="0"/>
          </a:p>
          <a:p>
            <a:endParaRPr lang="en-US" altLang="ja-JP" sz="1600" dirty="0"/>
          </a:p>
          <a:p>
            <a:r>
              <a:rPr kumimoji="1" lang="ja-JP" altLang="en-US" sz="1600"/>
              <a:t>・ターミナル</a:t>
            </a:r>
            <a:r>
              <a:rPr lang="ja-JP" altLang="en-US" sz="1600"/>
              <a:t>：入力画面。文字を入れたり表示する窓口。</a:t>
            </a:r>
            <a:endParaRPr lang="en-US" altLang="ja-JP" sz="1600" dirty="0"/>
          </a:p>
          <a:p>
            <a:r>
              <a:rPr kumimoji="1" lang="ja-JP" altLang="en-US" sz="1600"/>
              <a:t>・シェル：私たちの打ち込む文字を受け取り、</a:t>
            </a:r>
            <a:r>
              <a:rPr kumimoji="1" lang="en-US" altLang="ja-JP" sz="1600" dirty="0"/>
              <a:t>OS</a:t>
            </a:r>
            <a:r>
              <a:rPr kumimoji="1" lang="ja-JP" altLang="en-US" sz="1600"/>
              <a:t>に伝える通訳。</a:t>
            </a:r>
            <a:endParaRPr kumimoji="1" lang="en-US" altLang="ja-JP" sz="1600" dirty="0"/>
          </a:p>
          <a:p>
            <a:r>
              <a:rPr kumimoji="1" lang="ja-JP" altLang="en-US" sz="1600"/>
              <a:t>・コマンド</a:t>
            </a:r>
            <a:r>
              <a:rPr lang="ja-JP" altLang="en-US" sz="1600"/>
              <a:t>：シェルに渡す文字、命令。</a:t>
            </a:r>
            <a:r>
              <a:rPr lang="en-US" altLang="ja-JP" sz="1600" dirty="0"/>
              <a:t>ls</a:t>
            </a:r>
            <a:r>
              <a:rPr lang="ja-JP" altLang="en-US" sz="1600"/>
              <a:t>とか。</a:t>
            </a:r>
            <a:endParaRPr kumimoji="1" lang="ja-JP" altLang="en-US" sz="16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E413853-BA28-1F04-BFDE-8F3193FBB516}"/>
              </a:ext>
            </a:extLst>
          </p:cNvPr>
          <p:cNvSpPr txBox="1"/>
          <p:nvPr/>
        </p:nvSpPr>
        <p:spPr>
          <a:xfrm>
            <a:off x="157997" y="2667512"/>
            <a:ext cx="7853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/>
              <a:t>▪️　</a:t>
            </a:r>
            <a:r>
              <a:rPr lang="en-US" altLang="ja-JP" sz="1600" dirty="0"/>
              <a:t>Linux</a:t>
            </a:r>
            <a:r>
              <a:rPr lang="ja-JP" altLang="en-US" sz="1600"/>
              <a:t>コマンドと呼ばれるのは何か。</a:t>
            </a:r>
            <a:endParaRPr lang="en-US" altLang="ja-JP" sz="1600" dirty="0"/>
          </a:p>
          <a:p>
            <a:endParaRPr kumimoji="1" lang="en-US" altLang="ja-JP" sz="1600" dirty="0"/>
          </a:p>
          <a:p>
            <a:r>
              <a:rPr kumimoji="1" lang="ja-JP" altLang="en-US" sz="1600"/>
              <a:t>シェルコマンドが大元にあって、そのうち</a:t>
            </a:r>
            <a:r>
              <a:rPr kumimoji="1" lang="en-US" altLang="ja-JP" sz="1600" dirty="0"/>
              <a:t>OS</a:t>
            </a:r>
            <a:r>
              <a:rPr kumimoji="1" lang="ja-JP" altLang="en-US" sz="1600"/>
              <a:t>が</a:t>
            </a:r>
            <a:r>
              <a:rPr lang="en-US" altLang="ja-JP" sz="1600" dirty="0"/>
              <a:t>L</a:t>
            </a:r>
            <a:r>
              <a:rPr kumimoji="1" lang="en-US" altLang="ja-JP" sz="1600" dirty="0"/>
              <a:t>inux</a:t>
            </a:r>
            <a:r>
              <a:rPr kumimoji="1" lang="ja-JP" altLang="en-US" sz="1600"/>
              <a:t>のものを</a:t>
            </a:r>
            <a:r>
              <a:rPr lang="en-US" altLang="ja-JP" sz="1600" dirty="0"/>
              <a:t>L</a:t>
            </a:r>
            <a:r>
              <a:rPr kumimoji="1" lang="en-US" altLang="ja-JP" sz="1600" dirty="0"/>
              <a:t>inux</a:t>
            </a:r>
            <a:r>
              <a:rPr kumimoji="1" lang="ja-JP" altLang="en-US" sz="1600"/>
              <a:t>コマンドを呼ぶ。</a:t>
            </a:r>
            <a:endParaRPr kumimoji="1" lang="en-US" altLang="ja-JP" sz="16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349FB2D-AD4A-B3A1-5584-66F65213810F}"/>
              </a:ext>
            </a:extLst>
          </p:cNvPr>
          <p:cNvSpPr txBox="1"/>
          <p:nvPr/>
        </p:nvSpPr>
        <p:spPr>
          <a:xfrm>
            <a:off x="157996" y="3757256"/>
            <a:ext cx="1291182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00"/>
              <a:t>▪️　</a:t>
            </a:r>
            <a:r>
              <a:rPr lang="en-US" altLang="ja-JP" sz="1600" dirty="0"/>
              <a:t>OS</a:t>
            </a:r>
            <a:r>
              <a:rPr lang="ja-JP" altLang="en-US" sz="1600"/>
              <a:t>って改めて考えるとなんだ。</a:t>
            </a:r>
            <a:endParaRPr lang="en-US" altLang="ja-JP" sz="1600" dirty="0"/>
          </a:p>
          <a:p>
            <a:endParaRPr kumimoji="1" lang="en-US" altLang="ja-JP" sz="1600" dirty="0"/>
          </a:p>
          <a:p>
            <a:r>
              <a:rPr lang="ja-JP" altLang="en-US" sz="1600"/>
              <a:t>ハード（本体、</a:t>
            </a:r>
            <a:r>
              <a:rPr lang="en-US" altLang="ja-JP" sz="1600" dirty="0"/>
              <a:t>PC</a:t>
            </a:r>
            <a:r>
              <a:rPr lang="ja-JP" altLang="en-US" sz="1600"/>
              <a:t>とはあえてここでは言わない）を動かすための機能をもつもの。</a:t>
            </a:r>
            <a:endParaRPr lang="en-US" altLang="ja-JP" sz="1600" dirty="0"/>
          </a:p>
          <a:p>
            <a:r>
              <a:rPr lang="en-US" altLang="ja-JP" sz="1600" dirty="0"/>
              <a:t>mac</a:t>
            </a:r>
            <a:r>
              <a:rPr lang="ja-JP" altLang="en-US" sz="1600"/>
              <a:t>、</a:t>
            </a:r>
            <a:r>
              <a:rPr lang="en-US" altLang="ja-JP" sz="1600" dirty="0"/>
              <a:t>Windows</a:t>
            </a:r>
            <a:r>
              <a:rPr lang="ja-JP" altLang="en-US" sz="1600"/>
              <a:t>、</a:t>
            </a:r>
            <a:r>
              <a:rPr lang="en-US" altLang="ja-JP" sz="1600" dirty="0" err="1"/>
              <a:t>linux</a:t>
            </a:r>
            <a:r>
              <a:rPr lang="ja-JP" altLang="en-US" sz="1600"/>
              <a:t>とかあり、役割が違うけどちょっと違う。</a:t>
            </a:r>
            <a:endParaRPr lang="en-US" altLang="ja-JP" sz="1600" dirty="0"/>
          </a:p>
          <a:p>
            <a:r>
              <a:rPr lang="en-US" altLang="ja-JP" sz="1600" dirty="0"/>
              <a:t>m</a:t>
            </a:r>
            <a:r>
              <a:rPr kumimoji="1" lang="en-US" altLang="ja-JP" sz="1600" dirty="0"/>
              <a:t>ac : apple</a:t>
            </a:r>
            <a:r>
              <a:rPr kumimoji="1" lang="ja-JP" altLang="en-US" sz="1600"/>
              <a:t>が作ってる。ハードも</a:t>
            </a:r>
            <a:r>
              <a:rPr kumimoji="1" lang="en-US" altLang="ja-JP" sz="1600" dirty="0"/>
              <a:t>OS</a:t>
            </a:r>
            <a:r>
              <a:rPr kumimoji="1" lang="ja-JP" altLang="en-US" sz="1600"/>
              <a:t>も</a:t>
            </a:r>
            <a:r>
              <a:rPr kumimoji="1" lang="en-US" altLang="ja-JP" sz="1600" dirty="0"/>
              <a:t>apple</a:t>
            </a:r>
            <a:r>
              <a:rPr lang="ja-JP" altLang="en-US" sz="1600"/>
              <a:t>。</a:t>
            </a:r>
            <a:endParaRPr lang="en-US" altLang="ja-JP" sz="1600" dirty="0"/>
          </a:p>
          <a:p>
            <a:r>
              <a:rPr kumimoji="1" lang="en-US" altLang="ja-JP" sz="1600" dirty="0"/>
              <a:t>Windows</a:t>
            </a:r>
            <a:r>
              <a:rPr kumimoji="1" lang="ja-JP" altLang="en-US" sz="1600"/>
              <a:t>：</a:t>
            </a:r>
            <a:r>
              <a:rPr kumimoji="1" lang="en" altLang="ja-JP" sz="1600" dirty="0"/>
              <a:t> Microsoft</a:t>
            </a:r>
            <a:r>
              <a:rPr kumimoji="1" lang="ja-JP" altLang="en-US" sz="1600"/>
              <a:t>が作ってる。ハードは別、だから色んな会社の名前出てくる。</a:t>
            </a:r>
            <a:endParaRPr kumimoji="1" lang="en-US" altLang="ja-JP" sz="1600" dirty="0"/>
          </a:p>
          <a:p>
            <a:r>
              <a:rPr lang="en-US" altLang="ja-JP" sz="1600" dirty="0"/>
              <a:t>Linux</a:t>
            </a:r>
            <a:r>
              <a:rPr lang="ja-JP" altLang="en-US" sz="1600"/>
              <a:t>：オープンソースの</a:t>
            </a:r>
            <a:r>
              <a:rPr lang="en-US" altLang="ja-JP" sz="1600" dirty="0"/>
              <a:t>OS</a:t>
            </a:r>
            <a:r>
              <a:rPr lang="ja-JP" altLang="en-US" sz="1600"/>
              <a:t>。いろんな機械に入ってる。</a:t>
            </a:r>
            <a:endParaRPr lang="en-US" altLang="ja-JP" sz="1600" dirty="0"/>
          </a:p>
          <a:p>
            <a:endParaRPr lang="en-US" altLang="ja-JP" sz="1600" dirty="0"/>
          </a:p>
          <a:p>
            <a:r>
              <a:rPr lang="en-US" altLang="ja-JP" sz="1600" dirty="0"/>
              <a:t>PC</a:t>
            </a:r>
            <a:r>
              <a:rPr lang="ja-JP" altLang="en-US" sz="1600"/>
              <a:t>の機能を</a:t>
            </a:r>
            <a:r>
              <a:rPr lang="en-US" altLang="ja-JP" sz="1600" dirty="0"/>
              <a:t>OS</a:t>
            </a:r>
            <a:r>
              <a:rPr lang="ja-JP" altLang="en-US" sz="1600"/>
              <a:t>が担っているように、スマホとか家電とか、色んな機械に規模が違えど</a:t>
            </a:r>
            <a:r>
              <a:rPr lang="en-US" altLang="ja-JP" sz="1600" dirty="0"/>
              <a:t>OS</a:t>
            </a:r>
            <a:r>
              <a:rPr lang="ja-JP" altLang="en-US" sz="1600"/>
              <a:t>が入っている。</a:t>
            </a:r>
            <a:endParaRPr lang="en-US" altLang="ja-JP" sz="1600" dirty="0"/>
          </a:p>
          <a:p>
            <a:r>
              <a:rPr lang="en-US" altLang="ja-JP" sz="1600" dirty="0"/>
              <a:t>ssh</a:t>
            </a:r>
            <a:r>
              <a:rPr lang="ja-JP" altLang="en-US" sz="1600"/>
              <a:t>でサーバにつないで、同様にシェルコマンドで操作してるってことは、サーバにも</a:t>
            </a:r>
            <a:r>
              <a:rPr lang="en-US" altLang="ja-JP" sz="1600" dirty="0"/>
              <a:t>OS</a:t>
            </a:r>
            <a:r>
              <a:rPr lang="ja-JP" altLang="en-US" sz="1600"/>
              <a:t>が入ってるってこと、多分。</a:t>
            </a:r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2863717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7004</TotalTime>
  <Words>3676</Words>
  <Application>Microsoft Macintosh PowerPoint</Application>
  <PresentationFormat>ワイド画面</PresentationFormat>
  <Paragraphs>474</Paragraphs>
  <Slides>23</Slides>
  <Notes>18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23</vt:i4>
      </vt:variant>
    </vt:vector>
  </HeadingPairs>
  <TitlesOfParts>
    <vt:vector size="29" baseType="lpstr">
      <vt:lpstr>Meiryo</vt:lpstr>
      <vt:lpstr>游ゴシック</vt:lpstr>
      <vt:lpstr>Arial</vt:lpstr>
      <vt:lpstr>Calibri</vt:lpstr>
      <vt:lpstr>Wingdings</vt:lpstr>
      <vt:lpstr>Office テーマ</vt:lpstr>
      <vt:lpstr>第一回 Python セミナー</vt:lpstr>
      <vt:lpstr>第一回 Python セミナー</vt:lpstr>
      <vt:lpstr>基礎知識　仮想環境とは</vt:lpstr>
      <vt:lpstr>基礎知識　仮想環境を作るためのツール</vt:lpstr>
      <vt:lpstr>第一回 Python セミナー</vt:lpstr>
      <vt:lpstr>　実践　　仮想環境を作ってみよう</vt:lpstr>
      <vt:lpstr>PowerPoint プレゼンテーション</vt:lpstr>
      <vt:lpstr>　実践　　仮想環境を作ってみよう</vt:lpstr>
      <vt:lpstr>　実践　　仮想環境を作ってみよう</vt:lpstr>
      <vt:lpstr>　実践　　仮想環境を作ってみよう</vt:lpstr>
      <vt:lpstr>　演習　　仮想環境を使い回す</vt:lpstr>
      <vt:lpstr>　演習　　仮想環境を使い回す</vt:lpstr>
      <vt:lpstr>エラー対応（Slackから転用）</vt:lpstr>
      <vt:lpstr>第一回 Python セミナー</vt:lpstr>
      <vt:lpstr>　実践　　サーバに接続しよう</vt:lpstr>
      <vt:lpstr>　実践　　サーバに接続しよう</vt:lpstr>
      <vt:lpstr>　実践　　サーバに接続しよう</vt:lpstr>
      <vt:lpstr>　実践　　サーバに接続しよう</vt:lpstr>
      <vt:lpstr>　実践　　サーバに接続しよう</vt:lpstr>
      <vt:lpstr>　実践　　サーバ上で仮想環境をつくろう</vt:lpstr>
      <vt:lpstr>PowerPoint プレゼンテーション</vt:lpstr>
      <vt:lpstr>　おまけ　　サーバ上でHomebrew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Shibayama Koki</dc:creator>
  <cp:lastModifiedBy>Fukumoto Riku</cp:lastModifiedBy>
  <cp:revision>29</cp:revision>
  <dcterms:created xsi:type="dcterms:W3CDTF">2026-05-13T01:20:40Z</dcterms:created>
  <dcterms:modified xsi:type="dcterms:W3CDTF">2026-05-28T04:40:23Z</dcterms:modified>
</cp:coreProperties>
</file>