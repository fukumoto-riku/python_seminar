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263" r:id="rId4"/>
    <p:sldId id="259" r:id="rId5"/>
    <p:sldId id="260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4668"/>
  </p:normalViewPr>
  <p:slideViewPr>
    <p:cSldViewPr snapToGrid="0">
      <p:cViewPr varScale="1">
        <p:scale>
          <a:sx n="96" d="100"/>
          <a:sy n="96" d="100"/>
        </p:scale>
        <p:origin x="1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5ED02-DFE7-8D40-A42C-682FC00D0932}" type="datetimeFigureOut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435AE-46DC-8544-B67F-32A0C49948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853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0EAC4-2927-75D7-7A72-AA9BDACF2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DB5634-D9E9-C5B9-5618-1CFA41E71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44B192-3C0E-EECA-384F-D772412A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68D5-13B9-9B49-9764-81F9041D81BC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6C0241-4089-C495-07AE-A1F2E5E6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E6FBE3-9C26-2887-3CD9-309905620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87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4291F3-205F-B2CE-2B33-F9BAF976E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D7804C-0FCD-6F00-A1CE-9FB4394D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495DAD-E75F-4BB0-3DC0-FDABD8B1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71A-6D04-974E-8092-F09D12C56FBE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2FD55B-ADA7-51C1-135A-E7FE8DA5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DC5C85-3482-4F39-EBF7-47E1B8E7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63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BA820-5698-37A2-6DE0-FD1C749A0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DCDC54-8022-4459-E745-1E0D36554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1F2224-3C50-9549-C95A-D2569355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1BEF7-4234-6742-A3A6-7D1F2B083C2F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FEBA0D-C3AE-12C7-A7AF-DAC0AF40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A6B87D-88D1-FF31-D883-D46B1888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77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27BDA-DF40-5AD0-5358-E373466A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E2D9BB-C2FC-D5DA-3214-098AA4EF7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B20C6E-F68B-CBDE-4664-77458A2B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06ADF8-6364-57B3-BF5A-998DABFD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2DF0-32CF-7341-9AA3-41C8BDDC10B9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BEDCDC-F4EE-526E-73D2-8F2A0F41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E77B54-1CEF-804E-F6FC-C4574DA2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378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DF268D-24D6-D0D3-D3FD-4AFFF27A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ADA7B7-5F5B-6F55-E27F-1F69274A0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1B3993-1EAF-A892-C8EE-70DBB8381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73FA17-613D-F50D-9466-DF7E3E6DA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C0E66D4-42D7-B394-A9E4-9E98F1ACF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EB6E2E7-8C78-BAE3-1D92-332CC936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6BA39-57CB-884A-A30E-58A8EDB75473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D319CA9-C427-1DA3-CCB6-75865508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BF2DCC-41DE-8095-5D88-22D83A21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99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787788-0174-1A3E-DBF9-347E72B9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B2E753-E4D0-286A-2505-328A70564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2B6C3-40A6-BC4A-AD77-7C69C3CC94A7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35D3DE-3B2B-F897-2E7F-32DD8B9C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4FC37E-89D4-C849-3CB5-A01ECA58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68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BC53F7-CF0E-3F36-F910-CD9E2B88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C4928-5D4B-DC46-B0CC-3A9AD572CCC3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4F979D-4E83-727B-50A4-39668AF3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124BC1-07C9-A604-EEEB-9530B7368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30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3107B-DE8B-A162-A9A4-C2219DCA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5D128F-0CE1-3FBA-E557-1E1E6F06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AA1AC0-B640-C08B-3C5F-7590FF2EA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DFD61A-4700-D6C0-FA0F-DF40C3D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4EEA-DECA-F24C-B3E3-F708FF6AB2A3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61FAA9-EBD8-82D4-8E78-5803CDCC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FFA15A-9837-4760-5812-702D2F86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67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FF60E-846C-E834-4F28-5EF77EBD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DE8B55-A5E4-58D3-BC37-A51C37E10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2B1D65-E53B-9DB2-0177-44824432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68204A-F453-22D3-AEDC-706FD6CF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7B85-23BD-3847-ABED-2B8243A3834B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AA140D-557C-59EE-BF53-AC0C2D5C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457EB4-938D-F703-B552-05DF480A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57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97722-F239-498F-0276-4709A9B8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EC3DD1-E48D-F371-0556-BFD121BC0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C12DB0-4D6C-E51D-181D-AA3A8DE6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15F67-6316-1A42-8680-F2DC6BCB5CAE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4CACD-B326-65D3-28FA-1008A853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F94FAE-D8DF-A475-5A57-FAB2552B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19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6264079-FEBB-76AF-7A0D-40BA537E0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21B8EA-8502-CAB7-895D-E458896E1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8EB09D-FA24-3004-4CA4-FFC2F52F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84725-EAA0-594C-B8FD-A88279DF3D06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75BA1A-651A-F0AB-6597-76364554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B14CF4-0D23-AFD9-0E3F-8DC1EFBF3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37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AC813C-8FA9-F100-9CFB-B7C4EDE0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A03C47-6B44-589B-E383-D270E4B04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6A55BA-C816-14A4-9A22-85B60B742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060F6-D092-C24B-A5AF-526F0D4961D1}" type="datetime1">
              <a:rPr kumimoji="1" lang="ja-JP" altLang="en-US" smtClean="0"/>
              <a:t>2026/6/10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8E540B-47F0-CE57-81C6-DA5C89747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501D18-AE2F-0AF6-99E9-4AD8C560DA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F6E3B-B60B-9B49-8EB0-FF0E223B44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49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4E5344-899D-D6F5-765A-EA5CB733599B}"/>
              </a:ext>
            </a:extLst>
          </p:cNvPr>
          <p:cNvSpPr txBox="1"/>
          <p:nvPr/>
        </p:nvSpPr>
        <p:spPr>
          <a:xfrm>
            <a:off x="470398" y="3111818"/>
            <a:ext cx="5551158" cy="687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第</a:t>
            </a:r>
            <a:r>
              <a:rPr kumimoji="1" lang="en-US" altLang="ja-JP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</a:t>
            </a:r>
            <a:r>
              <a:rPr kumimoji="1" lang="ja-JP" alt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回　</a:t>
            </a:r>
            <a:r>
              <a:rPr kumimoji="1" lang="en-US" altLang="ja-JP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Python</a:t>
            </a:r>
            <a:r>
              <a:rPr kumimoji="1" lang="ja-JP" alt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セミナー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教師">
            <a:extLst>
              <a:ext uri="{FF2B5EF4-FFF2-40B4-BE49-F238E27FC236}">
                <a16:creationId xmlns:a16="http://schemas.microsoft.com/office/drawing/2014/main" id="{604EA87B-47D6-A355-FE47-C8F491DDA2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527C5E-D76B-E68E-704E-9B427540CBA1}"/>
              </a:ext>
            </a:extLst>
          </p:cNvPr>
          <p:cNvSpPr txBox="1"/>
          <p:nvPr/>
        </p:nvSpPr>
        <p:spPr>
          <a:xfrm>
            <a:off x="1087186" y="5082565"/>
            <a:ext cx="4428209" cy="4920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2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担当：</a:t>
            </a:r>
            <a:r>
              <a:rPr lang="en-US" altLang="ja-JP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M2</a:t>
            </a:r>
            <a:r>
              <a:rPr lang="ja-JP" altLang="en-US" sz="2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宇津原・</a:t>
            </a:r>
            <a:r>
              <a:rPr lang="en-US" altLang="ja-JP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M1</a:t>
            </a:r>
            <a:r>
              <a:rPr lang="ja-JP" altLang="en-US" sz="28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川口</a:t>
            </a:r>
            <a:endParaRPr kumimoji="1" lang="ja-JP" altLang="en-US" sz="2800" b="1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C09C80-F3F4-0CC5-7815-7D6C7599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48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26D442-7FCE-B571-42D6-7A3A929CA0E1}"/>
              </a:ext>
            </a:extLst>
          </p:cNvPr>
          <p:cNvSpPr txBox="1"/>
          <p:nvPr/>
        </p:nvSpPr>
        <p:spPr>
          <a:xfrm>
            <a:off x="1007513" y="1190206"/>
            <a:ext cx="8802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solidFill>
                  <a:schemeClr val="bg2">
                    <a:lumMod val="25000"/>
                  </a:schemeClr>
                </a:solidFill>
              </a:rPr>
              <a:t>1. </a:t>
            </a:r>
            <a:r>
              <a:rPr lang="ja-JP" altLang="en-US" sz="2400" b="1">
                <a:solidFill>
                  <a:schemeClr val="bg2">
                    <a:lumMod val="25000"/>
                  </a:schemeClr>
                </a:solidFill>
              </a:rPr>
              <a:t>線形</a:t>
            </a:r>
            <a:endParaRPr lang="en-US" altLang="ja-JP" sz="24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ja-JP" altLang="ja-JP" sz="2400">
                <a:solidFill>
                  <a:schemeClr val="bg2">
                    <a:lumMod val="25000"/>
                  </a:schemeClr>
                </a:solidFill>
              </a:rPr>
              <a:t>入力が増えると、出力も一定のルールでまっすぐ変化する関係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95B480D-E70F-925D-D4AF-96E8500A543D}"/>
              </a:ext>
            </a:extLst>
          </p:cNvPr>
          <p:cNvSpPr txBox="1"/>
          <p:nvPr/>
        </p:nvSpPr>
        <p:spPr>
          <a:xfrm>
            <a:off x="749622" y="270343"/>
            <a:ext cx="3512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1. </a:t>
            </a:r>
            <a:r>
              <a:rPr lang="ja-JP" altLang="en-US" sz="2800" b="1"/>
              <a:t>線形　</a:t>
            </a:r>
            <a:r>
              <a:rPr lang="en-US" altLang="ja-JP" sz="2800" b="1" dirty="0"/>
              <a:t>2. </a:t>
            </a:r>
            <a:r>
              <a:rPr lang="ja-JP" altLang="en-US" sz="2800" b="1"/>
              <a:t>線形回帰</a:t>
            </a:r>
            <a:endParaRPr kumimoji="1" lang="ja-JP" altLang="en-US" sz="2800" b="1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66B303E-80B5-A168-603C-BB8BC4112C53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07BD2E-D018-A4FA-16F1-38E1A03DE122}"/>
              </a:ext>
            </a:extLst>
          </p:cNvPr>
          <p:cNvSpPr txBox="1"/>
          <p:nvPr/>
        </p:nvSpPr>
        <p:spPr>
          <a:xfrm>
            <a:off x="1007513" y="2021203"/>
            <a:ext cx="96717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>
                <a:solidFill>
                  <a:schemeClr val="bg2">
                    <a:lumMod val="25000"/>
                  </a:schemeClr>
                </a:solidFill>
              </a:rPr>
              <a:t>例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：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変数どうしが比例関係にあること</a:t>
            </a:r>
            <a:b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  <a:t>Y=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</a:rPr>
              <a:t>aX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で表される変数</a:t>
            </a:r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  <a:t>Y,X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がある時、</a:t>
            </a:r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  <a:t>Y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と</a:t>
            </a:r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  <a:t>X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には線形性があると言える</a:t>
            </a:r>
            <a:endParaRPr kumimoji="1" lang="ja-JP" altLang="en-US" sz="24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950C07-A1D5-85BD-82BF-55CEC27260B5}"/>
              </a:ext>
            </a:extLst>
          </p:cNvPr>
          <p:cNvSpPr txBox="1"/>
          <p:nvPr/>
        </p:nvSpPr>
        <p:spPr>
          <a:xfrm>
            <a:off x="1007514" y="3702463"/>
            <a:ext cx="5212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2. </a:t>
            </a:r>
            <a:r>
              <a: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線形回帰</a:t>
            </a:r>
            <a:endParaRPr kumimoji="1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24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データに最もよく合う直線を引いて、予測する方法</a:t>
            </a: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A595DB-13C5-B552-1498-4BE7F8B4D7A4}"/>
              </a:ext>
            </a:extLst>
          </p:cNvPr>
          <p:cNvSpPr txBox="1"/>
          <p:nvPr/>
        </p:nvSpPr>
        <p:spPr>
          <a:xfrm>
            <a:off x="1007513" y="4882964"/>
            <a:ext cx="5291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solidFill>
                  <a:schemeClr val="bg2">
                    <a:lumMod val="25000"/>
                  </a:schemeClr>
                </a:solidFill>
              </a:rPr>
              <a:t>例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：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altLang="ja-JP" sz="2400" dirty="0">
                <a:solidFill>
                  <a:schemeClr val="bg2">
                    <a:lumMod val="25000"/>
                  </a:schemeClr>
                </a:solidFill>
              </a:rPr>
              <a:t>Y=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</a:rPr>
              <a:t>aX+b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を仮定して、最もデータに当てはまりの良いパラメータ（</a:t>
            </a:r>
            <a:r>
              <a:rPr lang="en-US" altLang="ja-JP" sz="2400" dirty="0" err="1">
                <a:solidFill>
                  <a:schemeClr val="bg2">
                    <a:lumMod val="25000"/>
                  </a:schemeClr>
                </a:solidFill>
              </a:rPr>
              <a:t>a,b</a:t>
            </a:r>
            <a:r>
              <a:rPr lang="ja-JP" altLang="en-US" sz="2400">
                <a:solidFill>
                  <a:schemeClr val="bg2">
                    <a:lumMod val="25000"/>
                  </a:schemeClr>
                </a:solidFill>
              </a:rPr>
              <a:t>）を探索する手法</a:t>
            </a:r>
            <a:endParaRPr lang="en-US" altLang="ja-JP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B1E5D53-3B83-4D81-AB72-39AA27EB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198" y="3221532"/>
            <a:ext cx="5410584" cy="3576487"/>
          </a:xfrm>
          <a:prstGeom prst="rect">
            <a:avLst/>
          </a:prstGeom>
          <a:ln>
            <a:noFill/>
          </a:ln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FC8F481-7633-4102-B46D-F43FA7F4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30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46113DA0-95C1-D934-C499-AFF46705480E}"/>
              </a:ext>
            </a:extLst>
          </p:cNvPr>
          <p:cNvCxnSpPr/>
          <p:nvPr/>
        </p:nvCxnSpPr>
        <p:spPr>
          <a:xfrm>
            <a:off x="0" y="936434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E104F5-9DDE-0CE6-1721-58A7B7C3B8FB}"/>
              </a:ext>
            </a:extLst>
          </p:cNvPr>
          <p:cNvSpPr txBox="1"/>
          <p:nvPr/>
        </p:nvSpPr>
        <p:spPr>
          <a:xfrm>
            <a:off x="550843" y="234191"/>
            <a:ext cx="4541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3. </a:t>
            </a:r>
            <a:r>
              <a:rPr lang="ja-JP" altLang="en-US" sz="2800" b="1"/>
              <a:t>最小二乗法の原理と特徴</a:t>
            </a:r>
            <a:endParaRPr kumimoji="1" lang="ja-JP" altLang="en-US" sz="28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8644561-CE00-86A9-A25C-F900DC254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027" y="4506418"/>
            <a:ext cx="5715763" cy="2032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9AF5875-9ABD-8742-6F83-4EB805E47D12}"/>
                  </a:ext>
                </a:extLst>
              </p:cNvPr>
              <p:cNvSpPr txBox="1"/>
              <p:nvPr/>
            </p:nvSpPr>
            <p:spPr>
              <a:xfrm>
                <a:off x="652443" y="1335091"/>
                <a:ext cx="4698489" cy="1307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200" b="0" i="0" u="sng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110004020202020204"/>
                    <a:ea typeface="游ゴシック" panose="020B0400000000000000" pitchFamily="34" charset="-128"/>
                    <a:cs typeface="+mn-cs"/>
                  </a:rPr>
                  <a:t>原理</a:t>
                </a:r>
                <a:endParaRPr kumimoji="1" lang="en-US" altLang="ja-JP" sz="2200" b="0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11000402020202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110004020202020204"/>
                    <a:ea typeface="游ゴシック" panose="020B0400000000000000" pitchFamily="34" charset="-128"/>
                    <a:cs typeface="+mn-cs"/>
                  </a:rPr>
                  <a:t>実際の値（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ja-JP" alt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AU" altLang="ja-JP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1" lang="en-AU" altLang="ja-JP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110004020202020204"/>
                    <a:ea typeface="游ゴシック" panose="020B0400000000000000" pitchFamily="34" charset="-128"/>
                    <a:cs typeface="+mn-cs"/>
                  </a:rPr>
                  <a:t>）と予測値（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ja-JP" alt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ja-JP" alt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AU" altLang="ja-JP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AU" altLang="ja-JP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110004020202020204"/>
                    <a:ea typeface="游ゴシック" panose="020B0400000000000000" pitchFamily="34" charset="-128"/>
                    <a:cs typeface="+mn-cs"/>
                  </a:rPr>
                  <a:t>）の誤差を二乗して、その合計が最も小さくなるように直線を決める</a:t>
                </a:r>
                <a:endParaRPr kumimoji="1" lang="en-US" altLang="ja-JP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11000402020202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A9AF5875-9ABD-8742-6F83-4EB805E47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43" y="1335091"/>
                <a:ext cx="4698489" cy="1307987"/>
              </a:xfrm>
              <a:prstGeom prst="rect">
                <a:avLst/>
              </a:prstGeom>
              <a:blipFill>
                <a:blip r:embed="rId3"/>
                <a:stretch>
                  <a:fillRect l="-1617" t="-5769" r="-809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4311173-FA30-2E28-7A59-3C29F7F0D160}"/>
              </a:ext>
            </a:extLst>
          </p:cNvPr>
          <p:cNvSpPr txBox="1"/>
          <p:nvPr/>
        </p:nvSpPr>
        <p:spPr>
          <a:xfrm>
            <a:off x="652443" y="4131898"/>
            <a:ext cx="469848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◎解釈しやすい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r>
              <a:rPr kumimoji="1" lang="ja-JP" altLang="en-US" sz="2000"/>
              <a:t>直線で予測するため、結果を説明しやすい。</a:t>
            </a:r>
            <a:endParaRPr kumimoji="1" lang="en-US" altLang="ja-JP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02FFF8-26CA-EAAC-F3B8-6458F622B4F6}"/>
              </a:ext>
            </a:extLst>
          </p:cNvPr>
          <p:cNvSpPr txBox="1"/>
          <p:nvPr/>
        </p:nvSpPr>
        <p:spPr>
          <a:xfrm>
            <a:off x="652443" y="5423338"/>
            <a:ext cx="469848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△外れ値に弱い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r>
              <a:rPr lang="ja-JP" altLang="en-US" sz="2000"/>
              <a:t>誤差を２乗するので、外れ値の影響を強く受ける</a:t>
            </a:r>
            <a:endParaRPr kumimoji="1" lang="en-US" altLang="ja-JP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3ED3F62-666C-524D-2732-D3DC32057722}"/>
              </a:ext>
            </a:extLst>
          </p:cNvPr>
          <p:cNvSpPr txBox="1"/>
          <p:nvPr/>
        </p:nvSpPr>
        <p:spPr>
          <a:xfrm>
            <a:off x="652443" y="2798822"/>
            <a:ext cx="4698488" cy="113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特徴</a:t>
            </a:r>
            <a:endParaRPr kumimoji="1" lang="en-US" altLang="ja-JP" sz="2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◎回帰分析の基本</a:t>
            </a:r>
            <a:endParaRPr kumimoji="1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r>
              <a:rPr kumimoji="1" lang="ja-JP" altLang="en-US" sz="2000"/>
              <a:t>回帰分析の基礎としてよく使われる</a:t>
            </a:r>
            <a:endParaRPr kumimoji="1" lang="en-US" altLang="ja-JP" sz="20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BE2772A-A985-2C34-ACAD-A4BF56C89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785" y="1411531"/>
            <a:ext cx="3061539" cy="2808937"/>
          </a:xfrm>
          <a:prstGeom prst="rect">
            <a:avLst/>
          </a:prstGeom>
        </p:spPr>
      </p:pic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D911F4E2-9CA7-89EE-902C-581B10CC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D5B21326-44B0-73C5-8C29-347E899DE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027" y="2192226"/>
            <a:ext cx="2463304" cy="113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5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28FA-743D-0A14-FDB3-99EB621A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45637F-6AB6-60F1-7446-17F2FCBDC62F}"/>
              </a:ext>
            </a:extLst>
          </p:cNvPr>
          <p:cNvSpPr txBox="1"/>
          <p:nvPr/>
        </p:nvSpPr>
        <p:spPr>
          <a:xfrm>
            <a:off x="742764" y="2062254"/>
            <a:ext cx="38956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/>
              <a:t>・</a:t>
            </a:r>
            <a:r>
              <a:rPr lang="ja-JP" altLang="ja-JP" sz="2000"/>
              <a:t>線形回帰の一種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/>
              <a:t>・</a:t>
            </a:r>
            <a:r>
              <a:rPr lang="ja-JP" altLang="ja-JP" sz="2000"/>
              <a:t>ただし普通の線形回帰と違って、重要でない変数の係数を0にしやすい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/>
              <a:t>・</a:t>
            </a:r>
            <a:r>
              <a:rPr lang="ja-JP" altLang="ja-JP" sz="2000"/>
              <a:t>Lasso回帰は、予測誤差を小さくするだけでなく、係数が大きくなりすぎないように罰則を加える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A14460D-B701-42A8-5CAF-FC2F6902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506" y="3859866"/>
            <a:ext cx="6415099" cy="233057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91C7B148-0920-635A-3270-35FA9267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506" y="1677573"/>
            <a:ext cx="6684244" cy="175142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11B630-E2B3-9546-793A-CC339341236F}"/>
              </a:ext>
            </a:extLst>
          </p:cNvPr>
          <p:cNvSpPr txBox="1"/>
          <p:nvPr/>
        </p:nvSpPr>
        <p:spPr>
          <a:xfrm>
            <a:off x="643607" y="247443"/>
            <a:ext cx="4491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/>
              <a:t>4. </a:t>
            </a:r>
            <a:r>
              <a:rPr lang="ja-JP" altLang="ja-JP" sz="2800" b="1"/>
              <a:t>Lasso回帰の原理と特徴</a:t>
            </a:r>
            <a:endParaRPr kumimoji="1" lang="ja-JP" altLang="en-US" sz="2800" b="1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ADBFDAD-42A9-1D5C-E0A2-AEE51CB389E0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D5D30C-6A18-2402-A46A-B7B28D02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709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99365-E666-7853-2394-9E469DAD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78F038-ADBF-5F7F-2840-E6BA1EC7734C}"/>
              </a:ext>
            </a:extLst>
          </p:cNvPr>
          <p:cNvSpPr txBox="1"/>
          <p:nvPr/>
        </p:nvSpPr>
        <p:spPr>
          <a:xfrm>
            <a:off x="873787" y="2020500"/>
            <a:ext cx="4471788" cy="37853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/>
              <a:t>たくさんの似た変数を要約して、予測しやすくする回帰</a:t>
            </a: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dirty="0"/>
              <a:t>PLS</a:t>
            </a:r>
            <a:r>
              <a:rPr lang="ja-JP" altLang="en-US" sz="2000"/>
              <a:t>回帰は、正式には </a:t>
            </a:r>
            <a:r>
              <a:rPr lang="en-US" altLang="ja-JP" sz="2000" dirty="0"/>
              <a:t>Partial Least Squares Regression</a:t>
            </a:r>
            <a:r>
              <a:rPr lang="ja-JP" altLang="en-US" sz="2000"/>
              <a:t>、日本語では 部分的最小二乗回帰</a:t>
            </a:r>
            <a:r>
              <a:rPr lang="en-US" altLang="ja-JP" sz="2000" dirty="0"/>
              <a:t> </a:t>
            </a:r>
            <a:r>
              <a:rPr lang="ja-JP" altLang="en-US" sz="2000"/>
              <a:t>と呼ばれる</a:t>
            </a: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/>
              <a:t>説明変数がたくさんあるとき、それらを少数の新しい成分にまとめて予測する方法</a:t>
            </a: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5827B68-4A36-8B7E-11CE-76EF2B553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916459"/>
            <a:ext cx="5222213" cy="26633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64422612-9087-4A60-84D3-7024A541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50585"/>
            <a:ext cx="4309894" cy="2175869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6B4EC3-2EFB-FAE0-401C-29D202FD2023}"/>
              </a:ext>
            </a:extLst>
          </p:cNvPr>
          <p:cNvSpPr txBox="1"/>
          <p:nvPr/>
        </p:nvSpPr>
        <p:spPr>
          <a:xfrm>
            <a:off x="683362" y="234191"/>
            <a:ext cx="4312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/>
              <a:t>5. PLS</a:t>
            </a:r>
            <a:r>
              <a:rPr lang="ja-JP" altLang="en-US" sz="2800" b="1"/>
              <a:t>回帰の原理と特徴</a:t>
            </a:r>
            <a:endParaRPr lang="en-US" altLang="ja-JP" sz="2800" b="1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462E0D2-26F6-52CE-07D1-EA2FABCE0925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10F64-9F0E-4811-EB8C-A17DD3EE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11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E8A9B00-B239-562E-6182-3D097CCAD8C5}"/>
              </a:ext>
            </a:extLst>
          </p:cNvPr>
          <p:cNvSpPr txBox="1"/>
          <p:nvPr/>
        </p:nvSpPr>
        <p:spPr>
          <a:xfrm>
            <a:off x="745125" y="2067027"/>
            <a:ext cx="110066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1.</a:t>
            </a:r>
            <a:r>
              <a:rPr lang="ja-JP" altLang="en-US" sz="2400"/>
              <a:t>線形</a:t>
            </a:r>
          </a:p>
          <a:p>
            <a:r>
              <a:rPr lang="ja-JP" altLang="en-US" sz="2400"/>
              <a:t>  ↓</a:t>
            </a:r>
          </a:p>
          <a:p>
            <a:r>
              <a:rPr lang="en-US" altLang="ja-JP" sz="2400" dirty="0"/>
              <a:t>2.</a:t>
            </a:r>
            <a:r>
              <a:rPr lang="ja-JP" altLang="en-US" sz="2400"/>
              <a:t>線形回帰</a:t>
            </a:r>
          </a:p>
          <a:p>
            <a:r>
              <a:rPr lang="ja-JP" altLang="en-US" sz="2400"/>
              <a:t>  ↓</a:t>
            </a:r>
          </a:p>
          <a:p>
            <a:r>
              <a:rPr lang="en-US" altLang="ja-JP" sz="2400" dirty="0"/>
              <a:t>3.</a:t>
            </a:r>
            <a:r>
              <a:rPr lang="ja-JP" altLang="en-US" sz="2400"/>
              <a:t>最小二乗法で直線を決める</a:t>
            </a:r>
          </a:p>
          <a:p>
            <a:r>
              <a:rPr lang="ja-JP" altLang="en-US" sz="2400"/>
              <a:t>  ↓</a:t>
            </a:r>
          </a:p>
          <a:p>
            <a:r>
              <a:rPr lang="ja-JP" altLang="en-US" sz="2400"/>
              <a:t>さらに工夫した方法</a:t>
            </a:r>
          </a:p>
          <a:p>
            <a:r>
              <a:rPr lang="ja-JP" altLang="en-US" sz="2400"/>
              <a:t>  ├─ </a:t>
            </a:r>
            <a:r>
              <a:rPr lang="en-US" altLang="ja-JP" sz="2400" dirty="0"/>
              <a:t>4.</a:t>
            </a:r>
            <a:r>
              <a:rPr lang="ja-JP" altLang="en-US" sz="2400"/>
              <a:t>Lasso回帰：重要でない変数を０にして予測に必要な変数だけを選ぶ</a:t>
            </a:r>
          </a:p>
          <a:p>
            <a:r>
              <a:rPr lang="ja-JP" altLang="en-US" sz="2400"/>
              <a:t>  └─ </a:t>
            </a:r>
            <a:r>
              <a:rPr lang="en-US" altLang="ja-JP" sz="2400" dirty="0"/>
              <a:t>5.</a:t>
            </a:r>
            <a:r>
              <a:rPr lang="ja-JP" altLang="en-US" sz="2400"/>
              <a:t>PLS回帰：変数を削らず、変数を組み合わせて成分を作る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6AE588-5033-DF70-FDF6-B174E94D0C14}"/>
              </a:ext>
            </a:extLst>
          </p:cNvPr>
          <p:cNvSpPr txBox="1"/>
          <p:nvPr/>
        </p:nvSpPr>
        <p:spPr>
          <a:xfrm>
            <a:off x="745125" y="240896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/>
              <a:t>まとめ</a:t>
            </a:r>
            <a:endParaRPr lang="en-US" altLang="ja-JP" sz="2800" b="1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A961708-DBC6-144B-CF95-1A259E8CED90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6EDEA3-693D-7938-C51B-F7B56DD5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61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9F116-B3CC-A664-E7B6-13B7191F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3A427D-0FC0-E6D6-E9C4-3A93F87470E6}"/>
              </a:ext>
            </a:extLst>
          </p:cNvPr>
          <p:cNvSpPr txBox="1"/>
          <p:nvPr/>
        </p:nvSpPr>
        <p:spPr>
          <a:xfrm>
            <a:off x="745125" y="254148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/>
              <a:t>用語説明</a:t>
            </a:r>
            <a:endParaRPr lang="en-US" altLang="ja-JP" sz="2800" b="1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EC3E19B-8E0C-A44B-B2E7-4BC02CE3C812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FCAB89-A226-3268-7F95-22B5AD011428}"/>
              </a:ext>
            </a:extLst>
          </p:cNvPr>
          <p:cNvSpPr txBox="1"/>
          <p:nvPr/>
        </p:nvSpPr>
        <p:spPr>
          <a:xfrm>
            <a:off x="875180" y="1299923"/>
            <a:ext cx="5349773" cy="78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・オートスケーリング</a:t>
            </a:r>
            <a:endParaRPr lang="en-US" altLang="ja-JP" sz="2200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データの大きさや単位をそろえること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48BEF76-ED6E-AE5B-F7D2-2837387DC700}"/>
              </a:ext>
            </a:extLst>
          </p:cNvPr>
          <p:cNvSpPr txBox="1"/>
          <p:nvPr/>
        </p:nvSpPr>
        <p:spPr>
          <a:xfrm>
            <a:off x="981196" y="4129981"/>
            <a:ext cx="8937036" cy="108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・過学習</a:t>
            </a:r>
            <a:endParaRPr lang="en-US" altLang="ja-JP" sz="2200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34" charset="-128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ja-JP" sz="2200"/>
              <a:t>訓練データに合わせすぎて、新しいデータで予測できなくなること</a:t>
            </a:r>
            <a:br>
              <a:rPr lang="en-US" altLang="ja-JP" sz="2200" dirty="0"/>
            </a:br>
            <a:r>
              <a:rPr lang="ja-JP" altLang="en-US" sz="2200"/>
              <a:t>覚えすぎて、応用できなくなること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FCDD20-3A21-B1F1-D40C-188243E9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60A7F3-1792-72B1-2CD7-9FA02839CAA9}"/>
              </a:ext>
            </a:extLst>
          </p:cNvPr>
          <p:cNvSpPr txBox="1"/>
          <p:nvPr/>
        </p:nvSpPr>
        <p:spPr>
          <a:xfrm>
            <a:off x="981196" y="5387256"/>
            <a:ext cx="8575647" cy="11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en-US" sz="2200">
                <a:solidFill>
                  <a:prstClr val="black"/>
                </a:solidFill>
              </a:rPr>
              <a:t>例：練習問題を丸暗記していて、少し違う問題に対応できない状態</a:t>
            </a:r>
            <a:endParaRPr lang="en-AU" altLang="ja-JP" sz="2200" dirty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en-US" sz="2200">
                <a:solidFill>
                  <a:prstClr val="black"/>
                </a:solidFill>
              </a:rPr>
              <a:t>練習問題：</a:t>
            </a:r>
            <a:r>
              <a:rPr lang="en-US" altLang="ja-JP" sz="2200" dirty="0">
                <a:solidFill>
                  <a:prstClr val="black"/>
                </a:solidFill>
              </a:rPr>
              <a:t>100</a:t>
            </a:r>
            <a:r>
              <a:rPr lang="ja-JP" altLang="en-US" sz="2200">
                <a:solidFill>
                  <a:prstClr val="black"/>
                </a:solidFill>
              </a:rPr>
              <a:t>点</a:t>
            </a: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en-US" sz="2200">
                <a:solidFill>
                  <a:prstClr val="black"/>
                </a:solidFill>
              </a:rPr>
              <a:t>本番試験：</a:t>
            </a:r>
            <a:r>
              <a:rPr lang="en-US" altLang="ja-JP" sz="2200" dirty="0">
                <a:solidFill>
                  <a:prstClr val="black"/>
                </a:solidFill>
              </a:rPr>
              <a:t>50</a:t>
            </a:r>
            <a:r>
              <a:rPr lang="ja-JP" altLang="en-US" sz="2200">
                <a:solidFill>
                  <a:prstClr val="black"/>
                </a:solidFill>
              </a:rPr>
              <a:t>点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B4EF71-23C6-2651-905C-506BF677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36" y="2445401"/>
            <a:ext cx="1621608" cy="1086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C54E2D4-A0A2-8B0D-E81E-DDB6D45425A3}"/>
                  </a:ext>
                </a:extLst>
              </p:cNvPr>
              <p:cNvSpPr txBox="1"/>
              <p:nvPr/>
            </p:nvSpPr>
            <p:spPr>
              <a:xfrm>
                <a:off x="3831740" y="2312281"/>
                <a:ext cx="5349773" cy="1355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AU" altLang="ja-JP" sz="2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𝑥</m:t>
                    </m:r>
                  </m:oMath>
                </a14:m>
                <a:r>
                  <a:rPr lang="ja-JP" altLang="en-US" sz="2000" dirty="0">
                    <a:solidFill>
                      <a:prstClr val="black"/>
                    </a:solidFill>
                    <a:latin typeface="游ゴシック" panose="02110004020202020204"/>
                    <a:ea typeface="游ゴシック" panose="020B0400000000000000" pitchFamily="34" charset="-128"/>
                  </a:rPr>
                  <a:t>：元の値</a:t>
                </a:r>
                <a:endParaRPr lang="en-US" altLang="ja-JP" sz="2000" dirty="0">
                  <a:solidFill>
                    <a:prstClr val="black"/>
                  </a:solidFill>
                  <a:latin typeface="游ゴシック" panose="02110004020202020204"/>
                  <a:ea typeface="游ゴシック" panose="020B0400000000000000" pitchFamily="34" charset="-128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accPr>
                      <m:e>
                        <m:r>
                          <a:rPr kumimoji="1" lang="en-AU" altLang="ja-JP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kumimoji="1" lang="ja-JP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110004020202020204"/>
                    <a:ea typeface="游ゴシック" panose="020B0400000000000000" pitchFamily="34" charset="-128"/>
                  </a:rPr>
                  <a:t>：平均</a:t>
                </a:r>
                <a:endParaRPr kumimoji="1" lang="en-US" altLang="ja-JP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11000402020202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90000"/>
                  </a:lnSpc>
                  <a:spcAft>
                    <a:spcPts val="600"/>
                  </a:spcAft>
                  <a:defRPr/>
                </a:pPr>
                <a:r>
                  <a:rPr lang="ja-JP" altLang="ja-JP" sz="2000" i="1"/>
                  <a:t>s</a:t>
                </a:r>
                <a:r>
                  <a:rPr lang="ja-JP" altLang="ja-JP" sz="2000"/>
                  <a:t>：標準偏差</a:t>
                </a:r>
                <a:br>
                  <a:rPr lang="en-US" altLang="ja-JP" sz="2000" dirty="0"/>
                </a:br>
                <a:r>
                  <a:rPr lang="ja-JP" altLang="ja-JP" sz="2000" i="1"/>
                  <a:t>z</a:t>
                </a:r>
                <a:r>
                  <a:rPr lang="ja-JP" altLang="ja-JP" sz="2000"/>
                  <a:t>：オートスケーリング後の値</a:t>
                </a:r>
                <a:endParaRPr kumimoji="1" lang="en-US" altLang="ja-JP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11000402020202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C54E2D4-A0A2-8B0D-E81E-DDB6D4542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40" y="2312281"/>
                <a:ext cx="5349773" cy="1355949"/>
              </a:xfrm>
              <a:prstGeom prst="rect">
                <a:avLst/>
              </a:prstGeom>
              <a:blipFill>
                <a:blip r:embed="rId3"/>
                <a:stretch>
                  <a:fillRect l="-1185" t="-3704" b="-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10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A62DD-8884-43D3-032A-D7469177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0A2952-1F77-A805-FF0C-573F4ECCFF66}"/>
              </a:ext>
            </a:extLst>
          </p:cNvPr>
          <p:cNvSpPr txBox="1"/>
          <p:nvPr/>
        </p:nvSpPr>
        <p:spPr>
          <a:xfrm>
            <a:off x="745125" y="227644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/>
              <a:t>用語説明</a:t>
            </a:r>
            <a:endParaRPr lang="en-US" altLang="ja-JP" sz="2800" b="1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FD1449-DFB5-806B-9267-37836B69CDA5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8F2AC8-11A6-D996-65AF-E0E2CAD07755}"/>
              </a:ext>
            </a:extLst>
          </p:cNvPr>
          <p:cNvSpPr txBox="1"/>
          <p:nvPr/>
        </p:nvSpPr>
        <p:spPr>
          <a:xfrm>
            <a:off x="875179" y="1639891"/>
            <a:ext cx="6979283" cy="11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・次元圧縮</a:t>
            </a:r>
            <a:endParaRPr lang="en-US" altLang="ja-JP" sz="2200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多くの変数を少ない数の成分にまとめること</a:t>
            </a:r>
            <a:endParaRPr kumimoji="1" lang="en-AU" altLang="ja-JP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kumimoji="1" lang="ja-JP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情報をできるだけ残しながら、変数の数を減らすこと</a:t>
            </a:r>
            <a:endParaRPr kumimoji="1" lang="en-US" altLang="ja-JP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0AEEAD-5879-E34B-2B45-3051BFDEE0CE}"/>
              </a:ext>
            </a:extLst>
          </p:cNvPr>
          <p:cNvSpPr txBox="1"/>
          <p:nvPr/>
        </p:nvSpPr>
        <p:spPr>
          <a:xfrm>
            <a:off x="875179" y="4746961"/>
            <a:ext cx="5889035" cy="11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2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・回帰</a:t>
            </a:r>
            <a:endParaRPr lang="en-US" altLang="ja-JP" sz="2200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34" charset="-128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ja-JP" sz="2200"/>
              <a:t>回帰とは、数値を予測する分析方法のこと</a:t>
            </a:r>
            <a:endParaRPr lang="en-AU" altLang="ja-JP" sz="2200" dirty="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kumimoji="1" lang="ja-JP" altLang="en-US" sz="2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游ゴシック" panose="020B0400000000000000" pitchFamily="34" charset="-128"/>
                <a:cs typeface="+mn-cs"/>
              </a:rPr>
              <a:t>連続した数値を予測すること</a:t>
            </a:r>
            <a:endParaRPr kumimoji="1" lang="en-US" altLang="ja-JP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4206F39-1D27-12C8-3884-CB537581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403CCE-7C3C-51AF-8F85-C6141F8B0695}"/>
              </a:ext>
            </a:extLst>
          </p:cNvPr>
          <p:cNvSpPr txBox="1"/>
          <p:nvPr/>
        </p:nvSpPr>
        <p:spPr>
          <a:xfrm>
            <a:off x="8839200" y="1266759"/>
            <a:ext cx="2514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/>
              <a:t>元の変数</a:t>
            </a:r>
          </a:p>
          <a:p>
            <a:endParaRPr lang="ja-JP" altLang="en-US" sz="2000"/>
          </a:p>
          <a:p>
            <a:r>
              <a:rPr lang="ja-JP" altLang="en-US" sz="2000"/>
              <a:t>x1, x2, x3, x4, x5, x6</a:t>
            </a:r>
          </a:p>
          <a:p>
            <a:endParaRPr lang="ja-JP" altLang="en-US" sz="2000"/>
          </a:p>
          <a:p>
            <a:r>
              <a:rPr lang="ja-JP" altLang="en-US" sz="2000"/>
              <a:t>        ↓ 次元圧縮</a:t>
            </a:r>
          </a:p>
          <a:p>
            <a:endParaRPr lang="ja-JP" altLang="en-US" sz="2000"/>
          </a:p>
          <a:p>
            <a:r>
              <a:rPr lang="ja-JP" altLang="en-US" sz="2000"/>
              <a:t>新しい成分</a:t>
            </a:r>
          </a:p>
          <a:p>
            <a:endParaRPr lang="ja-JP" altLang="en-US" sz="2000"/>
          </a:p>
          <a:p>
            <a:r>
              <a:rPr lang="ja-JP" altLang="en-US" sz="2000"/>
              <a:t>成分1, 成分2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96AADFF-B59F-67F5-9692-FFE4A31AC5BF}"/>
              </a:ext>
            </a:extLst>
          </p:cNvPr>
          <p:cNvSpPr txBox="1"/>
          <p:nvPr/>
        </p:nvSpPr>
        <p:spPr>
          <a:xfrm>
            <a:off x="924095" y="2828835"/>
            <a:ext cx="34407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例：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国語、数学、英語、理科、社会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B694D8-AC9A-A75C-08FC-1A4BCFC2A53A}"/>
              </a:ext>
            </a:extLst>
          </p:cNvPr>
          <p:cNvSpPr txBox="1"/>
          <p:nvPr/>
        </p:nvSpPr>
        <p:spPr>
          <a:xfrm>
            <a:off x="5157140" y="3208740"/>
            <a:ext cx="2889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成分1：総合的な学力</a:t>
            </a:r>
          </a:p>
          <a:p>
            <a:r>
              <a:rPr lang="ja-JP" altLang="en-US"/>
              <a:t>成分2：理系・文系の傾向</a:t>
            </a:r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410C5F50-AB76-A77B-8DC9-A3013D97F97E}"/>
              </a:ext>
            </a:extLst>
          </p:cNvPr>
          <p:cNvSpPr/>
          <p:nvPr/>
        </p:nvSpPr>
        <p:spPr>
          <a:xfrm>
            <a:off x="4505360" y="3290500"/>
            <a:ext cx="511238" cy="4846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74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B2D9-3152-EB43-342A-9D52804C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EBFD805-A59D-A558-06CB-ECA6E4A2CCC2}"/>
              </a:ext>
            </a:extLst>
          </p:cNvPr>
          <p:cNvSpPr txBox="1"/>
          <p:nvPr/>
        </p:nvSpPr>
        <p:spPr>
          <a:xfrm>
            <a:off x="745125" y="240896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/>
              <a:t>用語説明</a:t>
            </a:r>
            <a:endParaRPr lang="en-US" altLang="ja-JP" sz="2800" b="1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EF5A5C0-2D7C-5004-E241-AE28BFFC1687}"/>
              </a:ext>
            </a:extLst>
          </p:cNvPr>
          <p:cNvCxnSpPr/>
          <p:nvPr/>
        </p:nvCxnSpPr>
        <p:spPr>
          <a:xfrm>
            <a:off x="0" y="947451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4D2E7C-29FC-C931-4755-6D6323DDD866}"/>
              </a:ext>
            </a:extLst>
          </p:cNvPr>
          <p:cNvSpPr txBox="1"/>
          <p:nvPr/>
        </p:nvSpPr>
        <p:spPr>
          <a:xfrm>
            <a:off x="875179" y="1639891"/>
            <a:ext cx="6979283" cy="726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>
                <a:solidFill>
                  <a:prstClr val="black"/>
                </a:solidFill>
                <a:latin typeface="游ゴシック" panose="02110004020202020204"/>
                <a:ea typeface="游ゴシック" panose="020B0400000000000000" pitchFamily="34" charset="-128"/>
              </a:rPr>
              <a:t>・ハイパーパラメータ</a:t>
            </a:r>
            <a:endParaRPr lang="en-US" altLang="ja-JP" sz="2000" dirty="0">
              <a:solidFill>
                <a:prstClr val="black"/>
              </a:solidFill>
              <a:latin typeface="游ゴシック" panose="02110004020202020204"/>
              <a:ea typeface="游ゴシック" panose="020B0400000000000000" pitchFamily="34" charset="-128"/>
            </a:endParaRPr>
          </a:p>
          <a:p>
            <a:pPr lvl="0">
              <a:lnSpc>
                <a:spcPct val="90000"/>
              </a:lnSpc>
              <a:spcAft>
                <a:spcPts val="600"/>
              </a:spcAft>
              <a:defRPr/>
            </a:pPr>
            <a:r>
              <a:rPr lang="ja-JP" altLang="ja-JP" sz="2000"/>
              <a:t>モデルの学習方法を調整するための設定値</a:t>
            </a:r>
            <a:endParaRPr kumimoji="1" lang="en-US" altLang="ja-JP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AB22F8-CA18-DF81-6A11-E1D526C4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F6E3B-B60B-9B49-8EB0-FF0E223B4417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E8B257-0EFE-4201-E39E-A40E9E90F7CD}"/>
              </a:ext>
            </a:extLst>
          </p:cNvPr>
          <p:cNvSpPr txBox="1"/>
          <p:nvPr/>
        </p:nvSpPr>
        <p:spPr>
          <a:xfrm>
            <a:off x="924097" y="2652417"/>
            <a:ext cx="3440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/>
              <a:t>例：</a:t>
            </a:r>
            <a:r>
              <a:rPr lang="en-US" altLang="ja-JP" sz="2000" dirty="0"/>
              <a:t>Lasso</a:t>
            </a:r>
            <a:r>
              <a:rPr lang="ja-JP" altLang="en-US" sz="2000"/>
              <a:t>回帰の</a:t>
            </a:r>
            <a:r>
              <a:rPr lang="en-US" altLang="ja-JP" sz="2000" b="1" dirty="0" err="1"/>
              <a:t>λ</a:t>
            </a:r>
            <a:endParaRPr lang="en-US" altLang="ja-JP" sz="2000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843387A-D9DF-75FC-BD98-76F19513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569" y="3391321"/>
            <a:ext cx="3467100" cy="10541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F801844-A3C9-444A-737A-DE648A38C8BF}"/>
              </a:ext>
            </a:extLst>
          </p:cNvPr>
          <p:cNvSpPr txBox="1"/>
          <p:nvPr/>
        </p:nvSpPr>
        <p:spPr>
          <a:xfrm>
            <a:off x="924097" y="3724642"/>
            <a:ext cx="1492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Lasso</a:t>
            </a:r>
            <a:r>
              <a:rPr lang="ja-JP" altLang="en-US" b="1"/>
              <a:t>回帰</a:t>
            </a:r>
            <a:endParaRPr lang="en-US" altLang="ja-JP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CC3D36-26BD-D296-E980-5EAF76D202EF}"/>
              </a:ext>
            </a:extLst>
          </p:cNvPr>
          <p:cNvSpPr txBox="1"/>
          <p:nvPr/>
        </p:nvSpPr>
        <p:spPr>
          <a:xfrm>
            <a:off x="924097" y="4778742"/>
            <a:ext cx="57316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000" dirty="0"/>
              <a:t>λ</a:t>
            </a:r>
            <a:r>
              <a:rPr lang="ja-JP" altLang="en-US" sz="2000"/>
              <a:t>が小さい：多くの変数が残る</a:t>
            </a:r>
          </a:p>
          <a:p>
            <a:r>
              <a:rPr lang="el-GR" altLang="ja-JP" sz="2000" dirty="0"/>
              <a:t>λ</a:t>
            </a:r>
            <a:r>
              <a:rPr lang="ja-JP" altLang="en-US" sz="2000"/>
              <a:t>が大きい：不要な変数の係数が</a:t>
            </a:r>
            <a:r>
              <a:rPr lang="en-US" altLang="ja-JP" sz="2000" dirty="0"/>
              <a:t>0</a:t>
            </a:r>
            <a:r>
              <a:rPr lang="ja-JP" altLang="en-US" sz="2000"/>
              <a:t>になりやすい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C4E0586-B277-7E69-9A8C-22225704625A}"/>
              </a:ext>
            </a:extLst>
          </p:cNvPr>
          <p:cNvCxnSpPr>
            <a:cxnSpLocks/>
          </p:cNvCxnSpPr>
          <p:nvPr/>
        </p:nvCxnSpPr>
        <p:spPr>
          <a:xfrm>
            <a:off x="3303868" y="2930205"/>
            <a:ext cx="1334393" cy="7944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10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605</Words>
  <Application>Microsoft Macintosh PowerPoint</Application>
  <PresentationFormat>ワイド画面</PresentationFormat>
  <Paragraphs>91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Kawaguchi Teppei</dc:creator>
  <cp:lastModifiedBy>Kawaguchi Teppei</cp:lastModifiedBy>
  <cp:revision>21</cp:revision>
  <dcterms:created xsi:type="dcterms:W3CDTF">2026-06-04T09:55:44Z</dcterms:created>
  <dcterms:modified xsi:type="dcterms:W3CDTF">2026-06-10T02:50:20Z</dcterms:modified>
</cp:coreProperties>
</file>