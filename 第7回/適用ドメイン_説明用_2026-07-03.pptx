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4"/>
          </a:solidFill>
          <a:ln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594360"/>
            <a:ext cx="1051560" cy="1051560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1600200"/>
            <a:ext cx="658368" cy="658368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23960" y="5257800"/>
            <a:ext cx="777240" cy="777240"/>
          </a:xfrm>
          <a:prstGeom prst="ellipse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5943600" cy="6858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4600" b="1">
                <a:solidFill>
                  <a:srgbClr val="1D2B2A"/>
                </a:solidFill>
                <a:latin typeface="Yu Gothic"/>
              </a:rPr>
              <a:t>適用ドメイン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83080"/>
            <a:ext cx="5943600" cy="4114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500" b="1">
                <a:solidFill>
                  <a:srgbClr val="1B998B"/>
                </a:solidFill>
                <a:latin typeface="Yu Gothic"/>
              </a:rPr>
              <a:t>Applicability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60320"/>
            <a:ext cx="7040880" cy="105156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0">
                <a:solidFill>
                  <a:srgbClr val="1F272B"/>
                </a:solidFill>
                <a:latin typeface="Yu Gothic"/>
              </a:rPr>
              <a:t>Boston データの回帰モデルで</a:t>
            </a:r>
            <a:br/>
            <a:r>
              <a:rPr sz="2600" b="0">
                <a:solidFill>
                  <a:srgbClr val="1F272B"/>
                </a:solidFill>
                <a:latin typeface="Yu Gothic"/>
              </a:rPr>
              <a:t>「予測してよい範囲」を可視化する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88152"/>
            <a:ext cx="484632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300" b="0">
                <a:solidFill>
                  <a:srgbClr val="636E72"/>
                </a:solidFill>
                <a:latin typeface="Yu Gothic"/>
              </a:rPr>
              <a:t>Python Seminar 第7回 / 1時間説明用スライド</a:t>
            </a:r>
            <a:br/>
            <a:r>
              <a:rPr sz="1300" b="0">
                <a:solidFill>
                  <a:srgbClr val="636E72"/>
                </a:solidFill>
                <a:latin typeface="Yu Gothic"/>
              </a:rPr>
              <a:t>2026-07-03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246120"/>
            <a:ext cx="841248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35824" y="3346704"/>
            <a:ext cx="731520" cy="146304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000" b="1">
                <a:solidFill>
                  <a:srgbClr val="427AA1"/>
                </a:solidFill>
                <a:latin typeface="Yu Gothic"/>
              </a:rPr>
              <a:t>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31352" y="3456432"/>
            <a:ext cx="91440" cy="0"/>
          </a:xfrm>
          <a:prstGeom prst="line">
            <a:avLst/>
          </a:prstGeom>
          <a:ln w="17780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41080" y="3246120"/>
            <a:ext cx="841248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95944" y="3346704"/>
            <a:ext cx="731520" cy="146304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000" b="1">
                <a:solidFill>
                  <a:srgbClr val="1B998B"/>
                </a:solidFill>
                <a:latin typeface="Yu Gothic"/>
              </a:rPr>
              <a:t>model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91472" y="3456432"/>
            <a:ext cx="137160" cy="0"/>
          </a:xfrm>
          <a:prstGeom prst="line">
            <a:avLst/>
          </a:prstGeom>
          <a:ln w="17780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20" y="3246120"/>
            <a:ext cx="841248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01784" y="3346704"/>
            <a:ext cx="731520" cy="146304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000" b="1">
                <a:solidFill>
                  <a:srgbClr val="D1495B"/>
                </a:solidFill>
                <a:latin typeface="Yu Gothic"/>
              </a:rPr>
              <a:t>AD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497312" y="3456432"/>
            <a:ext cx="137160" cy="0"/>
          </a:xfrm>
          <a:prstGeom prst="line">
            <a:avLst/>
          </a:prstGeom>
          <a:ln w="17780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652760" y="3246120"/>
            <a:ext cx="841248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07624" y="3346704"/>
            <a:ext cx="731520" cy="146304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000" b="1">
                <a:solidFill>
                  <a:srgbClr val="1D2B2A"/>
                </a:solidFill>
                <a:latin typeface="Yu Gothic"/>
              </a:rPr>
              <a:t>reliability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今日のゴールと60分の流れ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3657600" cy="3886200"/>
          </a:xfrm>
          <a:prstGeom prst="roundRect">
            <a:avLst/>
          </a:prstGeom>
          <a:solidFill>
            <a:srgbClr val="E2F3E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188719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600" b="1">
                <a:solidFill>
                  <a:srgbClr val="1B998B"/>
                </a:solidFill>
                <a:latin typeface="Yu Gothic"/>
              </a:rPr>
              <a:t>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554480"/>
            <a:ext cx="3364992" cy="3319272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AD の考え方を説明できる</a:t>
            </a:r>
          </a:p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ノートブックのコードが何をしているか追える</a:t>
            </a:r>
          </a:p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AD 内外で予測値の信頼性を読み取れる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617720" y="1115568"/>
          <a:ext cx="66294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2834640"/>
                <a:gridCol w="283464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時間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内容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到達点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0-10分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AD の直感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内挿・外挿の違いをつかむ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10-25分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データ分割・標準化・モデル比較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回帰モデルを評価する流れを確認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25-45分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kNN による AD 判定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しきい値と内外判定の計算を追う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45-60分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可視化と解釈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AD を信頼性評価に使う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645152" y="4434840"/>
            <a:ext cx="64922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説明の軸は「予測精度」ではなく、「その予測をどこまで信じるか」です。</a:t>
            </a:r>
          </a:p>
          <a:p>
            <a:pPr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AD は目的変数 y ではなく、説明変数 X の位置関係から判定します。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適用ドメインとは何か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3931920" cy="36576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400" b="1">
                <a:solidFill>
                  <a:srgbClr val="1B998B"/>
                </a:solidFill>
                <a:latin typeface="Yu Gothic"/>
              </a:rPr>
              <a:t>Applicability Domain (AD)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26464"/>
            <a:ext cx="4663440" cy="105156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200" b="0">
                <a:solidFill>
                  <a:srgbClr val="1F272B"/>
                </a:solidFill>
                <a:latin typeface="Yu Gothic"/>
              </a:rPr>
              <a:t>モデルが学習データから見て「内挿」と考えられる範囲。</a:t>
            </a:r>
            <a:br/>
            <a:r>
              <a:rPr sz="2200" b="0">
                <a:solidFill>
                  <a:srgbClr val="1F272B"/>
                </a:solidFill>
                <a:latin typeface="Yu Gothic"/>
              </a:rPr>
              <a:t>この範囲内の予測は、範囲外より相対的に信頼しやすい。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60" y="1051560"/>
            <a:ext cx="5440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989320" y="4800600"/>
            <a:ext cx="4526280" cy="0"/>
          </a:xfrm>
          <a:prstGeom prst="line">
            <a:avLst/>
          </a:prstGeom>
          <a:ln w="19050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989320" y="1417320"/>
            <a:ext cx="0" cy="3383280"/>
          </a:xfrm>
          <a:prstGeom prst="line">
            <a:avLst/>
          </a:prstGeom>
          <a:ln w="19050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21240" y="4919472"/>
            <a:ext cx="822960" cy="1828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000" b="0">
                <a:solidFill>
                  <a:srgbClr val="636E72"/>
                </a:solidFill>
                <a:latin typeface="Yu Gothic"/>
              </a:rPr>
              <a:t>feature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261872"/>
            <a:ext cx="822960" cy="1828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000" b="0">
                <a:solidFill>
                  <a:srgbClr val="636E72"/>
                </a:solidFill>
                <a:latin typeface="Yu Gothic"/>
              </a:rPr>
              <a:t>feature 2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1828800"/>
            <a:ext cx="2651760" cy="1920240"/>
          </a:xfrm>
          <a:prstGeom prst="ellipse">
            <a:avLst/>
          </a:prstGeom>
          <a:solidFill>
            <a:srgbClr val="E6F0F7"/>
          </a:solidFill>
          <a:ln w="254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29400" y="2331720"/>
            <a:ext cx="109728" cy="109728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03720" y="2743200"/>
            <a:ext cx="109728" cy="109728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69480" y="2148840"/>
            <a:ext cx="109728" cy="109728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43800" y="3017520"/>
            <a:ext cx="109728" cy="109728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18120" y="2514600"/>
            <a:ext cx="109728" cy="109728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21040" y="2834640"/>
            <a:ext cx="109728" cy="109728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0" y="2148840"/>
            <a:ext cx="109728" cy="109728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6600" y="3246120"/>
            <a:ext cx="109728" cy="109728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35240" y="2651760"/>
            <a:ext cx="164592" cy="164592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0" y="1645920"/>
            <a:ext cx="164592" cy="164592"/>
          </a:xfrm>
          <a:prstGeom prst="ellipse">
            <a:avLst/>
          </a:prstGeom>
          <a:solidFill>
            <a:srgbClr val="D1495B"/>
          </a:solidFill>
          <a:ln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1481328"/>
            <a:ext cx="1005840" cy="4114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500" b="1">
                <a:solidFill>
                  <a:srgbClr val="427AA1"/>
                </a:solidFill>
                <a:latin typeface="Yu Gothic"/>
              </a:rPr>
              <a:t>AD 内</a:t>
            </a:r>
            <a:br/>
            <a:r>
              <a:rPr sz="1500" b="1">
                <a:solidFill>
                  <a:srgbClr val="427AA1"/>
                </a:solidFill>
                <a:latin typeface="Yu Gothic"/>
              </a:rPr>
              <a:t>内挿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874519"/>
            <a:ext cx="1005840" cy="4114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500" b="1">
                <a:solidFill>
                  <a:srgbClr val="D1495B"/>
                </a:solidFill>
                <a:latin typeface="Yu Gothic"/>
              </a:rPr>
              <a:t>AD 外</a:t>
            </a:r>
            <a:br/>
            <a:r>
              <a:rPr sz="1500" b="1">
                <a:solidFill>
                  <a:srgbClr val="D1495B"/>
                </a:solidFill>
                <a:latin typeface="Yu Gothic"/>
              </a:rPr>
              <a:t>外挿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3794760"/>
            <a:ext cx="4434840" cy="114300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3904488"/>
            <a:ext cx="416052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Yu Gothic"/>
              </a:rPr>
              <a:t>言い換え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270248"/>
            <a:ext cx="4142231" cy="576072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「この入力は、過去に見たデータと似ているか？」を数値化する仕組み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なぜ AD が必要か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143000"/>
            <a:ext cx="3246120" cy="2103120"/>
          </a:xfrm>
          <a:prstGeom prst="roundRect">
            <a:avLst/>
          </a:prstGeom>
          <a:solidFill>
            <a:srgbClr val="E6F0F7"/>
          </a:solidFill>
          <a:ln w="127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52728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600" b="1">
                <a:solidFill>
                  <a:srgbClr val="427AA1"/>
                </a:solidFill>
                <a:latin typeface="Yu Gothic"/>
              </a:rPr>
              <a:t>通常の予測評価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2953512" cy="1536191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テストデータ全体の MAE / RMSE / R² を見る</a:t>
            </a:r>
          </a:p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平均的な性能は分かる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143000"/>
            <a:ext cx="3246120" cy="2103120"/>
          </a:xfrm>
          <a:prstGeom prst="roundRect">
            <a:avLst/>
          </a:prstGeom>
          <a:solidFill>
            <a:srgbClr val="F9E7EA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252728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600" b="1">
                <a:solidFill>
                  <a:srgbClr val="D1495B"/>
                </a:solidFill>
                <a:latin typeface="Yu Gothic"/>
              </a:rPr>
              <a:t>残る問題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618488"/>
            <a:ext cx="2953512" cy="1536191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学習データから遠い点にも同じように予測してしまう</a:t>
            </a:r>
          </a:p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外挿領域では誤差が大きくなりやすい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43000"/>
            <a:ext cx="3246120" cy="2103120"/>
          </a:xfrm>
          <a:prstGeom prst="roundRect">
            <a:avLst/>
          </a:prstGeom>
          <a:solidFill>
            <a:srgbClr val="E2F3E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52728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600" b="1">
                <a:solidFill>
                  <a:srgbClr val="1B998B"/>
                </a:solidFill>
                <a:latin typeface="Yu Gothic"/>
              </a:rPr>
              <a:t>AD の役割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1618488"/>
            <a:ext cx="2953512" cy="1536191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予測値に「信頼性のラベル」を付ける</a:t>
            </a:r>
          </a:p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スクリーニングでは、候補を優先順位づけしやすくなる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50208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000" b="1">
                <a:solidFill>
                  <a:srgbClr val="1D2B2A"/>
                </a:solidFill>
                <a:latin typeface="Yu Gothic"/>
              </a:rPr>
              <a:t>材料探索でのイメージ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617720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754880"/>
            <a:ext cx="1261872" cy="1554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300" b="1">
                <a:solidFill>
                  <a:srgbClr val="427AA1"/>
                </a:solidFill>
                <a:latin typeface="Yu Gothic"/>
              </a:rPr>
              <a:t>既知材料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59152" y="4864608"/>
            <a:ext cx="978408" cy="0"/>
          </a:xfrm>
          <a:prstGeom prst="line">
            <a:avLst/>
          </a:prstGeom>
          <a:ln w="19050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0" y="4617720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4754880"/>
            <a:ext cx="1261872" cy="1554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300" b="1">
                <a:solidFill>
                  <a:srgbClr val="1B998B"/>
                </a:solidFill>
                <a:latin typeface="Yu Gothic"/>
              </a:rPr>
              <a:t>特徴量空間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02352" y="4864608"/>
            <a:ext cx="978408" cy="0"/>
          </a:xfrm>
          <a:prstGeom prst="line">
            <a:avLst/>
          </a:prstGeom>
          <a:ln w="19050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0" y="4617720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754880"/>
            <a:ext cx="1261872" cy="1554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300" b="1">
                <a:solidFill>
                  <a:srgbClr val="F4A261"/>
                </a:solidFill>
                <a:latin typeface="Yu Gothic"/>
              </a:rPr>
              <a:t>未知候補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45552" y="4864608"/>
            <a:ext cx="978408" cy="0"/>
          </a:xfrm>
          <a:prstGeom prst="line">
            <a:avLst/>
          </a:prstGeom>
          <a:ln w="19050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44000" y="4617720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2" y="4754880"/>
            <a:ext cx="1261872" cy="1554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300" b="1">
                <a:solidFill>
                  <a:srgbClr val="D1495B"/>
                </a:solidFill>
                <a:latin typeface="Yu Gothic"/>
              </a:rPr>
              <a:t>AD 外なら要注意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596128"/>
            <a:ext cx="98755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ポイント: AD は「予測が当たる保証」ではなく、「外挿っぽさを検知する補助情報」です。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今回の課題でやること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207007"/>
            <a:ext cx="1837943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目的変数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1874519" cy="59435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1B998B"/>
                </a:solidFill>
                <a:latin typeface="Yu Gothic"/>
              </a:rPr>
              <a:t>MEDV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0972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207007"/>
            <a:ext cx="1837943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検証方法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508760"/>
            <a:ext cx="1874519" cy="59435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427AA1"/>
                </a:solidFill>
                <a:latin typeface="Yu Gothic"/>
              </a:rPr>
              <a:t>Hold-Out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10972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41848" y="1207007"/>
            <a:ext cx="1837943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AD 手法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1508760"/>
            <a:ext cx="1874519" cy="59435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E87A41"/>
                </a:solidFill>
                <a:latin typeface="Yu Gothic"/>
              </a:rPr>
              <a:t>kNN 距離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0972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1207007"/>
            <a:ext cx="1837943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判定対象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508760"/>
            <a:ext cx="1874519" cy="59435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D1495B"/>
                </a:solidFill>
                <a:latin typeface="Yu Gothic"/>
              </a:rPr>
              <a:t>test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2743200"/>
            <a:ext cx="51663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 marL="342900" indent="-171450">
              <a:spcAft>
                <a:spcPts val="400"/>
              </a:spcAft>
              <a:defRPr sz="2100" b="0">
                <a:solidFill>
                  <a:srgbClr val="1F272B"/>
                </a:solidFill>
                <a:latin typeface="Yu Gothic"/>
              </a:defRPr>
            </a:pPr>
            <a:r>
              <a:t>boston.csv の MEDV を目的変数として回帰モデルを作成する。</a:t>
            </a:r>
          </a:p>
          <a:p>
            <a:pPr marL="342900" indent="-171450">
              <a:spcAft>
                <a:spcPts val="400"/>
              </a:spcAft>
              <a:defRPr sz="2100" b="0">
                <a:solidFill>
                  <a:srgbClr val="1F272B"/>
                </a:solidFill>
                <a:latin typeface="Yu Gothic"/>
              </a:defRPr>
            </a:pPr>
            <a:r>
              <a:t>Hold-Out で得られたテストデータについて、AD 内か AD 外かを判定する。</a:t>
            </a:r>
          </a:p>
          <a:p>
            <a:pPr marL="342900" indent="-171450">
              <a:spcAft>
                <a:spcPts val="400"/>
              </a:spcAft>
              <a:defRPr sz="2100" b="0">
                <a:solidFill>
                  <a:srgbClr val="1F272B"/>
                </a:solidFill>
                <a:latin typeface="Yu Gothic"/>
              </a:defRPr>
            </a:pPr>
            <a:r>
              <a:t>予測誤差と AD 判定を可視化し、予測値の信頼性を考える。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743200"/>
            <a:ext cx="4754880" cy="21031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834640"/>
            <a:ext cx="4535424" cy="1920239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r>
              <a:rPr sz="1300">
                <a:solidFill>
                  <a:srgbClr val="EBF0F2"/>
                </a:solidFill>
                <a:latin typeface="Menlo"/>
              </a:rPr>
              <a:t>target_col = 'MEDV'</a:t>
            </a:r>
            <a:br/>
            <a:r>
              <a:rPr sz="1300">
                <a:solidFill>
                  <a:srgbClr val="EBF0F2"/>
                </a:solidFill>
                <a:latin typeface="Menlo"/>
              </a:rPr>
              <a:t>X = df.drop(columns=target_col)</a:t>
            </a:r>
            <a:br/>
            <a:r>
              <a:rPr sz="1300">
                <a:solidFill>
                  <a:srgbClr val="EBF0F2"/>
                </a:solidFill>
                <a:latin typeface="Menlo"/>
              </a:rPr>
              <a:t>y = df[target_col]</a:t>
            </a:r>
            <a:br/>
            <a:br/>
            <a:r>
              <a:rPr sz="1300">
                <a:solidFill>
                  <a:srgbClr val="EBF0F2"/>
                </a:solidFill>
                <a:latin typeface="Menlo"/>
              </a:rPr>
              <a:t>X_train, X_test, y_train, y_test = train_test_split(</a:t>
            </a:r>
            <a:br/>
            <a:r>
              <a:rPr sz="1300">
                <a:solidFill>
                  <a:srgbClr val="EBF0F2"/>
                </a:solidFill>
                <a:latin typeface="Menlo"/>
              </a:rPr>
              <a:t>    X, y, test_size=0.25, random_state=42</a:t>
            </a:r>
            <a:br/>
            <a:r>
              <a:rPr sz="1300">
                <a:solidFill>
                  <a:srgbClr val="EBF0F2"/>
                </a:solidFill>
                <a:latin typeface="Menlo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全体ワークフロー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2880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1463040"/>
            <a:ext cx="438912" cy="438912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1563624"/>
            <a:ext cx="228600" cy="11887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48132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800" b="1">
                <a:solidFill>
                  <a:srgbClr val="1F272B"/>
                </a:solidFill>
                <a:latin typeface="Yu Gothic"/>
              </a:rPr>
              <a:t>データ読込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856232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300" b="0">
                <a:solidFill>
                  <a:srgbClr val="636E72"/>
                </a:solidFill>
                <a:latin typeface="Yu Gothic"/>
              </a:rPr>
              <a:t>boston.csv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30752" y="1837944"/>
            <a:ext cx="676656" cy="0"/>
          </a:xfrm>
          <a:prstGeom prst="line">
            <a:avLst/>
          </a:prstGeom>
          <a:ln w="16510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26280" y="1234440"/>
            <a:ext cx="2880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90872" y="1463040"/>
            <a:ext cx="438912" cy="438912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1456" y="1563624"/>
            <a:ext cx="228600" cy="11887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148132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800" b="1">
                <a:solidFill>
                  <a:srgbClr val="1F272B"/>
                </a:solidFill>
                <a:latin typeface="Yu Gothic"/>
              </a:rPr>
              <a:t>Hold-Out 分割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1856232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300" b="0">
                <a:solidFill>
                  <a:srgbClr val="636E72"/>
                </a:solidFill>
                <a:latin typeface="Yu Gothic"/>
              </a:rPr>
              <a:t>train / test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34072" y="1837944"/>
            <a:ext cx="676656" cy="0"/>
          </a:xfrm>
          <a:prstGeom prst="line">
            <a:avLst/>
          </a:prstGeom>
          <a:ln w="16510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0" y="1234440"/>
            <a:ext cx="2880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94192" y="1463040"/>
            <a:ext cx="438912" cy="438912"/>
          </a:xfrm>
          <a:prstGeom prst="ellipse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94776" y="1563624"/>
            <a:ext cx="228600" cy="11887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148132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800" b="1">
                <a:solidFill>
                  <a:srgbClr val="1F272B"/>
                </a:solidFill>
                <a:latin typeface="Yu Gothic"/>
              </a:rPr>
              <a:t>標準化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1856232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300" b="0">
                <a:solidFill>
                  <a:srgbClr val="636E72"/>
                </a:solidFill>
                <a:latin typeface="Yu Gothic"/>
              </a:rPr>
              <a:t>fit は train のみ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46920" y="2478024"/>
            <a:ext cx="0" cy="530352"/>
          </a:xfrm>
          <a:prstGeom prst="line">
            <a:avLst/>
          </a:prstGeom>
          <a:ln w="16510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" y="3291840"/>
            <a:ext cx="2880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7552" y="3520440"/>
            <a:ext cx="438912" cy="438912"/>
          </a:xfrm>
          <a:prstGeom prst="ellipse">
            <a:avLst/>
          </a:prstGeom>
          <a:solidFill>
            <a:srgbClr val="E87A41"/>
          </a:solidFill>
          <a:ln>
            <a:solidFill>
              <a:srgbClr val="E87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" y="3621024"/>
            <a:ext cx="228600" cy="11887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353872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800" b="1">
                <a:solidFill>
                  <a:srgbClr val="1F272B"/>
                </a:solidFill>
                <a:latin typeface="Yu Gothic"/>
              </a:rPr>
              <a:t>モデル比較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1056" y="3913632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300" b="0">
                <a:solidFill>
                  <a:srgbClr val="636E72"/>
                </a:solidFill>
                <a:latin typeface="Yu Gothic"/>
              </a:rPr>
              <a:t>MAE / RMSE / R²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30752" y="3895344"/>
            <a:ext cx="676656" cy="0"/>
          </a:xfrm>
          <a:prstGeom prst="line">
            <a:avLst/>
          </a:prstGeom>
          <a:ln w="16510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26280" y="3291840"/>
            <a:ext cx="2880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90872" y="3520440"/>
            <a:ext cx="438912" cy="438912"/>
          </a:xfrm>
          <a:prstGeom prst="ellipse">
            <a:avLst/>
          </a:prstGeom>
          <a:solidFill>
            <a:srgbClr val="D1495B"/>
          </a:solidFill>
          <a:ln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1456" y="3621024"/>
            <a:ext cx="228600" cy="11887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353872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800" b="1">
                <a:solidFill>
                  <a:srgbClr val="1F272B"/>
                </a:solidFill>
                <a:latin typeface="Yu Gothic"/>
              </a:rPr>
              <a:t>AD しきい値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4376" y="3913632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300" b="0">
                <a:solidFill>
                  <a:srgbClr val="636E72"/>
                </a:solidFill>
                <a:latin typeface="Yu Gothic"/>
              </a:rPr>
              <a:t>train の kNN 距離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34072" y="3895344"/>
            <a:ext cx="676656" cy="0"/>
          </a:xfrm>
          <a:prstGeom prst="line">
            <a:avLst/>
          </a:prstGeom>
          <a:ln w="16510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229600" y="3291840"/>
            <a:ext cx="2880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94192" y="3520440"/>
            <a:ext cx="438912" cy="438912"/>
          </a:xfrm>
          <a:prstGeom prst="ellipse">
            <a:avLst/>
          </a:prstGeom>
          <a:solidFill>
            <a:srgbClr val="1D2B2A"/>
          </a:solidFill>
          <a:ln>
            <a:solidFill>
              <a:srgbClr val="1D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94776" y="3621024"/>
            <a:ext cx="228600" cy="11887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9408" y="353872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800" b="1">
                <a:solidFill>
                  <a:srgbClr val="1F272B"/>
                </a:solidFill>
                <a:latin typeface="Yu Gothic"/>
              </a:rPr>
              <a:t>テスト判定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97696" y="3913632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300" b="0">
                <a:solidFill>
                  <a:srgbClr val="636E72"/>
                </a:solidFill>
                <a:latin typeface="Yu Gothic"/>
              </a:rPr>
              <a:t>inside / outside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この流れを覚えると、別のデータセットでも AD 判定を同じ構造で実装できます。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Boston データの確認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1600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161288"/>
            <a:ext cx="1380744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データ数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39"/>
            <a:ext cx="1417320" cy="36575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427AA1"/>
                </a:solidFill>
                <a:latin typeface="Yu Gothic"/>
              </a:rPr>
              <a:t>506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051560"/>
            <a:ext cx="1600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8" y="1161288"/>
            <a:ext cx="1380744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列数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463039"/>
            <a:ext cx="1417320" cy="36575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1B998B"/>
                </a:solidFill>
                <a:latin typeface="Yu Gothic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051560"/>
            <a:ext cx="1600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161288"/>
            <a:ext cx="1380744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説明変数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463039"/>
            <a:ext cx="1417320" cy="36575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E87A41"/>
                </a:solidFill>
                <a:latin typeface="Yu Gothic"/>
              </a:rPr>
              <a:t>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51560"/>
            <a:ext cx="1600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161288"/>
            <a:ext cx="1380744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欠損値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463039"/>
            <a:ext cx="1417320" cy="36575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D1495B"/>
                </a:solidFill>
                <a:latin typeface="Yu Gothic"/>
              </a:rPr>
              <a:t>0</a:t>
            </a:r>
          </a:p>
        </p:txBody>
      </p:sp>
      <p:pic>
        <p:nvPicPr>
          <p:cNvPr id="18" name="Picture 17" descr="medv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21" y="2331720"/>
            <a:ext cx="5737396" cy="3154680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903720" y="2423160"/>
          <a:ext cx="29260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</a:tblGrid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統計量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MEDV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mean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22.53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std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9.20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min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5.0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median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21.2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max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50.0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76288" y="5074920"/>
            <a:ext cx="3886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F272B"/>
                </a:solidFill>
                <a:latin typeface="Yu Gothic"/>
              </a:defRPr>
            </a:pPr>
            <a:r>
              <a:t>MEDV は住宅価格の中央値を表す目的変数。ここでは手法理解用の回帰データとして扱います。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目的変数と説明変数を分ける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2926080" cy="1508760"/>
          </a:xfrm>
          <a:prstGeom prst="roundRect">
            <a:avLst/>
          </a:prstGeom>
          <a:solidFill>
            <a:srgbClr val="E2F3E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44168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600" b="1">
                <a:solidFill>
                  <a:srgbClr val="1B998B"/>
                </a:solidFill>
                <a:latin typeface="Yu Gothic"/>
              </a:rPr>
              <a:t>目的変数 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1709928"/>
            <a:ext cx="2633472" cy="941831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MEDV</a:t>
            </a:r>
          </a:p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モデルが予測したい値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234440"/>
            <a:ext cx="6675120" cy="1508760"/>
          </a:xfrm>
          <a:prstGeom prst="roundRect">
            <a:avLst/>
          </a:prstGeom>
          <a:solidFill>
            <a:srgbClr val="E6F0F7"/>
          </a:solidFill>
          <a:ln w="127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344168"/>
            <a:ext cx="640080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600" b="1">
                <a:solidFill>
                  <a:srgbClr val="427AA1"/>
                </a:solidFill>
                <a:latin typeface="Yu Gothic"/>
              </a:rPr>
              <a:t>説明変数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6824" y="1709928"/>
            <a:ext cx="6382512" cy="941831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F272B"/>
                </a:solidFill>
                <a:latin typeface="Yu Gothic"/>
              </a:defRPr>
            </a:pPr>
            <a:r>
              <a:t>CRIM, ZN, INDUS, CHAS, NOX, RM, AGE, DIS, RAD, TAX, PTRATIO, B, LSTAT</a:t>
            </a:r>
          </a:p>
          <a:p>
            <a:pPr>
              <a:spcAft>
                <a:spcPts val="400"/>
              </a:spcAft>
              <a:defRPr sz="1600" b="0">
                <a:solidFill>
                  <a:srgbClr val="1F272B"/>
                </a:solidFill>
                <a:latin typeface="Yu Gothic"/>
              </a:defRPr>
            </a:pPr>
            <a:r>
              <a:t>予測に使う入力値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429000"/>
            <a:ext cx="4572000" cy="14173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520440"/>
            <a:ext cx="4352544" cy="12344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r>
              <a:rPr sz="1500">
                <a:solidFill>
                  <a:srgbClr val="EBF0F2"/>
                </a:solidFill>
                <a:latin typeface="Menlo"/>
              </a:rPr>
              <a:t>target_col = 'MEDV'</a:t>
            </a:r>
            <a:br/>
            <a:br/>
            <a:r>
              <a:rPr sz="1500">
                <a:solidFill>
                  <a:srgbClr val="EBF0F2"/>
                </a:solidFill>
                <a:latin typeface="Menlo"/>
              </a:rPr>
              <a:t>X = df.drop(columns=target_col)</a:t>
            </a:r>
            <a:br/>
            <a:r>
              <a:rPr sz="1500">
                <a:solidFill>
                  <a:srgbClr val="EBF0F2"/>
                </a:solidFill>
                <a:latin typeface="Menlo"/>
              </a:rPr>
              <a:t>y = df[target_col]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383280"/>
            <a:ext cx="4800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この分離を最初に明確にしておくと、後の標準化・モデル学習・AD 計算で「何に対して処理しているか」が混乱しません。</a:t>
            </a:r>
          </a:p>
          <a:p>
            <a:pPr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AD の距離計算に使うのは X だけです。y は距離には使いません。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Hold-Out 検証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207008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316736"/>
            <a:ext cx="1700784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18488"/>
            <a:ext cx="1737360" cy="41147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1B998B"/>
                </a:solidFill>
                <a:latin typeface="Yu Gothic"/>
              </a:rPr>
              <a:t>379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207008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316736"/>
            <a:ext cx="1700784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18488"/>
            <a:ext cx="1737360" cy="41147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427AA1"/>
                </a:solidFill>
                <a:latin typeface="Yu Gothic"/>
              </a:rPr>
              <a:t>127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788920"/>
            <a:ext cx="7772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2788920"/>
            <a:ext cx="5821619" cy="50292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27459" y="2788920"/>
            <a:ext cx="1950780" cy="502920"/>
          </a:xfrm>
          <a:prstGeom prst="rect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926080"/>
            <a:ext cx="914400" cy="146304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75% 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926080"/>
            <a:ext cx="914400" cy="146304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25%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39"/>
            <a:ext cx="493776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 marL="342900" indent="-171450"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train: モデル学習と AD しきい値作成に使う</a:t>
            </a:r>
          </a:p>
          <a:p>
            <a:pPr marL="342900" indent="-171450"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test: 学習後に性能評価と AD 判定を行う</a:t>
            </a:r>
          </a:p>
          <a:p>
            <a:pPr marL="342900" indent="-171450"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random_state=42 で再現性を固定する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931920"/>
            <a:ext cx="4114800" cy="1143000"/>
          </a:xfrm>
          <a:prstGeom prst="roundRect">
            <a:avLst/>
          </a:prstGeom>
          <a:solidFill>
            <a:srgbClr val="F9E7EA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041648"/>
            <a:ext cx="384048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500" b="1">
                <a:solidFill>
                  <a:srgbClr val="D1495B"/>
                </a:solidFill>
                <a:latin typeface="Yu Gothic"/>
              </a:rPr>
              <a:t>重要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4407408"/>
            <a:ext cx="3822191" cy="576072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test の情報を学習や標準化の fit に混ぜると、評価が楽観的になります。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標準化が必要な理由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10</a:t>
            </a:r>
          </a:p>
        </p:txBody>
      </p:sp>
      <p:pic>
        <p:nvPicPr>
          <p:cNvPr id="6" name="Picture 5" descr="feature_scale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01" y="1143000"/>
            <a:ext cx="5074357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1234440"/>
            <a:ext cx="4754880" cy="6858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100" b="0">
                <a:solidFill>
                  <a:srgbClr val="1F272B"/>
                </a:solidFill>
                <a:latin typeface="Yu Gothic"/>
              </a:rPr>
              <a:t>距離ベースの AD では、単位が大きい特徴量が距離を支配してしまいます。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331720"/>
            <a:ext cx="4297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2651760"/>
            <a:ext cx="393192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2000" b="1">
                <a:solidFill>
                  <a:srgbClr val="1B998B"/>
                </a:solidFill>
                <a:latin typeface="Yu Gothic"/>
              </a:rPr>
              <a:t>x_scaled = (x - mean_train) / std_train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3703320"/>
            <a:ext cx="4297680" cy="123444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3794759"/>
            <a:ext cx="4078224" cy="105156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r>
              <a:rPr sz="1300">
                <a:solidFill>
                  <a:srgbClr val="EBF0F2"/>
                </a:solidFill>
                <a:latin typeface="Menlo"/>
              </a:rPr>
              <a:t>scaler = StandardScaler()</a:t>
            </a:r>
            <a:br/>
            <a:r>
              <a:rPr sz="1300">
                <a:solidFill>
                  <a:srgbClr val="EBF0F2"/>
                </a:solidFill>
                <a:latin typeface="Menlo"/>
              </a:rPr>
              <a:t>X_train_scaled = scaler.fit_transform(X_train)</a:t>
            </a:r>
            <a:br/>
            <a:r>
              <a:rPr sz="1300">
                <a:solidFill>
                  <a:srgbClr val="EBF0F2"/>
                </a:solidFill>
                <a:latin typeface="Menlo"/>
              </a:rPr>
              <a:t>X_test_scaled = scaler.transform(X_test)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5257800"/>
            <a:ext cx="42976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 marL="342900" indent="-171450">
              <a:spcAft>
                <a:spcPts val="400"/>
              </a:spcAft>
              <a:defRPr sz="1600" b="0">
                <a:solidFill>
                  <a:srgbClr val="1F272B"/>
                </a:solidFill>
                <a:latin typeface="Yu Gothic"/>
              </a:defRPr>
            </a:pPr>
            <a:r>
              <a:t>fit_transform は train のみに使う</a:t>
            </a:r>
          </a:p>
          <a:p>
            <a:pPr marL="342900" indent="-171450">
              <a:spcAft>
                <a:spcPts val="400"/>
              </a:spcAft>
              <a:defRPr sz="1600" b="0">
                <a:solidFill>
                  <a:srgbClr val="1F272B"/>
                </a:solidFill>
                <a:latin typeface="Yu Gothic"/>
              </a:defRPr>
            </a:pPr>
            <a:r>
              <a:t>test は train で学習した平均・標準偏差で transform する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モデル比較の見方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143000"/>
          <a:ext cx="53949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40280"/>
                <a:gridCol w="2240280"/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</a:rPr>
                        <a:t>指標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</a:rPr>
                        <a:t>意味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</a:rPr>
                        <a:t>見方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MAE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平均絶対誤差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小さいほどよい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RMSE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二乗誤差の平方根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大きな誤差を強く罰する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R²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決定係数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1 に近いほどよい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3794760"/>
            <a:ext cx="5349240" cy="4572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100" b="0">
                <a:solidFill>
                  <a:srgbClr val="1F272B"/>
                </a:solidFill>
                <a:latin typeface="Yu Gothic"/>
              </a:rPr>
              <a:t>このノートブックでは RMSE が最小のモデルを AD 解析に使います。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170432"/>
            <a:ext cx="3749039" cy="2011680"/>
          </a:xfrm>
          <a:prstGeom prst="roundRect">
            <a:avLst/>
          </a:prstGeom>
          <a:solidFill>
            <a:srgbClr val="E2F3E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280160"/>
            <a:ext cx="347472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600" b="1">
                <a:solidFill>
                  <a:srgbClr val="1B998B"/>
                </a:solidFill>
                <a:latin typeface="Yu Gothic"/>
              </a:rPr>
              <a:t>比較の条件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5704" y="1645920"/>
            <a:ext cx="3456432" cy="1444752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同じ train/test 分割</a:t>
            </a:r>
          </a:p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同じ標準化済み説明変数</a:t>
            </a:r>
          </a:p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同じ評価指標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3703320"/>
            <a:ext cx="4251960" cy="14173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3794759"/>
            <a:ext cx="4032504" cy="12344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r>
              <a:rPr sz="1250">
                <a:solidFill>
                  <a:srgbClr val="EBF0F2"/>
                </a:solidFill>
                <a:latin typeface="Menlo"/>
              </a:rPr>
              <a:t>for model_name, candidate_model in models.items():</a:t>
            </a:r>
            <a:br/>
            <a:r>
              <a:rPr sz="1250">
                <a:solidFill>
                  <a:srgbClr val="EBF0F2"/>
                </a:solidFill>
                <a:latin typeface="Menlo"/>
              </a:rPr>
              <a:t>    candidate_model.fit(X_train_scaled, y_train)</a:t>
            </a:r>
            <a:br/>
            <a:r>
              <a:rPr sz="1250">
                <a:solidFill>
                  <a:srgbClr val="EBF0F2"/>
                </a:solidFill>
                <a:latin typeface="Menlo"/>
              </a:rPr>
              <a:t>    candidate_pred = candidate_model.predict(X_test_scaled)</a:t>
            </a:r>
            <a:br/>
            <a:r>
              <a:rPr sz="1250">
                <a:solidFill>
                  <a:srgbClr val="EBF0F2"/>
                </a:solidFill>
                <a:latin typeface="Menlo"/>
              </a:rPr>
              <a:t>    # MAE, RMSE, R2 を保存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比較したモデル群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078992"/>
          <a:ext cx="786383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897879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カテゴリ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モデル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ベースライン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Dummy (mean)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線形モデル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Linear Regression / Ridge / Lasso / Elastic Net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距離・カーネル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kNN / SVR (RBF)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木モデル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Decision Tree / Random Forest / Extra Trees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Boosting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72B"/>
                          </a:solidFill>
                          <a:latin typeface="Yu Gothic"/>
                        </a:rPr>
                        <a:t>Gradient Boosting / Hist Gradient Boosting / AdaBoost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15400" y="1078992"/>
            <a:ext cx="23317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F272B"/>
                </a:solidFill>
                <a:latin typeface="Yu Gothic"/>
              </a:defRPr>
            </a:pPr>
            <a:r>
              <a:t>複数モデルを並べる理由</a:t>
            </a:r>
          </a:p>
          <a:p>
            <a:pPr>
              <a:spcAft>
                <a:spcPts val="400"/>
              </a:spcAft>
              <a:defRPr sz="1600" b="0">
                <a:solidFill>
                  <a:srgbClr val="1F272B"/>
                </a:solidFill>
                <a:latin typeface="Yu Gothic"/>
              </a:defRPr>
            </a:pPr>
            <a:r>
              <a:t>1つのモデルだけでは、今回のデータでどの程度の性能が出るか判断しづらい。</a:t>
            </a:r>
          </a:p>
          <a:p>
            <a:pPr>
              <a:spcAft>
                <a:spcPts val="400"/>
              </a:spcAft>
              <a:defRPr sz="1600" b="0">
                <a:solidFill>
                  <a:srgbClr val="1F272B"/>
                </a:solidFill>
                <a:latin typeface="Yu Gothic"/>
              </a:defRPr>
            </a:pPr>
            <a:r>
              <a:t>ベースラインから複雑なモデルまで比較し、AD 解析に使う予測値を決める。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9966960" cy="822960"/>
          </a:xfrm>
          <a:prstGeom prst="rect">
            <a:avLst/>
          </a:prstGeom>
          <a:solidFill>
            <a:srgbClr val="FFFAF1"/>
          </a:solidFill>
          <a:ln>
            <a:solidFill>
              <a:srgbClr val="F4A26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注意: AD 判定の仕組み自体は、選んだ回帰モデルとは独立です。ここでは「予測誤差を可視化するため」に最良モデルの予測値を使っています。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モデル比較の結果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13</a:t>
            </a:r>
          </a:p>
        </p:txBody>
      </p:sp>
      <p:pic>
        <p:nvPicPr>
          <p:cNvPr id="6" name="Picture 5" descr="model_rms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53533"/>
            <a:ext cx="6995160" cy="46709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143000"/>
            <a:ext cx="3063240" cy="1097280"/>
          </a:xfrm>
          <a:prstGeom prst="roundRect">
            <a:avLst/>
          </a:prstGeom>
          <a:solidFill>
            <a:srgbClr val="E2F3E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252728"/>
            <a:ext cx="278892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500" b="1">
                <a:solidFill>
                  <a:srgbClr val="1B998B"/>
                </a:solidFill>
                <a:latin typeface="Yu Gothic"/>
              </a:rPr>
              <a:t>選択モデル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55864" y="1618488"/>
            <a:ext cx="2770632" cy="530352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2500" b="0">
                <a:solidFill>
                  <a:srgbClr val="1F272B"/>
                </a:solidFill>
                <a:latin typeface="Yu Gothic"/>
              </a:defRPr>
            </a:pPr>
            <a:r>
              <a:t>Gradient Boosting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2514600"/>
            <a:ext cx="1371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2624328"/>
            <a:ext cx="1152144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92608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427AA1"/>
                </a:solidFill>
                <a:latin typeface="Yu Gothic"/>
              </a:rPr>
              <a:t>2.028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514600"/>
            <a:ext cx="1371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7" y="2624328"/>
            <a:ext cx="1152144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RMSE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292608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1B998B"/>
                </a:solidFill>
                <a:latin typeface="Yu Gothic"/>
              </a:rPr>
              <a:t>2.993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566160"/>
            <a:ext cx="1371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96528" y="3675887"/>
            <a:ext cx="1152144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977639"/>
            <a:ext cx="1188720" cy="320040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E87A41"/>
                </a:solidFill>
                <a:latin typeface="Yu Gothic"/>
              </a:rPr>
              <a:t>0.872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800600"/>
            <a:ext cx="3246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F272B"/>
                </a:solidFill>
                <a:latin typeface="Yu Gothic"/>
              </a:defRPr>
            </a:pPr>
            <a:r>
              <a:t>この後は、このモデルの予測値 y_pred を使って「AD 外の点で誤差がどう見えるか」を確認します。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AD の距離計算: kNN 平均距離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AD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7772400" cy="4114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200" b="0">
                <a:solidFill>
                  <a:srgbClr val="1F272B"/>
                </a:solidFill>
                <a:latin typeface="Yu Gothic"/>
              </a:rPr>
              <a:t>各サンプルについて、近い学習データ k 個までの距離を平均します。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56692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2926080"/>
            <a:ext cx="146304" cy="14630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1901952" y="2953512"/>
            <a:ext cx="1005840" cy="45720"/>
          </a:xfrm>
          <a:prstGeom prst="line">
            <a:avLst/>
          </a:prstGeom>
          <a:ln w="10160">
            <a:solidFill>
              <a:srgbClr val="A0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194560" y="2423160"/>
            <a:ext cx="146304" cy="14630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2267712" y="2496312"/>
            <a:ext cx="640080" cy="457200"/>
          </a:xfrm>
          <a:prstGeom prst="line">
            <a:avLst/>
          </a:prstGeom>
          <a:ln w="10160">
            <a:solidFill>
              <a:srgbClr val="A0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606040" y="3154680"/>
            <a:ext cx="146304" cy="14630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2679192" y="2953512"/>
            <a:ext cx="228600" cy="274320"/>
          </a:xfrm>
          <a:prstGeom prst="line">
            <a:avLst/>
          </a:prstGeom>
          <a:ln w="10160">
            <a:solidFill>
              <a:srgbClr val="A0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063240" y="2651760"/>
            <a:ext cx="146304" cy="14630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2907792" y="2724912"/>
            <a:ext cx="228600" cy="228600"/>
          </a:xfrm>
          <a:prstGeom prst="line">
            <a:avLst/>
          </a:prstGeom>
          <a:ln w="10160">
            <a:solidFill>
              <a:srgbClr val="A0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37560" y="3246120"/>
            <a:ext cx="146304" cy="14630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907792" y="2953512"/>
            <a:ext cx="502920" cy="365760"/>
          </a:xfrm>
          <a:prstGeom prst="line">
            <a:avLst/>
          </a:prstGeom>
          <a:ln w="10160">
            <a:solidFill>
              <a:srgbClr val="A0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069080" y="2331720"/>
            <a:ext cx="146304" cy="146304"/>
          </a:xfrm>
          <a:prstGeom prst="ellipse">
            <a:avLst/>
          </a:prstGeom>
          <a:solidFill>
            <a:srgbClr val="B9C3CA"/>
          </a:solidFill>
          <a:ln>
            <a:solidFill>
              <a:srgbClr val="B9C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34840" y="3017520"/>
            <a:ext cx="146304" cy="146304"/>
          </a:xfrm>
          <a:prstGeom prst="ellipse">
            <a:avLst/>
          </a:prstGeom>
          <a:solidFill>
            <a:srgbClr val="B9C3CA"/>
          </a:solidFill>
          <a:ln>
            <a:solidFill>
              <a:srgbClr val="B9C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83480" y="3794760"/>
            <a:ext cx="146304" cy="146304"/>
          </a:xfrm>
          <a:prstGeom prst="ellipse">
            <a:avLst/>
          </a:prstGeom>
          <a:solidFill>
            <a:srgbClr val="B9C3CA"/>
          </a:solidFill>
          <a:ln>
            <a:solidFill>
              <a:srgbClr val="B9C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08760" y="3749039"/>
            <a:ext cx="146304" cy="146304"/>
          </a:xfrm>
          <a:prstGeom prst="ellipse">
            <a:avLst/>
          </a:prstGeom>
          <a:solidFill>
            <a:srgbClr val="B9C3CA"/>
          </a:solidFill>
          <a:ln>
            <a:solidFill>
              <a:srgbClr val="B9C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807208" y="2852928"/>
            <a:ext cx="228600" cy="228600"/>
          </a:xfrm>
          <a:prstGeom prst="ellipse">
            <a:avLst/>
          </a:prstGeom>
          <a:solidFill>
            <a:srgbClr val="D1495B"/>
          </a:solidFill>
          <a:ln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2560320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100" b="1">
                <a:solidFill>
                  <a:srgbClr val="D1495B"/>
                </a:solidFill>
                <a:latin typeface="Yu Gothic"/>
              </a:rPr>
              <a:t>対象点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074920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700" b="1">
                <a:solidFill>
                  <a:srgbClr val="427AA1"/>
                </a:solidFill>
                <a:latin typeface="Yu Gothic"/>
              </a:rPr>
              <a:t>近い5点を使う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1783080"/>
            <a:ext cx="3931920" cy="1051560"/>
          </a:xfrm>
          <a:prstGeom prst="roundRect">
            <a:avLst/>
          </a:prstGeom>
          <a:solidFill>
            <a:srgbClr val="E2F3E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2148840"/>
            <a:ext cx="3383280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800" b="1">
                <a:solidFill>
                  <a:srgbClr val="1B998B"/>
                </a:solidFill>
                <a:latin typeface="Yu Gothic"/>
              </a:rPr>
              <a:t>mean_distance = mean(d1, d2, ..., dk)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246120"/>
            <a:ext cx="388620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 marL="342900" indent="-171450"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平均距離が小さい: 周囲に似た学習データが多い</a:t>
            </a:r>
          </a:p>
          <a:p>
            <a:pPr marL="342900" indent="-171450"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平均距離が大きい: 学習データから離れている</a:t>
            </a:r>
          </a:p>
          <a:p>
            <a:pPr marL="342900" indent="-171450"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この距離を AD 判定の材料にする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AD しきい値の決め方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AD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521208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 marL="342900" indent="-171450"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距離空間: 標準化した説明変数空間</a:t>
            </a:r>
          </a:p>
          <a:p>
            <a:pPr marL="342900" indent="-171450"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距離指標: Euclidean distance</a:t>
            </a:r>
          </a:p>
          <a:p>
            <a:pPr marL="342900" indent="-171450"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k: 5</a:t>
            </a:r>
          </a:p>
          <a:p>
            <a:pPr marL="342900" indent="-171450"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しきい値: 学習データ同士の 5 近傍平均距離の 95 パーセンタイル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005840"/>
            <a:ext cx="4800600" cy="31546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097280"/>
            <a:ext cx="4581144" cy="297180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r>
              <a:rPr sz="1150">
                <a:solidFill>
                  <a:srgbClr val="EBF0F2"/>
                </a:solidFill>
                <a:latin typeface="Menlo"/>
              </a:rPr>
              <a:t>k = 5</a:t>
            </a:r>
            <a:br/>
            <a:r>
              <a:rPr sz="1150">
                <a:solidFill>
                  <a:srgbClr val="EBF0F2"/>
                </a:solidFill>
                <a:latin typeface="Menlo"/>
              </a:rPr>
              <a:t>percentile = 95</a:t>
            </a:r>
            <a:br/>
            <a:br/>
            <a:r>
              <a:rPr sz="1150">
                <a:solidFill>
                  <a:srgbClr val="EBF0F2"/>
                </a:solidFill>
                <a:latin typeface="Menlo"/>
              </a:rPr>
              <a:t>nn = NearestNeighbors(n_neighbors=k + 1, metric='euclidean')</a:t>
            </a:r>
            <a:br/>
            <a:r>
              <a:rPr sz="1150">
                <a:solidFill>
                  <a:srgbClr val="EBF0F2"/>
                </a:solidFill>
                <a:latin typeface="Menlo"/>
              </a:rPr>
              <a:t>nn.fit(X_train_scaled)</a:t>
            </a:r>
            <a:br/>
            <a:br/>
            <a:r>
              <a:rPr sz="1150">
                <a:solidFill>
                  <a:srgbClr val="EBF0F2"/>
                </a:solidFill>
                <a:latin typeface="Menlo"/>
              </a:rPr>
              <a:t>train_distances, _ = nn.kneighbors(X_train_scaled)</a:t>
            </a:r>
            <a:br/>
            <a:r>
              <a:rPr sz="1150">
                <a:solidFill>
                  <a:srgbClr val="EBF0F2"/>
                </a:solidFill>
                <a:latin typeface="Menlo"/>
              </a:rPr>
              <a:t>train_mean = train_distances[:, 1:].mean(axis=1)</a:t>
            </a:r>
            <a:br/>
            <a:r>
              <a:rPr sz="1150">
                <a:solidFill>
                  <a:srgbClr val="EBF0F2"/>
                </a:solidFill>
                <a:latin typeface="Menlo"/>
              </a:rPr>
              <a:t>ad_threshold = np.percentile(train_mean, percentile)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57600"/>
            <a:ext cx="4892040" cy="1417320"/>
          </a:xfrm>
          <a:prstGeom prst="roundRect">
            <a:avLst/>
          </a:prstGeom>
          <a:solidFill>
            <a:srgbClr val="F9E7EA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3767328"/>
            <a:ext cx="461772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500" b="1">
                <a:solidFill>
                  <a:srgbClr val="D1495B"/>
                </a:solidFill>
                <a:latin typeface="Yu Gothic"/>
              </a:rPr>
              <a:t>自分自身を除外する理由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4133087"/>
            <a:ext cx="4599431" cy="850392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学習データ同士で近傍を取ると、一番近い点は自分自身で距離 0 になる。</a:t>
            </a:r>
          </a:p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そのため k+1 個を取得し、0 列目を捨てて 5 近傍平均を計算する。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617720"/>
            <a:ext cx="4480560" cy="65836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818888"/>
            <a:ext cx="3931920" cy="21031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700" b="1">
                <a:solidFill>
                  <a:srgbClr val="E87A41"/>
                </a:solidFill>
                <a:latin typeface="Yu Gothic"/>
              </a:rPr>
              <a:t>threshold = train_mean の 95th percentile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95パーセンタイルの意味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AD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41832"/>
            <a:ext cx="9052560" cy="4572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200" b="0">
                <a:solidFill>
                  <a:srgbClr val="1F272B"/>
                </a:solidFill>
                <a:latin typeface="Yu Gothic"/>
              </a:rPr>
              <a:t>学習データの「典型的な密度」を基準にし、上位 5% の疎な距離を境界にします。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9966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417320" y="2852928"/>
            <a:ext cx="8549640" cy="0"/>
          </a:xfrm>
          <a:prstGeom prst="line">
            <a:avLst/>
          </a:prstGeom>
          <a:ln w="19050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691640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75104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8568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42032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25496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08960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92424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7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9352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42816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6280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09744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93208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76672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60136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27064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0527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93992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77456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60920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44383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27848" y="2761488"/>
            <a:ext cx="100584" cy="100584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11312" y="2761488"/>
            <a:ext cx="100584" cy="100584"/>
          </a:xfrm>
          <a:prstGeom prst="ellipse">
            <a:avLst/>
          </a:prstGeom>
          <a:solidFill>
            <a:srgbClr val="D1495B"/>
          </a:solidFill>
          <a:ln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94776" y="2761488"/>
            <a:ext cx="100584" cy="100584"/>
          </a:xfrm>
          <a:prstGeom prst="ellipse">
            <a:avLst/>
          </a:prstGeom>
          <a:solidFill>
            <a:srgbClr val="D1495B"/>
          </a:solidFill>
          <a:ln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78240" y="2761488"/>
            <a:ext cx="100584" cy="100584"/>
          </a:xfrm>
          <a:prstGeom prst="ellipse">
            <a:avLst/>
          </a:prstGeom>
          <a:solidFill>
            <a:srgbClr val="D1495B"/>
          </a:solidFill>
          <a:ln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275320" y="2148840"/>
            <a:ext cx="0" cy="1371600"/>
          </a:xfrm>
          <a:prstGeom prst="line">
            <a:avLst/>
          </a:prstGeom>
          <a:ln w="25400">
            <a:solidFill>
              <a:srgbClr val="D14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973568" y="1874519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700" b="1">
                <a:solidFill>
                  <a:srgbClr val="D1495B"/>
                </a:solidFill>
                <a:latin typeface="Yu Gothic"/>
              </a:rPr>
              <a:t>95%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3246120"/>
            <a:ext cx="2377440" cy="237744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700" b="1">
                <a:solidFill>
                  <a:srgbClr val="427AA1"/>
                </a:solidFill>
                <a:latin typeface="Yu Gothic"/>
              </a:rPr>
              <a:t>AD 内とみなす範囲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3246120"/>
            <a:ext cx="1463040" cy="237744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700" b="1">
                <a:solidFill>
                  <a:srgbClr val="D1495B"/>
                </a:solidFill>
                <a:latin typeface="Yu Gothic"/>
              </a:rPr>
              <a:t>AD 外候補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572000"/>
            <a:ext cx="97840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 marL="342900" indent="-171450"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最大値をしきい値にすると外れ値に引っ張られやすい。</a:t>
            </a:r>
          </a:p>
          <a:p>
            <a:pPr marL="342900" indent="-171450"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パーセンタイルなら「多くの学習データがいる範囲」を実用的に境界化できます。</a:t>
            </a:r>
          </a:p>
          <a:p>
            <a:pPr marL="342900" indent="-171450"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90%、95%、99% などは目的に応じて調整します。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テストデータの AD 判定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AD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115568"/>
            <a:ext cx="5212080" cy="15544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7" y="1207008"/>
            <a:ext cx="4992624" cy="137160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r>
              <a:rPr sz="1400">
                <a:solidFill>
                  <a:srgbClr val="EBF0F2"/>
                </a:solidFill>
                <a:latin typeface="Menlo"/>
              </a:rPr>
              <a:t>test_distances, _ = nn.kneighbors(X_test_scaled)</a:t>
            </a:r>
            <a:br/>
            <a:r>
              <a:rPr sz="1400">
                <a:solidFill>
                  <a:srgbClr val="EBF0F2"/>
                </a:solidFill>
                <a:latin typeface="Menlo"/>
              </a:rPr>
              <a:t>test_mean = test_distances[:, :k].mean(axis=1)</a:t>
            </a:r>
            <a:br/>
            <a:br/>
            <a:r>
              <a:rPr sz="1400">
                <a:solidFill>
                  <a:srgbClr val="EBF0F2"/>
                </a:solidFill>
                <a:latin typeface="Menlo"/>
              </a:rPr>
              <a:t>is_in_ad = test_mean &lt;= ad_threshold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051560"/>
            <a:ext cx="4160520" cy="914400"/>
          </a:xfrm>
          <a:prstGeom prst="roundRect">
            <a:avLst/>
          </a:prstGeom>
          <a:solidFill>
            <a:srgbClr val="E2F3E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76288" y="1371600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2000" b="1">
                <a:solidFill>
                  <a:srgbClr val="1B998B"/>
                </a:solidFill>
                <a:latin typeface="Yu Gothic"/>
              </a:rPr>
              <a:t>test_mean &lt;= threshold なら AD 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331720"/>
            <a:ext cx="4160520" cy="914400"/>
          </a:xfrm>
          <a:prstGeom prst="roundRect">
            <a:avLst/>
          </a:prstGeom>
          <a:solidFill>
            <a:srgbClr val="F9E7EA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76288" y="2651760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2000" b="1">
                <a:solidFill>
                  <a:srgbClr val="D1495B"/>
                </a:solidFill>
                <a:latin typeface="Yu Gothic"/>
              </a:rPr>
              <a:t>test_mean &gt; threshold なら AD 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96469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 marL="342900" indent="-171450"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テストデータは学習データではないので、「自分自身の距離 0」は含まれません。</a:t>
            </a:r>
          </a:p>
          <a:p>
            <a:pPr marL="342900" indent="-171450"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したがって、取得した先頭 k 個の距離をそのまま平均します。</a:t>
            </a:r>
          </a:p>
          <a:p>
            <a:pPr marL="342900" indent="-171450"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AD 判定は予測値 y_pred の正しさを直接見ていません。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このノートブックの AD 設定と結果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15568"/>
            <a:ext cx="1417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225295"/>
            <a:ext cx="1197864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27048"/>
            <a:ext cx="1234440" cy="36575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1B998B"/>
                </a:solidFill>
                <a:latin typeface="Yu Gothic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115568"/>
            <a:ext cx="2057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1225295"/>
            <a:ext cx="1837943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距離指標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527048"/>
            <a:ext cx="1874519" cy="36575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427AA1"/>
                </a:solidFill>
                <a:latin typeface="Yu Gothic"/>
              </a:rPr>
              <a:t>Euclidean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115568"/>
            <a:ext cx="1691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1225295"/>
            <a:ext cx="1472184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percentile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27048"/>
            <a:ext cx="1508760" cy="36575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E87A41"/>
                </a:solidFill>
                <a:latin typeface="Yu Gothic"/>
              </a:rPr>
              <a:t>95%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115568"/>
            <a:ext cx="1828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1225295"/>
            <a:ext cx="1609344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527048"/>
            <a:ext cx="1645920" cy="36575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D1495B"/>
                </a:solidFill>
                <a:latin typeface="Yu Gothic"/>
              </a:rPr>
              <a:t>2.435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306324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75688" y="3172968"/>
            <a:ext cx="1837943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AD 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474720"/>
            <a:ext cx="1874519" cy="59435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1B998B"/>
                </a:solidFill>
                <a:latin typeface="Yu Gothic"/>
              </a:rPr>
              <a:t>123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06324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172968"/>
            <a:ext cx="1837943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AD 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474720"/>
            <a:ext cx="1874519" cy="59435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D1495B"/>
                </a:solidFill>
                <a:latin typeface="Yu Gothic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306324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87768" y="3172968"/>
            <a:ext cx="1837943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test 全体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79" y="3474720"/>
            <a:ext cx="1874519" cy="59435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427AA1"/>
                </a:solidFill>
                <a:latin typeface="Yu Gothic"/>
              </a:rPr>
              <a:t>127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96926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今回の分割では、テスト 127 件のうち 4 件だけが AD 外でした。</a:t>
            </a:r>
          </a:p>
          <a:p>
            <a:pPr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少数でも、スクリーニングでは「要確認候補」として重要です。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可視化1: 学習データの距離分布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19</a:t>
            </a:r>
          </a:p>
        </p:txBody>
      </p:sp>
      <p:pic>
        <p:nvPicPr>
          <p:cNvPr id="6" name="Picture 5" descr="train_distanc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0760"/>
            <a:ext cx="6903720" cy="40821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73568" y="1188720"/>
            <a:ext cx="3246120" cy="2468880"/>
          </a:xfrm>
          <a:prstGeom prst="roundRect">
            <a:avLst/>
          </a:prstGeom>
          <a:solidFill>
            <a:srgbClr val="E6F0F7"/>
          </a:solidFill>
          <a:ln w="127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0728" y="1298448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500" b="1">
                <a:solidFill>
                  <a:srgbClr val="427AA1"/>
                </a:solidFill>
                <a:latin typeface="Yu Gothic"/>
              </a:rPr>
              <a:t>読み方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9872" y="1664208"/>
            <a:ext cx="2953512" cy="1901952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横軸: 学習データ各点の 5近傍平均距離</a:t>
            </a:r>
          </a:p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赤破線: AD しきい値</a:t>
            </a:r>
          </a:p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右側ほど、学習データの中でも周囲が疎な点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4160520"/>
            <a:ext cx="3246120" cy="1051560"/>
          </a:xfrm>
          <a:prstGeom prst="roundRect">
            <a:avLst/>
          </a:prstGeom>
          <a:solidFill>
            <a:srgbClr val="E2F3E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8" y="4270248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500" b="1">
                <a:solidFill>
                  <a:srgbClr val="1B998B"/>
                </a:solidFill>
                <a:latin typeface="Yu Gothic"/>
              </a:rPr>
              <a:t>説明で強調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4636008"/>
            <a:ext cx="2953512" cy="484631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しきい値はテストデータから作らない。train の分布だけで決める。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可視化2: 距離と予測誤差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20</a:t>
            </a:r>
          </a:p>
        </p:txBody>
      </p:sp>
      <p:pic>
        <p:nvPicPr>
          <p:cNvPr id="6" name="Picture 5" descr="error_vs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29445"/>
            <a:ext cx="6995160" cy="41362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188720"/>
            <a:ext cx="3246120" cy="2240280"/>
          </a:xfrm>
          <a:prstGeom prst="roundRect">
            <a:avLst/>
          </a:prstGeom>
          <a:solidFill>
            <a:srgbClr val="F9E7EA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298448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500" b="1">
                <a:solidFill>
                  <a:srgbClr val="D1495B"/>
                </a:solidFill>
                <a:latin typeface="Yu Gothic"/>
              </a:rPr>
              <a:t>読み方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55864" y="1664208"/>
            <a:ext cx="2953512" cy="1673352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横軸: test の 5近傍平均距離</a:t>
            </a:r>
          </a:p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縦軸: 絶対誤差 |actual - predicted|</a:t>
            </a:r>
          </a:p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赤破線より右が AD 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931920"/>
            <a:ext cx="32461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F272B"/>
                </a:solidFill>
                <a:latin typeface="Yu Gothic"/>
              </a:defRPr>
            </a:pPr>
            <a:r>
              <a:t>AD 外では誤差が大きくなりやすい傾向を確認します。</a:t>
            </a:r>
          </a:p>
          <a:p>
            <a:pPr>
              <a:spcAft>
                <a:spcPts val="400"/>
              </a:spcAft>
              <a:defRPr sz="1600" b="0">
                <a:solidFill>
                  <a:srgbClr val="1F272B"/>
                </a:solidFill>
                <a:latin typeface="Yu Gothic"/>
              </a:defRPr>
            </a:pPr>
            <a:r>
              <a:t>ただし、AD 外だから必ず大誤差、AD 内だから必ず小誤差ではありません。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可視化3: 実測値と予測値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21</a:t>
            </a:r>
          </a:p>
        </p:txBody>
      </p:sp>
      <p:pic>
        <p:nvPicPr>
          <p:cNvPr id="6" name="Picture 5" descr="actual_vs_pred_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644" y="914400"/>
            <a:ext cx="5089910" cy="5257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86600" y="1325880"/>
            <a:ext cx="3611880" cy="2331720"/>
          </a:xfrm>
          <a:prstGeom prst="roundRect">
            <a:avLst/>
          </a:prstGeom>
          <a:solidFill>
            <a:srgbClr val="E2F3E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435607"/>
            <a:ext cx="333756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500" b="1">
                <a:solidFill>
                  <a:srgbClr val="1B998B"/>
                </a:solidFill>
                <a:latin typeface="Yu Gothic"/>
              </a:rPr>
              <a:t>読み方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2904" y="1801368"/>
            <a:ext cx="3319272" cy="1764791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点が対角線に近いほど予測が良い</a:t>
            </a:r>
          </a:p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色とマーカーで AD 内外を区別</a:t>
            </a:r>
          </a:p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AD 外の点は予測値の信頼性を低めに扱う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4032" y="4251960"/>
            <a:ext cx="3520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この図は「予測性能」と「入力空間での近さ」を同時に見るための図です。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AD 内外で性能を比べる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234440"/>
          <a:ext cx="73152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497330"/>
                <a:gridCol w="1497330"/>
                <a:gridCol w="1497330"/>
                <a:gridCol w="149733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</a:rPr>
                        <a:t>AD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</a:rPr>
                        <a:t>n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</a:rPr>
                        <a:t>MAE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</a:rPr>
                        <a:t>RMSE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</a:rPr>
                        <a:t>mean distance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inside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123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1.976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2.927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1.088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outside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4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3.626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4.565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72B"/>
                          </a:solidFill>
                          <a:latin typeface="Yu Gothic"/>
                        </a:rPr>
                        <a:t>3.479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333756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447288"/>
            <a:ext cx="1792224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inside 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1828800" cy="41147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1B998B"/>
                </a:solidFill>
                <a:latin typeface="Yu Gothic"/>
              </a:rPr>
              <a:t>1.976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333756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3447288"/>
            <a:ext cx="1792224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200" b="1">
                <a:solidFill>
                  <a:srgbClr val="636E72"/>
                </a:solidFill>
                <a:latin typeface="Yu Gothic"/>
              </a:rPr>
              <a:t>outside 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749039"/>
            <a:ext cx="1828800" cy="411479"/>
          </a:xfrm>
          <a:prstGeom prst="rect">
            <a:avLst/>
          </a:prstGeom>
          <a:noFill/>
        </p:spPr>
        <p:txBody>
          <a:bodyPr wrap="square" lIns="45720" rIns="45720" anchor="ctr">
            <a:normAutofit/>
          </a:bodyPr>
          <a:lstStyle/>
          <a:p>
            <a:pPr algn="ctr"/>
            <a:r>
              <a:rPr sz="2800" b="1">
                <a:solidFill>
                  <a:srgbClr val="D1495B"/>
                </a:solidFill>
                <a:latin typeface="Yu Gothic"/>
              </a:rPr>
              <a:t>3.626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401568"/>
            <a:ext cx="4754880" cy="6858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800" b="0">
                <a:solidFill>
                  <a:srgbClr val="1F272B"/>
                </a:solidFill>
                <a:latin typeface="Yu Gothic"/>
              </a:rPr>
              <a:t>outside は件数が 4 件と少ないため、統計的に強い結論ではなく、可視化による確認として扱います。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800600"/>
            <a:ext cx="9464040" cy="914400"/>
          </a:xfrm>
          <a:prstGeom prst="roundRect">
            <a:avLst/>
          </a:prstGeom>
          <a:solidFill>
            <a:srgbClr val="E6F0F7"/>
          </a:solidFill>
          <a:ln w="127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910328"/>
            <a:ext cx="9189719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500" b="1">
                <a:solidFill>
                  <a:srgbClr val="427AA1"/>
                </a:solidFill>
                <a:latin typeface="Yu Gothic"/>
              </a:rPr>
              <a:t>結論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5276088"/>
            <a:ext cx="9171432" cy="347472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今回の分割では AD 外の平均誤差が AD 内より大きい。</a:t>
            </a:r>
          </a:p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AD 判定は、予測値を採用するか追加検証するかの判断材料になる。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AD 外サンプルの確認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143000"/>
          <a:ext cx="80924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00200"/>
                <a:gridCol w="1600200"/>
                <a:gridCol w="1600200"/>
                <a:gridCol w="16002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actual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pred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abs_error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distance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sample_419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8.8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6.575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2.225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4.468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sample_415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7.0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7.372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0.372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3.924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sample_366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27.5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23.467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4.033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2.767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sample_413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17.9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10.027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7.873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2.757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3840480"/>
            <a:ext cx="5669280" cy="1417320"/>
          </a:xfrm>
          <a:prstGeom prst="roundRect">
            <a:avLst/>
          </a:prstGeom>
          <a:solidFill>
            <a:srgbClr val="F9E7EA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950208"/>
            <a:ext cx="539496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500" b="1">
                <a:solidFill>
                  <a:srgbClr val="D1495B"/>
                </a:solidFill>
                <a:latin typeface="Yu Gothic"/>
              </a:rPr>
              <a:t>説明ポイント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4315968"/>
            <a:ext cx="5376672" cy="850392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距離が大きい順に並べると、どのテスト点が学習データから離れているか分かる。</a:t>
            </a:r>
          </a:p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sample_413 は AD 外かつ誤差も大きいので、予測信頼性に注意する例として説明しやすい。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3840480"/>
            <a:ext cx="3749039" cy="141732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3950208"/>
            <a:ext cx="347472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Yu Gothic"/>
              </a:rPr>
              <a:t>重要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1464" y="4315968"/>
            <a:ext cx="3456432" cy="850392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F272B"/>
                </a:solidFill>
                <a:latin typeface="Yu Gothic"/>
              </a:defRPr>
            </a:pPr>
            <a:r>
              <a:t>sample_415 のように AD 外でも誤差が小さい点はある。AD は正誤判定ではなく、外挿らしさのラベル。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2次元で見た直感（PCA）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24</a:t>
            </a:r>
          </a:p>
        </p:txBody>
      </p:sp>
      <p:pic>
        <p:nvPicPr>
          <p:cNvPr id="6" name="Picture 5" descr="pca_ad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50922"/>
            <a:ext cx="6492240" cy="43390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234440"/>
            <a:ext cx="3429000" cy="1737360"/>
          </a:xfrm>
          <a:prstGeom prst="roundRect">
            <a:avLst/>
          </a:prstGeom>
          <a:solidFill>
            <a:srgbClr val="E6F0F7"/>
          </a:solidFill>
          <a:ln w="127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344168"/>
            <a:ext cx="315468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500" b="1">
                <a:solidFill>
                  <a:srgbClr val="427AA1"/>
                </a:solidFill>
                <a:latin typeface="Yu Gothic"/>
              </a:rPr>
              <a:t>この図の位置づけ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1544" y="1709928"/>
            <a:ext cx="3136392" cy="1170431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F272B"/>
                </a:solidFill>
                <a:latin typeface="Yu Gothic"/>
              </a:defRPr>
            </a:pPr>
            <a:r>
              <a:t>説明用に 13 次元の標準化空間を PCA で 2 次元に圧縮しています。</a:t>
            </a:r>
          </a:p>
          <a:p>
            <a:pPr>
              <a:spcAft>
                <a:spcPts val="400"/>
              </a:spcAft>
              <a:defRPr sz="1600" b="0">
                <a:solidFill>
                  <a:srgbClr val="1F272B"/>
                </a:solidFill>
                <a:latin typeface="Yu Gothic"/>
              </a:defRPr>
            </a:pPr>
            <a:r>
              <a:t>AD 判定そのものは、PCA 後ではなく 13 次元の距離で行っています。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703320"/>
            <a:ext cx="34290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F272B"/>
                </a:solidFill>
                <a:latin typeface="Yu Gothic"/>
              </a:defRPr>
            </a:pPr>
            <a:r>
              <a:t>2次元図は直感を助ける道具ですが、距離関係が完全に保存されるわけではありません。発表では「AD 計算は元の特徴量空間」と明確に言うと誤解を避けられます。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コードで詰まりやすいポイント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024128"/>
          <a:ext cx="1024127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498079"/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ポイント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理由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標準化の fit は train のみ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test 情報の漏洩を防ぐ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train の kNN は k+1 を取る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自分自身の距離 0 を除外するため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test の kNN は先頭 k 個を使う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test は学習データではないため自分自身が含まれない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AD 判定は X の距離だけで行う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y や予測誤差を使うと事前判定にならない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threshold は目的に応じて調整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72B"/>
                          </a:solidFill>
                          <a:latin typeface="Yu Gothic"/>
                        </a:rPr>
                        <a:t>厳しくすると AD 外が増え、緩くすると減る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440680"/>
            <a:ext cx="9875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発表時は「なぜそう書くのか」をこの順で説明すると、コードの意味が追いやすくなります。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AD を使うときの限界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43000"/>
            <a:ext cx="3154680" cy="1874519"/>
          </a:xfrm>
          <a:prstGeom prst="roundRect">
            <a:avLst/>
          </a:prstGeom>
          <a:solidFill>
            <a:srgbClr val="F9E7EA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52728"/>
            <a:ext cx="288036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600" b="1">
                <a:solidFill>
                  <a:srgbClr val="D1495B"/>
                </a:solidFill>
                <a:latin typeface="Yu Gothic"/>
              </a:rPr>
              <a:t>限界1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1618488"/>
            <a:ext cx="2862072" cy="1307591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AD 内でも予測が外れることはある</a:t>
            </a:r>
          </a:p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モデル自体の表現力やノイズの問題は残る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143000"/>
            <a:ext cx="3154680" cy="1874519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252728"/>
            <a:ext cx="288036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600" b="1">
                <a:solidFill>
                  <a:srgbClr val="F4A261"/>
                </a:solidFill>
                <a:latin typeface="Yu Gothic"/>
              </a:rPr>
              <a:t>限界2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618488"/>
            <a:ext cx="2862072" cy="1307591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AD 外でも偶然当たることはある</a:t>
            </a:r>
          </a:p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AD は正解ラベルではない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43000"/>
            <a:ext cx="3154680" cy="1874519"/>
          </a:xfrm>
          <a:prstGeom prst="roundRect">
            <a:avLst/>
          </a:prstGeom>
          <a:solidFill>
            <a:srgbClr val="E6F0F7"/>
          </a:solidFill>
          <a:ln w="12700"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252728"/>
            <a:ext cx="2880360" cy="2560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600" b="1">
                <a:solidFill>
                  <a:srgbClr val="427AA1"/>
                </a:solidFill>
                <a:latin typeface="Yu Gothic"/>
              </a:rPr>
              <a:t>限界3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618488"/>
            <a:ext cx="2862072" cy="1307591"/>
          </a:xfrm>
          <a:prstGeom prst="rect">
            <a:avLst/>
          </a:prstGeom>
          <a:noFill/>
          <a:ln>
            <a:solidFill>
              <a:srgbClr val="F8FAF8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距離・k・percentile の選び方に依存する</a:t>
            </a:r>
          </a:p>
          <a:p>
            <a:pPr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特徴量設計が悪いと AD も悪くなる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4048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200" b="1">
                <a:solidFill>
                  <a:srgbClr val="1D2B2A"/>
                </a:solidFill>
                <a:latin typeface="Yu Gothic"/>
              </a:rPr>
              <a:t>それでも AD が有用な理由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98755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 marL="342900" indent="-171450"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予測値だけを出すより、「この予測は学習データに近い入力か？」を同時に示せる。</a:t>
            </a:r>
          </a:p>
          <a:p>
            <a:pPr marL="342900" indent="-171450">
              <a:spcAft>
                <a:spcPts val="400"/>
              </a:spcAft>
              <a:defRPr sz="1900" b="0">
                <a:solidFill>
                  <a:srgbClr val="1F272B"/>
                </a:solidFill>
                <a:latin typeface="Yu Gothic"/>
              </a:defRPr>
            </a:pPr>
            <a:r>
              <a:t>実験コストが高い材料探索では、追加検証すべき候補を選ぶ補助線になる。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27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088136"/>
            <a:ext cx="384048" cy="384048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188719"/>
            <a:ext cx="201168" cy="10972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051560"/>
            <a:ext cx="9326880" cy="4114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200" b="0">
                <a:solidFill>
                  <a:srgbClr val="1F272B"/>
                </a:solidFill>
                <a:latin typeface="Yu Gothic"/>
              </a:rPr>
              <a:t>AD は、モデルが相対的に信頼しやすい入力範囲を表す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956815"/>
            <a:ext cx="384048" cy="384048"/>
          </a:xfrm>
          <a:prstGeom prst="ellipse">
            <a:avLst/>
          </a:prstGeom>
          <a:solidFill>
            <a:srgbClr val="427AA1"/>
          </a:solidFill>
          <a:ln>
            <a:solidFill>
              <a:srgbClr val="42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399"/>
            <a:ext cx="201168" cy="10972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920239"/>
            <a:ext cx="9326880" cy="4114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200" b="0">
                <a:solidFill>
                  <a:srgbClr val="1F272B"/>
                </a:solidFill>
                <a:latin typeface="Yu Gothic"/>
              </a:rPr>
              <a:t>今回は標準化した説明変数空間で kNN 平均距離を使った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825496"/>
            <a:ext cx="384048" cy="384048"/>
          </a:xfrm>
          <a:prstGeom prst="ellipse">
            <a:avLst/>
          </a:prstGeom>
          <a:solidFill>
            <a:srgbClr val="E87A41"/>
          </a:solidFill>
          <a:ln>
            <a:solidFill>
              <a:srgbClr val="E87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26079"/>
            <a:ext cx="201168" cy="10972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88920"/>
            <a:ext cx="9326880" cy="4114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200" b="0">
                <a:solidFill>
                  <a:srgbClr val="1F272B"/>
                </a:solidFill>
                <a:latin typeface="Yu Gothic"/>
              </a:rPr>
              <a:t>train の距離分布から 95 パーセンタイルをしきい値にした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694175"/>
            <a:ext cx="384048" cy="384048"/>
          </a:xfrm>
          <a:prstGeom prst="ellipse">
            <a:avLst/>
          </a:prstGeom>
          <a:solidFill>
            <a:srgbClr val="D1495B"/>
          </a:solidFill>
          <a:ln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94759"/>
            <a:ext cx="201168" cy="10972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657599"/>
            <a:ext cx="9326880" cy="4114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200" b="0">
                <a:solidFill>
                  <a:srgbClr val="1F272B"/>
                </a:solidFill>
                <a:latin typeface="Yu Gothic"/>
              </a:rPr>
              <a:t>test では 123 件が AD 内、4 件が AD 外になった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562855"/>
            <a:ext cx="384048" cy="384048"/>
          </a:xfrm>
          <a:prstGeom prst="ellipse">
            <a:avLst/>
          </a:prstGeom>
          <a:solidFill>
            <a:srgbClr val="1D2B2A"/>
          </a:solidFill>
          <a:ln>
            <a:solidFill>
              <a:srgbClr val="1D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63440"/>
            <a:ext cx="201168" cy="10972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26279"/>
            <a:ext cx="9326880" cy="4114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200" b="0">
                <a:solidFill>
                  <a:srgbClr val="1F272B"/>
                </a:solidFill>
                <a:latin typeface="Yu Gothic"/>
              </a:rPr>
              <a:t>AD 外は「予測値を疑って確認する候補」として扱う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715000"/>
            <a:ext cx="9875520" cy="502920"/>
          </a:xfrm>
          <a:prstGeom prst="rect">
            <a:avLst/>
          </a:prstGeom>
          <a:solidFill>
            <a:srgbClr val="E2F3EF"/>
          </a:solidFill>
          <a:ln>
            <a:solidFill>
              <a:srgbClr val="1B998B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最後に一言で言うなら: 「予測値」だけでなく、「その予測を使ってよい範囲か」を一緒に見るのが AD です。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10896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Yu Gothic"/>
              </a:rPr>
              <a:t>Appendix: 発表時の接続フレーズ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5661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1000" b="0">
                <a:solidFill>
                  <a:srgbClr val="636E72"/>
                </a:solidFill>
                <a:latin typeface="Yu Gothic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35508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900" b="0">
                <a:solidFill>
                  <a:srgbClr val="636E72"/>
                </a:solidFill>
                <a:latin typeface="Yu Gothic"/>
              </a:rPr>
              <a:t>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005840"/>
          <a:ext cx="10744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09828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場面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言い方の例</a:t>
                      </a:r>
                    </a:p>
                  </a:txBody>
                  <a:tcPr marL="45720" marR="45720" marT="27432" marB="27432">
                    <a:solidFill>
                      <a:srgbClr val="1B998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72B"/>
                          </a:solidFill>
                          <a:latin typeface="Yu Gothic"/>
                        </a:rPr>
                        <a:t>AD 導入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72B"/>
                          </a:solidFill>
                          <a:latin typeface="Yu Gothic"/>
                        </a:rPr>
                        <a:t>モデルはどんな入力にも数値を返しますが、その全部を同じ信頼度で扱うのは危険です。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72B"/>
                          </a:solidFill>
                          <a:latin typeface="Yu Gothic"/>
                        </a:rPr>
                        <a:t>標準化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72B"/>
                          </a:solidFill>
                          <a:latin typeface="Yu Gothic"/>
                        </a:rPr>
                        <a:t>距離を使うので、単位の違いを消してから近さを測ります。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72B"/>
                          </a:solidFill>
                          <a:latin typeface="Yu Gothic"/>
                        </a:rPr>
                        <a:t>しきい値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72B"/>
                          </a:solidFill>
                          <a:latin typeface="Yu Gothic"/>
                        </a:rPr>
                        <a:t>学習データ自身の距離分布から、ここまでなら学習データらしいという境界を作ります。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72B"/>
                          </a:solidFill>
                          <a:latin typeface="Yu Gothic"/>
                        </a:rPr>
                        <a:t>可視化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72B"/>
                          </a:solidFill>
                          <a:latin typeface="Yu Gothic"/>
                        </a:rPr>
                        <a:t>赤破線の右側は、学習データから見て疎な領域にあるテスト点です。</a:t>
                      </a:r>
                    </a:p>
                  </a:txBody>
                  <a:tcPr marL="45720" marR="45720" marT="27432" marB="27432">
                    <a:solidFill>
                      <a:srgbClr val="F4F7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72B"/>
                          </a:solidFill>
                          <a:latin typeface="Yu Gothic"/>
                        </a:rPr>
                        <a:t>限界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72B"/>
                          </a:solidFill>
                          <a:latin typeface="Yu Gothic"/>
                        </a:rPr>
                        <a:t>AD 外は必ず間違いではなく、追加確認した方がよいというラベルです。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577840"/>
            <a:ext cx="9875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D6D1"/>
            </a:solidFill>
          </a:ln>
        </p:spPr>
        <p:txBody>
          <a:bodyPr wrap="square" lIns="109728" rIns="109728" tIns="73152" bIns="73152">
            <a:norm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F272B"/>
                </a:solidFill>
                <a:latin typeface="Yu Gothic"/>
              </a:defRPr>
            </a:pPr>
            <a:r>
              <a:t>このスライドは発表者用です。不要なら発表時に非表示にしてください。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