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69" r:id="rId16"/>
    <p:sldId id="270" r:id="rId17"/>
    <p:sldId id="284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2"/>
    <p:restoredTop sz="94680"/>
  </p:normalViewPr>
  <p:slideViewPr>
    <p:cSldViewPr snapToGrid="0" snapToObjects="1">
      <p:cViewPr varScale="1">
        <p:scale>
          <a:sx n="145" d="100"/>
          <a:sy n="145" d="100"/>
        </p:scale>
        <p:origin x="1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62990"/>
            <a:ext cx="7863840" cy="8915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>
              <a:spcAft>
                <a:spcPts val="600"/>
              </a:spcAft>
              <a:defRPr sz="4400"/>
            </a:pPr>
            <a:r>
              <a:rPr sz="4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適用ドメイン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91690"/>
            <a:ext cx="786384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>
              <a:spcAft>
                <a:spcPts val="600"/>
              </a:spcAft>
              <a:defRPr sz="2800"/>
            </a:pPr>
            <a:r>
              <a:rPr sz="2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Applicability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57550"/>
            <a:ext cx="7863840" cy="5623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85000" lnSpcReduction="10000"/>
          </a:bodyPr>
          <a:lstStyle/>
          <a:p>
            <a:pPr algn="ctr">
              <a:spcAft>
                <a:spcPts val="600"/>
              </a:spcAft>
              <a:defRPr sz="240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Boston データの回帰モデルで「予測してよい範囲」を可視化する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03470"/>
            <a:ext cx="7863840" cy="4800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>
              <a:spcAft>
                <a:spcPts val="600"/>
              </a:spcAft>
              <a:defRPr sz="200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Python Seminar 第7回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7863840" cy="3771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spcAft>
                <a:spcPts val="600"/>
              </a:spcAft>
              <a:defRPr sz="180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2026-07-0</a:t>
            </a:r>
            <a:r>
              <a:rPr lang="en-US"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7</a:t>
            </a:r>
            <a:endParaRPr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6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この回のゴール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6332" y="1630973"/>
            <a:ext cx="807133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6331" y="1685837"/>
            <a:ext cx="8071337" cy="1399031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800"/>
              </a:spcAft>
              <a:defRPr/>
            </a:pPr>
            <a:r>
              <a:rPr sz="2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の考え方を説明できる</a:t>
            </a:r>
          </a:p>
          <a:p>
            <a:pPr>
              <a:spcAft>
                <a:spcPts val="800"/>
              </a:spcAft>
              <a:defRPr/>
            </a:pPr>
            <a:r>
              <a:rPr sz="2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ノートブックのコードが何をしているか追える</a:t>
            </a:r>
          </a:p>
          <a:p>
            <a:pPr>
              <a:spcAft>
                <a:spcPts val="800"/>
              </a:spcAft>
              <a:defRPr/>
            </a:pPr>
            <a:r>
              <a:rPr sz="2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内外で予測値の信頼性を読み取れる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30" y="5227027"/>
            <a:ext cx="8985737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「予測精度」ではなく「その予測をどこまで信じるか」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6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適用ドメインとは何か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7787" y="1234440"/>
            <a:ext cx="4965966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Applicability Domain (AD)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415" y="2400931"/>
            <a:ext cx="4965966" cy="2896186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>
              <a:spcAft>
                <a:spcPts val="800"/>
              </a:spcAft>
              <a:defRPr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モデルが学習データから見て</a:t>
            </a:r>
            <a:endParaRPr lang="en-US"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  <a:defRPr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「内挿」と考えられる範囲</a:t>
            </a:r>
          </a:p>
          <a:p>
            <a:pPr>
              <a:spcAft>
                <a:spcPts val="800"/>
              </a:spcAft>
              <a:defRPr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範囲内の予測は、範囲外より</a:t>
            </a:r>
            <a:endParaRPr lang="en-US"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  <a:defRPr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相対的に信頼しやすい</a:t>
            </a:r>
          </a:p>
          <a:p>
            <a:pPr>
              <a:spcAft>
                <a:spcPts val="800"/>
              </a:spcAft>
              <a:defRPr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言い換えると「この入力は、</a:t>
            </a:r>
            <a:endParaRPr lang="en-US"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  <a:defRPr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過去に見たデータと似ているか？」を数値化する仕組み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1072" y="2064433"/>
            <a:ext cx="2991448" cy="329184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Oval 6"/>
          <p:cNvSpPr/>
          <p:nvPr/>
        </p:nvSpPr>
        <p:spPr>
          <a:xfrm>
            <a:off x="6153686" y="2748721"/>
            <a:ext cx="1512916" cy="11003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6359992" y="3086143"/>
            <a:ext cx="96276" cy="9627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6566299" y="2903263"/>
            <a:ext cx="96276" cy="9627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6841375" y="3314743"/>
            <a:ext cx="96276" cy="9627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7082066" y="3040423"/>
            <a:ext cx="96276" cy="9627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22757" y="3406183"/>
            <a:ext cx="96276" cy="9627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06990" y="3065512"/>
            <a:ext cx="137538" cy="137538"/>
          </a:xfrm>
          <a:prstGeom prst="ellipse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44831" y="4466811"/>
            <a:ext cx="151292" cy="15129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7530" y="4167553"/>
            <a:ext cx="825227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1848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371" y="4716192"/>
            <a:ext cx="825227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1848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なぜ AD が必要か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1207008"/>
            <a:ext cx="7955280" cy="209169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 lnSpcReduction="10000"/>
          </a:bodyPr>
          <a:lstStyle/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通常の予測評価では、テストデータ全体の MAE / RMSE / R2 を見る</a:t>
            </a:r>
          </a:p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平均的な性能は分かるが、個々の予測が内挿か外挿かは分からない</a:t>
            </a:r>
          </a:p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外挿領域では誤差が大きくなりやすく、予測の信頼性が下がる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566160"/>
            <a:ext cx="8001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3648456"/>
            <a:ext cx="7882128" cy="154305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300"/>
            </a:pPr>
            <a:r>
              <a:rPr sz="23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の役割</a:t>
            </a:r>
          </a:p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予測値に「信頼性のラベル」を付ける</a:t>
            </a:r>
          </a:p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スクリーニングでは、候補を優先順位づけしやすくなる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20690"/>
            <a:ext cx="7955280" cy="4800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/>
          </a:bodyPr>
          <a:lstStyle/>
          <a:p>
            <a:pPr algn="l">
              <a:spcAft>
                <a:spcPts val="6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= 「予測が当たる保証」ではなく「外挿っぽさを検知する補助情報」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今回の課題でやること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0641"/>
              </p:ext>
            </p:extLst>
          </p:nvPr>
        </p:nvGraphicFramePr>
        <p:xfrm>
          <a:off x="548640" y="1179576"/>
          <a:ext cx="316337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内容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目的変数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検証方法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Hold-Out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手法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kNN 距離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判定対象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30161" y="1220724"/>
            <a:ext cx="5081953" cy="2894076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800"/>
              </a:spcAft>
              <a:defRPr sz="22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boston.csv の MEDV を目的変数</a:t>
            </a:r>
            <a:endParaRPr lang="en-US"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  <a:defRPr sz="22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として回帰モデルを作成する</a:t>
            </a:r>
          </a:p>
          <a:p>
            <a:pPr>
              <a:spcAft>
                <a:spcPts val="800"/>
              </a:spcAft>
              <a:defRPr sz="22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Hold-Out で得られたテストデータについて、AD 内か AD 外かを判定する</a:t>
            </a:r>
          </a:p>
          <a:p>
            <a:pPr>
              <a:spcAft>
                <a:spcPts val="800"/>
              </a:spcAft>
              <a:defRPr sz="22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予測誤差と AD 判定を可視化し、予測値の信頼性を考える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4562856"/>
            <a:ext cx="4572000" cy="205740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1960" y="4645152"/>
            <a:ext cx="4370832" cy="1892808"/>
          </a:xfrm>
          <a:prstGeom prst="rect">
            <a:avLst/>
          </a:prstGeom>
          <a:noFill/>
        </p:spPr>
        <p:txBody>
          <a:bodyPr wrap="square" lIns="50800" tIns="50800" rIns="50800" bIns="50800">
            <a:normAutofit fontScale="92500" lnSpcReduction="20000"/>
          </a:bodyPr>
          <a:lstStyle/>
          <a:p>
            <a:pPr>
              <a:spcAft>
                <a:spcPts val="600"/>
              </a:spcAft>
              <a:defRPr sz="1620"/>
            </a:pPr>
            <a:r>
              <a:rPr sz="162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target_col = 'MEDV'
X = df.drop(columns=target_col)
y = df[target_col]
X_train, X_test, y_train, y_test = train_test_split(
    X, y, test_size=0.25, random_state=42
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全体ワークフロー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7787" y="1234440"/>
            <a:ext cx="2166221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940" y="1399032"/>
            <a:ext cx="195991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85000" lnSpcReduction="20000"/>
          </a:bodyPr>
          <a:lstStyle/>
          <a:p>
            <a:pPr algn="l">
              <a:spcAft>
                <a:spcPts val="600"/>
              </a:spcAft>
              <a:defRPr sz="2200"/>
            </a:pPr>
            <a:r>
              <a:rPr sz="2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1. データ読込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940" y="1828800"/>
            <a:ext cx="195991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10000"/>
          </a:bodyPr>
          <a:lstStyle/>
          <a:p>
            <a:pPr algn="l">
              <a:spcAft>
                <a:spcPts val="600"/>
              </a:spcAft>
              <a:defRPr sz="1850"/>
            </a:pPr>
            <a:r>
              <a:rPr sz="18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boston.csv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18392" y="1783080"/>
            <a:ext cx="44699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37312" y="1234440"/>
            <a:ext cx="2166221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0466" y="1399032"/>
            <a:ext cx="195991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85000" lnSpcReduction="20000"/>
          </a:bodyPr>
          <a:lstStyle/>
          <a:p>
            <a:pPr algn="l">
              <a:spcAft>
                <a:spcPts val="600"/>
              </a:spcAft>
              <a:defRPr sz="2200"/>
            </a:pPr>
            <a:r>
              <a:rPr sz="2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2. Hold-Out 分割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0466" y="1828800"/>
            <a:ext cx="195991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10000"/>
          </a:bodyPr>
          <a:lstStyle/>
          <a:p>
            <a:pPr algn="l">
              <a:spcAft>
                <a:spcPts val="600"/>
              </a:spcAft>
              <a:defRPr sz="1850"/>
            </a:pPr>
            <a:r>
              <a:rPr sz="18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train /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37918" y="1783080"/>
            <a:ext cx="44699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56838" y="1234440"/>
            <a:ext cx="2166221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9992" y="1399032"/>
            <a:ext cx="195991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85000" lnSpcReduction="20000"/>
          </a:bodyPr>
          <a:lstStyle/>
          <a:p>
            <a:pPr algn="l">
              <a:spcAft>
                <a:spcPts val="600"/>
              </a:spcAft>
              <a:defRPr sz="2200"/>
            </a:pPr>
            <a:r>
              <a:rPr sz="2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3. 標準化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9992" y="1828800"/>
            <a:ext cx="195991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20000"/>
          </a:bodyPr>
          <a:lstStyle/>
          <a:p>
            <a:pPr algn="l">
              <a:spcAft>
                <a:spcPts val="600"/>
              </a:spcAft>
              <a:defRPr sz="1850"/>
            </a:pPr>
            <a:r>
              <a:rPr sz="18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fit は train のみ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787" y="3291840"/>
            <a:ext cx="2166221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940" y="3456432"/>
            <a:ext cx="195991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85000" lnSpcReduction="20000"/>
          </a:bodyPr>
          <a:lstStyle/>
          <a:p>
            <a:pPr algn="l">
              <a:spcAft>
                <a:spcPts val="600"/>
              </a:spcAft>
              <a:defRPr sz="2200"/>
            </a:pPr>
            <a:r>
              <a:rPr sz="2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4. モデル比較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940" y="3886200"/>
            <a:ext cx="195991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10000"/>
          </a:bodyPr>
          <a:lstStyle/>
          <a:p>
            <a:pPr algn="l">
              <a:spcAft>
                <a:spcPts val="600"/>
              </a:spcAft>
              <a:defRPr sz="1850"/>
            </a:pPr>
            <a:r>
              <a:rPr sz="18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MAE / RMSE / R2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18392" y="3840480"/>
            <a:ext cx="44699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37312" y="3291840"/>
            <a:ext cx="2166221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0466" y="3456432"/>
            <a:ext cx="195991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85000" lnSpcReduction="20000"/>
          </a:bodyPr>
          <a:lstStyle/>
          <a:p>
            <a:pPr algn="l">
              <a:spcAft>
                <a:spcPts val="600"/>
              </a:spcAft>
              <a:defRPr sz="2200"/>
            </a:pPr>
            <a:r>
              <a:rPr sz="2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5. AD しきい値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0466" y="3886200"/>
            <a:ext cx="195991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20000"/>
          </a:bodyPr>
          <a:lstStyle/>
          <a:p>
            <a:pPr algn="l">
              <a:spcAft>
                <a:spcPts val="600"/>
              </a:spcAft>
              <a:defRPr sz="1850"/>
            </a:pPr>
            <a:r>
              <a:rPr sz="18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train の kNN 距離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37918" y="3840480"/>
            <a:ext cx="44699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56838" y="3291840"/>
            <a:ext cx="2166221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9992" y="3456432"/>
            <a:ext cx="195991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85000" lnSpcReduction="20000"/>
          </a:bodyPr>
          <a:lstStyle/>
          <a:p>
            <a:pPr algn="l">
              <a:spcAft>
                <a:spcPts val="600"/>
              </a:spcAft>
              <a:defRPr sz="2200"/>
            </a:pPr>
            <a:r>
              <a:rPr sz="2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6. テスト判定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9992" y="3886200"/>
            <a:ext cx="1959914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10000"/>
          </a:bodyPr>
          <a:lstStyle/>
          <a:p>
            <a:pPr algn="l">
              <a:spcAft>
                <a:spcPts val="600"/>
              </a:spcAft>
              <a:defRPr sz="1850"/>
            </a:pPr>
            <a:r>
              <a:rPr sz="18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inside /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556" y="5589270"/>
            <a:ext cx="7564582" cy="4800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100"/>
            </a:pPr>
            <a:r>
              <a:rPr sz="21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別のデータセットにも応用可能な AD 判定の流れ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Boston データの確認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317495"/>
              </p:ext>
            </p:extLst>
          </p:nvPr>
        </p:nvGraphicFramePr>
        <p:xfrm>
          <a:off x="548640" y="1097280"/>
          <a:ext cx="233814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値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データ数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列数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説明変数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欠損値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medv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11630"/>
            <a:ext cx="5577840" cy="3017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432502"/>
              </p:ext>
            </p:extLst>
          </p:nvPr>
        </p:nvGraphicFramePr>
        <p:xfrm>
          <a:off x="548640" y="4011929"/>
          <a:ext cx="2338143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統計量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MEDV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22.53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std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9.20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median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21.2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2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50.0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目的変数と説明変数を分ける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862794"/>
              </p:ext>
            </p:extLst>
          </p:nvPr>
        </p:nvGraphicFramePr>
        <p:xfrm>
          <a:off x="411480" y="1152144"/>
          <a:ext cx="8321040" cy="174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種類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内容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目的変数 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説明変数 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CRIM, ZN, INDUS, CHAS, NOX, RM, AGE, DIS, RAD, TAX, PTRATIO, B, LSTAT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20041" y="3120390"/>
            <a:ext cx="4160520" cy="144018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1" y="3223260"/>
            <a:ext cx="4005072" cy="1268730"/>
          </a:xfrm>
          <a:prstGeom prst="rect">
            <a:avLst/>
          </a:prstGeom>
          <a:noFill/>
        </p:spPr>
        <p:txBody>
          <a:bodyPr wrap="square" lIns="50800" tIns="50800" rIns="50800" bIns="50800">
            <a:normAutofit fontScale="92500" lnSpcReduction="10000"/>
          </a:bodyPr>
          <a:lstStyle/>
          <a:p>
            <a:pPr>
              <a:spcAft>
                <a:spcPts val="600"/>
              </a:spcAft>
              <a:defRPr sz="1739"/>
            </a:pPr>
            <a:r>
              <a:rPr sz="1739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target_col = 'MEDV'
X = df.drop(columns=target_col)
y = df[target_col]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1" y="3120390"/>
            <a:ext cx="4160520" cy="288405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800"/>
              </a:spcAft>
              <a:defRPr sz="21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の距離計算に使うのは X だけ</a:t>
            </a:r>
          </a:p>
          <a:p>
            <a:pPr>
              <a:spcAft>
                <a:spcPts val="800"/>
              </a:spcAft>
              <a:defRPr sz="21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y や予測誤差は、AD 判定そのものには使わない</a:t>
            </a:r>
          </a:p>
          <a:p>
            <a:pPr>
              <a:spcAft>
                <a:spcPts val="800"/>
              </a:spcAft>
              <a:defRPr sz="21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この分離を最初に明確に</a:t>
            </a:r>
            <a:endParaRPr lang="en-US"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  <a:defRPr sz="215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しておくと、後の処理で混乱しにくい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Hold-Out 検証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296408"/>
              </p:ext>
            </p:extLst>
          </p:nvPr>
        </p:nvGraphicFramePr>
        <p:xfrm>
          <a:off x="180242" y="1153199"/>
          <a:ext cx="878351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9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9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データ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件数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役割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train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モデル学習と AD しきい値作成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50"/>
                      </a:pPr>
                      <a:r>
                        <a:rPr sz="19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性能評価と AD 判定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78124"/>
            <a:ext cx="7726680" cy="181737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250"/>
            </a:pPr>
            <a:r>
              <a:rPr sz="22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test_size=0.25 なので、全体の 25% をテストデータにする</a:t>
            </a:r>
          </a:p>
          <a:p>
            <a:pPr>
              <a:spcAft>
                <a:spcPts val="800"/>
              </a:spcAft>
              <a:defRPr sz="2250"/>
            </a:pPr>
            <a:r>
              <a:rPr sz="22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random_state=42 で再現性を固定する</a:t>
            </a:r>
          </a:p>
          <a:p>
            <a:pPr>
              <a:spcAft>
                <a:spcPts val="800"/>
              </a:spcAft>
              <a:defRPr sz="2250"/>
            </a:pPr>
            <a:r>
              <a:rPr sz="22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test の情報を学習や標準化の fit に混ぜない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7726680" cy="5143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150"/>
            </a:pPr>
            <a:r>
              <a:rPr sz="21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評価を楽観的にしないために、train と test の役割を分離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標準化が必要な理由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pic>
        <p:nvPicPr>
          <p:cNvPr id="4" name="Picture 3" descr="feature_scale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80210"/>
            <a:ext cx="4160520" cy="2366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09160" y="1200149"/>
            <a:ext cx="4311748" cy="3617595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800"/>
              </a:spcAft>
              <a:defRPr sz="208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距離ベースの AD では、</a:t>
            </a:r>
            <a:endParaRPr lang="en-US"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  <a:defRPr sz="208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単位が大きい特徴量が距離を支配してしまう</a:t>
            </a:r>
          </a:p>
          <a:p>
            <a:pPr>
              <a:spcAft>
                <a:spcPts val="800"/>
              </a:spcAft>
              <a:defRPr sz="208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標準化により、各特徴量を平均 0・標準偏差 1 にそろえる</a:t>
            </a:r>
          </a:p>
          <a:p>
            <a:pPr>
              <a:spcAft>
                <a:spcPts val="800"/>
              </a:spcAft>
              <a:defRPr sz="208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fit_transform は train のみに使い、test は transform のみ</a:t>
            </a:r>
            <a:endParaRPr lang="en-US" sz="24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  <a:defRPr sz="2080"/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行う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2040" y="4906899"/>
            <a:ext cx="3977640" cy="150876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83480" y="4989195"/>
            <a:ext cx="3794760" cy="1337310"/>
          </a:xfrm>
          <a:prstGeom prst="rect">
            <a:avLst/>
          </a:prstGeom>
          <a:noFill/>
        </p:spPr>
        <p:txBody>
          <a:bodyPr wrap="square" lIns="50800" tIns="50800" rIns="50800" bIns="50800">
            <a:normAutofit/>
          </a:bodyPr>
          <a:lstStyle/>
          <a:p>
            <a:pPr>
              <a:spcAft>
                <a:spcPts val="600"/>
              </a:spcAft>
              <a:defRPr sz="1580"/>
            </a:pPr>
            <a:r>
              <a:rPr sz="158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scaler = StandardScaler()
X_train_scaled = scaler.fit_transform(X_train)
X_test_scaled = scaler.transform(X_test)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モデル比較の見方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133115"/>
              </p:ext>
            </p:extLst>
          </p:nvPr>
        </p:nvGraphicFramePr>
        <p:xfrm>
          <a:off x="530352" y="1179576"/>
          <a:ext cx="783965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4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4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見方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平均絶対誤差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小さいほどよい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二乗誤差の平方根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大きな誤差を強く罰する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決定係数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 に近いほどよい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8138160" cy="126873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/>
          </a:bodyPr>
          <a:lstStyle/>
          <a:p>
            <a:pPr>
              <a:spcAft>
                <a:spcPts val="800"/>
              </a:spcAft>
              <a:defRPr sz="2250"/>
            </a:pPr>
            <a:r>
              <a:rPr sz="22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このノートブックでは RMSE が最小のモデルを AD 解析に使う</a:t>
            </a:r>
          </a:p>
          <a:p>
            <a:pPr>
              <a:spcAft>
                <a:spcPts val="800"/>
              </a:spcAft>
              <a:defRPr sz="2250"/>
            </a:pPr>
            <a:r>
              <a:rPr sz="22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比較条件は、同じ train/test 分割、同じ標準化済み説明変数、同じ評価指標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417820"/>
            <a:ext cx="7955280" cy="72009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500116"/>
            <a:ext cx="7772400" cy="548640"/>
          </a:xfrm>
          <a:prstGeom prst="rect">
            <a:avLst/>
          </a:prstGeom>
          <a:noFill/>
        </p:spPr>
        <p:txBody>
          <a:bodyPr wrap="square" lIns="38100" tIns="38100" rIns="38100" bIns="38100">
            <a:normAutofit fontScale="92500" lnSpcReduction="20000"/>
          </a:bodyPr>
          <a:lstStyle/>
          <a:p>
            <a:pPr>
              <a:spcAft>
                <a:spcPts val="600"/>
              </a:spcAft>
              <a:defRPr sz="1700"/>
            </a:pPr>
            <a:r>
              <a:rPr sz="17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candidate_model.fit(X_train_scaled, y_train)
candidate_pred = candidate_model.predict(X_test_scaled)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比較したモデル群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941072"/>
              </p:ext>
            </p:extLst>
          </p:nvPr>
        </p:nvGraphicFramePr>
        <p:xfrm>
          <a:off x="411480" y="1152144"/>
          <a:ext cx="83210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3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カテゴリ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モデル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ベースライン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Dummy (mean)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線形モデル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Linear Regression / Ridge / Lasso / Elastic Net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距離・カーネル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kNN / SVR (RBF)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木モデル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Decision Tree / Random Forest / Extra Trees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70"/>
                      </a:pPr>
                      <a:r>
                        <a:rPr sz="167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Gradient Boosting / Hist Gradient Boosting / AdaBoost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937760"/>
            <a:ext cx="7955280" cy="9258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150"/>
            </a:pPr>
            <a:r>
              <a:rPr sz="21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判定の仕組みは、選んだ回帰モデルとは独立
予測誤差の可視化には最良モデルの予測値を使用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モデル比較の結果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pic>
        <p:nvPicPr>
          <p:cNvPr id="4" name="Picture 3" descr="model_rm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967719"/>
            <a:ext cx="5349240" cy="36004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89132"/>
              </p:ext>
            </p:extLst>
          </p:nvPr>
        </p:nvGraphicFramePr>
        <p:xfrm>
          <a:off x="5440680" y="1200150"/>
          <a:ext cx="332912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値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選択モデル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Gradient 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2.028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2.993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20"/>
                      </a:pPr>
                      <a:r>
                        <a:rPr sz="192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0.872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0" y="4251960"/>
            <a:ext cx="3337560" cy="1062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100"/>
            </a:pPr>
            <a:r>
              <a:rPr sz="21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このモデルの予測値 y_pred で、AD 外の点の誤差を確認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2850" b="1">
                <a:solidFill>
                  <a:srgbClr val="1C2B3C"/>
                </a:solidFill>
              </a:defRPr>
            </a:pPr>
            <a:r>
              <a:rPr sz="2850" b="1">
                <a:solidFill>
                  <a:srgbClr val="1C2B3C"/>
                </a:solidFill>
                <a:latin typeface="Times New Roman"/>
                <a:ea typeface="Meiryo"/>
                <a:cs typeface="Times New Roman"/>
              </a:rPr>
              <a:t>kNN距離の直感: 近い学習データを探す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8321040" cy="18288"/>
          </a:xfrm>
          <a:prstGeom prst="rect">
            <a:avLst/>
          </a:prstGeom>
          <a:solidFill>
            <a:srgbClr val="2A5C96"/>
          </a:solidFill>
          <a:ln w="127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7787" y="1298448"/>
            <a:ext cx="433244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 sz="1512"/>
            </a:pP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927247" y="5321808"/>
            <a:ext cx="3816675" cy="0"/>
          </a:xfrm>
          <a:prstGeom prst="line">
            <a:avLst/>
          </a:prstGeom>
          <a:ln w="12700">
            <a:solidFill>
              <a:srgbClr val="7D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27247" y="1618488"/>
            <a:ext cx="1" cy="3703320"/>
          </a:xfrm>
          <a:prstGeom prst="line">
            <a:avLst/>
          </a:prstGeom>
          <a:ln w="12700">
            <a:solidFill>
              <a:srgbClr val="7D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28155" y="5422392"/>
            <a:ext cx="653305" cy="237744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77500" lnSpcReduction="20000"/>
          </a:bodyPr>
          <a:lstStyle/>
          <a:p>
            <a:pPr>
              <a:lnSpc>
                <a:spcPct val="108000"/>
              </a:lnSpc>
              <a:defRPr sz="1650" b="0">
                <a:solidFill>
                  <a:srgbClr val="505A64"/>
                </a:solidFill>
              </a:defRPr>
            </a:pPr>
            <a:r>
              <a:rPr sz="1650" b="0">
                <a:solidFill>
                  <a:srgbClr val="505A64"/>
                </a:solidFill>
                <a:latin typeface="Times New Roman"/>
                <a:ea typeface="Meiryo"/>
                <a:cs typeface="Times New Roman"/>
              </a:rPr>
              <a:t>特徴量1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802" y="1408176"/>
            <a:ext cx="653305" cy="237744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77500" lnSpcReduction="20000"/>
          </a:bodyPr>
          <a:lstStyle/>
          <a:p>
            <a:pPr>
              <a:lnSpc>
                <a:spcPct val="108000"/>
              </a:lnSpc>
              <a:defRPr sz="1650" b="0">
                <a:solidFill>
                  <a:srgbClr val="505A64"/>
                </a:solidFill>
              </a:defRPr>
            </a:pPr>
            <a:r>
              <a:rPr sz="1650" b="0">
                <a:solidFill>
                  <a:srgbClr val="505A64"/>
                </a:solidFill>
                <a:latin typeface="Times New Roman"/>
                <a:ea typeface="Meiryo"/>
                <a:cs typeface="Times New Roman"/>
              </a:rPr>
              <a:t>特徴量2</a:t>
            </a:r>
          </a:p>
        </p:txBody>
      </p:sp>
      <p:sp>
        <p:nvSpPr>
          <p:cNvPr id="9" name="Oval 8"/>
          <p:cNvSpPr/>
          <p:nvPr/>
        </p:nvSpPr>
        <p:spPr>
          <a:xfrm>
            <a:off x="2359360" y="2745845"/>
            <a:ext cx="1402886" cy="1402886"/>
          </a:xfrm>
          <a:prstGeom prst="ellipse">
            <a:avLst/>
          </a:prstGeom>
          <a:noFill/>
          <a:ln w="12700">
            <a:solidFill>
              <a:srgbClr val="A5AAB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670295" y="251104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9870" y="299110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76543" y="415696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72367" y="456844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3972335" y="254533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20246" y="329971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72335" y="432841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47343" y="2168148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84830" y="4019807"/>
            <a:ext cx="89400" cy="89400"/>
          </a:xfrm>
          <a:prstGeom prst="ellipse">
            <a:avLst/>
          </a:prstGeom>
          <a:solidFill>
            <a:srgbClr val="7896B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15240">
            <a:solidFill>
              <a:srgbClr val="5A78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5240">
            <a:solidFill>
              <a:srgbClr val="5A78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5A78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5240">
            <a:solidFill>
              <a:srgbClr val="5A78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5A78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719022" y="2977354"/>
            <a:ext cx="116907" cy="116907"/>
          </a:xfrm>
          <a:prstGeom prst="ellipse">
            <a:avLst/>
          </a:prstGeom>
          <a:solidFill>
            <a:srgbClr val="2364A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18334" y="3122676"/>
            <a:ext cx="35897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ctr">
              <a:lnSpc>
                <a:spcPct val="108000"/>
              </a:lnSpc>
              <a:defRPr sz="1250" b="1">
                <a:solidFill>
                  <a:srgbClr val="465A73"/>
                </a:solidFill>
              </a:defRPr>
            </a:pPr>
            <a:r>
              <a:rPr sz="1250" b="1">
                <a:solidFill>
                  <a:srgbClr val="465A73"/>
                </a:solidFill>
                <a:latin typeface="Times New Roman"/>
                <a:ea typeface="Meiryo"/>
                <a:cs typeface="Times New Roman"/>
              </a:rPr>
              <a:t>d1</a:t>
            </a:r>
          </a:p>
        </p:txBody>
      </p:sp>
      <p:sp>
        <p:nvSpPr>
          <p:cNvPr id="26" name="Oval 25"/>
          <p:cNvSpPr/>
          <p:nvPr/>
        </p:nvSpPr>
        <p:spPr>
          <a:xfrm>
            <a:off x="3285676" y="2977354"/>
            <a:ext cx="116907" cy="116907"/>
          </a:xfrm>
          <a:prstGeom prst="ellipse">
            <a:avLst/>
          </a:prstGeom>
          <a:solidFill>
            <a:srgbClr val="2364A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9944" y="3122676"/>
            <a:ext cx="35897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ctr">
              <a:lnSpc>
                <a:spcPct val="108000"/>
              </a:lnSpc>
              <a:defRPr sz="1250" b="1">
                <a:solidFill>
                  <a:srgbClr val="465A73"/>
                </a:solidFill>
              </a:defRPr>
            </a:pPr>
            <a:r>
              <a:rPr sz="1250" b="1">
                <a:solidFill>
                  <a:srgbClr val="465A73"/>
                </a:solidFill>
                <a:latin typeface="Times New Roman"/>
                <a:ea typeface="Meiryo"/>
                <a:cs typeface="Times New Roman"/>
              </a:rPr>
              <a:t>d2</a:t>
            </a:r>
          </a:p>
        </p:txBody>
      </p:sp>
      <p:sp>
        <p:nvSpPr>
          <p:cNvPr id="28" name="Oval 27"/>
          <p:cNvSpPr/>
          <p:nvPr/>
        </p:nvSpPr>
        <p:spPr>
          <a:xfrm>
            <a:off x="3533590" y="3457414"/>
            <a:ext cx="116907" cy="116907"/>
          </a:xfrm>
          <a:prstGeom prst="ellipse">
            <a:avLst/>
          </a:prstGeom>
          <a:solidFill>
            <a:srgbClr val="2364A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43900" y="3362706"/>
            <a:ext cx="303443" cy="2286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ctr">
              <a:lnSpc>
                <a:spcPct val="108000"/>
              </a:lnSpc>
              <a:defRPr sz="1250" b="1">
                <a:solidFill>
                  <a:srgbClr val="465A73"/>
                </a:solidFill>
              </a:defRPr>
            </a:pPr>
            <a:r>
              <a:rPr sz="1250" b="1">
                <a:solidFill>
                  <a:srgbClr val="465A73"/>
                </a:solidFill>
                <a:latin typeface="Times New Roman"/>
                <a:ea typeface="Meiryo"/>
                <a:cs typeface="Times New Roman"/>
              </a:rPr>
              <a:t>d3</a:t>
            </a:r>
          </a:p>
        </p:txBody>
      </p:sp>
      <p:sp>
        <p:nvSpPr>
          <p:cNvPr id="30" name="Oval 29"/>
          <p:cNvSpPr/>
          <p:nvPr/>
        </p:nvSpPr>
        <p:spPr>
          <a:xfrm>
            <a:off x="2648190" y="3800314"/>
            <a:ext cx="116907" cy="116907"/>
          </a:xfrm>
          <a:prstGeom prst="ellipse">
            <a:avLst/>
          </a:prstGeom>
          <a:solidFill>
            <a:srgbClr val="2364A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27156" y="3561701"/>
            <a:ext cx="35897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ctr">
              <a:lnSpc>
                <a:spcPct val="108000"/>
              </a:lnSpc>
              <a:defRPr sz="1250" b="1">
                <a:solidFill>
                  <a:srgbClr val="465A73"/>
                </a:solidFill>
              </a:defRPr>
            </a:pPr>
            <a:r>
              <a:rPr sz="1250" b="1">
                <a:solidFill>
                  <a:srgbClr val="465A73"/>
                </a:solidFill>
                <a:latin typeface="Times New Roman"/>
                <a:ea typeface="Meiryo"/>
                <a:cs typeface="Times New Roman"/>
              </a:rPr>
              <a:t>d4</a:t>
            </a:r>
          </a:p>
        </p:txBody>
      </p:sp>
      <p:sp>
        <p:nvSpPr>
          <p:cNvPr id="32" name="Oval 31"/>
          <p:cNvSpPr/>
          <p:nvPr/>
        </p:nvSpPr>
        <p:spPr>
          <a:xfrm>
            <a:off x="3108596" y="4108924"/>
            <a:ext cx="116907" cy="116907"/>
          </a:xfrm>
          <a:prstGeom prst="ellipse">
            <a:avLst/>
          </a:prstGeom>
          <a:solidFill>
            <a:srgbClr val="2364A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63838" y="4258818"/>
            <a:ext cx="35897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ctr">
              <a:lnSpc>
                <a:spcPct val="108000"/>
              </a:lnSpc>
              <a:defRPr sz="1250" b="1">
                <a:solidFill>
                  <a:srgbClr val="465A73"/>
                </a:solidFill>
              </a:defRPr>
            </a:pPr>
            <a:r>
              <a:rPr sz="1250" b="1">
                <a:solidFill>
                  <a:srgbClr val="465A73"/>
                </a:solidFill>
                <a:latin typeface="Times New Roman"/>
                <a:ea typeface="Meiryo"/>
                <a:cs typeface="Times New Roman"/>
              </a:rPr>
              <a:t>d5</a:t>
            </a:r>
          </a:p>
        </p:txBody>
      </p:sp>
      <p:sp>
        <p:nvSpPr>
          <p:cNvPr id="34" name="Oval 33"/>
          <p:cNvSpPr/>
          <p:nvPr/>
        </p:nvSpPr>
        <p:spPr>
          <a:xfrm>
            <a:off x="2978280" y="3364766"/>
            <a:ext cx="165045" cy="165045"/>
          </a:xfrm>
          <a:prstGeom prst="ellipse">
            <a:avLst/>
          </a:prstGeom>
          <a:solidFill>
            <a:srgbClr val="D246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40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1488" y="3822191"/>
            <a:ext cx="6400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 lnSpcReduction="10000"/>
          </a:bodyPr>
          <a:lstStyle/>
          <a:p>
            <a:pPr algn="ctr">
              <a:lnSpc>
                <a:spcPct val="108000"/>
              </a:lnSpc>
              <a:defRPr sz="1320" b="1">
                <a:solidFill>
                  <a:srgbClr val="96372D"/>
                </a:solidFill>
              </a:defRPr>
            </a:pPr>
            <a:r>
              <a:rPr sz="1320" b="1">
                <a:solidFill>
                  <a:srgbClr val="96372D"/>
                </a:solidFill>
                <a:latin typeface="Times New Roman"/>
                <a:ea typeface="Meiryo"/>
                <a:cs typeface="Times New Roman"/>
              </a:rPr>
              <a:t>対象点</a:t>
            </a:r>
          </a:p>
        </p:txBody>
      </p:sp>
      <p:sp>
        <p:nvSpPr>
          <p:cNvPr id="36" name="Oval 35"/>
          <p:cNvSpPr/>
          <p:nvPr/>
        </p:nvSpPr>
        <p:spPr>
          <a:xfrm>
            <a:off x="714064" y="5856618"/>
            <a:ext cx="82523" cy="82523"/>
          </a:xfrm>
          <a:prstGeom prst="ellipse">
            <a:avLst/>
          </a:prstGeom>
          <a:solidFill>
            <a:srgbClr val="D2463C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4724" y="5806440"/>
            <a:ext cx="106591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62500" lnSpcReduction="20000"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323C46"/>
                </a:solidFill>
              </a:defRPr>
            </a:pPr>
            <a:r>
              <a:rPr sz="1600" b="0">
                <a:solidFill>
                  <a:srgbClr val="323C46"/>
                </a:solidFill>
                <a:latin typeface="Times New Roman"/>
                <a:ea typeface="Meiryo"/>
                <a:cs typeface="Times New Roman"/>
              </a:rPr>
              <a:t>AD判定したい点</a:t>
            </a:r>
          </a:p>
        </p:txBody>
      </p:sp>
      <p:sp>
        <p:nvSpPr>
          <p:cNvPr id="38" name="Oval 37"/>
          <p:cNvSpPr/>
          <p:nvPr/>
        </p:nvSpPr>
        <p:spPr>
          <a:xfrm>
            <a:off x="2158210" y="5856618"/>
            <a:ext cx="82523" cy="82523"/>
          </a:xfrm>
          <a:prstGeom prst="ellipse">
            <a:avLst/>
          </a:prstGeom>
          <a:solidFill>
            <a:srgbClr val="2364A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8872" y="5806440"/>
            <a:ext cx="106591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70000" lnSpcReduction="20000"/>
          </a:bodyPr>
          <a:lstStyle/>
          <a:p>
            <a:pPr>
              <a:lnSpc>
                <a:spcPct val="108000"/>
              </a:lnSpc>
              <a:defRPr sz="1600" b="0">
                <a:solidFill>
                  <a:srgbClr val="323C46"/>
                </a:solidFill>
              </a:defRPr>
            </a:pPr>
            <a:r>
              <a:rPr sz="1600" b="0">
                <a:solidFill>
                  <a:srgbClr val="323C46"/>
                </a:solidFill>
                <a:latin typeface="Times New Roman"/>
                <a:ea typeface="Meiryo"/>
                <a:cs typeface="Times New Roman"/>
              </a:rPr>
              <a:t>近い学習データ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1234440"/>
            <a:ext cx="3246120" cy="37719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2000" b="1">
                <a:solidFill>
                  <a:srgbClr val="1C487D"/>
                </a:solidFill>
              </a:defRPr>
            </a:pPr>
            <a:r>
              <a:rPr sz="2000" b="1">
                <a:latin typeface="Times New Roman"/>
                <a:ea typeface="Meiryo"/>
                <a:cs typeface="Times New Roman"/>
              </a:rPr>
              <a:t>手順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9" y="1680210"/>
            <a:ext cx="3738489" cy="17830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1800" b="0">
                <a:solidFill>
                  <a:srgbClr val="2D3741"/>
                </a:solidFill>
              </a:defRPr>
            </a:pPr>
            <a:r>
              <a:rPr sz="1800"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1. 対象点を1つ選ぶ</a:t>
            </a:r>
          </a:p>
          <a:p>
            <a:pPr>
              <a:lnSpc>
                <a:spcPct val="108000"/>
              </a:lnSpc>
              <a:defRPr sz="1800" b="0">
                <a:solidFill>
                  <a:srgbClr val="2D3741"/>
                </a:solidFill>
              </a:defRPr>
            </a:pPr>
            <a:r>
              <a:rPr sz="1800"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2. 近い学習データを5点探す</a:t>
            </a:r>
          </a:p>
          <a:p>
            <a:pPr>
              <a:lnSpc>
                <a:spcPct val="108000"/>
              </a:lnSpc>
              <a:defRPr sz="1800" b="0">
                <a:solidFill>
                  <a:srgbClr val="2D3741"/>
                </a:solidFill>
              </a:defRPr>
            </a:pPr>
            <a:r>
              <a:rPr sz="1800"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3. 対象点から5点までの距離を測る</a:t>
            </a:r>
          </a:p>
          <a:p>
            <a:pPr>
              <a:lnSpc>
                <a:spcPct val="108000"/>
              </a:lnSpc>
              <a:defRPr sz="1800" b="0">
                <a:solidFill>
                  <a:srgbClr val="2D3741"/>
                </a:solidFill>
              </a:defRPr>
            </a:pPr>
            <a:r>
              <a:rPr sz="1800"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4. d1〜d5の平均を計算する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80433" y="3137535"/>
            <a:ext cx="3738489" cy="720090"/>
          </a:xfrm>
          <a:prstGeom prst="rect">
            <a:avLst/>
          </a:prstGeom>
          <a:solidFill>
            <a:srgbClr val="FFFFFF"/>
          </a:solidFill>
          <a:ln w="12700">
            <a:solidFill>
              <a:srgbClr val="829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600" b="1">
                <a:solidFill>
                  <a:srgbClr val="1C487D"/>
                </a:solidFill>
              </a:defRPr>
            </a:pPr>
            <a:r>
              <a:rPr sz="1600" b="1">
                <a:solidFill>
                  <a:srgbClr val="1C487D"/>
                </a:solidFill>
                <a:latin typeface="Times New Roman"/>
                <a:ea typeface="Meiryo"/>
                <a:cs typeface="Times New Roman"/>
              </a:rPr>
              <a:t>kNN平均距離 = mean(d1, d2, d3, d4, d5)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04674" y="4246368"/>
            <a:ext cx="3291840" cy="3429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1750" b="1">
                <a:solidFill>
                  <a:srgbClr val="1C487D"/>
                </a:solidFill>
              </a:defRPr>
            </a:pPr>
            <a:r>
              <a:rPr sz="1750" b="1">
                <a:solidFill>
                  <a:srgbClr val="1C487D"/>
                </a:solidFill>
                <a:latin typeface="Times New Roman"/>
                <a:ea typeface="Meiryo"/>
                <a:cs typeface="Times New Roman"/>
              </a:rPr>
              <a:t>読み方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0433" y="4534439"/>
            <a:ext cx="3843997" cy="195013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lnSpc>
                <a:spcPct val="108000"/>
              </a:lnSpc>
              <a:defRPr sz="1520" b="0">
                <a:solidFill>
                  <a:srgbClr val="2D3741"/>
                </a:solidFill>
              </a:defRPr>
            </a:pPr>
            <a:r>
              <a:rPr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小さい: 周囲に似た学習データが多い</a:t>
            </a:r>
          </a:p>
          <a:p>
            <a:pPr>
              <a:lnSpc>
                <a:spcPct val="108000"/>
              </a:lnSpc>
              <a:defRPr sz="1520" b="0">
                <a:solidFill>
                  <a:srgbClr val="2D3741"/>
                </a:solidFill>
              </a:defRPr>
            </a:pPr>
            <a:r>
              <a:rPr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大きい: 学習データから離れている</a:t>
            </a:r>
          </a:p>
          <a:p>
            <a:pPr>
              <a:lnSpc>
                <a:spcPct val="108000"/>
              </a:lnSpc>
              <a:defRPr sz="1520" b="0">
                <a:solidFill>
                  <a:srgbClr val="2D3741"/>
                </a:solidFill>
              </a:defRPr>
            </a:pPr>
            <a:endParaRPr b="0">
              <a:solidFill>
                <a:srgbClr val="2D3741"/>
              </a:solidFill>
              <a:latin typeface="Times New Roman"/>
              <a:ea typeface="Meiryo"/>
              <a:cs typeface="Times New Roman"/>
            </a:endParaRPr>
          </a:p>
          <a:p>
            <a:pPr>
              <a:lnSpc>
                <a:spcPct val="108000"/>
              </a:lnSpc>
              <a:defRPr sz="1520" b="0">
                <a:solidFill>
                  <a:srgbClr val="2D3741"/>
                </a:solidFill>
              </a:defRPr>
            </a:pPr>
            <a:r>
              <a:rPr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実際の計算は、標準化後の13次元空間で行う。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の距離計算: kNN 平均距離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208151"/>
            <a:ext cx="8595360" cy="126873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2250" b="0">
                <a:solidFill>
                  <a:srgbClr val="282828"/>
                </a:solidFill>
                <a:latin typeface="Yu Gothic"/>
              </a:defRPr>
            </a:pPr>
            <a:r>
              <a:rPr sz="24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対象点のまわりから、近い学習データを k 個探す</a:t>
            </a:r>
          </a:p>
          <a:p>
            <a:pPr>
              <a:lnSpc>
                <a:spcPct val="108000"/>
              </a:lnSpc>
              <a:defRPr sz="2250" b="0">
                <a:solidFill>
                  <a:srgbClr val="282828"/>
                </a:solidFill>
                <a:latin typeface="Yu Gothic"/>
              </a:defRPr>
            </a:pPr>
            <a:r>
              <a:rPr sz="24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今回は k = 5 なので、近い5点までの距離 d1〜d5 を使う</a:t>
            </a:r>
          </a:p>
          <a:p>
            <a:pPr>
              <a:lnSpc>
                <a:spcPct val="108000"/>
              </a:lnSpc>
              <a:defRPr sz="2250" b="0">
                <a:solidFill>
                  <a:srgbClr val="282828"/>
                </a:solidFill>
                <a:latin typeface="Yu Gothic"/>
              </a:defRPr>
            </a:pPr>
            <a:r>
              <a:rPr sz="24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5本の距離を平均した値を、その点の kNN 平均距離とする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37535"/>
            <a:ext cx="7863840" cy="5829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>
              <a:lnSpc>
                <a:spcPct val="108000"/>
              </a:lnSpc>
              <a:defRPr sz="2600" b="1">
                <a:solidFill>
                  <a:srgbClr val="1C487D"/>
                </a:solidFill>
                <a:latin typeface="Yu Gothic"/>
              </a:defRPr>
            </a:pPr>
            <a:r>
              <a:rPr sz="2600" b="1">
                <a:solidFill>
                  <a:srgbClr val="1C487D"/>
                </a:solidFill>
                <a:latin typeface="Times New Roman"/>
                <a:ea typeface="Meiryo"/>
                <a:cs typeface="Times New Roman"/>
              </a:rPr>
              <a:t>kNN平均距離 = mean(d1, d2, d3, d4, d5)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1" y="4501662"/>
            <a:ext cx="8321040" cy="126873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lnSpc>
                <a:spcPct val="108000"/>
              </a:lnSpc>
              <a:defRPr sz="2250" b="0">
                <a:solidFill>
                  <a:srgbClr val="282828"/>
                </a:solidFill>
                <a:latin typeface="Yu Gothic"/>
              </a:defRPr>
            </a:pPr>
            <a:r>
              <a:rPr sz="24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平均距離が小さい: 周囲に似た学習データが密にある</a:t>
            </a:r>
          </a:p>
          <a:p>
            <a:pPr>
              <a:lnSpc>
                <a:spcPct val="108000"/>
              </a:lnSpc>
              <a:defRPr sz="2250" b="0">
                <a:solidFill>
                  <a:srgbClr val="282828"/>
                </a:solidFill>
                <a:latin typeface="Yu Gothic"/>
              </a:defRPr>
            </a:pPr>
            <a:r>
              <a:rPr sz="24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平均距離が大きい: 学習データから離れて孤立している</a:t>
            </a:r>
          </a:p>
          <a:p>
            <a:pPr>
              <a:lnSpc>
                <a:spcPct val="108000"/>
              </a:lnSpc>
              <a:defRPr sz="2250" b="0">
                <a:solidFill>
                  <a:srgbClr val="282828"/>
                </a:solidFill>
                <a:latin typeface="Yu Gothic"/>
              </a:defRPr>
            </a:pPr>
            <a:r>
              <a:rPr sz="24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距離は、標準化後の説明変数空間で Euclidean distance として計算する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しきい値の決め方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516" y="1131570"/>
            <a:ext cx="4512212" cy="222885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100"/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距離空間: 標準化した説明変数空間</a:t>
            </a:r>
          </a:p>
          <a:p>
            <a:pPr>
              <a:spcAft>
                <a:spcPts val="800"/>
              </a:spcAft>
              <a:defRPr sz="2100"/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距離指標: Euclidean distance</a:t>
            </a:r>
          </a:p>
          <a:p>
            <a:pPr>
              <a:spcAft>
                <a:spcPts val="800"/>
              </a:spcAft>
              <a:defRPr sz="2100"/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k: 5</a:t>
            </a:r>
          </a:p>
          <a:p>
            <a:pPr>
              <a:spcAft>
                <a:spcPts val="800"/>
              </a:spcAft>
              <a:defRPr sz="2100"/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しきい値: 学習データ同士の 5 近傍平均距離の 95 パーセンタイル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2564" y="1131570"/>
            <a:ext cx="3931920" cy="294894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34004" y="1213866"/>
            <a:ext cx="3749040" cy="2777490"/>
          </a:xfrm>
          <a:prstGeom prst="rect">
            <a:avLst/>
          </a:prstGeom>
          <a:noFill/>
        </p:spPr>
        <p:txBody>
          <a:bodyPr wrap="square" lIns="50800" tIns="50800" rIns="50800" bIns="50800">
            <a:normAutofit/>
          </a:bodyPr>
          <a:lstStyle/>
          <a:p>
            <a:pPr>
              <a:spcAft>
                <a:spcPts val="600"/>
              </a:spcAft>
              <a:defRPr sz="1550"/>
            </a:pPr>
            <a:r>
              <a:rPr sz="15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nn = NearestNeighbors(n_neighbors=k + 1, metric='euclidean')
nn.fit(X_train_scaled)
train_distances, _ = nn.kneighbors(X_train_scaled)
train_mean = train_distances[:, 1:].mean(axis=1)
ad_threshold = np.percentile(train_mean, 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262" y="4910505"/>
            <a:ext cx="8115476" cy="9258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lnSpc>
                <a:spcPct val="108000"/>
              </a:lnSpc>
              <a:defRPr sz="1880" b="0">
                <a:solidFill>
                  <a:srgbClr val="2D3741"/>
                </a:solidFill>
                <a:latin typeface="Yu Gothic"/>
              </a:defRPr>
            </a:pPr>
            <a:r>
              <a:rPr sz="2000"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train を train から探すと、自分自身が距離 0 で 1 番目に返る。</a:t>
            </a:r>
          </a:p>
          <a:p>
            <a:pPr>
              <a:lnSpc>
                <a:spcPct val="108000"/>
              </a:lnSpc>
              <a:defRPr sz="1880" b="0">
                <a:solidFill>
                  <a:srgbClr val="2D3741"/>
                </a:solidFill>
                <a:latin typeface="Yu Gothic"/>
              </a:defRPr>
            </a:pPr>
            <a:r>
              <a:rPr sz="2000" b="0">
                <a:solidFill>
                  <a:srgbClr val="2D3741"/>
                </a:solidFill>
                <a:latin typeface="Times New Roman"/>
                <a:ea typeface="Meiryo"/>
                <a:cs typeface="Times New Roman"/>
              </a:rPr>
              <a:t>だから k + 1 個取り、距離 0 の列を除いてから 5 近傍平均を計算する。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28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なぜ train は k+1、test は k 個なのか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32688"/>
            <a:ext cx="8321040" cy="18288"/>
          </a:xfrm>
          <a:prstGeom prst="rect">
            <a:avLst/>
          </a:prstGeom>
          <a:solidFill>
            <a:srgbClr val="787878"/>
          </a:solidFill>
          <a:ln w="127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9018" y="1188720"/>
            <a:ext cx="388544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 lnSpcReduction="20000"/>
          </a:bodyPr>
          <a:lstStyle/>
          <a:p>
            <a:pPr algn="ctr">
              <a:lnSpc>
                <a:spcPct val="108000"/>
              </a:lnSpc>
              <a:defRPr sz="2000" b="1">
                <a:solidFill>
                  <a:srgbClr val="191919"/>
                </a:solidFill>
              </a:defRPr>
            </a:pPr>
            <a:r>
              <a:rPr sz="20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train同士で近傍を探す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12691" y="1188720"/>
            <a:ext cx="388544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 lnSpcReduction="20000"/>
          </a:bodyPr>
          <a:lstStyle/>
          <a:p>
            <a:pPr algn="ctr">
              <a:lnSpc>
                <a:spcPct val="108000"/>
              </a:lnSpc>
              <a:defRPr sz="2000" b="1">
                <a:solidFill>
                  <a:srgbClr val="191919"/>
                </a:solidFill>
              </a:defRPr>
            </a:pPr>
            <a:r>
              <a:rPr sz="20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testからtrainの近傍を探す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06384" y="1170432"/>
            <a:ext cx="1" cy="5138928"/>
          </a:xfrm>
          <a:prstGeom prst="line">
            <a:avLst/>
          </a:prstGeom>
          <a:ln w="1270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39273" y="1680210"/>
            <a:ext cx="17879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677616" y="2121767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793148" y="2853562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Oval 9"/>
          <p:cNvSpPr/>
          <p:nvPr/>
        </p:nvSpPr>
        <p:spPr>
          <a:xfrm>
            <a:off x="1688519" y="2149382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46286" y="2812139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69885" y="2248838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59803" y="2276454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Oval 18"/>
          <p:cNvSpPr/>
          <p:nvPr/>
        </p:nvSpPr>
        <p:spPr>
          <a:xfrm>
            <a:off x="1504219" y="2552602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091" y="2745906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73155" y="2911596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39055" y="2478804"/>
            <a:ext cx="130661" cy="130661"/>
          </a:xfrm>
          <a:prstGeom prst="ellipse">
            <a:avLst/>
          </a:prstGeom>
          <a:solidFill>
            <a:srgbClr val="B43C34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7448" y="2690439"/>
            <a:ext cx="74980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 algn="ctr">
              <a:lnSpc>
                <a:spcPct val="108000"/>
              </a:lnSpc>
              <a:defRPr sz="1420" b="1">
                <a:solidFill>
                  <a:srgbClr val="191919"/>
                </a:solidFill>
              </a:defRPr>
            </a:pPr>
            <a:r>
              <a:rPr sz="142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train点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0229" y="1691640"/>
            <a:ext cx="17879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Oval 24"/>
          <p:cNvSpPr/>
          <p:nvPr/>
        </p:nvSpPr>
        <p:spPr>
          <a:xfrm>
            <a:off x="5288573" y="2133197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04104" y="2864992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99476" y="2160812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57242" y="2823569"/>
            <a:ext cx="71518" cy="71518"/>
          </a:xfrm>
          <a:prstGeom prst="ellipse">
            <a:avLst/>
          </a:prstGeom>
          <a:solidFill>
            <a:srgbClr val="AAAAA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143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580840" y="2260268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70760" y="2287884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36" name="Oval 35"/>
          <p:cNvSpPr/>
          <p:nvPr/>
        </p:nvSpPr>
        <p:spPr>
          <a:xfrm>
            <a:off x="6115174" y="2564032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53048" y="2757336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84112" y="2923026"/>
            <a:ext cx="93525" cy="93525"/>
          </a:xfrm>
          <a:prstGeom prst="ellipse">
            <a:avLst/>
          </a:prstGeom>
          <a:solidFill>
            <a:srgbClr val="878787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39" name="Oval 38"/>
          <p:cNvSpPr/>
          <p:nvPr/>
        </p:nvSpPr>
        <p:spPr>
          <a:xfrm>
            <a:off x="5750012" y="2490234"/>
            <a:ext cx="130661" cy="130661"/>
          </a:xfrm>
          <a:prstGeom prst="ellipse">
            <a:avLst/>
          </a:prstGeom>
          <a:solidFill>
            <a:srgbClr val="B43C34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88405" y="2701869"/>
            <a:ext cx="74980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 algn="ctr">
              <a:lnSpc>
                <a:spcPct val="108000"/>
              </a:lnSpc>
              <a:defRPr sz="1420" b="1">
                <a:solidFill>
                  <a:srgbClr val="191919"/>
                </a:solidFill>
              </a:defRPr>
            </a:pPr>
            <a:r>
              <a:rPr sz="142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test点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3952" y="1681312"/>
            <a:ext cx="2321054" cy="204111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探索対象も train。</a:t>
            </a:r>
          </a:p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対象点自身が集合に含まれるため、</a:t>
            </a:r>
          </a:p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最初に距離0の</a:t>
            </a:r>
            <a:endParaRPr lang="en-US" sz="2000">
              <a:solidFill>
                <a:srgbClr val="232323"/>
              </a:solidFill>
              <a:latin typeface="Times New Roman"/>
              <a:ea typeface="Meiryo"/>
              <a:cs typeface="Times New Roman"/>
            </a:endParaRPr>
          </a:p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「自分自身」が</a:t>
            </a:r>
            <a:endParaRPr lang="en-US" sz="2000" b="0">
              <a:solidFill>
                <a:srgbClr val="232323"/>
              </a:solidFill>
              <a:latin typeface="Times New Roman"/>
              <a:ea typeface="Meiryo"/>
              <a:cs typeface="Times New Roman"/>
            </a:endParaRPr>
          </a:p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返る。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7999" y="1680210"/>
            <a:ext cx="2285999" cy="174879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探索対象は train。</a:t>
            </a:r>
          </a:p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test点は train 集合に含まれないため、</a:t>
            </a:r>
          </a:p>
          <a:p>
            <a:pPr>
              <a:lnSpc>
                <a:spcPct val="108000"/>
              </a:lnSpc>
              <a:defRPr sz="1450" b="0">
                <a:solidFill>
                  <a:srgbClr val="232323"/>
                </a:solidFill>
              </a:defRPr>
            </a:pPr>
            <a:r>
              <a:rPr sz="2000" b="0">
                <a:solidFill>
                  <a:srgbClr val="232323"/>
                </a:solidFill>
                <a:latin typeface="Times New Roman"/>
                <a:ea typeface="Meiryo"/>
                <a:cs typeface="Times New Roman"/>
              </a:rPr>
              <a:t>距離0の自分自身は返らない。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556" y="3749039"/>
            <a:ext cx="16916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1420" b="1">
                <a:solidFill>
                  <a:srgbClr val="191919"/>
                </a:solidFill>
              </a:defRPr>
            </a:pPr>
            <a:r>
              <a:rPr sz="142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返ってくる順番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0229" y="3749039"/>
            <a:ext cx="16916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1420" b="1">
                <a:solidFill>
                  <a:srgbClr val="191919"/>
                </a:solidFill>
              </a:defRPr>
            </a:pPr>
            <a:r>
              <a:rPr sz="142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返ってくる順番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6556" y="4160520"/>
            <a:ext cx="343845" cy="384048"/>
          </a:xfrm>
          <a:prstGeom prst="rect">
            <a:avLst/>
          </a:prstGeom>
          <a:solidFill>
            <a:srgbClr val="F8E8E6"/>
          </a:solidFill>
          <a:ln w="11430">
            <a:solidFill>
              <a:srgbClr val="DC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B43C34"/>
                </a:solidFill>
              </a:defRPr>
            </a:pPr>
            <a:r>
              <a:rPr sz="1800" b="1">
                <a:solidFill>
                  <a:srgbClr val="B43C34"/>
                </a:solidFill>
                <a:latin typeface="Times New Roman"/>
                <a:ea typeface="Meiryo"/>
                <a:cs typeface="Times New Roman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2292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98029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3766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09502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15239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0229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55966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1702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7439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73176" y="4160520"/>
            <a:ext cx="343845" cy="384048"/>
          </a:xfrm>
          <a:prstGeom prst="rect">
            <a:avLst/>
          </a:prstGeom>
          <a:solidFill>
            <a:srgbClr val="EEEEEE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191919"/>
                </a:solidFill>
              </a:defRPr>
            </a:pPr>
            <a:r>
              <a:rPr sz="18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9018" y="4617720"/>
            <a:ext cx="207531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1400" b="1">
                <a:solidFill>
                  <a:srgbClr val="B43C34"/>
                </a:solidFill>
              </a:defRPr>
            </a:pPr>
            <a:r>
              <a:rPr sz="1400" b="1">
                <a:solidFill>
                  <a:srgbClr val="B43C34"/>
                </a:solidFill>
                <a:latin typeface="Times New Roman"/>
                <a:ea typeface="Meiryo"/>
                <a:cs typeface="Times New Roman"/>
              </a:rPr>
              <a:t>0 は自分自身なので除外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4617720"/>
            <a:ext cx="16916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1400" b="1">
                <a:solidFill>
                  <a:srgbClr val="191919"/>
                </a:solidFill>
              </a:defRPr>
            </a:pPr>
            <a:r>
              <a:rPr sz="14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1〜5 の5点を使う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46904" y="4617720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1400" b="1">
                <a:solidFill>
                  <a:srgbClr val="191919"/>
                </a:solidFill>
              </a:defRPr>
            </a:pPr>
            <a:r>
              <a:rPr sz="14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先頭5点をそのまま使う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5177790"/>
            <a:ext cx="374904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380" b="1">
                <a:solidFill>
                  <a:srgbClr val="191919"/>
                </a:solidFill>
              </a:defRPr>
            </a:pPr>
            <a:r>
              <a:rPr sz="138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train_distances[:, 1:]  # 0列目を除外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5177790"/>
            <a:ext cx="3749040" cy="582930"/>
          </a:xfrm>
          <a:prstGeom prst="rect">
            <a:avLst/>
          </a:prstGeom>
          <a:solidFill>
            <a:srgbClr val="FFFFFF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lnSpc>
                <a:spcPct val="108000"/>
              </a:lnSpc>
              <a:defRPr sz="1380" b="1">
                <a:solidFill>
                  <a:srgbClr val="191919"/>
                </a:solidFill>
              </a:defRPr>
            </a:pPr>
            <a:r>
              <a:rPr sz="138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test_distances[:, :k]  # 先頭k個を使う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7190" y="6353084"/>
            <a:ext cx="8389619" cy="37719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ctr">
              <a:lnSpc>
                <a:spcPct val="108000"/>
              </a:lnSpc>
              <a:defRPr sz="1380" b="1">
                <a:solidFill>
                  <a:srgbClr val="191919"/>
                </a:solidFill>
              </a:defRPr>
            </a:pPr>
            <a:r>
              <a:rPr sz="2000" b="1">
                <a:solidFill>
                  <a:srgbClr val="191919"/>
                </a:solidFill>
                <a:latin typeface="Times New Roman"/>
                <a:ea typeface="Meiryo"/>
                <a:cs typeface="Times New Roman"/>
              </a:rPr>
              <a:t>要点: 近傍探索の対象集合に「対象点自身」が含まれるかどうかが違う。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95 パーセンタイルの意味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00150"/>
            <a:ext cx="7955280" cy="174879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学習データの「典型的な密度」を基準にする</a:t>
            </a:r>
          </a:p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上位 5% の疎な距離を境界にする</a:t>
            </a:r>
          </a:p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最大値をしきい値にすると、外れ値に引っ張られやすい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60420"/>
            <a:ext cx="8046720" cy="6172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>
              <a:spcAft>
                <a:spcPts val="600"/>
              </a:spcAft>
              <a:defRPr sz="2700"/>
            </a:pPr>
            <a:r>
              <a:rPr sz="27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train_mean の 95th percentile = AD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60570"/>
            <a:ext cx="7863840" cy="113157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90%, 95%, 99% などは目的に応じて調整する</a:t>
            </a:r>
          </a:p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厳しくすると AD 外が増え、緩くすると AD 外が減る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テストデータの AD 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65860"/>
            <a:ext cx="4617720" cy="178308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 sz="1512"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4434840" cy="1611630"/>
          </a:xfrm>
          <a:prstGeom prst="rect">
            <a:avLst/>
          </a:prstGeom>
          <a:noFill/>
        </p:spPr>
        <p:txBody>
          <a:bodyPr wrap="square" lIns="50800" tIns="50800" rIns="50800" bIns="50800">
            <a:normAutofit/>
          </a:bodyPr>
          <a:lstStyle/>
          <a:p>
            <a:pPr>
              <a:spcAft>
                <a:spcPts val="600"/>
              </a:spcAft>
              <a:defRPr sz="1650"/>
            </a:pPr>
            <a:r>
              <a:rPr sz="16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test_distances, _ = nn.kneighbors(X_test_scaled)
test_mean = test_distances[:, :k].mean(axis=1)
is_in_ad = test_mean &lt;= ad_threshold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005067"/>
              </p:ext>
            </p:extLst>
          </p:nvPr>
        </p:nvGraphicFramePr>
        <p:xfrm>
          <a:off x="5349240" y="1165860"/>
          <a:ext cx="3507215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判定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test_mean &lt;= threshold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test_mean &gt; threshold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/>
                      </a:pPr>
                      <a:r>
                        <a:rPr sz="19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11929"/>
            <a:ext cx="8229600" cy="18516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lnSpc>
                <a:spcPct val="108000"/>
              </a:lnSpc>
              <a:defRPr sz="2200" b="0">
                <a:solidFill>
                  <a:srgbClr val="282828"/>
                </a:solidFill>
                <a:latin typeface="Yu Gothic"/>
              </a:defRPr>
            </a:pPr>
            <a:r>
              <a:rPr sz="22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test 点は train 集合に含まれないので、自分自身への距離 0 は返らない</a:t>
            </a:r>
          </a:p>
          <a:p>
            <a:pPr>
              <a:lnSpc>
                <a:spcPct val="108000"/>
              </a:lnSpc>
              <a:defRPr sz="2200" b="0">
                <a:solidFill>
                  <a:srgbClr val="282828"/>
                </a:solidFill>
                <a:latin typeface="Yu Gothic"/>
              </a:defRPr>
            </a:pPr>
            <a:r>
              <a:rPr sz="22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返ってきた先頭 k 個が、そのまま「近い k 個の学習データ」になる</a:t>
            </a:r>
          </a:p>
          <a:p>
            <a:pPr>
              <a:lnSpc>
                <a:spcPct val="108000"/>
              </a:lnSpc>
              <a:defRPr sz="2200" b="0">
                <a:solidFill>
                  <a:srgbClr val="282828"/>
                </a:solidFill>
                <a:latin typeface="Yu Gothic"/>
              </a:defRPr>
            </a:pPr>
            <a:r>
              <a:rPr sz="2200" b="0">
                <a:solidFill>
                  <a:srgbClr val="282828"/>
                </a:solidFill>
                <a:latin typeface="Times New Roman"/>
                <a:ea typeface="Meiryo"/>
                <a:cs typeface="Times New Roman"/>
              </a:rPr>
              <a:t>・ AD 判定は予測値 y_pred の正しさを直接見ていない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300"/>
            </a:pPr>
            <a:r>
              <a:rPr sz="33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このノートブックの AD 設定と結果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420098"/>
              </p:ext>
            </p:extLst>
          </p:nvPr>
        </p:nvGraphicFramePr>
        <p:xfrm>
          <a:off x="548640" y="1152144"/>
          <a:ext cx="309460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設定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値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距離指標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Euclidean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percentile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95%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threshold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30"/>
                      </a:pPr>
                      <a:r>
                        <a:rPr sz="19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2.435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291507"/>
              </p:ext>
            </p:extLst>
          </p:nvPr>
        </p:nvGraphicFramePr>
        <p:xfrm>
          <a:off x="4251960" y="1152144"/>
          <a:ext cx="309460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判定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件数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 全体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/>
                      </a:pPr>
                      <a:r>
                        <a:rPr sz="21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560570"/>
            <a:ext cx="7955280" cy="9944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200"/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今回の分割: テスト 127 件中 4 件が AD 外
少数でも、スクリーニングでは「要確認候補」として重要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250"/>
            </a:pPr>
            <a:r>
              <a:rPr sz="325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可視化1: 学習データの距離分布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pic>
        <p:nvPicPr>
          <p:cNvPr id="4" name="Picture 3" descr="train_distan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7370"/>
            <a:ext cx="5577840" cy="3188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234440"/>
            <a:ext cx="2743200" cy="4011929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横軸: 学習データ各点の 5 近傍平均距離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赤破線: AD しきい値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右側ほど、学習データの中でも周囲が疎な点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しきい値は test から作らず、train の分布だけで決める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300"/>
            </a:pPr>
            <a:r>
              <a:rPr sz="33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可視化2: 距離と予測誤差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pic>
        <p:nvPicPr>
          <p:cNvPr id="4" name="Picture 3" descr="error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7370"/>
            <a:ext cx="5577840" cy="3120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2200" y="1234440"/>
            <a:ext cx="2880360" cy="4011929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横軸: test の 5 近傍平均距離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縦軸: 絶対誤差 |actual - predicted|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赤破線より右が AD 外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外では誤差が大きくなりやすい傾向を確認する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可視化3: 実測値と予測値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pic>
        <p:nvPicPr>
          <p:cNvPr id="4" name="Picture 3" descr="actual_vs_pred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39319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66359" y="1303020"/>
            <a:ext cx="3794760" cy="380619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150"/>
            </a:pPr>
            <a:r>
              <a:rPr sz="21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点が対角線に近いほど予測が良い</a:t>
            </a:r>
          </a:p>
          <a:p>
            <a:pPr>
              <a:spcAft>
                <a:spcPts val="800"/>
              </a:spcAft>
              <a:defRPr sz="2150"/>
            </a:pPr>
            <a:r>
              <a:rPr sz="21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色とマーカーで AD 内外を区別する</a:t>
            </a:r>
          </a:p>
          <a:p>
            <a:pPr>
              <a:spcAft>
                <a:spcPts val="800"/>
              </a:spcAft>
              <a:defRPr sz="2150"/>
            </a:pPr>
            <a:r>
              <a:rPr sz="21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外の点は予測値の信頼性を低めに扱う</a:t>
            </a:r>
          </a:p>
          <a:p>
            <a:pPr>
              <a:spcAft>
                <a:spcPts val="800"/>
              </a:spcAft>
              <a:defRPr sz="2150"/>
            </a:pPr>
            <a:r>
              <a:rPr sz="21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予測性能と入力空間での近さを同時に見る図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内外で性能を比べる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79576"/>
          <a:ext cx="790842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2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mean distance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inside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1.976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2.927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1.088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outside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3.626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4.565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50"/>
                      </a:pPr>
                      <a:r>
                        <a:rPr sz="185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3.479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120390"/>
            <a:ext cx="34747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700"/>
            </a:pPr>
            <a:r>
              <a:rPr sz="27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inside MAE = 1.976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120390"/>
            <a:ext cx="35661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700"/>
            </a:pPr>
            <a:r>
              <a:rPr sz="27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outside MAE = 3.626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251960"/>
            <a:ext cx="7955280" cy="144018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/>
          </a:bodyPr>
          <a:lstStyle/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今回の分割では AD 外の平均誤差が AD 内より大きい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outside は 4 件だけなので、統計的に強い結論ではなく可視化による確認として扱う</a:t>
            </a:r>
          </a:p>
          <a:p>
            <a:pPr>
              <a:spcAft>
                <a:spcPts val="800"/>
              </a:spcAft>
              <a:defRPr sz="2050"/>
            </a:pPr>
            <a:r>
              <a:rPr sz="20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判定は、予測値を採用するか追加検証するかの判断材料になる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外サンプルの確認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10996"/>
          <a:ext cx="8045963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0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>
                        <a:defRPr sz="1630"/>
                      </a:pPr>
                      <a:r>
                        <a:rPr sz="163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actual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pred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abs_error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distance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sample_419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8.8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6.575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2.225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4.468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sample_415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7.372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0.372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3.924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sample_366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27.5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23.467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4.033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2.767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sample_413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17.9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10.027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7.873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30"/>
                      </a:pPr>
                      <a:r>
                        <a:rPr sz="163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2.757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806190"/>
            <a:ext cx="8229600" cy="229743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1720"/>
            </a:pPr>
            <a:r>
              <a:rPr sz="172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距離が大きい順に並べると、どのテスト点が学習データから離れているか分かる</a:t>
            </a:r>
          </a:p>
          <a:p>
            <a:pPr>
              <a:spcAft>
                <a:spcPts val="800"/>
              </a:spcAft>
              <a:defRPr sz="1720"/>
            </a:pPr>
            <a:r>
              <a:rPr sz="172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sample_413 は AD 外かつ誤差も大きいので、予測信頼性に注意する例として説明しやすい</a:t>
            </a:r>
          </a:p>
          <a:p>
            <a:pPr>
              <a:spcAft>
                <a:spcPts val="800"/>
              </a:spcAft>
              <a:defRPr sz="1720"/>
            </a:pPr>
            <a:r>
              <a:rPr sz="172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sample_415 のように AD 外でも誤差が小さい点はある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2次元で見た直感（PCA）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pic>
        <p:nvPicPr>
          <p:cNvPr id="4" name="Picture 3" descr="pca_a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35318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234440"/>
            <a:ext cx="2834640" cy="40462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000"/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直感把握のため、13 次元の標準化空間を PCA で 2 次元に圧縮</a:t>
            </a:r>
          </a:p>
          <a:p>
            <a:pPr>
              <a:spcAft>
                <a:spcPts val="800"/>
              </a:spcAft>
              <a:defRPr sz="2000"/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判定そのものは、PCA 後ではなく 13 次元の距離で行っている</a:t>
            </a:r>
          </a:p>
          <a:p>
            <a:pPr>
              <a:spcAft>
                <a:spcPts val="800"/>
              </a:spcAft>
              <a:defRPr sz="2000"/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2 次元図は直感を助けるが、距離関係が完全に保存されるわけではない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を使うときの限界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00150"/>
            <a:ext cx="7955280" cy="1954529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内でも予測が外れることはある</a:t>
            </a:r>
          </a:p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外でも偶然当たることはある</a:t>
            </a:r>
          </a:p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距離・k・percentile の選び方に依存する</a:t>
            </a:r>
          </a:p>
          <a:p>
            <a:pPr>
              <a:spcAft>
                <a:spcPts val="800"/>
              </a:spcAft>
              <a:defRPr sz="2350"/>
            </a:pPr>
            <a:r>
              <a:rPr sz="23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特徴量設計が悪いと AD も悪くなる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69030"/>
            <a:ext cx="8046720" cy="202311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3758184"/>
            <a:ext cx="7863840" cy="185166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>
              <a:spcAft>
                <a:spcPts val="800"/>
              </a:spcAft>
              <a:defRPr sz="2200"/>
            </a:pPr>
            <a:r>
              <a:rPr sz="22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それでも AD が有用な理由</a:t>
            </a:r>
          </a:p>
          <a:p>
            <a:pPr>
              <a:spcAft>
                <a:spcPts val="800"/>
              </a:spcAft>
              <a:defRPr sz="2200"/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予測値だけを出すより、「この予測は学習データに近い入力か？」を同時に示せる</a:t>
            </a:r>
          </a:p>
          <a:p>
            <a:pPr>
              <a:spcAft>
                <a:spcPts val="800"/>
              </a:spcAft>
              <a:defRPr sz="2200"/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実験コストが高い材料探索では、追加検証すべき候補を選ぶ補助線になる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3400"/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00150"/>
            <a:ext cx="7955280" cy="342900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は、モデルが相対的に信頼しやすい入力範囲を表す</a:t>
            </a:r>
          </a:p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今回は標準化した説明変数空間で kNN 平均距離を使った</a:t>
            </a:r>
          </a:p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train の距離分布から 95 パーセンタイルをしきい値にした</a:t>
            </a:r>
          </a:p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test では 123 件が AD 内、4 件が AD 外になった</a:t>
            </a:r>
          </a:p>
          <a:p>
            <a:pPr>
              <a:spcAft>
                <a:spcPts val="800"/>
              </a:spcAft>
              <a:defRPr sz="2300"/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外は「予測値を疑って確認する候補」として扱う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177790"/>
            <a:ext cx="7955280" cy="7886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spcAft>
                <a:spcPts val="600"/>
              </a:spcAft>
              <a:defRPr sz="2150"/>
            </a:pPr>
            <a:r>
              <a:rPr sz="215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= 「予測値」だけでなく「その予測を使ってよい範囲か」を一緒に見る考え方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1492</Words>
  <Application>Microsoft Macintosh PowerPoint</Application>
  <PresentationFormat>画面に合わせる (4:3)</PresentationFormat>
  <Paragraphs>348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Fukumoto Riku</cp:lastModifiedBy>
  <cp:revision>13</cp:revision>
  <dcterms:created xsi:type="dcterms:W3CDTF">2013-01-27T09:14:16Z</dcterms:created>
  <dcterms:modified xsi:type="dcterms:W3CDTF">2026-07-04T17:17:30Z</dcterms:modified>
  <cp:category/>
</cp:coreProperties>
</file>