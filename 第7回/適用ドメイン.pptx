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102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11"/>
    <p:restoredTop sz="96301"/>
  </p:normalViewPr>
  <p:slideViewPr>
    <p:cSldViewPr snapToGrid="0">
      <p:cViewPr>
        <p:scale>
          <a:sx n="113" d="100"/>
          <a:sy n="113" d="100"/>
        </p:scale>
        <p:origin x="385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6048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6129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6037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2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1541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21217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5248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1569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3592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80112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2057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ABAED-50E7-9A4C-B864-914D5B778323}" type="datetimeFigureOut">
              <a:rPr lang="en-JP" smtClean="0"/>
              <a:t>2026/06/30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A71B4-8161-8249-A0BF-49B9C70C32F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6246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C3A6CF-369E-EF4B-E6A4-9AC44E2FCAA3}"/>
              </a:ext>
            </a:extLst>
          </p:cNvPr>
          <p:cNvSpPr txBox="1"/>
          <p:nvPr/>
        </p:nvSpPr>
        <p:spPr>
          <a:xfrm>
            <a:off x="235404" y="27589"/>
            <a:ext cx="638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b="1" dirty="0">
                <a:latin typeface="Helvetica" pitchFamily="2" charset="0"/>
                <a:ea typeface="BIZ UDGothic" panose="020B0400000000000000" pitchFamily="49" charset="-128"/>
              </a:rPr>
              <a:t>適用ドメイン（AD: Applicability Domain）</a:t>
            </a:r>
          </a:p>
        </p:txBody>
      </p:sp>
      <p:cxnSp>
        <p:nvCxnSpPr>
          <p:cNvPr id="6" name="直線コネクタ 4">
            <a:extLst>
              <a:ext uri="{FF2B5EF4-FFF2-40B4-BE49-F238E27FC236}">
                <a16:creationId xmlns:a16="http://schemas.microsoft.com/office/drawing/2014/main" id="{0D79A95B-9B7A-3C06-FE2E-14399E332A23}"/>
              </a:ext>
            </a:extLst>
          </p:cNvPr>
          <p:cNvCxnSpPr>
            <a:cxnSpLocks/>
          </p:cNvCxnSpPr>
          <p:nvPr/>
        </p:nvCxnSpPr>
        <p:spPr>
          <a:xfrm>
            <a:off x="235404" y="489254"/>
            <a:ext cx="7870451" cy="0"/>
          </a:xfrm>
          <a:prstGeom prst="line">
            <a:avLst/>
          </a:prstGeom>
          <a:ln w="41275">
            <a:solidFill>
              <a:schemeClr val="accent1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F94A3E8-D688-3105-EC79-2D92C972C7B4}"/>
              </a:ext>
            </a:extLst>
          </p:cNvPr>
          <p:cNvSpPr txBox="1"/>
          <p:nvPr/>
        </p:nvSpPr>
        <p:spPr>
          <a:xfrm>
            <a:off x="376573" y="984242"/>
            <a:ext cx="824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Helvetica" pitchFamily="2" charset="0"/>
                <a:ea typeface="BIZ UDGothic" panose="020B0400000000000000" pitchFamily="49" charset="-128"/>
              </a:rPr>
              <a:t>・ADとは、予測モデルが信頼できる特徴量空間(内挿)のこと</a:t>
            </a:r>
          </a:p>
          <a:p>
            <a:r>
              <a:rPr lang="en-JP" dirty="0">
                <a:latin typeface="Helvetica" pitchFamily="2" charset="0"/>
                <a:ea typeface="BIZ UDGothic" panose="020B0400000000000000" pitchFamily="49" charset="-128"/>
              </a:rPr>
              <a:t>・トレーニングデータから離れた領域(外挿)への予測は精度が悪化しやすく、予測の信頼性も低い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A370BB0B-0533-737F-39FD-DC6DC3367FA0}"/>
              </a:ext>
            </a:extLst>
          </p:cNvPr>
          <p:cNvSpPr/>
          <p:nvPr/>
        </p:nvSpPr>
        <p:spPr>
          <a:xfrm rot="10800000">
            <a:off x="3577198" y="1895774"/>
            <a:ext cx="1844641" cy="3937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Helvetica" pitchFamily="2" charset="0"/>
              <a:ea typeface="BIZ UDGothic" panose="020B0400000000000000" pitchFamily="49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A9659-AB64-FC59-C836-FCB53ECA55EE}"/>
              </a:ext>
            </a:extLst>
          </p:cNvPr>
          <p:cNvSpPr txBox="1"/>
          <p:nvPr/>
        </p:nvSpPr>
        <p:spPr>
          <a:xfrm>
            <a:off x="637724" y="2413000"/>
            <a:ext cx="7723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000" b="1" dirty="0">
                <a:solidFill>
                  <a:schemeClr val="accent5"/>
                </a:solidFill>
                <a:latin typeface="Helvetica" pitchFamily="2" charset="0"/>
                <a:ea typeface="BIZ UDGothic" panose="020B0400000000000000" pitchFamily="49" charset="-128"/>
              </a:rPr>
              <a:t>テストデータが、トレーニングデータのAD内かどうかを判断する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E3434B-797D-DA19-4566-923447116185}"/>
              </a:ext>
            </a:extLst>
          </p:cNvPr>
          <p:cNvSpPr txBox="1"/>
          <p:nvPr/>
        </p:nvSpPr>
        <p:spPr>
          <a:xfrm>
            <a:off x="48894" y="3788765"/>
            <a:ext cx="91287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JP" dirty="0">
                <a:latin typeface="Helvetica" pitchFamily="2" charset="0"/>
                <a:ea typeface="BIZ UDGothic" panose="020B0400000000000000" pitchFamily="49" charset="-128"/>
              </a:rPr>
              <a:t>トレーニングデータの間の各目的変数について、k近傍点までの平均距離を計算する</a:t>
            </a:r>
          </a:p>
          <a:p>
            <a:pPr marL="342900" indent="-342900">
              <a:buAutoNum type="arabicPeriod"/>
            </a:pPr>
            <a:r>
              <a:rPr lang="en-JP" dirty="0">
                <a:latin typeface="Helvetica" pitchFamily="2" charset="0"/>
                <a:ea typeface="BIZ UDGothic" panose="020B0400000000000000" pitchFamily="49" charset="-128"/>
              </a:rPr>
              <a:t>その分布における、下位95%と上位5%を分ける平均距離をthresholdとする</a:t>
            </a:r>
          </a:p>
          <a:p>
            <a:pPr lvl="1"/>
            <a:r>
              <a:rPr lang="en-JP" b="1" dirty="0">
                <a:latin typeface="Helvetica" pitchFamily="2" charset="0"/>
                <a:ea typeface="BIZ UDGothic" panose="020B0400000000000000" pitchFamily="49" charset="-128"/>
              </a:rPr>
              <a:t>(使用したパーセンタイルと距離空間は明記した方がよい)</a:t>
            </a:r>
          </a:p>
          <a:p>
            <a:pPr marL="342900" indent="-342900">
              <a:buAutoNum type="arabicPeriod"/>
            </a:pPr>
            <a:r>
              <a:rPr lang="en-JP" dirty="0">
                <a:latin typeface="Helvetica" pitchFamily="2" charset="0"/>
                <a:ea typeface="BIZ UDGothic" panose="020B0400000000000000" pitchFamily="49" charset="-128"/>
              </a:rPr>
              <a:t>テストデータに対しても k近傍点までの平均距離を計算する</a:t>
            </a:r>
          </a:p>
          <a:p>
            <a:pPr marL="342900" indent="-342900">
              <a:buAutoNum type="arabicPeriod"/>
            </a:pPr>
            <a:r>
              <a:rPr lang="en-JP" dirty="0">
                <a:latin typeface="Helvetica" pitchFamily="2" charset="0"/>
                <a:ea typeface="BIZ UDGothic" panose="020B0400000000000000" pitchFamily="49" charset="-128"/>
              </a:rPr>
              <a:t>平均距離がthreshold以下ならAD内、threshold以上ならAD外となる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1340E-37B2-B242-D43E-7AA8DB264E67}"/>
              </a:ext>
            </a:extLst>
          </p:cNvPr>
          <p:cNvSpPr txBox="1"/>
          <p:nvPr/>
        </p:nvSpPr>
        <p:spPr>
          <a:xfrm>
            <a:off x="376573" y="3318538"/>
            <a:ext cx="236475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JP" b="1" dirty="0">
                <a:solidFill>
                  <a:schemeClr val="bg1"/>
                </a:solidFill>
                <a:latin typeface="Helvetica" pitchFamily="2" charset="0"/>
                <a:ea typeface="BIZ UDGothic" panose="020B0400000000000000" pitchFamily="49" charset="-128"/>
              </a:rPr>
              <a:t>kNNを用いたAD判断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570A6A-95C7-E37F-60A0-D28EEA522937}"/>
              </a:ext>
            </a:extLst>
          </p:cNvPr>
          <p:cNvSpPr txBox="1"/>
          <p:nvPr/>
        </p:nvSpPr>
        <p:spPr>
          <a:xfrm>
            <a:off x="578612" y="5569063"/>
            <a:ext cx="7986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JP" sz="2000" b="1" dirty="0">
                <a:solidFill>
                  <a:schemeClr val="accent5"/>
                </a:solidFill>
                <a:latin typeface="Helvetica" pitchFamily="2" charset="0"/>
                <a:ea typeface="BIZ UDGothic" panose="020B0400000000000000" pitchFamily="49" charset="-128"/>
              </a:rPr>
              <a:t>boston.csvのMEDVを目的変数とする回帰を行い、テストデータがAD内かAD外かを判断する(Hold-Out検証でよいです)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JP" sz="2000" b="1" dirty="0">
                <a:solidFill>
                  <a:schemeClr val="accent5"/>
                </a:solidFill>
                <a:latin typeface="Helvetica" pitchFamily="2" charset="0"/>
                <a:ea typeface="BIZ UDGothic" panose="020B0400000000000000" pitchFamily="49" charset="-128"/>
              </a:rPr>
              <a:t>予測値の信頼性を、ADを利用して可視化する</a:t>
            </a:r>
          </a:p>
        </p:txBody>
      </p:sp>
    </p:spTree>
    <p:extLst>
      <p:ext uri="{BB962C8B-B14F-4D97-AF65-F5344CB8AC3E}">
        <p14:creationId xmlns:p14="http://schemas.microsoft.com/office/powerpoint/2010/main" val="52752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E4FA38-5DE3-1B5A-75A0-72F2830775FF}"/>
              </a:ext>
            </a:extLst>
          </p:cNvPr>
          <p:cNvSpPr txBox="1"/>
          <p:nvPr/>
        </p:nvSpPr>
        <p:spPr>
          <a:xfrm>
            <a:off x="235404" y="2758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b="1" dirty="0">
                <a:latin typeface="Helvetica" pitchFamily="2" charset="0"/>
                <a:ea typeface="BIZ UDGothic" panose="020B0400000000000000" pitchFamily="49" charset="-128"/>
              </a:rPr>
              <a:t>可視化の例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5034AAC-FCF2-50D2-8A74-D208A2AB7E3A}"/>
              </a:ext>
            </a:extLst>
          </p:cNvPr>
          <p:cNvCxnSpPr>
            <a:cxnSpLocks/>
          </p:cNvCxnSpPr>
          <p:nvPr/>
        </p:nvCxnSpPr>
        <p:spPr>
          <a:xfrm>
            <a:off x="235404" y="489254"/>
            <a:ext cx="7870451" cy="0"/>
          </a:xfrm>
          <a:prstGeom prst="line">
            <a:avLst/>
          </a:prstGeom>
          <a:ln w="41275">
            <a:solidFill>
              <a:schemeClr val="accent1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457AC1-B773-C90C-1D67-C91F33EF82AF}"/>
              </a:ext>
            </a:extLst>
          </p:cNvPr>
          <p:cNvSpPr txBox="1"/>
          <p:nvPr/>
        </p:nvSpPr>
        <p:spPr>
          <a:xfrm>
            <a:off x="235404" y="766253"/>
            <a:ext cx="668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1. トレーニングデータ間の平均距離分布とthresholdの可視化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B16B9-25EE-7015-6F5D-AB257D82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71" r="66344"/>
          <a:stretch>
            <a:fillRect/>
          </a:stretch>
        </p:blipFill>
        <p:spPr>
          <a:xfrm>
            <a:off x="465421" y="1194368"/>
            <a:ext cx="3375059" cy="26479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95CA78-EF5E-532D-4D3B-8B7BCB95CF50}"/>
              </a:ext>
            </a:extLst>
          </p:cNvPr>
          <p:cNvSpPr txBox="1"/>
          <p:nvPr/>
        </p:nvSpPr>
        <p:spPr>
          <a:xfrm>
            <a:off x="227151" y="3901120"/>
            <a:ext cx="722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2. テストデータのk近傍距離を横軸に、誤差を縦軸に取ったプロット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DEA552-FD95-4FCA-467E-EF7658F3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03" t="4281"/>
          <a:stretch>
            <a:fillRect/>
          </a:stretch>
        </p:blipFill>
        <p:spPr>
          <a:xfrm>
            <a:off x="649401" y="4254998"/>
            <a:ext cx="2822848" cy="24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4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1D596E7-FB07-8B0F-DEA0-643336607CF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31" y="1136415"/>
            <a:ext cx="4851708" cy="4908620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B80D2CF-DBAF-A685-A5F7-4BB4F0FBAECE}"/>
              </a:ext>
            </a:extLst>
          </p:cNvPr>
          <p:cNvSpPr txBox="1"/>
          <p:nvPr/>
        </p:nvSpPr>
        <p:spPr>
          <a:xfrm>
            <a:off x="487173" y="5948638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Helvetica" pitchFamily="2" charset="0"/>
              </a:rPr>
              <a:t>・</a:t>
            </a:r>
            <a:r>
              <a:rPr kumimoji="1" lang="en-US" altLang="ja-JP" b="1" dirty="0">
                <a:latin typeface="Helvetica" pitchFamily="2" charset="0"/>
              </a:rPr>
              <a:t>RDKit Descriptor</a:t>
            </a:r>
            <a:r>
              <a:rPr kumimoji="1" lang="ja-JP" altLang="en-US" b="1">
                <a:latin typeface="Helvetica" pitchFamily="2" charset="0"/>
              </a:rPr>
              <a:t>のみで可視化</a:t>
            </a:r>
            <a:endParaRPr kumimoji="1" lang="en-US" altLang="ja-JP" b="1" dirty="0">
              <a:latin typeface="Helvetica" pitchFamily="2" charset="0"/>
            </a:endParaRPr>
          </a:p>
          <a:p>
            <a:r>
              <a:rPr kumimoji="1" lang="ja-JP" altLang="en-US" b="1">
                <a:latin typeface="Helvetica" pitchFamily="2" charset="0"/>
              </a:rPr>
              <a:t>・</a:t>
            </a:r>
            <a:r>
              <a:rPr kumimoji="1" lang="en-US" altLang="ja-JP" b="1" dirty="0">
                <a:latin typeface="Helvetica" pitchFamily="2" charset="0"/>
              </a:rPr>
              <a:t>kNN</a:t>
            </a:r>
            <a:r>
              <a:rPr kumimoji="1" lang="ja-JP" altLang="en-US" b="1">
                <a:latin typeface="Helvetica" pitchFamily="2" charset="0"/>
              </a:rPr>
              <a:t>でドメイン内・外を判断</a:t>
            </a:r>
            <a:r>
              <a:rPr kumimoji="1" lang="en-US" altLang="ja-JP" b="1" dirty="0">
                <a:solidFill>
                  <a:srgbClr val="C00000"/>
                </a:solidFill>
                <a:latin typeface="Helvetica" pitchFamily="2" charset="0"/>
              </a:rPr>
              <a:t>(Euclid, 90%)</a:t>
            </a:r>
            <a:endParaRPr kumimoji="1" lang="ja-JP" altLang="en-US" b="1">
              <a:solidFill>
                <a:srgbClr val="C00000"/>
              </a:solidFill>
              <a:latin typeface="Helvetica" pitchFamily="2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B156BAA-227B-8C1B-15FB-31B8057F1BB2}"/>
              </a:ext>
            </a:extLst>
          </p:cNvPr>
          <p:cNvSpPr txBox="1"/>
          <p:nvPr/>
        </p:nvSpPr>
        <p:spPr>
          <a:xfrm>
            <a:off x="487173" y="736305"/>
            <a:ext cx="3889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latin typeface="Helvetica" pitchFamily="2" charset="0"/>
              </a:rPr>
              <a:t>Anisole</a:t>
            </a:r>
            <a:r>
              <a:rPr kumimoji="1" lang="ja-JP" altLang="en-US" sz="2000" b="1">
                <a:latin typeface="Helvetica" pitchFamily="2" charset="0"/>
              </a:rPr>
              <a:t>溶媒</a:t>
            </a:r>
            <a:r>
              <a:rPr kumimoji="1" lang="en-US" altLang="ja-JP" sz="2000" b="1" dirty="0">
                <a:latin typeface="Helvetica" pitchFamily="2" charset="0"/>
              </a:rPr>
              <a:t>, 50 </a:t>
            </a:r>
            <a:r>
              <a:rPr kumimoji="1" lang="ja-JP" altLang="en-US" sz="2000" b="1">
                <a:latin typeface="Helvetica" pitchFamily="2" charset="0"/>
              </a:rPr>
              <a:t>℃</a:t>
            </a:r>
            <a:r>
              <a:rPr kumimoji="1" lang="en-US" altLang="ja-JP" sz="2000" b="1" dirty="0">
                <a:latin typeface="Helvetica" pitchFamily="2" charset="0"/>
              </a:rPr>
              <a:t>, 100 mg/mL</a:t>
            </a:r>
            <a:endParaRPr kumimoji="1" lang="ja-JP" altLang="en-US" sz="2000" b="1">
              <a:latin typeface="Helvetica" pitchFamily="2" charset="0"/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BD6ACF81-CBF3-216D-3330-A4E0C43B80A6}"/>
              </a:ext>
            </a:extLst>
          </p:cNvPr>
          <p:cNvCxnSpPr>
            <a:cxnSpLocks/>
            <a:stCxn id="35" idx="4"/>
            <a:endCxn id="42" idx="1"/>
          </p:cNvCxnSpPr>
          <p:nvPr/>
        </p:nvCxnSpPr>
        <p:spPr>
          <a:xfrm>
            <a:off x="3727935" y="2024285"/>
            <a:ext cx="1195353" cy="17335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円/楕円 34">
            <a:extLst>
              <a:ext uri="{FF2B5EF4-FFF2-40B4-BE49-F238E27FC236}">
                <a16:creationId xmlns:a16="http://schemas.microsoft.com/office/drawing/2014/main" id="{860B0B29-0429-B72D-524A-1D476CF6555E}"/>
              </a:ext>
            </a:extLst>
          </p:cNvPr>
          <p:cNvSpPr/>
          <p:nvPr/>
        </p:nvSpPr>
        <p:spPr>
          <a:xfrm>
            <a:off x="3480513" y="1844285"/>
            <a:ext cx="494843" cy="1800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2AEB631-622F-C9D6-BC40-E4F6CAFDC8C7}"/>
              </a:ext>
            </a:extLst>
          </p:cNvPr>
          <p:cNvSpPr txBox="1"/>
          <p:nvPr/>
        </p:nvSpPr>
        <p:spPr>
          <a:xfrm>
            <a:off x="4923288" y="2805927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>
                <a:latin typeface="Helvetica" pitchFamily="2" charset="0"/>
              </a:rPr>
              <a:t>長鎖アルキル基を有するモノマー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3999070-C893-ED0E-22AA-909E785ACBC4}"/>
              </a:ext>
            </a:extLst>
          </p:cNvPr>
          <p:cNvSpPr/>
          <p:nvPr/>
        </p:nvSpPr>
        <p:spPr>
          <a:xfrm>
            <a:off x="4923288" y="3181827"/>
            <a:ext cx="4113602" cy="1157892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elvetica" pitchFamily="2" charset="0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7E69DF7-CDBA-C322-03BF-DF09CE47AD8E}"/>
              </a:ext>
            </a:extLst>
          </p:cNvPr>
          <p:cNvSpPr txBox="1"/>
          <p:nvPr/>
        </p:nvSpPr>
        <p:spPr>
          <a:xfrm>
            <a:off x="4923288" y="3311575"/>
            <a:ext cx="162698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</a:rPr>
              <a:t>Isooctadecyl Acrylate</a:t>
            </a:r>
          </a:p>
          <a:p>
            <a:endParaRPr kumimoji="1" lang="en-US" altLang="ja-JP" sz="800" dirty="0">
              <a:latin typeface="Helvetica" pitchFamily="2" charset="0"/>
            </a:endParaRPr>
          </a:p>
          <a:p>
            <a:r>
              <a:rPr kumimoji="1" lang="en-US" altLang="ja-JP" sz="1200" dirty="0">
                <a:latin typeface="Helvetica" pitchFamily="2" charset="0"/>
              </a:rPr>
              <a:t>Stearyl Acrylate</a:t>
            </a:r>
          </a:p>
          <a:p>
            <a:endParaRPr kumimoji="1" lang="en-US" altLang="ja-JP" sz="800" dirty="0">
              <a:latin typeface="Helvetica" pitchFamily="2" charset="0"/>
            </a:endParaRPr>
          </a:p>
          <a:p>
            <a:r>
              <a:rPr kumimoji="1" lang="en-US" altLang="ja-JP" sz="1200" dirty="0">
                <a:latin typeface="Helvetica" pitchFamily="2" charset="0"/>
              </a:rPr>
              <a:t>Stearyl Methacrylate</a:t>
            </a:r>
            <a:endParaRPr kumimoji="1" lang="ja-JP" altLang="en-US" sz="1200">
              <a:latin typeface="Helvetica" pitchFamily="2" charset="0"/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D27F68FA-6A94-6BB3-E15A-E6599600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467" y="3252459"/>
            <a:ext cx="2259796" cy="398788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76BCEE31-4798-9A79-E3B7-E97A1F857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601" y="3590294"/>
            <a:ext cx="2259796" cy="286690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ECA92075-1468-2EF3-6635-A59447EFD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716" y="3883076"/>
            <a:ext cx="2259796" cy="379443"/>
          </a:xfrm>
          <a:prstGeom prst="rect">
            <a:avLst/>
          </a:prstGeom>
        </p:spPr>
      </p:pic>
      <p:sp>
        <p:nvSpPr>
          <p:cNvPr id="49" name="円/楕円 48">
            <a:extLst>
              <a:ext uri="{FF2B5EF4-FFF2-40B4-BE49-F238E27FC236}">
                <a16:creationId xmlns:a16="http://schemas.microsoft.com/office/drawing/2014/main" id="{C2344FE7-47AA-8509-AEDF-F17F91CEBEDC}"/>
              </a:ext>
            </a:extLst>
          </p:cNvPr>
          <p:cNvSpPr/>
          <p:nvPr/>
        </p:nvSpPr>
        <p:spPr>
          <a:xfrm>
            <a:off x="1582555" y="4789299"/>
            <a:ext cx="1130998" cy="846667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29557FD9-3F12-B2C9-BA11-9B2B8EB89B1E}"/>
              </a:ext>
            </a:extLst>
          </p:cNvPr>
          <p:cNvCxnSpPr>
            <a:cxnSpLocks/>
            <a:stCxn id="49" idx="6"/>
            <a:endCxn id="55" idx="1"/>
          </p:cNvCxnSpPr>
          <p:nvPr/>
        </p:nvCxnSpPr>
        <p:spPr>
          <a:xfrm>
            <a:off x="2713553" y="5212633"/>
            <a:ext cx="2200351" cy="1936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40B5E673-E55A-2336-45B7-93D67A73A4EB}"/>
              </a:ext>
            </a:extLst>
          </p:cNvPr>
          <p:cNvSpPr txBox="1"/>
          <p:nvPr/>
        </p:nvSpPr>
        <p:spPr>
          <a:xfrm>
            <a:off x="4913904" y="4505519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>
                <a:latin typeface="Helvetica" pitchFamily="2" charset="0"/>
              </a:rPr>
              <a:t>ピラノース骨格を有するポリマー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EF08B71-390E-C889-A79B-D3C8FF2AE68E}"/>
              </a:ext>
            </a:extLst>
          </p:cNvPr>
          <p:cNvSpPr/>
          <p:nvPr/>
        </p:nvSpPr>
        <p:spPr>
          <a:xfrm>
            <a:off x="4913904" y="4827353"/>
            <a:ext cx="4113602" cy="1157892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elvetica" pitchFamily="2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7184D7B-FC66-28FA-5B25-BA5B9464B710}"/>
              </a:ext>
            </a:extLst>
          </p:cNvPr>
          <p:cNvSpPr txBox="1"/>
          <p:nvPr/>
        </p:nvSpPr>
        <p:spPr>
          <a:xfrm>
            <a:off x="5101028" y="4860845"/>
            <a:ext cx="1368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</a:rPr>
              <a:t>Cellulose Acetate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890BE4DE-BD91-8A32-04A8-F76C67C6EC19}"/>
              </a:ext>
            </a:extLst>
          </p:cNvPr>
          <p:cNvSpPr txBox="1"/>
          <p:nvPr/>
        </p:nvSpPr>
        <p:spPr>
          <a:xfrm>
            <a:off x="6633202" y="4860845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</a:rPr>
              <a:t>Chitosane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5D18F289-0739-FBBC-93BA-ABBEEB7097FD}"/>
              </a:ext>
            </a:extLst>
          </p:cNvPr>
          <p:cNvSpPr txBox="1"/>
          <p:nvPr/>
        </p:nvSpPr>
        <p:spPr>
          <a:xfrm>
            <a:off x="7956117" y="4860845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</a:rPr>
              <a:t>Dextran</a:t>
            </a: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EEB06E7D-17AC-70DE-D4A9-6B37F8C56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446" y="5114143"/>
            <a:ext cx="957727" cy="788716"/>
          </a:xfrm>
          <a:prstGeom prst="rect">
            <a:avLst/>
          </a:prstGeom>
        </p:spPr>
      </p:pic>
      <p:pic>
        <p:nvPicPr>
          <p:cNvPr id="70" name="図 69">
            <a:extLst>
              <a:ext uri="{FF2B5EF4-FFF2-40B4-BE49-F238E27FC236}">
                <a16:creationId xmlns:a16="http://schemas.microsoft.com/office/drawing/2014/main" id="{DD2F4D6C-7B6C-4222-C89F-75585C819B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504" y="5078771"/>
            <a:ext cx="1031352" cy="859460"/>
          </a:xfrm>
          <a:prstGeom prst="rect">
            <a:avLst/>
          </a:prstGeom>
        </p:spPr>
      </p:pic>
      <p:pic>
        <p:nvPicPr>
          <p:cNvPr id="71" name="図 70">
            <a:extLst>
              <a:ext uri="{FF2B5EF4-FFF2-40B4-BE49-F238E27FC236}">
                <a16:creationId xmlns:a16="http://schemas.microsoft.com/office/drawing/2014/main" id="{8A3F838B-B271-3C78-EF6C-A5126229B5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9903" y="5152901"/>
            <a:ext cx="1054100" cy="711200"/>
          </a:xfrm>
          <a:prstGeom prst="rect">
            <a:avLst/>
          </a:prstGeom>
        </p:spPr>
      </p:pic>
      <p:sp>
        <p:nvSpPr>
          <p:cNvPr id="78" name="円/楕円 77">
            <a:extLst>
              <a:ext uri="{FF2B5EF4-FFF2-40B4-BE49-F238E27FC236}">
                <a16:creationId xmlns:a16="http://schemas.microsoft.com/office/drawing/2014/main" id="{37400EA1-F197-91DD-F2F9-D676DA4B10AF}"/>
              </a:ext>
            </a:extLst>
          </p:cNvPr>
          <p:cNvSpPr/>
          <p:nvPr/>
        </p:nvSpPr>
        <p:spPr>
          <a:xfrm>
            <a:off x="1690609" y="1316689"/>
            <a:ext cx="180000" cy="1800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9306D998-6C34-F4B4-B071-E7AF6536FE37}"/>
              </a:ext>
            </a:extLst>
          </p:cNvPr>
          <p:cNvCxnSpPr>
            <a:cxnSpLocks/>
          </p:cNvCxnSpPr>
          <p:nvPr/>
        </p:nvCxnSpPr>
        <p:spPr>
          <a:xfrm>
            <a:off x="1870609" y="1395901"/>
            <a:ext cx="3052679" cy="3600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09BAED5E-5B71-4A6F-0BC5-F85C2FBB3B85}"/>
              </a:ext>
            </a:extLst>
          </p:cNvPr>
          <p:cNvSpPr txBox="1"/>
          <p:nvPr/>
        </p:nvSpPr>
        <p:spPr>
          <a:xfrm>
            <a:off x="4937840" y="1237412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/>
              <a:t>アセナフチレン骨格を有するポリマー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A556448C-EBFF-E3FA-4B48-B767EDB0441B}"/>
              </a:ext>
            </a:extLst>
          </p:cNvPr>
          <p:cNvSpPr/>
          <p:nvPr/>
        </p:nvSpPr>
        <p:spPr>
          <a:xfrm>
            <a:off x="4937840" y="1587862"/>
            <a:ext cx="4113602" cy="1157892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elvetica" pitchFamily="2" charset="0"/>
            </a:endParaRPr>
          </a:p>
        </p:txBody>
      </p:sp>
      <p:pic>
        <p:nvPicPr>
          <p:cNvPr id="83" name="図 82">
            <a:extLst>
              <a:ext uri="{FF2B5EF4-FFF2-40B4-BE49-F238E27FC236}">
                <a16:creationId xmlns:a16="http://schemas.microsoft.com/office/drawing/2014/main" id="{E723F216-96F6-A025-9003-1FA1D7A453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7097" y="1967432"/>
            <a:ext cx="736600" cy="749300"/>
          </a:xfrm>
          <a:prstGeom prst="rect">
            <a:avLst/>
          </a:prstGeom>
        </p:spPr>
      </p:pic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C3663B3D-3988-DC84-6AE8-72E122161E6F}"/>
              </a:ext>
            </a:extLst>
          </p:cNvPr>
          <p:cNvSpPr txBox="1"/>
          <p:nvPr/>
        </p:nvSpPr>
        <p:spPr>
          <a:xfrm>
            <a:off x="6186252" y="1655503"/>
            <a:ext cx="1478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Helvetica" pitchFamily="2" charset="0"/>
              </a:rPr>
              <a:t>Polyacenaphtylene</a:t>
            </a:r>
            <a:endParaRPr kumimoji="1" lang="ja-JP" altLang="en-US" sz="120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6BAAC466-F80A-1F25-9B93-FB1779DDA0C1}"/>
              </a:ext>
            </a:extLst>
          </p:cNvPr>
          <p:cNvSpPr txBox="1"/>
          <p:nvPr/>
        </p:nvSpPr>
        <p:spPr>
          <a:xfrm>
            <a:off x="8589040" y="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189</a:t>
            </a:r>
            <a:endParaRPr kumimoji="1" lang="ja-JP" altLang="en-US"/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3A31DABF-04B3-595D-046C-C0F4A64004EA}"/>
              </a:ext>
            </a:extLst>
          </p:cNvPr>
          <p:cNvCxnSpPr>
            <a:cxnSpLocks/>
          </p:cNvCxnSpPr>
          <p:nvPr/>
        </p:nvCxnSpPr>
        <p:spPr>
          <a:xfrm>
            <a:off x="235404" y="489254"/>
            <a:ext cx="7870451" cy="0"/>
          </a:xfrm>
          <a:prstGeom prst="line">
            <a:avLst/>
          </a:prstGeom>
          <a:ln w="41275">
            <a:solidFill>
              <a:schemeClr val="accent1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8B843CD1-079D-27A6-31B1-180E2D6DEC6B}"/>
              </a:ext>
            </a:extLst>
          </p:cNvPr>
          <p:cNvSpPr txBox="1"/>
          <p:nvPr/>
        </p:nvSpPr>
        <p:spPr>
          <a:xfrm>
            <a:off x="103792" y="31543"/>
            <a:ext cx="8485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Helvetica" pitchFamily="2" charset="0"/>
                <a:ea typeface="Yu Gothic" panose="020B0400000000000000" pitchFamily="34" charset="-128"/>
                <a:cs typeface="Times New Roman" panose="02020603050405020304" pitchFamily="18" charset="0"/>
              </a:rPr>
              <a:t>Anisole</a:t>
            </a:r>
            <a:r>
              <a:rPr lang="ja-JP" altLang="en-US" sz="2400" b="1">
                <a:latin typeface="Helvetica" pitchFamily="2" charset="0"/>
                <a:ea typeface="Yu Gothic" panose="020B0400000000000000" pitchFamily="34" charset="-128"/>
                <a:cs typeface="Times New Roman" panose="02020603050405020304" pitchFamily="18" charset="0"/>
              </a:rPr>
              <a:t>に対するポリマー溶解性の可視化</a:t>
            </a:r>
            <a:endParaRPr lang="en-US" altLang="ja-JP" sz="2400" b="1" dirty="0">
              <a:latin typeface="Helvetica" pitchFamily="2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0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1406</TotalTime>
  <Words>186</Words>
  <Application>Microsoft Macintosh PowerPoint</Application>
  <PresentationFormat>On-screen Show (4:3)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林幹大</dc:creator>
  <cp:lastModifiedBy>林幹大</cp:lastModifiedBy>
  <cp:revision>26</cp:revision>
  <dcterms:created xsi:type="dcterms:W3CDTF">2026-06-30T05:50:12Z</dcterms:created>
  <dcterms:modified xsi:type="dcterms:W3CDTF">2026-07-01T05:16:35Z</dcterms:modified>
</cp:coreProperties>
</file>