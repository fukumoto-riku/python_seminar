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3" r:id="rId2"/>
    <p:sldId id="264" r:id="rId3"/>
    <p:sldId id="269" r:id="rId4"/>
    <p:sldId id="268" r:id="rId5"/>
    <p:sldId id="270" r:id="rId6"/>
    <p:sldId id="267" r:id="rId7"/>
    <p:sldId id="265"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38"/>
    <p:restoredTop sz="91522"/>
  </p:normalViewPr>
  <p:slideViewPr>
    <p:cSldViewPr snapToGrid="0">
      <p:cViewPr>
        <p:scale>
          <a:sx n="101" d="100"/>
          <a:sy n="101" d="100"/>
        </p:scale>
        <p:origin x="688"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00EAC4-2927-75D7-7A72-AA9BDACF21E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EDB5634-D9E9-C5B9-5618-1CFA41E715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944B192-3C0E-EECA-384F-D772412AD218}"/>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556C0241-4089-C495-07AE-A1F2E5E61A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BE6FBE3-9C26-2887-3CD9-3099056209B2}"/>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1613875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4291F3-205F-B2CE-2B33-F9BAF976EA4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5D7804C-0FCD-6F00-A1CE-9FB4394D69E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3495DAD-E75F-4BB0-3DC0-FDABD8B154AE}"/>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3E2FD55B-ADA7-51C1-135A-E7FE8DA511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3DC5C85-3482-4F39-EBF7-47E1B8E70A90}"/>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1442636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FBA820-5698-37A2-6DE0-FD1C749A009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3DCDC54-8022-4459-E745-1E0D36554C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1F2224-3C50-9549-C95A-D25693550646}"/>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ADFEBA0D-C3AE-12C7-A7AF-DAC0AF402EC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A6B87D-88D1-FF31-D883-D46B18888391}"/>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1833770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D27BDA-DF40-5AD0-5358-E373466A5E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8E2D9BB-C2FC-D5DA-3214-098AA4EF78A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1B20C6E-F68B-CBDE-4664-77458A2BEC4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206ADF8-6364-57B3-BF5A-998DABFDB078}"/>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F4BEDCDC-F4EE-526E-73D2-8F2A0F4105C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E77B54-1CEF-804E-F6FC-C4574DA2E615}"/>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683789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DF268D-24D6-D0D3-D3FD-4AFFF27AF0E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DADA7B7-5F5B-6F55-E27F-1F69274A06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01B3993-1EAF-A892-C8EE-70DBB8381B6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B73FA17-613D-F50D-9466-DF7E3E6DA5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C0E66D4-42D7-B394-A9E4-9E98F1ACF98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EB6E2E7-8C78-BAE3-1D92-332CC93652B0}"/>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8" name="フッター プレースホルダー 7">
            <a:extLst>
              <a:ext uri="{FF2B5EF4-FFF2-40B4-BE49-F238E27FC236}">
                <a16:creationId xmlns:a16="http://schemas.microsoft.com/office/drawing/2014/main" id="{AD319CA9-C427-1DA3-CCB6-75865508167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2BF2DCC-41DE-8095-5D88-22D83A21FC66}"/>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3033990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787788-0174-1A3E-DBF9-347E72B962F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CB2E753-E4D0-286A-2505-328A70564333}"/>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4" name="フッター プレースホルダー 3">
            <a:extLst>
              <a:ext uri="{FF2B5EF4-FFF2-40B4-BE49-F238E27FC236}">
                <a16:creationId xmlns:a16="http://schemas.microsoft.com/office/drawing/2014/main" id="{2235D3DE-3B2B-F897-2E7F-32DD8B9C9BB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34FC37E-89D4-C849-3CB5-A01ECA58E17C}"/>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3133687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ABC53F7-CF0E-3F36-F910-CD9E2B883284}"/>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3" name="フッター プレースホルダー 2">
            <a:extLst>
              <a:ext uri="{FF2B5EF4-FFF2-40B4-BE49-F238E27FC236}">
                <a16:creationId xmlns:a16="http://schemas.microsoft.com/office/drawing/2014/main" id="{E94F979D-4E83-727B-50A4-39668AF3224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E124BC1-07C9-A604-EEEB-9530B7368795}"/>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1840309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C3107B-DE8B-A162-A9A4-C2219DCAB30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35D128F-0CE1-3FBA-E557-1E1E6F06F7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5AA1AC0-B640-C08B-3C5F-7590FF2EA0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8DFD61A-4700-D6C0-FA0F-DF40C3DFAC58}"/>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9461FAA9-EBD8-82D4-8E78-5803CDCCA00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AFFA15A-9837-4760-5812-702D2F86D133}"/>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2883676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6FF60E-846C-E834-4F28-5EF77EBDFA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7DE8B55-A5E4-58D3-BC37-A51C37E102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12B1D65-E53B-9DB2-0177-44824432E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F68204A-F453-22D3-AEDC-706FD6CF6FF2}"/>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6" name="フッター プレースホルダー 5">
            <a:extLst>
              <a:ext uri="{FF2B5EF4-FFF2-40B4-BE49-F238E27FC236}">
                <a16:creationId xmlns:a16="http://schemas.microsoft.com/office/drawing/2014/main" id="{F1AA140D-557C-59EE-BF53-AC0C2D5C5C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457EB4-938D-F703-B552-05DF480A0FCF}"/>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1124574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597722-F239-498F-0276-4709A9B8BFC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5EC3DD1-E48D-F371-0556-BFD121BC017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0C12DB0-4D6C-E51D-181D-AA3A8DE68A3E}"/>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1B84CACD-B326-65D3-28FA-1008A853BF9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F94FAE-D8DF-A475-5A57-FAB2552BE734}"/>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1029193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6264079-FEBB-76AF-7A0D-40BA537E0A1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A21B8EA-8502-CAB7-895D-E458896E1EC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68EB09D-FA24-3004-4CA4-FFC2F52F168D}"/>
              </a:ext>
            </a:extLst>
          </p:cNvPr>
          <p:cNvSpPr>
            <a:spLocks noGrp="1"/>
          </p:cNvSpPr>
          <p:nvPr>
            <p:ph type="dt" sz="half" idx="10"/>
          </p:nvPr>
        </p:nvSpPr>
        <p:spPr/>
        <p:txBody>
          <a:bodyPr/>
          <a:lstStyle/>
          <a:p>
            <a:fld id="{35D8D3DE-C07E-054F-93D5-BBD26A2FB8F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B775BA1A-651A-F0AB-6597-763645549F7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7B14CF4-0D23-AFD9-0E3F-8DC1EFBF38B6}"/>
              </a:ext>
            </a:extLst>
          </p:cNvPr>
          <p:cNvSpPr>
            <a:spLocks noGrp="1"/>
          </p:cNvSpPr>
          <p:nvPr>
            <p:ph type="sldNum" sz="quarter" idx="12"/>
          </p:nvPr>
        </p:nvSpPr>
        <p:spPr/>
        <p:txBody>
          <a:body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210737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1AC813C-8FA9-F100-9CFB-B7C4EDE0A4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AA03C47-6B44-589B-E383-D270E4B04E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96A55BA-C816-14A4-9A22-85B60B742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D8D3DE-C07E-054F-93D5-BBD26A2FB8F9}" type="datetimeFigureOut">
              <a:rPr kumimoji="1" lang="ja-JP" altLang="en-US" smtClean="0"/>
              <a:t>2026/6/8</a:t>
            </a:fld>
            <a:endParaRPr kumimoji="1" lang="ja-JP" altLang="en-US"/>
          </a:p>
        </p:txBody>
      </p:sp>
      <p:sp>
        <p:nvSpPr>
          <p:cNvPr id="5" name="フッター プレースホルダー 4">
            <a:extLst>
              <a:ext uri="{FF2B5EF4-FFF2-40B4-BE49-F238E27FC236}">
                <a16:creationId xmlns:a16="http://schemas.microsoft.com/office/drawing/2014/main" id="{B88E540B-47F0-CE57-81C6-DA5C89747B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B501D18-AE2F-0AF6-99E9-4AD8C560DA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2F6E3B-B60B-9B49-8EB0-FF0E223B4417}" type="slidenum">
              <a:rPr kumimoji="1" lang="ja-JP" altLang="en-US" smtClean="0"/>
              <a:t>‹#›</a:t>
            </a:fld>
            <a:endParaRPr kumimoji="1" lang="ja-JP" altLang="en-US"/>
          </a:p>
        </p:txBody>
      </p:sp>
    </p:spTree>
    <p:extLst>
      <p:ext uri="{BB962C8B-B14F-4D97-AF65-F5344CB8AC3E}">
        <p14:creationId xmlns:p14="http://schemas.microsoft.com/office/powerpoint/2010/main" val="7644941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4971BEE-CB40-2953-DF00-EBE9FB7820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148" b="8737"/>
          <a:stretch>
            <a:fillRect/>
          </a:stretch>
        </p:blipFill>
        <p:spPr bwMode="auto">
          <a:xfrm>
            <a:off x="147650" y="1438656"/>
            <a:ext cx="6539221" cy="4174309"/>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ボックス 1">
            <a:extLst>
              <a:ext uri="{FF2B5EF4-FFF2-40B4-BE49-F238E27FC236}">
                <a16:creationId xmlns:a16="http://schemas.microsoft.com/office/drawing/2014/main" id="{A78AA281-0E25-A47D-F190-3AF642FB80BA}"/>
              </a:ext>
            </a:extLst>
          </p:cNvPr>
          <p:cNvSpPr txBox="1"/>
          <p:nvPr/>
        </p:nvSpPr>
        <p:spPr>
          <a:xfrm>
            <a:off x="0" y="5628354"/>
            <a:ext cx="7246343" cy="338554"/>
          </a:xfrm>
          <a:prstGeom prst="rect">
            <a:avLst/>
          </a:prstGeom>
          <a:noFill/>
        </p:spPr>
        <p:txBody>
          <a:bodyPr wrap="none" rtlCol="0">
            <a:spAutoFit/>
          </a:bodyPr>
          <a:lstStyle/>
          <a:p>
            <a:r>
              <a:rPr kumimoji="1" lang="ja-JP" altLang="en-US" sz="1600">
                <a:latin typeface="Meiryo" panose="020B0604030504040204" pitchFamily="34" charset="-128"/>
                <a:ea typeface="Meiryo" panose="020B0604030504040204" pitchFamily="34" charset="-128"/>
              </a:rPr>
              <a:t>引用：</a:t>
            </a:r>
            <a:r>
              <a:rPr lang="en" altLang="ja-JP" sz="1600" dirty="0">
                <a:latin typeface="Meiryo" panose="020B0604030504040204" pitchFamily="34" charset="-128"/>
                <a:ea typeface="Meiryo" panose="020B0604030504040204" pitchFamily="34" charset="-128"/>
              </a:rPr>
              <a:t>https://</a:t>
            </a:r>
            <a:r>
              <a:rPr lang="en" altLang="ja-JP" sz="1600" dirty="0" err="1">
                <a:latin typeface="Meiryo" panose="020B0604030504040204" pitchFamily="34" charset="-128"/>
                <a:ea typeface="Meiryo" panose="020B0604030504040204" pitchFamily="34" charset="-128"/>
              </a:rPr>
              <a:t>yuyumoyuyu.com</a:t>
            </a:r>
            <a:r>
              <a:rPr lang="en" altLang="ja-JP" sz="1600" dirty="0">
                <a:latin typeface="Meiryo" panose="020B0604030504040204" pitchFamily="34" charset="-128"/>
                <a:ea typeface="Meiryo" panose="020B0604030504040204" pitchFamily="34" charset="-128"/>
              </a:rPr>
              <a:t>/2021/01/03/</a:t>
            </a:r>
            <a:r>
              <a:rPr lang="en" altLang="ja-JP" sz="1600" dirty="0" err="1">
                <a:latin typeface="Meiryo" panose="020B0604030504040204" pitchFamily="34" charset="-128"/>
                <a:ea typeface="Meiryo" panose="020B0604030504040204" pitchFamily="34" charset="-128"/>
              </a:rPr>
              <a:t>regularizedleastsquares</a:t>
            </a:r>
            <a:r>
              <a:rPr lang="en" altLang="ja-JP" sz="1600" dirty="0">
                <a:latin typeface="Meiryo" panose="020B0604030504040204" pitchFamily="34" charset="-128"/>
                <a:ea typeface="Meiryo" panose="020B0604030504040204" pitchFamily="34" charset="-128"/>
              </a:rPr>
              <a:t>/</a:t>
            </a:r>
            <a:endParaRPr kumimoji="1" lang="ja-JP" altLang="en-US" sz="1600">
              <a:latin typeface="Meiryo" panose="020B0604030504040204" pitchFamily="34" charset="-128"/>
              <a:ea typeface="Meiryo" panose="020B0604030504040204" pitchFamily="34" charset="-128"/>
            </a:endParaRPr>
          </a:p>
        </p:txBody>
      </p:sp>
      <p:sp>
        <p:nvSpPr>
          <p:cNvPr id="3" name="テキスト ボックス 2">
            <a:extLst>
              <a:ext uri="{FF2B5EF4-FFF2-40B4-BE49-F238E27FC236}">
                <a16:creationId xmlns:a16="http://schemas.microsoft.com/office/drawing/2014/main" id="{E0DC71A0-A3D3-B19C-4242-1BDC333748F7}"/>
              </a:ext>
            </a:extLst>
          </p:cNvPr>
          <p:cNvSpPr txBox="1"/>
          <p:nvPr/>
        </p:nvSpPr>
        <p:spPr>
          <a:xfrm>
            <a:off x="32321" y="110079"/>
            <a:ext cx="2483372" cy="646331"/>
          </a:xfrm>
          <a:prstGeom prst="rect">
            <a:avLst/>
          </a:prstGeom>
          <a:noFill/>
        </p:spPr>
        <p:txBody>
          <a:bodyPr wrap="none" rtlCol="0">
            <a:spAutoFit/>
          </a:bodyPr>
          <a:lstStyle/>
          <a:p>
            <a:r>
              <a:rPr kumimoji="1" lang="en-US" altLang="ja-JP" sz="3600" b="1" dirty="0">
                <a:latin typeface="Meiryo" panose="020B0604030504040204" pitchFamily="34" charset="-128"/>
                <a:ea typeface="Meiryo" panose="020B0604030504040204" pitchFamily="34" charset="-128"/>
              </a:rPr>
              <a:t>Lasso</a:t>
            </a:r>
            <a:r>
              <a:rPr kumimoji="1" lang="ja-JP" altLang="en-US" sz="3600" b="1">
                <a:latin typeface="Meiryo" panose="020B0604030504040204" pitchFamily="34" charset="-128"/>
                <a:ea typeface="Meiryo" panose="020B0604030504040204" pitchFamily="34" charset="-128"/>
              </a:rPr>
              <a:t>回帰</a:t>
            </a:r>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EA256479-ED51-EAFD-6248-6EEC26B71298}"/>
                  </a:ext>
                </a:extLst>
              </p:cNvPr>
              <p:cNvSpPr txBox="1"/>
              <p:nvPr/>
            </p:nvSpPr>
            <p:spPr>
              <a:xfrm>
                <a:off x="7160217" y="1026865"/>
                <a:ext cx="4282263" cy="66466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𝑬</m:t>
                          </m:r>
                        </m:e>
                        <m:sub>
                          <m:r>
                            <a:rPr kumimoji="1" lang="en-US" altLang="ja-JP" b="1" i="1" smtClean="0">
                              <a:latin typeface="Cambria Math" panose="02040503050406030204" pitchFamily="18" charset="0"/>
                            </a:rPr>
                            <m:t>𝑳𝒂𝒔𝒔𝒐</m:t>
                          </m:r>
                        </m:sub>
                      </m:sSub>
                      <m:r>
                        <a:rPr kumimoji="1" lang="en-US" altLang="ja-JP" b="1" i="1" smtClean="0">
                          <a:latin typeface="Cambria Math" panose="02040503050406030204" pitchFamily="18" charset="0"/>
                        </a:rPr>
                        <m:t>=</m:t>
                      </m:r>
                      <m:nary>
                        <m:naryPr>
                          <m:chr m:val="∑"/>
                          <m:limLoc m:val="subSup"/>
                          <m:ctrlPr>
                            <a:rPr kumimoji="1" lang="en-US" altLang="ja-JP" b="1" i="1" smtClean="0">
                              <a:latin typeface="Cambria Math" panose="02040503050406030204" pitchFamily="18" charset="0"/>
                            </a:rPr>
                          </m:ctrlPr>
                        </m:naryPr>
                        <m:sub>
                          <m:r>
                            <m:rPr>
                              <m:brk m:alnAt="25"/>
                            </m:rPr>
                            <a:rPr kumimoji="1" lang="en-US" altLang="ja-JP" b="1" i="1" smtClean="0">
                              <a:latin typeface="Cambria Math" panose="02040503050406030204" pitchFamily="18" charset="0"/>
                            </a:rPr>
                            <m:t>𝒊</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𝟏</m:t>
                          </m:r>
                        </m:sub>
                        <m:sup>
                          <m:r>
                            <a:rPr kumimoji="1" lang="en-US" altLang="ja-JP" b="1" i="1" smtClean="0">
                              <a:latin typeface="Cambria Math" panose="02040503050406030204" pitchFamily="18" charset="0"/>
                            </a:rPr>
                            <m:t>𝑵</m:t>
                          </m:r>
                        </m:sup>
                        <m:e>
                          <m:sSup>
                            <m:sSupPr>
                              <m:ctrlPr>
                                <a:rPr kumimoji="1" lang="en-US" altLang="ja-JP" b="1" i="1" smtClean="0">
                                  <a:latin typeface="Cambria Math" panose="02040503050406030204" pitchFamily="18" charset="0"/>
                                </a:rPr>
                              </m:ctrlPr>
                            </m:sSupPr>
                            <m:e>
                              <m:d>
                                <m:dPr>
                                  <m:ctrlPr>
                                    <a:rPr lang="en-US" altLang="ja-JP" b="1" i="1">
                                      <a:latin typeface="Cambria Math" panose="02040503050406030204" pitchFamily="18" charset="0"/>
                                    </a:rPr>
                                  </m:ctrlPr>
                                </m:dPr>
                                <m:e>
                                  <m:sSub>
                                    <m:sSubPr>
                                      <m:ctrlPr>
                                        <a:rPr lang="en-US" altLang="ja-JP" b="1" i="1">
                                          <a:latin typeface="Cambria Math" panose="02040503050406030204" pitchFamily="18" charset="0"/>
                                        </a:rPr>
                                      </m:ctrlPr>
                                    </m:sSubPr>
                                    <m:e>
                                      <m:r>
                                        <a:rPr lang="en-US" altLang="ja-JP" b="1" i="1">
                                          <a:latin typeface="Cambria Math" panose="02040503050406030204" pitchFamily="18" charset="0"/>
                                        </a:rPr>
                                        <m:t>𝒚</m:t>
                                      </m:r>
                                    </m:e>
                                    <m:sub>
                                      <m:r>
                                        <a:rPr lang="en-US" altLang="ja-JP" b="1" i="1">
                                          <a:latin typeface="Cambria Math" panose="02040503050406030204" pitchFamily="18" charset="0"/>
                                        </a:rPr>
                                        <m:t>𝒊</m:t>
                                      </m:r>
                                    </m:sub>
                                  </m:sSub>
                                  <m:r>
                                    <a:rPr lang="en-US" altLang="ja-JP" b="1" i="1">
                                      <a:latin typeface="Cambria Math" panose="02040503050406030204" pitchFamily="18" charset="0"/>
                                    </a:rPr>
                                    <m:t>−</m:t>
                                  </m:r>
                                  <m:acc>
                                    <m:accPr>
                                      <m:chr m:val="̂"/>
                                      <m:ctrlPr>
                                        <a:rPr lang="en-US" altLang="ja-JP" b="1" i="1">
                                          <a:latin typeface="Cambria Math" panose="02040503050406030204" pitchFamily="18" charset="0"/>
                                        </a:rPr>
                                      </m:ctrlPr>
                                    </m:accPr>
                                    <m:e>
                                      <m:sSub>
                                        <m:sSubPr>
                                          <m:ctrlPr>
                                            <a:rPr lang="en-US" altLang="ja-JP" b="1" i="1">
                                              <a:latin typeface="Cambria Math" panose="02040503050406030204" pitchFamily="18" charset="0"/>
                                            </a:rPr>
                                          </m:ctrlPr>
                                        </m:sSubPr>
                                        <m:e>
                                          <m:r>
                                            <a:rPr lang="en-US" altLang="ja-JP" b="1" i="1">
                                              <a:latin typeface="Cambria Math" panose="02040503050406030204" pitchFamily="18" charset="0"/>
                                            </a:rPr>
                                            <m:t>𝒚</m:t>
                                          </m:r>
                                        </m:e>
                                        <m:sub>
                                          <m:r>
                                            <a:rPr lang="en-US" altLang="ja-JP" b="1" i="1">
                                              <a:latin typeface="Cambria Math" panose="02040503050406030204" pitchFamily="18" charset="0"/>
                                            </a:rPr>
                                            <m:t>𝒊</m:t>
                                          </m:r>
                                        </m:sub>
                                      </m:sSub>
                                    </m:e>
                                  </m:acc>
                                </m:e>
                              </m:d>
                            </m:e>
                            <m:sup>
                              <m:r>
                                <a:rPr kumimoji="1" lang="en-US" altLang="ja-JP" b="1" i="1" smtClean="0">
                                  <a:latin typeface="Cambria Math" panose="02040503050406030204" pitchFamily="18" charset="0"/>
                                </a:rPr>
                                <m:t>𝟐</m:t>
                              </m:r>
                            </m:sup>
                          </m:sSup>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ea typeface="Cambria Math" panose="02040503050406030204" pitchFamily="18" charset="0"/>
                            </a:rPr>
                            <m:t>𝝀</m:t>
                          </m:r>
                          <m:nary>
                            <m:naryPr>
                              <m:chr m:val="∑"/>
                              <m:limLoc m:val="subSup"/>
                              <m:ctrlPr>
                                <a:rPr kumimoji="1" lang="en-US" altLang="ja-JP" b="1" i="1" smtClean="0">
                                  <a:latin typeface="Cambria Math" panose="02040503050406030204" pitchFamily="18" charset="0"/>
                                  <a:ea typeface="Cambria Math" panose="02040503050406030204" pitchFamily="18" charset="0"/>
                                </a:rPr>
                              </m:ctrlPr>
                            </m:naryPr>
                            <m:sub>
                              <m:r>
                                <m:rPr>
                                  <m:brk m:alnAt="25"/>
                                </m:rPr>
                                <a:rPr kumimoji="1" lang="en-US" altLang="ja-JP" b="1" i="1" smtClean="0">
                                  <a:latin typeface="Cambria Math" panose="02040503050406030204" pitchFamily="18" charset="0"/>
                                  <a:ea typeface="Cambria Math" panose="02040503050406030204" pitchFamily="18" charset="0"/>
                                </a:rPr>
                                <m:t>𝒌</m:t>
                              </m:r>
                              <m:r>
                                <a:rPr kumimoji="1" lang="en-US" altLang="ja-JP" b="1" i="1" smtClean="0">
                                  <a:latin typeface="Cambria Math" panose="02040503050406030204" pitchFamily="18" charset="0"/>
                                  <a:ea typeface="Cambria Math" panose="02040503050406030204" pitchFamily="18" charset="0"/>
                                </a:rPr>
                                <m:t>=</m:t>
                              </m:r>
                              <m:r>
                                <a:rPr kumimoji="1" lang="en-US" altLang="ja-JP" b="1" i="1" smtClean="0">
                                  <a:latin typeface="Cambria Math" panose="02040503050406030204" pitchFamily="18" charset="0"/>
                                  <a:ea typeface="Cambria Math" panose="02040503050406030204" pitchFamily="18" charset="0"/>
                                </a:rPr>
                                <m:t>𝟏</m:t>
                              </m:r>
                            </m:sub>
                            <m:sup>
                              <m:r>
                                <a:rPr kumimoji="1" lang="en-US" altLang="ja-JP" b="1" i="1" smtClean="0">
                                  <a:latin typeface="Cambria Math" panose="02040503050406030204" pitchFamily="18" charset="0"/>
                                  <a:ea typeface="Cambria Math" panose="02040503050406030204" pitchFamily="18" charset="0"/>
                                </a:rPr>
                                <m:t>𝑲</m:t>
                              </m:r>
                            </m:sup>
                            <m:e>
                              <m:d>
                                <m:dPr>
                                  <m:begChr m:val="|"/>
                                  <m:endChr m:val="|"/>
                                  <m:ctrlPr>
                                    <a:rPr kumimoji="1" lang="en-US" altLang="ja-JP" b="1" i="1" smtClean="0">
                                      <a:latin typeface="Cambria Math" panose="02040503050406030204" pitchFamily="18" charset="0"/>
                                      <a:ea typeface="Cambria Math" panose="02040503050406030204" pitchFamily="18" charset="0"/>
                                    </a:rPr>
                                  </m:ctrlPr>
                                </m:dPr>
                                <m:e>
                                  <m:sSub>
                                    <m:sSubPr>
                                      <m:ctrlPr>
                                        <a:rPr kumimoji="1" lang="en-US" altLang="ja-JP" b="1" i="1" smtClean="0">
                                          <a:latin typeface="Cambria Math" panose="02040503050406030204" pitchFamily="18" charset="0"/>
                                          <a:ea typeface="Cambria Math" panose="02040503050406030204" pitchFamily="18" charset="0"/>
                                        </a:rPr>
                                      </m:ctrlPr>
                                    </m:sSubPr>
                                    <m:e>
                                      <m:r>
                                        <a:rPr kumimoji="1" lang="en-US" altLang="ja-JP" b="1" i="1" smtClean="0">
                                          <a:latin typeface="Cambria Math" panose="02040503050406030204" pitchFamily="18" charset="0"/>
                                          <a:ea typeface="Cambria Math" panose="02040503050406030204" pitchFamily="18" charset="0"/>
                                        </a:rPr>
                                        <m:t>𝒘</m:t>
                                      </m:r>
                                    </m:e>
                                    <m:sub>
                                      <m:r>
                                        <a:rPr kumimoji="1" lang="en-US" altLang="ja-JP" b="1" i="1" smtClean="0">
                                          <a:latin typeface="Cambria Math" panose="02040503050406030204" pitchFamily="18" charset="0"/>
                                          <a:ea typeface="Cambria Math" panose="02040503050406030204" pitchFamily="18" charset="0"/>
                                        </a:rPr>
                                        <m:t>𝒌</m:t>
                                      </m:r>
                                    </m:sub>
                                  </m:sSub>
                                </m:e>
                              </m:d>
                            </m:e>
                          </m:nary>
                        </m:e>
                      </m:nary>
                    </m:oMath>
                  </m:oMathPara>
                </a14:m>
                <a:endParaRPr kumimoji="1" lang="ja-JP" altLang="en-US" b="1">
                  <a:latin typeface="Meiryo" panose="020B0604030504040204" pitchFamily="34" charset="-128"/>
                  <a:ea typeface="Meiryo" panose="020B0604030504040204" pitchFamily="34" charset="-128"/>
                </a:endParaRPr>
              </a:p>
            </p:txBody>
          </p:sp>
        </mc:Choice>
        <mc:Fallback>
          <p:sp>
            <p:nvSpPr>
              <p:cNvPr id="6" name="テキスト ボックス 5">
                <a:extLst>
                  <a:ext uri="{FF2B5EF4-FFF2-40B4-BE49-F238E27FC236}">
                    <a16:creationId xmlns:a16="http://schemas.microsoft.com/office/drawing/2014/main" id="{EA256479-ED51-EAFD-6248-6EEC26B71298}"/>
                  </a:ext>
                </a:extLst>
              </p:cNvPr>
              <p:cNvSpPr txBox="1">
                <a:spLocks noRot="1" noChangeAspect="1" noMove="1" noResize="1" noEditPoints="1" noAdjustHandles="1" noChangeArrowheads="1" noChangeShapeType="1" noTextEdit="1"/>
              </p:cNvSpPr>
              <p:nvPr/>
            </p:nvSpPr>
            <p:spPr>
              <a:xfrm>
                <a:off x="7160217" y="1026865"/>
                <a:ext cx="4282263" cy="664669"/>
              </a:xfrm>
              <a:prstGeom prst="rect">
                <a:avLst/>
              </a:prstGeom>
              <a:blipFill>
                <a:blip r:embed="rId3"/>
                <a:stretch>
                  <a:fillRect t="-137736" b="-213208"/>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 name="テキスト ボックス 6">
                <a:extLst>
                  <a:ext uri="{FF2B5EF4-FFF2-40B4-BE49-F238E27FC236}">
                    <a16:creationId xmlns:a16="http://schemas.microsoft.com/office/drawing/2014/main" id="{4400E4CE-A099-BAC4-D6FF-2AB1C3DC5AFD}"/>
                  </a:ext>
                </a:extLst>
              </p:cNvPr>
              <p:cNvSpPr txBox="1"/>
              <p:nvPr/>
            </p:nvSpPr>
            <p:spPr>
              <a:xfrm>
                <a:off x="7160217" y="2551837"/>
                <a:ext cx="4001416" cy="1754326"/>
              </a:xfrm>
              <a:prstGeom prst="rect">
                <a:avLst/>
              </a:prstGeom>
              <a:noFill/>
            </p:spPr>
            <p:txBody>
              <a:bodyPr wrap="none" rtlCol="0">
                <a:spAutoFit/>
              </a:bodyPr>
              <a:lstStyle/>
              <a:p>
                <a:pPr marL="285750" indent="-285750">
                  <a:buFont typeface="Wingdings" pitchFamily="2" charset="2"/>
                  <a:buChar char="l"/>
                </a:pPr>
                <a:r>
                  <a:rPr kumimoji="1" lang="en-US" altLang="ja-JP" b="1" dirty="0">
                    <a:latin typeface="Meiryo" panose="020B0604030504040204" pitchFamily="34" charset="-128"/>
                    <a:ea typeface="Meiryo" panose="020B0604030504040204" pitchFamily="34" charset="-128"/>
                  </a:rPr>
                  <a:t>N:</a:t>
                </a:r>
                <a:r>
                  <a:rPr kumimoji="1" lang="ja-JP" altLang="en-US" b="1">
                    <a:latin typeface="Meiryo" panose="020B0604030504040204" pitchFamily="34" charset="-128"/>
                    <a:ea typeface="Meiryo" panose="020B0604030504040204" pitchFamily="34" charset="-128"/>
                  </a:rPr>
                  <a:t>データ数</a:t>
                </a:r>
                <a:endParaRPr kumimoji="1"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14:m>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𝒚</m:t>
                        </m:r>
                      </m:e>
                      <m:sub>
                        <m:r>
                          <a:rPr kumimoji="1" lang="en-US" altLang="ja-JP" b="1" i="1" smtClean="0">
                            <a:latin typeface="Cambria Math" panose="02040503050406030204" pitchFamily="18" charset="0"/>
                          </a:rPr>
                          <m:t>𝒊</m:t>
                        </m:r>
                      </m:sub>
                    </m:sSub>
                  </m:oMath>
                </a14:m>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実測値</a:t>
                </a:r>
                <a:endParaRPr kumimoji="1"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14:m>
                  <m:oMath xmlns:m="http://schemas.openxmlformats.org/officeDocument/2006/math">
                    <m:acc>
                      <m:accPr>
                        <m:chr m:val="̂"/>
                        <m:ctrlPr>
                          <a:rPr kumimoji="1" lang="ja-JP" altLang="en-US" b="1" i="1" smtClean="0">
                            <a:latin typeface="Cambria Math" panose="02040503050406030204" pitchFamily="18" charset="0"/>
                          </a:rPr>
                        </m:ctrlPr>
                      </m:accPr>
                      <m:e>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𝒚</m:t>
                            </m:r>
                          </m:e>
                          <m:sub>
                            <m:r>
                              <a:rPr kumimoji="1" lang="en-US" altLang="ja-JP" b="1" i="1" smtClean="0">
                                <a:latin typeface="Cambria Math" panose="02040503050406030204" pitchFamily="18" charset="0"/>
                              </a:rPr>
                              <m:t>𝒊</m:t>
                            </m:r>
                          </m:sub>
                        </m:sSub>
                      </m:e>
                    </m:acc>
                  </m:oMath>
                </a14:m>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予測値</a:t>
                </a:r>
                <a:endParaRPr kumimoji="1"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lang="en-US" altLang="ja-JP" b="1" dirty="0" err="1">
                    <a:latin typeface="Meiryo" panose="020B0604030504040204" pitchFamily="34" charset="-128"/>
                    <a:ea typeface="Meiryo" panose="020B0604030504040204" pitchFamily="34" charset="-128"/>
                  </a:rPr>
                  <a:t>λ</a:t>
                </a:r>
                <a:r>
                  <a:rPr kumimoji="1" lang="ja-JP" altLang="en-US" b="1">
                    <a:latin typeface="Meiryo" panose="020B0604030504040204" pitchFamily="34" charset="-128"/>
                    <a:ea typeface="Meiryo" panose="020B0604030504040204" pitchFamily="34" charset="-128"/>
                  </a:rPr>
                  <a:t>（または</a:t>
                </a:r>
                <a:r>
                  <a:rPr kumimoji="1" lang="en-US" altLang="ja-JP" b="1" dirty="0">
                    <a:latin typeface="Meiryo" panose="020B0604030504040204" pitchFamily="34" charset="-128"/>
                    <a:ea typeface="Meiryo" panose="020B0604030504040204" pitchFamily="34" charset="-128"/>
                  </a:rPr>
                  <a:t>α</a:t>
                </a:r>
                <a:r>
                  <a:rPr kumimoji="1" lang="ja-JP" altLang="en-US" b="1">
                    <a:latin typeface="Meiryo" panose="020B0604030504040204" pitchFamily="34" charset="-128"/>
                    <a:ea typeface="Meiryo" panose="020B0604030504040204" pitchFamily="34" charset="-128"/>
                  </a:rPr>
                  <a:t>）</a:t>
                </a:r>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正則化パラメータ</a:t>
                </a:r>
                <a:endParaRPr kumimoji="1"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lang="en-US" altLang="ja-JP" b="1" dirty="0">
                    <a:latin typeface="Meiryo" panose="020B0604030504040204" pitchFamily="34" charset="-128"/>
                    <a:ea typeface="Meiryo" panose="020B0604030504040204" pitchFamily="34" charset="-128"/>
                  </a:rPr>
                  <a:t>K:</a:t>
                </a:r>
                <a:r>
                  <a:rPr lang="ja-JP" altLang="en-US" b="1">
                    <a:latin typeface="Meiryo" panose="020B0604030504040204" pitchFamily="34" charset="-128"/>
                    <a:ea typeface="Meiryo" panose="020B0604030504040204" pitchFamily="34" charset="-128"/>
                  </a:rPr>
                  <a:t>説明変数の数</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14:m>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𝒘</m:t>
                        </m:r>
                      </m:e>
                      <m:sub>
                        <m:r>
                          <a:rPr kumimoji="1" lang="en-US" altLang="ja-JP" b="1" i="1" smtClean="0">
                            <a:latin typeface="Cambria Math" panose="02040503050406030204" pitchFamily="18" charset="0"/>
                          </a:rPr>
                          <m:t>𝒌</m:t>
                        </m:r>
                      </m:sub>
                    </m:sSub>
                  </m:oMath>
                </a14:m>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各説明変数の回帰係数</a:t>
                </a:r>
              </a:p>
            </p:txBody>
          </p:sp>
        </mc:Choice>
        <mc:Fallback>
          <p:sp>
            <p:nvSpPr>
              <p:cNvPr id="7" name="テキスト ボックス 6">
                <a:extLst>
                  <a:ext uri="{FF2B5EF4-FFF2-40B4-BE49-F238E27FC236}">
                    <a16:creationId xmlns:a16="http://schemas.microsoft.com/office/drawing/2014/main" id="{4400E4CE-A099-BAC4-D6FF-2AB1C3DC5AFD}"/>
                  </a:ext>
                </a:extLst>
              </p:cNvPr>
              <p:cNvSpPr txBox="1">
                <a:spLocks noRot="1" noChangeAspect="1" noMove="1" noResize="1" noEditPoints="1" noAdjustHandles="1" noChangeArrowheads="1" noChangeShapeType="1" noTextEdit="1"/>
              </p:cNvSpPr>
              <p:nvPr/>
            </p:nvSpPr>
            <p:spPr>
              <a:xfrm>
                <a:off x="7160217" y="2551837"/>
                <a:ext cx="4001416" cy="1754326"/>
              </a:xfrm>
              <a:prstGeom prst="rect">
                <a:avLst/>
              </a:prstGeom>
              <a:blipFill>
                <a:blip r:embed="rId4"/>
                <a:stretch>
                  <a:fillRect l="-1270" t="-2174" b="-5072"/>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A550A52A-9ECA-8F06-EC37-6FB17EA41ACF}"/>
              </a:ext>
            </a:extLst>
          </p:cNvPr>
          <p:cNvSpPr txBox="1"/>
          <p:nvPr/>
        </p:nvSpPr>
        <p:spPr>
          <a:xfrm>
            <a:off x="6867733" y="498932"/>
            <a:ext cx="3413114" cy="369332"/>
          </a:xfrm>
          <a:prstGeom prst="rect">
            <a:avLst/>
          </a:prstGeom>
          <a:noFill/>
        </p:spPr>
        <p:txBody>
          <a:bodyPr wrap="none" rtlCol="0">
            <a:spAutoFit/>
          </a:bodyPr>
          <a:lstStyle/>
          <a:p>
            <a:r>
              <a:rPr kumimoji="1" lang="en-US" altLang="ja-JP" b="1" u="sng" dirty="0">
                <a:latin typeface="Meiryo" panose="020B0604030504040204" pitchFamily="34" charset="-128"/>
                <a:ea typeface="Meiryo" panose="020B0604030504040204" pitchFamily="34" charset="-128"/>
              </a:rPr>
              <a:t>Lasso</a:t>
            </a:r>
            <a:r>
              <a:rPr lang="ja-JP" altLang="en-US" b="1" u="sng">
                <a:latin typeface="Meiryo" panose="020B0604030504040204" pitchFamily="34" charset="-128"/>
                <a:ea typeface="Meiryo" panose="020B0604030504040204" pitchFamily="34" charset="-128"/>
              </a:rPr>
              <a:t>回帰の損失関数の</a:t>
            </a:r>
            <a:r>
              <a:rPr kumimoji="1" lang="ja-JP" altLang="en-US" b="1" u="sng">
                <a:latin typeface="Meiryo" panose="020B0604030504040204" pitchFamily="34" charset="-128"/>
                <a:ea typeface="Meiryo" panose="020B0604030504040204" pitchFamily="34" charset="-128"/>
              </a:rPr>
              <a:t>定義式</a:t>
            </a:r>
          </a:p>
        </p:txBody>
      </p:sp>
      <p:sp>
        <p:nvSpPr>
          <p:cNvPr id="9" name="正方形/長方形 8">
            <a:extLst>
              <a:ext uri="{FF2B5EF4-FFF2-40B4-BE49-F238E27FC236}">
                <a16:creationId xmlns:a16="http://schemas.microsoft.com/office/drawing/2014/main" id="{14672844-51D4-5C9A-D415-8DF94C91C474}"/>
              </a:ext>
            </a:extLst>
          </p:cNvPr>
          <p:cNvSpPr/>
          <p:nvPr/>
        </p:nvSpPr>
        <p:spPr>
          <a:xfrm>
            <a:off x="8158348" y="1026865"/>
            <a:ext cx="1636581" cy="6592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rgbClr val="FF0000"/>
                </a:solidFill>
              </a:ln>
              <a:noFill/>
              <a:latin typeface="Meiryo" panose="020B0604030504040204" pitchFamily="34" charset="-128"/>
              <a:ea typeface="Meiryo" panose="020B0604030504040204" pitchFamily="34" charset="-128"/>
            </a:endParaRPr>
          </a:p>
        </p:txBody>
      </p:sp>
      <p:sp>
        <p:nvSpPr>
          <p:cNvPr id="10" name="テキスト ボックス 9">
            <a:extLst>
              <a:ext uri="{FF2B5EF4-FFF2-40B4-BE49-F238E27FC236}">
                <a16:creationId xmlns:a16="http://schemas.microsoft.com/office/drawing/2014/main" id="{C55DA4FE-7547-A22A-5E99-41278B797A48}"/>
              </a:ext>
            </a:extLst>
          </p:cNvPr>
          <p:cNvSpPr txBox="1"/>
          <p:nvPr/>
        </p:nvSpPr>
        <p:spPr>
          <a:xfrm>
            <a:off x="8166159" y="1723130"/>
            <a:ext cx="1620957" cy="738664"/>
          </a:xfrm>
          <a:prstGeom prst="rect">
            <a:avLst/>
          </a:prstGeom>
          <a:noFill/>
        </p:spPr>
        <p:txBody>
          <a:bodyPr wrap="none" rtlCol="0">
            <a:spAutoFit/>
          </a:bodyPr>
          <a:lstStyle/>
          <a:p>
            <a:pPr algn="ctr"/>
            <a:r>
              <a:rPr kumimoji="1" lang="ja-JP" altLang="en-US" sz="1400" b="1">
                <a:solidFill>
                  <a:srgbClr val="FF0000"/>
                </a:solidFill>
                <a:latin typeface="Meiryo" panose="020B0604030504040204" pitchFamily="34" charset="-128"/>
                <a:ea typeface="Meiryo" panose="020B0604030504040204" pitchFamily="34" charset="-128"/>
              </a:rPr>
              <a:t>誤差二乗和</a:t>
            </a:r>
            <a:endParaRPr kumimoji="1" lang="en-US" altLang="ja-JP" sz="1400" b="1" dirty="0">
              <a:solidFill>
                <a:srgbClr val="FF0000"/>
              </a:solidFill>
              <a:latin typeface="Meiryo" panose="020B0604030504040204" pitchFamily="34" charset="-128"/>
              <a:ea typeface="Meiryo" panose="020B0604030504040204" pitchFamily="34" charset="-128"/>
            </a:endParaRPr>
          </a:p>
          <a:p>
            <a:pPr algn="ctr"/>
            <a:r>
              <a:rPr lang="ja-JP" altLang="en-US" sz="1400" b="1">
                <a:solidFill>
                  <a:srgbClr val="FF0000"/>
                </a:solidFill>
                <a:latin typeface="Meiryo" panose="020B0604030504040204" pitchFamily="34" charset="-128"/>
                <a:ea typeface="Meiryo" panose="020B0604030504040204" pitchFamily="34" charset="-128"/>
              </a:rPr>
              <a:t>↓</a:t>
            </a:r>
            <a:endParaRPr lang="en-US" altLang="ja-JP" sz="1400" b="1" dirty="0">
              <a:solidFill>
                <a:srgbClr val="FF0000"/>
              </a:solidFill>
              <a:latin typeface="Meiryo" panose="020B0604030504040204" pitchFamily="34" charset="-128"/>
              <a:ea typeface="Meiryo" panose="020B0604030504040204" pitchFamily="34" charset="-128"/>
            </a:endParaRPr>
          </a:p>
          <a:p>
            <a:pPr algn="ctr"/>
            <a:r>
              <a:rPr kumimoji="1" lang="ja-JP" altLang="en-US" sz="1400" b="1">
                <a:solidFill>
                  <a:srgbClr val="FF0000"/>
                </a:solidFill>
                <a:latin typeface="Meiryo" panose="020B0604030504040204" pitchFamily="34" charset="-128"/>
                <a:ea typeface="Meiryo" panose="020B0604030504040204" pitchFamily="34" charset="-128"/>
              </a:rPr>
              <a:t>データへの適合度</a:t>
            </a:r>
          </a:p>
        </p:txBody>
      </p:sp>
      <p:sp>
        <p:nvSpPr>
          <p:cNvPr id="11" name="正方形/長方形 10">
            <a:extLst>
              <a:ext uri="{FF2B5EF4-FFF2-40B4-BE49-F238E27FC236}">
                <a16:creationId xmlns:a16="http://schemas.microsoft.com/office/drawing/2014/main" id="{7D7062AF-B23D-C7ED-682E-1423E2C36362}"/>
              </a:ext>
            </a:extLst>
          </p:cNvPr>
          <p:cNvSpPr/>
          <p:nvPr/>
        </p:nvSpPr>
        <p:spPr>
          <a:xfrm>
            <a:off x="10002796" y="1026864"/>
            <a:ext cx="1385565" cy="659283"/>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rgbClr val="FF0000"/>
                </a:solidFill>
              </a:ln>
              <a:noFill/>
              <a:latin typeface="Meiryo" panose="020B0604030504040204" pitchFamily="34" charset="-128"/>
              <a:ea typeface="Meiryo" panose="020B0604030504040204" pitchFamily="34" charset="-128"/>
            </a:endParaRPr>
          </a:p>
        </p:txBody>
      </p:sp>
      <p:sp>
        <p:nvSpPr>
          <p:cNvPr id="12" name="テキスト ボックス 11">
            <a:extLst>
              <a:ext uri="{FF2B5EF4-FFF2-40B4-BE49-F238E27FC236}">
                <a16:creationId xmlns:a16="http://schemas.microsoft.com/office/drawing/2014/main" id="{3E1565D0-FE53-C69F-FE88-403616610EAA}"/>
              </a:ext>
            </a:extLst>
          </p:cNvPr>
          <p:cNvSpPr txBox="1"/>
          <p:nvPr/>
        </p:nvSpPr>
        <p:spPr>
          <a:xfrm>
            <a:off x="9866438" y="1723130"/>
            <a:ext cx="1800494" cy="738664"/>
          </a:xfrm>
          <a:prstGeom prst="rect">
            <a:avLst/>
          </a:prstGeom>
          <a:noFill/>
          <a:ln>
            <a:noFill/>
          </a:ln>
        </p:spPr>
        <p:txBody>
          <a:bodyPr wrap="none" rtlCol="0">
            <a:spAutoFit/>
          </a:bodyPr>
          <a:lstStyle/>
          <a:p>
            <a:pPr algn="ctr"/>
            <a:r>
              <a:rPr kumimoji="1" lang="ja-JP" altLang="en-US" sz="1400" b="1">
                <a:solidFill>
                  <a:srgbClr val="00B0F0"/>
                </a:solidFill>
                <a:latin typeface="Meiryo" panose="020B0604030504040204" pitchFamily="34" charset="-128"/>
                <a:ea typeface="Meiryo" panose="020B0604030504040204" pitchFamily="34" charset="-128"/>
              </a:rPr>
              <a:t>正則化項</a:t>
            </a:r>
            <a:endParaRPr kumimoji="1" lang="en-US" altLang="ja-JP" sz="1400" b="1" dirty="0">
              <a:solidFill>
                <a:srgbClr val="00B0F0"/>
              </a:solidFill>
              <a:latin typeface="Meiryo" panose="020B0604030504040204" pitchFamily="34" charset="-128"/>
              <a:ea typeface="Meiryo" panose="020B0604030504040204" pitchFamily="34" charset="-128"/>
            </a:endParaRPr>
          </a:p>
          <a:p>
            <a:pPr algn="ctr"/>
            <a:r>
              <a:rPr lang="ja-JP" altLang="en-US" sz="1400" b="1">
                <a:solidFill>
                  <a:srgbClr val="00B0F0"/>
                </a:solidFill>
                <a:latin typeface="Meiryo" panose="020B0604030504040204" pitchFamily="34" charset="-128"/>
                <a:ea typeface="Meiryo" panose="020B0604030504040204" pitchFamily="34" charset="-128"/>
              </a:rPr>
              <a:t>↓</a:t>
            </a:r>
            <a:endParaRPr lang="en-US" altLang="ja-JP" sz="1400" b="1" dirty="0">
              <a:solidFill>
                <a:srgbClr val="00B0F0"/>
              </a:solidFill>
              <a:latin typeface="Meiryo" panose="020B0604030504040204" pitchFamily="34" charset="-128"/>
              <a:ea typeface="Meiryo" panose="020B0604030504040204" pitchFamily="34" charset="-128"/>
            </a:endParaRPr>
          </a:p>
          <a:p>
            <a:pPr algn="ctr"/>
            <a:r>
              <a:rPr lang="ja-JP" altLang="en-US" sz="1400" b="1">
                <a:solidFill>
                  <a:srgbClr val="00B0F0"/>
                </a:solidFill>
                <a:latin typeface="Meiryo" panose="020B0604030504040204" pitchFamily="34" charset="-128"/>
                <a:ea typeface="Meiryo" panose="020B0604030504040204" pitchFamily="34" charset="-128"/>
              </a:rPr>
              <a:t>係数へのペナルティ</a:t>
            </a:r>
            <a:endParaRPr lang="en-US" altLang="ja-JP" sz="1400" b="1" dirty="0">
              <a:solidFill>
                <a:srgbClr val="00B0F0"/>
              </a:solidFill>
              <a:latin typeface="Meiryo" panose="020B0604030504040204" pitchFamily="34" charset="-128"/>
              <a:ea typeface="Meiryo" panose="020B0604030504040204" pitchFamily="34" charset="-128"/>
            </a:endParaRPr>
          </a:p>
        </p:txBody>
      </p:sp>
      <mc:AlternateContent xmlns:mc="http://schemas.openxmlformats.org/markup-compatibility/2006">
        <mc:Choice xmlns:a14="http://schemas.microsoft.com/office/drawing/2010/main" Requires="a14">
          <p:sp>
            <p:nvSpPr>
              <p:cNvPr id="13" name="テキスト ボックス 12">
                <a:extLst>
                  <a:ext uri="{FF2B5EF4-FFF2-40B4-BE49-F238E27FC236}">
                    <a16:creationId xmlns:a16="http://schemas.microsoft.com/office/drawing/2014/main" id="{CDFBAE16-E08E-485B-5907-7E254AAD1E00}"/>
                  </a:ext>
                </a:extLst>
              </p:cNvPr>
              <p:cNvSpPr txBox="1"/>
              <p:nvPr/>
            </p:nvSpPr>
            <p:spPr>
              <a:xfrm>
                <a:off x="114462" y="804337"/>
                <a:ext cx="6972011" cy="369332"/>
              </a:xfrm>
              <a:prstGeom prst="rect">
                <a:avLst/>
              </a:prstGeom>
              <a:noFill/>
            </p:spPr>
            <p:txBody>
              <a:bodyPr wrap="square" rtlCol="0">
                <a:spAutoFit/>
              </a:bodyPr>
              <a:lstStyle/>
              <a:p>
                <a:r>
                  <a:rPr lang="ja-JP" altLang="en-US" b="1">
                    <a:latin typeface="Meiryo" panose="020B0604030504040204" pitchFamily="34" charset="-128"/>
                    <a:ea typeface="Meiryo" panose="020B0604030504040204" pitchFamily="34" charset="-128"/>
                  </a:rPr>
                  <a:t>損失関数 </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𝑬</m:t>
                        </m:r>
                      </m:e>
                      <m:sub>
                        <m:r>
                          <a:rPr lang="en-US" altLang="ja-JP" b="1" i="1">
                            <a:latin typeface="Cambria Math" panose="02040503050406030204" pitchFamily="18" charset="0"/>
                          </a:rPr>
                          <m:t>𝑳𝒂𝒔𝒔𝒐</m:t>
                        </m:r>
                      </m:sub>
                    </m:sSub>
                  </m:oMath>
                </a14:m>
                <a:r>
                  <a:rPr lang="ja-JP" altLang="en-US" b="1">
                    <a:latin typeface="Meiryo" panose="020B0604030504040204" pitchFamily="34" charset="-128"/>
                    <a:ea typeface="Meiryo" panose="020B0604030504040204" pitchFamily="34" charset="-128"/>
                  </a:rPr>
                  <a:t>を最小化する回帰係数を求める手法</a:t>
                </a:r>
                <a:endParaRPr kumimoji="1" lang="ja-JP" altLang="en-US" b="1">
                  <a:latin typeface="Meiryo" panose="020B0604030504040204" pitchFamily="34" charset="-128"/>
                  <a:ea typeface="Meiryo" panose="020B0604030504040204" pitchFamily="34" charset="-128"/>
                </a:endParaRPr>
              </a:p>
            </p:txBody>
          </p:sp>
        </mc:Choice>
        <mc:Fallback>
          <p:sp>
            <p:nvSpPr>
              <p:cNvPr id="13" name="テキスト ボックス 12">
                <a:extLst>
                  <a:ext uri="{FF2B5EF4-FFF2-40B4-BE49-F238E27FC236}">
                    <a16:creationId xmlns:a16="http://schemas.microsoft.com/office/drawing/2014/main" id="{CDFBAE16-E08E-485B-5907-7E254AAD1E00}"/>
                  </a:ext>
                </a:extLst>
              </p:cNvPr>
              <p:cNvSpPr txBox="1">
                <a:spLocks noRot="1" noChangeAspect="1" noMove="1" noResize="1" noEditPoints="1" noAdjustHandles="1" noChangeArrowheads="1" noChangeShapeType="1" noTextEdit="1"/>
              </p:cNvSpPr>
              <p:nvPr/>
            </p:nvSpPr>
            <p:spPr>
              <a:xfrm>
                <a:off x="114462" y="804337"/>
                <a:ext cx="6972011" cy="369332"/>
              </a:xfrm>
              <a:prstGeom prst="rect">
                <a:avLst/>
              </a:prstGeom>
              <a:blipFill>
                <a:blip r:embed="rId5"/>
                <a:stretch>
                  <a:fillRect l="-911" t="-3333" b="-26667"/>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4" name="テキスト ボックス 13">
                <a:extLst>
                  <a:ext uri="{FF2B5EF4-FFF2-40B4-BE49-F238E27FC236}">
                    <a16:creationId xmlns:a16="http://schemas.microsoft.com/office/drawing/2014/main" id="{C6D71981-2BE6-95B8-BB3D-4ED0BC4C3784}"/>
                  </a:ext>
                </a:extLst>
              </p:cNvPr>
              <p:cNvSpPr txBox="1"/>
              <p:nvPr/>
            </p:nvSpPr>
            <p:spPr>
              <a:xfrm>
                <a:off x="7160217" y="4599041"/>
                <a:ext cx="4653831" cy="2031325"/>
              </a:xfrm>
              <a:prstGeom prst="rect">
                <a:avLst/>
              </a:prstGeom>
              <a:noFill/>
            </p:spPr>
            <p:txBody>
              <a:bodyPr wrap="square" rtlCol="0">
                <a:spAutoFit/>
              </a:bodyPr>
              <a:lstStyle/>
              <a:p>
                <a:r>
                  <a:rPr kumimoji="1" lang="ja-JP" altLang="en-US" b="1" u="sng">
                    <a:latin typeface="Meiryo" panose="020B0604030504040204" pitchFamily="34" charset="-128"/>
                    <a:ea typeface="Meiryo" panose="020B0604030504040204" pitchFamily="34" charset="-128"/>
                  </a:rPr>
                  <a:t>特徴</a:t>
                </a:r>
                <a:endParaRPr kumimoji="1" lang="en-US" altLang="ja-JP" b="1" u="sng" dirty="0">
                  <a:latin typeface="Meiryo" panose="020B0604030504040204" pitchFamily="34" charset="-128"/>
                  <a:ea typeface="Meiryo" panose="020B0604030504040204" pitchFamily="34" charset="-128"/>
                </a:endParaRPr>
              </a:p>
              <a:p>
                <a:pPr marL="285750" indent="-285750">
                  <a:buFont typeface="Wingdings" pitchFamily="2" charset="2"/>
                  <a:buChar char="l"/>
                </a:pPr>
                <a:r>
                  <a:rPr kumimoji="1" lang="ja-JP" altLang="en-US" b="1">
                    <a:latin typeface="Meiryo" panose="020B0604030504040204" pitchFamily="34" charset="-128"/>
                    <a:ea typeface="Meiryo" panose="020B0604030504040204" pitchFamily="34" charset="-128"/>
                  </a:rPr>
                  <a:t>不要な説明変数の係数が０</a:t>
                </a:r>
                <a:r>
                  <a:rPr lang="ja-JP" altLang="en-US" b="1">
                    <a:latin typeface="Meiryo" panose="020B0604030504040204" pitchFamily="34" charset="-128"/>
                    <a:ea typeface="Meiryo" panose="020B0604030504040204" pitchFamily="34" charset="-128"/>
                  </a:rPr>
                  <a:t>になるため、シンプルなモデルになり、解釈性が高い。</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lang="ja-JP" altLang="en-US" b="1">
                    <a:latin typeface="Meiryo" panose="020B0604030504040204" pitchFamily="34" charset="-128"/>
                    <a:ea typeface="Meiryo" panose="020B0604030504040204" pitchFamily="34" charset="-128"/>
                  </a:rPr>
                  <a:t>説明変数の数</a:t>
                </a:r>
                <a14:m>
                  <m:oMath xmlns:m="http://schemas.openxmlformats.org/officeDocument/2006/math">
                    <m:r>
                      <a:rPr lang="en-US" altLang="ja-JP" b="1" i="1" smtClean="0">
                        <a:latin typeface="Cambria Math" panose="02040503050406030204" pitchFamily="18" charset="0"/>
                        <a:ea typeface="Cambria Math" panose="02040503050406030204" pitchFamily="18" charset="0"/>
                      </a:rPr>
                      <m:t>&gt;</m:t>
                    </m:r>
                  </m:oMath>
                </a14:m>
                <a:r>
                  <a:rPr lang="ja-JP" altLang="en-US" b="1">
                    <a:latin typeface="Meiryo" panose="020B0604030504040204" pitchFamily="34" charset="-128"/>
                    <a:ea typeface="Meiryo" panose="020B0604030504040204" pitchFamily="34" charset="-128"/>
                  </a:rPr>
                  <a:t>データ数であるデータセットに対して強い。</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lang="ja-JP" altLang="en-US" b="1">
                    <a:latin typeface="Meiryo" panose="020B0604030504040204" pitchFamily="34" charset="-128"/>
                    <a:ea typeface="Meiryo" panose="020B0604030504040204" pitchFamily="34" charset="-128"/>
                  </a:rPr>
                  <a:t>多重共線性のあるデータセットに対しても</a:t>
                </a:r>
                <a:r>
                  <a:rPr lang="ja-JP" altLang="en-US" b="1" u="sng">
                    <a:latin typeface="Meiryo" panose="020B0604030504040204" pitchFamily="34" charset="-128"/>
                    <a:ea typeface="Meiryo" panose="020B0604030504040204" pitchFamily="34" charset="-128"/>
                  </a:rPr>
                  <a:t>機能する</a:t>
                </a:r>
                <a:r>
                  <a:rPr lang="ja-JP" altLang="en-US" b="1">
                    <a:latin typeface="Meiryo" panose="020B0604030504040204" pitchFamily="34" charset="-128"/>
                    <a:ea typeface="Meiryo" panose="020B0604030504040204" pitchFamily="34" charset="-128"/>
                  </a:rPr>
                  <a:t>。</a:t>
                </a:r>
                <a:endParaRPr lang="en-US" altLang="ja-JP" b="1" dirty="0">
                  <a:latin typeface="Meiryo" panose="020B0604030504040204" pitchFamily="34" charset="-128"/>
                  <a:ea typeface="Meiryo" panose="020B0604030504040204" pitchFamily="34" charset="-128"/>
                </a:endParaRPr>
              </a:p>
            </p:txBody>
          </p:sp>
        </mc:Choice>
        <mc:Fallback>
          <p:sp>
            <p:nvSpPr>
              <p:cNvPr id="14" name="テキスト ボックス 13">
                <a:extLst>
                  <a:ext uri="{FF2B5EF4-FFF2-40B4-BE49-F238E27FC236}">
                    <a16:creationId xmlns:a16="http://schemas.microsoft.com/office/drawing/2014/main" id="{C6D71981-2BE6-95B8-BB3D-4ED0BC4C3784}"/>
                  </a:ext>
                </a:extLst>
              </p:cNvPr>
              <p:cNvSpPr txBox="1">
                <a:spLocks noRot="1" noChangeAspect="1" noMove="1" noResize="1" noEditPoints="1" noAdjustHandles="1" noChangeArrowheads="1" noChangeShapeType="1" noTextEdit="1"/>
              </p:cNvSpPr>
              <p:nvPr/>
            </p:nvSpPr>
            <p:spPr>
              <a:xfrm>
                <a:off x="7160217" y="4599041"/>
                <a:ext cx="4653831" cy="2031325"/>
              </a:xfrm>
              <a:prstGeom prst="rect">
                <a:avLst/>
              </a:prstGeom>
              <a:blipFill>
                <a:blip r:embed="rId6"/>
                <a:stretch>
                  <a:fillRect l="-1362" t="-617" r="-4360" b="-308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51638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755DF003-1C5D-0457-E906-1F45552E02A9}"/>
              </a:ext>
            </a:extLst>
          </p:cNvPr>
          <p:cNvSpPr txBox="1"/>
          <p:nvPr/>
        </p:nvSpPr>
        <p:spPr>
          <a:xfrm>
            <a:off x="90195" y="110079"/>
            <a:ext cx="6631944" cy="646331"/>
          </a:xfrm>
          <a:prstGeom prst="rect">
            <a:avLst/>
          </a:prstGeom>
          <a:noFill/>
        </p:spPr>
        <p:txBody>
          <a:bodyPr wrap="none" rtlCol="0">
            <a:spAutoFit/>
          </a:bodyPr>
          <a:lstStyle/>
          <a:p>
            <a:r>
              <a:rPr kumimoji="1" lang="en-US" altLang="ja-JP" sz="3600" b="1" dirty="0">
                <a:latin typeface="Meiryo" panose="020B0604030504040204" pitchFamily="34" charset="-128"/>
                <a:ea typeface="Meiryo" panose="020B0604030504040204" pitchFamily="34" charset="-128"/>
              </a:rPr>
              <a:t>PLS</a:t>
            </a:r>
            <a:r>
              <a:rPr kumimoji="1" lang="ja-JP" altLang="en-US" sz="3600" b="1">
                <a:latin typeface="Meiryo" panose="020B0604030504040204" pitchFamily="34" charset="-128"/>
                <a:ea typeface="Meiryo" panose="020B0604030504040204" pitchFamily="34" charset="-128"/>
              </a:rPr>
              <a:t>回帰（部分的最小二乗法）</a:t>
            </a:r>
          </a:p>
        </p:txBody>
      </p:sp>
      <p:grpSp>
        <p:nvGrpSpPr>
          <p:cNvPr id="33" name="グループ化 32">
            <a:extLst>
              <a:ext uri="{FF2B5EF4-FFF2-40B4-BE49-F238E27FC236}">
                <a16:creationId xmlns:a16="http://schemas.microsoft.com/office/drawing/2014/main" id="{FFC0B719-5B71-FA31-0B29-2338742DDCEE}"/>
              </a:ext>
            </a:extLst>
          </p:cNvPr>
          <p:cNvGrpSpPr/>
          <p:nvPr/>
        </p:nvGrpSpPr>
        <p:grpSpPr>
          <a:xfrm>
            <a:off x="216143" y="1554997"/>
            <a:ext cx="5978601" cy="2748776"/>
            <a:chOff x="468351" y="1176453"/>
            <a:chExt cx="5978601" cy="2748776"/>
          </a:xfrm>
        </p:grpSpPr>
        <p:pic>
          <p:nvPicPr>
            <p:cNvPr id="29" name="図 28">
              <a:extLst>
                <a:ext uri="{FF2B5EF4-FFF2-40B4-BE49-F238E27FC236}">
                  <a16:creationId xmlns:a16="http://schemas.microsoft.com/office/drawing/2014/main" id="{5C68BC77-5B67-7956-3574-A5A0EF3ED371}"/>
                </a:ext>
              </a:extLst>
            </p:cNvPr>
            <p:cNvPicPr>
              <a:picLocks noChangeAspect="1"/>
            </p:cNvPicPr>
            <p:nvPr/>
          </p:nvPicPr>
          <p:blipFill>
            <a:blip r:embed="rId2"/>
            <a:stretch>
              <a:fillRect/>
            </a:stretch>
          </p:blipFill>
          <p:spPr>
            <a:xfrm>
              <a:off x="468351" y="1176453"/>
              <a:ext cx="5978601" cy="2552059"/>
            </a:xfrm>
            <a:prstGeom prst="rect">
              <a:avLst/>
            </a:prstGeom>
          </p:spPr>
        </p:pic>
        <p:pic>
          <p:nvPicPr>
            <p:cNvPr id="31" name="図 30">
              <a:extLst>
                <a:ext uri="{FF2B5EF4-FFF2-40B4-BE49-F238E27FC236}">
                  <a16:creationId xmlns:a16="http://schemas.microsoft.com/office/drawing/2014/main" id="{08C2F636-6715-4B7D-DE69-DD1A84E8DB1F}"/>
                </a:ext>
              </a:extLst>
            </p:cNvPr>
            <p:cNvPicPr>
              <a:picLocks noChangeAspect="1"/>
            </p:cNvPicPr>
            <p:nvPr/>
          </p:nvPicPr>
          <p:blipFill>
            <a:blip r:embed="rId3"/>
            <a:stretch>
              <a:fillRect/>
            </a:stretch>
          </p:blipFill>
          <p:spPr>
            <a:xfrm>
              <a:off x="3598536" y="2727712"/>
              <a:ext cx="757253" cy="1197517"/>
            </a:xfrm>
            <a:prstGeom prst="rect">
              <a:avLst/>
            </a:prstGeom>
          </p:spPr>
        </p:pic>
        <p:sp>
          <p:nvSpPr>
            <p:cNvPr id="32" name="テキスト ボックス 31">
              <a:extLst>
                <a:ext uri="{FF2B5EF4-FFF2-40B4-BE49-F238E27FC236}">
                  <a16:creationId xmlns:a16="http://schemas.microsoft.com/office/drawing/2014/main" id="{5560F883-9803-49D2-A261-96BA62DAD972}"/>
                </a:ext>
              </a:extLst>
            </p:cNvPr>
            <p:cNvSpPr txBox="1"/>
            <p:nvPr/>
          </p:nvSpPr>
          <p:spPr>
            <a:xfrm>
              <a:off x="613317" y="2987916"/>
              <a:ext cx="570990" cy="338554"/>
            </a:xfrm>
            <a:prstGeom prst="rect">
              <a:avLst/>
            </a:prstGeom>
            <a:solidFill>
              <a:schemeClr val="bg1"/>
            </a:solidFill>
          </p:spPr>
          <p:txBody>
            <a:bodyPr wrap="none" rtlCol="0">
              <a:spAutoFit/>
            </a:bodyPr>
            <a:lstStyle/>
            <a:p>
              <a:r>
                <a:rPr kumimoji="1" lang="en-US" altLang="ja-JP" sz="1600" dirty="0">
                  <a:ln>
                    <a:solidFill>
                      <a:srgbClr val="FF0000"/>
                    </a:solidFill>
                  </a:ln>
                </a:rPr>
                <a:t>PLS</a:t>
              </a:r>
              <a:endParaRPr kumimoji="1" lang="ja-JP" altLang="en-US" sz="1600">
                <a:ln>
                  <a:solidFill>
                    <a:srgbClr val="FF0000"/>
                  </a:solidFill>
                </a:ln>
              </a:endParaRPr>
            </a:p>
          </p:txBody>
        </p:sp>
      </p:grpSp>
      <p:sp>
        <p:nvSpPr>
          <p:cNvPr id="34" name="テキスト ボックス 33">
            <a:extLst>
              <a:ext uri="{FF2B5EF4-FFF2-40B4-BE49-F238E27FC236}">
                <a16:creationId xmlns:a16="http://schemas.microsoft.com/office/drawing/2014/main" id="{3C69947E-B2A6-4C51-2C25-F9DF5C843C2B}"/>
              </a:ext>
            </a:extLst>
          </p:cNvPr>
          <p:cNvSpPr txBox="1"/>
          <p:nvPr/>
        </p:nvSpPr>
        <p:spPr>
          <a:xfrm>
            <a:off x="82438" y="741444"/>
            <a:ext cx="6471590" cy="646331"/>
          </a:xfrm>
          <a:prstGeom prst="rect">
            <a:avLst/>
          </a:prstGeom>
          <a:noFill/>
        </p:spPr>
        <p:txBody>
          <a:bodyPr wrap="square" rtlCol="0">
            <a:spAutoFit/>
          </a:bodyPr>
          <a:lstStyle/>
          <a:p>
            <a:r>
              <a:rPr lang="ja-JP" altLang="en-US" b="1">
                <a:latin typeface="Meiryo" panose="020B0604030504040204" pitchFamily="34" charset="-128"/>
                <a:ea typeface="Meiryo" panose="020B0604030504040204" pitchFamily="34" charset="-128"/>
              </a:rPr>
              <a:t>目的変数との共分散が最大となる</a:t>
            </a:r>
            <a:r>
              <a:rPr lang="en-US" altLang="ja-JP" b="1" dirty="0">
                <a:latin typeface="Meiryo" panose="020B0604030504040204" pitchFamily="34" charset="-128"/>
                <a:ea typeface="Meiryo" panose="020B0604030504040204" pitchFamily="34" charset="-128"/>
              </a:rPr>
              <a:t>(</a:t>
            </a:r>
            <a:r>
              <a:rPr lang="ja-JP" altLang="en-US" b="1">
                <a:latin typeface="Meiryo" panose="020B0604030504040204" pitchFamily="34" charset="-128"/>
                <a:ea typeface="Meiryo" panose="020B0604030504040204" pitchFamily="34" charset="-128"/>
              </a:rPr>
              <a:t>説明変数</a:t>
            </a:r>
            <a:r>
              <a:rPr lang="en-US" altLang="ja-JP" b="1" dirty="0">
                <a:latin typeface="Meiryo" panose="020B0604030504040204" pitchFamily="34" charset="-128"/>
                <a:ea typeface="Meiryo" panose="020B0604030504040204" pitchFamily="34" charset="-128"/>
              </a:rPr>
              <a:t>X</a:t>
            </a:r>
            <a:r>
              <a:rPr lang="ja-JP" altLang="en-US" b="1">
                <a:latin typeface="Meiryo" panose="020B0604030504040204" pitchFamily="34" charset="-128"/>
                <a:ea typeface="Meiryo" panose="020B0604030504040204" pitchFamily="34" charset="-128"/>
              </a:rPr>
              <a:t>を組み合わせた変数</a:t>
            </a:r>
            <a:r>
              <a:rPr lang="en-US" altLang="ja-JP" b="1" dirty="0">
                <a:latin typeface="Meiryo" panose="020B0604030504040204" pitchFamily="34" charset="-128"/>
                <a:ea typeface="Meiryo" panose="020B0604030504040204" pitchFamily="34" charset="-128"/>
              </a:rPr>
              <a:t>)</a:t>
            </a:r>
            <a:r>
              <a:rPr lang="ja-JP" altLang="en-US" b="1">
                <a:latin typeface="Meiryo" panose="020B0604030504040204" pitchFamily="34" charset="-128"/>
                <a:ea typeface="Meiryo" panose="020B0604030504040204" pitchFamily="34" charset="-128"/>
              </a:rPr>
              <a:t>主成分</a:t>
            </a:r>
            <a:r>
              <a:rPr lang="en-US" altLang="ja-JP" b="1" dirty="0">
                <a:latin typeface="Meiryo" panose="020B0604030504040204" pitchFamily="34" charset="-128"/>
                <a:ea typeface="Meiryo" panose="020B0604030504040204" pitchFamily="34" charset="-128"/>
              </a:rPr>
              <a:t>t</a:t>
            </a:r>
            <a:r>
              <a:rPr lang="ja-JP" altLang="en-US" b="1">
                <a:latin typeface="Meiryo" panose="020B0604030504040204" pitchFamily="34" charset="-128"/>
                <a:ea typeface="Meiryo" panose="020B0604030504040204" pitchFamily="34" charset="-128"/>
              </a:rPr>
              <a:t>を抽出し、その成分で最小二乗法をする手法</a:t>
            </a:r>
            <a:endParaRPr lang="en-US" altLang="ja-JP" b="1" dirty="0">
              <a:latin typeface="Meiryo" panose="020B0604030504040204" pitchFamily="34" charset="-128"/>
              <a:ea typeface="Meiryo" panose="020B0604030504040204" pitchFamily="34" charset="-128"/>
            </a:endParaRPr>
          </a:p>
        </p:txBody>
      </p:sp>
      <p:pic>
        <p:nvPicPr>
          <p:cNvPr id="36" name="図 35">
            <a:extLst>
              <a:ext uri="{FF2B5EF4-FFF2-40B4-BE49-F238E27FC236}">
                <a16:creationId xmlns:a16="http://schemas.microsoft.com/office/drawing/2014/main" id="{2101DC31-075F-F2FB-888F-88107F683350}"/>
              </a:ext>
            </a:extLst>
          </p:cNvPr>
          <p:cNvPicPr>
            <a:picLocks noChangeAspect="1"/>
          </p:cNvPicPr>
          <p:nvPr/>
        </p:nvPicPr>
        <p:blipFill>
          <a:blip r:embed="rId4"/>
          <a:stretch>
            <a:fillRect/>
          </a:stretch>
        </p:blipFill>
        <p:spPr>
          <a:xfrm>
            <a:off x="216143" y="4303773"/>
            <a:ext cx="5597912" cy="2255158"/>
          </a:xfrm>
          <a:prstGeom prst="rect">
            <a:avLst/>
          </a:prstGeom>
        </p:spPr>
      </p:pic>
      <p:sp>
        <p:nvSpPr>
          <p:cNvPr id="37" name="テキスト ボックス 36">
            <a:extLst>
              <a:ext uri="{FF2B5EF4-FFF2-40B4-BE49-F238E27FC236}">
                <a16:creationId xmlns:a16="http://schemas.microsoft.com/office/drawing/2014/main" id="{EF6A1345-BC2A-1AED-7F69-061CB3A1C942}"/>
              </a:ext>
            </a:extLst>
          </p:cNvPr>
          <p:cNvSpPr txBox="1"/>
          <p:nvPr/>
        </p:nvSpPr>
        <p:spPr>
          <a:xfrm>
            <a:off x="90195" y="6601759"/>
            <a:ext cx="4910832" cy="307777"/>
          </a:xfrm>
          <a:prstGeom prst="rect">
            <a:avLst/>
          </a:prstGeom>
          <a:noFill/>
        </p:spPr>
        <p:txBody>
          <a:bodyPr wrap="none" rtlCol="0">
            <a:spAutoFit/>
          </a:bodyPr>
          <a:lstStyle/>
          <a:p>
            <a:r>
              <a:rPr lang="ja-JP" altLang="en-US" sz="1400">
                <a:latin typeface="Meiryo" panose="020B0604030504040204" pitchFamily="34" charset="-128"/>
                <a:ea typeface="Meiryo" panose="020B0604030504040204" pitchFamily="34" charset="-128"/>
              </a:rPr>
              <a:t>引用：</a:t>
            </a:r>
            <a:r>
              <a:rPr lang="en" altLang="ja-JP" sz="1400" dirty="0">
                <a:latin typeface="Meiryo" panose="020B0604030504040204" pitchFamily="34" charset="-128"/>
                <a:ea typeface="Meiryo" panose="020B0604030504040204" pitchFamily="34" charset="-128"/>
              </a:rPr>
              <a:t> https://</a:t>
            </a:r>
            <a:r>
              <a:rPr lang="en" altLang="ja-JP" sz="1400" dirty="0" err="1">
                <a:latin typeface="Meiryo" panose="020B0604030504040204" pitchFamily="34" charset="-128"/>
                <a:ea typeface="Meiryo" panose="020B0604030504040204" pitchFamily="34" charset="-128"/>
              </a:rPr>
              <a:t>datachemeng.com</a:t>
            </a:r>
            <a:r>
              <a:rPr lang="en" altLang="ja-JP" sz="1400" dirty="0">
                <a:latin typeface="Meiryo" panose="020B0604030504040204" pitchFamily="34" charset="-128"/>
                <a:ea typeface="Meiryo" panose="020B0604030504040204" pitchFamily="34" charset="-128"/>
              </a:rPr>
              <a:t>/</a:t>
            </a:r>
            <a:r>
              <a:rPr lang="en" altLang="ja-JP" sz="1400" dirty="0" err="1">
                <a:latin typeface="Meiryo" panose="020B0604030504040204" pitchFamily="34" charset="-128"/>
                <a:ea typeface="Meiryo" panose="020B0604030504040204" pitchFamily="34" charset="-128"/>
              </a:rPr>
              <a:t>partialleastsquares</a:t>
            </a:r>
            <a:r>
              <a:rPr lang="en" altLang="ja-JP" sz="1400" dirty="0">
                <a:latin typeface="Meiryo" panose="020B0604030504040204" pitchFamily="34" charset="-128"/>
                <a:ea typeface="Meiryo" panose="020B0604030504040204" pitchFamily="34" charset="-128"/>
              </a:rPr>
              <a:t>/</a:t>
            </a:r>
            <a:endParaRPr kumimoji="1" lang="ja-JP" altLang="en-US" sz="1400">
              <a:latin typeface="Meiryo" panose="020B0604030504040204" pitchFamily="34" charset="-128"/>
              <a:ea typeface="Meiryo" panose="020B0604030504040204" pitchFamily="34" charset="-128"/>
            </a:endParaRPr>
          </a:p>
        </p:txBody>
      </p:sp>
      <p:pic>
        <p:nvPicPr>
          <p:cNvPr id="40" name="図 39">
            <a:extLst>
              <a:ext uri="{FF2B5EF4-FFF2-40B4-BE49-F238E27FC236}">
                <a16:creationId xmlns:a16="http://schemas.microsoft.com/office/drawing/2014/main" id="{A94BD523-B0CF-651B-04D1-9F3E0F7C0482}"/>
              </a:ext>
            </a:extLst>
          </p:cNvPr>
          <p:cNvPicPr>
            <a:picLocks noChangeAspect="1"/>
          </p:cNvPicPr>
          <p:nvPr/>
        </p:nvPicPr>
        <p:blipFill>
          <a:blip r:embed="rId5"/>
          <a:srcRect b="62113"/>
          <a:stretch>
            <a:fillRect/>
          </a:stretch>
        </p:blipFill>
        <p:spPr>
          <a:xfrm>
            <a:off x="6722139" y="2648737"/>
            <a:ext cx="4894254" cy="798688"/>
          </a:xfrm>
          <a:prstGeom prst="rect">
            <a:avLst/>
          </a:prstGeom>
        </p:spPr>
      </p:pic>
      <p:sp>
        <p:nvSpPr>
          <p:cNvPr id="41" name="正方形/長方形 40">
            <a:extLst>
              <a:ext uri="{FF2B5EF4-FFF2-40B4-BE49-F238E27FC236}">
                <a16:creationId xmlns:a16="http://schemas.microsoft.com/office/drawing/2014/main" id="{9F634623-7EF7-F9D1-00BB-27BD512AE041}"/>
              </a:ext>
            </a:extLst>
          </p:cNvPr>
          <p:cNvSpPr/>
          <p:nvPr/>
        </p:nvSpPr>
        <p:spPr>
          <a:xfrm>
            <a:off x="90195" y="1554997"/>
            <a:ext cx="6005805" cy="50039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389F4638-5A53-A14D-ECBF-6760A1EE19C7}"/>
              </a:ext>
            </a:extLst>
          </p:cNvPr>
          <p:cNvSpPr txBox="1"/>
          <p:nvPr/>
        </p:nvSpPr>
        <p:spPr>
          <a:xfrm>
            <a:off x="6415856" y="2184695"/>
            <a:ext cx="5776144" cy="646331"/>
          </a:xfrm>
          <a:prstGeom prst="rect">
            <a:avLst/>
          </a:prstGeom>
          <a:noFill/>
        </p:spPr>
        <p:txBody>
          <a:bodyPr wrap="square" rtlCol="0">
            <a:spAutoFit/>
          </a:bodyPr>
          <a:lstStyle/>
          <a:p>
            <a:r>
              <a:rPr lang="ja-JP" altLang="en-US" b="1">
                <a:latin typeface="Meiryo" panose="020B0604030504040204" pitchFamily="34" charset="-128"/>
                <a:ea typeface="Meiryo" panose="020B0604030504040204" pitchFamily="34" charset="-128"/>
              </a:rPr>
              <a:t>説明変数</a:t>
            </a:r>
            <a:r>
              <a:rPr lang="en-US" altLang="ja-JP" b="1" dirty="0">
                <a:latin typeface="Meiryo" panose="020B0604030504040204" pitchFamily="34" charset="-128"/>
                <a:ea typeface="Meiryo" panose="020B0604030504040204" pitchFamily="34" charset="-128"/>
              </a:rPr>
              <a:t>X</a:t>
            </a:r>
            <a:r>
              <a:rPr lang="ja-JP" altLang="en-US" b="1">
                <a:latin typeface="Meiryo" panose="020B0604030504040204" pitchFamily="34" charset="-128"/>
                <a:ea typeface="Meiryo" panose="020B0604030504040204" pitchFamily="34" charset="-128"/>
              </a:rPr>
              <a:t>、目的変数</a:t>
            </a:r>
            <a:r>
              <a:rPr lang="en-US" altLang="ja-JP" b="1" dirty="0">
                <a:latin typeface="Meiryo" panose="020B0604030504040204" pitchFamily="34" charset="-128"/>
                <a:ea typeface="Meiryo" panose="020B0604030504040204" pitchFamily="34" charset="-128"/>
              </a:rPr>
              <a:t>y</a:t>
            </a:r>
            <a:r>
              <a:rPr lang="ja-JP" altLang="en-US" b="1">
                <a:latin typeface="Meiryo" panose="020B0604030504040204" pitchFamily="34" charset="-128"/>
                <a:ea typeface="Meiryo" panose="020B0604030504040204" pitchFamily="34" charset="-128"/>
              </a:rPr>
              <a:t>は抽出された主成分</a:t>
            </a:r>
            <a:r>
              <a:rPr lang="en-US" altLang="ja-JP" b="1" dirty="0">
                <a:latin typeface="Meiryo" panose="020B0604030504040204" pitchFamily="34" charset="-128"/>
                <a:ea typeface="Meiryo" panose="020B0604030504040204" pitchFamily="34" charset="-128"/>
              </a:rPr>
              <a:t>t</a:t>
            </a:r>
            <a:r>
              <a:rPr lang="ja-JP" altLang="en-US" b="1">
                <a:latin typeface="Meiryo" panose="020B0604030504040204" pitchFamily="34" charset="-128"/>
                <a:ea typeface="Meiryo" panose="020B0604030504040204" pitchFamily="34" charset="-128"/>
              </a:rPr>
              <a:t>で下記のように</a:t>
            </a:r>
            <a:r>
              <a:rPr kumimoji="1" lang="ja-JP" altLang="en-US" b="1">
                <a:latin typeface="Meiryo" panose="020B0604030504040204" pitchFamily="34" charset="-128"/>
                <a:ea typeface="Meiryo" panose="020B0604030504040204" pitchFamily="34" charset="-128"/>
              </a:rPr>
              <a:t>定義される。</a:t>
            </a:r>
          </a:p>
        </p:txBody>
      </p:sp>
      <mc:AlternateContent xmlns:mc="http://schemas.openxmlformats.org/markup-compatibility/2006">
        <mc:Choice xmlns:a14="http://schemas.microsoft.com/office/drawing/2010/main" Requires="a14">
          <p:sp>
            <p:nvSpPr>
              <p:cNvPr id="43" name="テキスト ボックス 42">
                <a:extLst>
                  <a:ext uri="{FF2B5EF4-FFF2-40B4-BE49-F238E27FC236}">
                    <a16:creationId xmlns:a16="http://schemas.microsoft.com/office/drawing/2014/main" id="{DC36DABD-EEDC-7C67-7162-85996C1BB6D2}"/>
                  </a:ext>
                </a:extLst>
              </p:cNvPr>
              <p:cNvSpPr txBox="1"/>
              <p:nvPr/>
            </p:nvSpPr>
            <p:spPr>
              <a:xfrm>
                <a:off x="8509775" y="939076"/>
                <a:ext cx="99257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𝒕</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𝑿</m:t>
                      </m:r>
                      <m:r>
                        <a:rPr kumimoji="1" lang="en-US" altLang="ja-JP" b="1" i="1" smtClean="0">
                          <a:latin typeface="Cambria Math" panose="02040503050406030204" pitchFamily="18" charset="0"/>
                          <a:ea typeface="Cambria Math" panose="02040503050406030204" pitchFamily="18" charset="0"/>
                        </a:rPr>
                        <m:t>𝝎</m:t>
                      </m:r>
                    </m:oMath>
                  </m:oMathPara>
                </a14:m>
                <a:endParaRPr kumimoji="1" lang="ja-JP" altLang="en-US" b="1"/>
              </a:p>
            </p:txBody>
          </p:sp>
        </mc:Choice>
        <mc:Fallback>
          <p:sp>
            <p:nvSpPr>
              <p:cNvPr id="43" name="テキスト ボックス 42">
                <a:extLst>
                  <a:ext uri="{FF2B5EF4-FFF2-40B4-BE49-F238E27FC236}">
                    <a16:creationId xmlns:a16="http://schemas.microsoft.com/office/drawing/2014/main" id="{DC36DABD-EEDC-7C67-7162-85996C1BB6D2}"/>
                  </a:ext>
                </a:extLst>
              </p:cNvPr>
              <p:cNvSpPr txBox="1">
                <a:spLocks noRot="1" noChangeAspect="1" noMove="1" noResize="1" noEditPoints="1" noAdjustHandles="1" noChangeArrowheads="1" noChangeShapeType="1" noTextEdit="1"/>
              </p:cNvSpPr>
              <p:nvPr/>
            </p:nvSpPr>
            <p:spPr>
              <a:xfrm>
                <a:off x="8509775" y="939076"/>
                <a:ext cx="992579" cy="369332"/>
              </a:xfrm>
              <a:prstGeom prst="rect">
                <a:avLst/>
              </a:prstGeom>
              <a:blipFill>
                <a:blip r:embed="rId6"/>
                <a:stretch>
                  <a:fillRect/>
                </a:stretch>
              </a:blipFill>
            </p:spPr>
            <p:txBody>
              <a:bodyPr/>
              <a:lstStyle/>
              <a:p>
                <a:r>
                  <a:rPr lang="ja-JP" altLang="en-US">
                    <a:noFill/>
                  </a:rPr>
                  <a:t> </a:t>
                </a:r>
              </a:p>
            </p:txBody>
          </p:sp>
        </mc:Fallback>
      </mc:AlternateContent>
      <p:sp>
        <p:nvSpPr>
          <p:cNvPr id="44" name="テキスト ボックス 43">
            <a:extLst>
              <a:ext uri="{FF2B5EF4-FFF2-40B4-BE49-F238E27FC236}">
                <a16:creationId xmlns:a16="http://schemas.microsoft.com/office/drawing/2014/main" id="{51D5A631-5055-5DFD-2187-7E0A5548C23A}"/>
              </a:ext>
            </a:extLst>
          </p:cNvPr>
          <p:cNvSpPr txBox="1"/>
          <p:nvPr/>
        </p:nvSpPr>
        <p:spPr>
          <a:xfrm>
            <a:off x="6389082" y="510611"/>
            <a:ext cx="3744936" cy="369332"/>
          </a:xfrm>
          <a:prstGeom prst="rect">
            <a:avLst/>
          </a:prstGeom>
          <a:noFill/>
        </p:spPr>
        <p:txBody>
          <a:bodyPr wrap="none" rtlCol="0">
            <a:spAutoFit/>
          </a:bodyPr>
          <a:lstStyle/>
          <a:p>
            <a:r>
              <a:rPr kumimoji="1" lang="ja-JP" altLang="en-US" b="1">
                <a:latin typeface="Meiryo" panose="020B0604030504040204" pitchFamily="34" charset="-128"/>
                <a:ea typeface="Meiryo" panose="020B0604030504040204" pitchFamily="34" charset="-128"/>
              </a:rPr>
              <a:t>主成分</a:t>
            </a:r>
            <a:r>
              <a:rPr kumimoji="1" lang="en-US" altLang="ja-JP" b="1" dirty="0">
                <a:latin typeface="Meiryo" panose="020B0604030504040204" pitchFamily="34" charset="-128"/>
                <a:ea typeface="Meiryo" panose="020B0604030504040204" pitchFamily="34" charset="-128"/>
              </a:rPr>
              <a:t>t</a:t>
            </a:r>
            <a:r>
              <a:rPr lang="ja-JP" altLang="en-US" b="1">
                <a:latin typeface="Meiryo" panose="020B0604030504040204" pitchFamily="34" charset="-128"/>
                <a:ea typeface="Meiryo" panose="020B0604030504040204" pitchFamily="34" charset="-128"/>
              </a:rPr>
              <a:t>は下記のように定義する。</a:t>
            </a:r>
            <a:endParaRPr kumimoji="1" lang="ja-JP" altLang="en-US" b="1">
              <a:latin typeface="Meiryo" panose="020B0604030504040204" pitchFamily="34" charset="-128"/>
              <a:ea typeface="Meiryo" panose="020B0604030504040204" pitchFamily="34" charset="-128"/>
            </a:endParaRPr>
          </a:p>
        </p:txBody>
      </p:sp>
      <mc:AlternateContent xmlns:mc="http://schemas.openxmlformats.org/markup-compatibility/2006">
        <mc:Choice xmlns:a14="http://schemas.microsoft.com/office/drawing/2010/main" Requires="a14">
          <p:sp>
            <p:nvSpPr>
              <p:cNvPr id="45" name="テキスト ボックス 44">
                <a:extLst>
                  <a:ext uri="{FF2B5EF4-FFF2-40B4-BE49-F238E27FC236}">
                    <a16:creationId xmlns:a16="http://schemas.microsoft.com/office/drawing/2014/main" id="{93B0DEA2-31D8-665D-1176-01E06E0A22B4}"/>
                  </a:ext>
                </a:extLst>
              </p:cNvPr>
              <p:cNvSpPr txBox="1"/>
              <p:nvPr/>
            </p:nvSpPr>
            <p:spPr>
              <a:xfrm>
                <a:off x="8162419" y="1299032"/>
                <a:ext cx="2013693" cy="738664"/>
              </a:xfrm>
              <a:prstGeom prst="rect">
                <a:avLst/>
              </a:prstGeom>
              <a:noFill/>
            </p:spPr>
            <p:txBody>
              <a:bodyPr wrap="none" rtlCol="0">
                <a:spAutoFit/>
              </a:bodyPr>
              <a:lstStyle/>
              <a:p>
                <a14:m>
                  <m:oMath xmlns:m="http://schemas.openxmlformats.org/officeDocument/2006/math">
                    <m:r>
                      <a:rPr kumimoji="1" lang="en-US" altLang="ja-JP" sz="1400" b="1" i="1" smtClean="0">
                        <a:latin typeface="Cambria Math" panose="02040503050406030204" pitchFamily="18" charset="0"/>
                      </a:rPr>
                      <m:t>𝒕</m:t>
                    </m:r>
                  </m:oMath>
                </a14:m>
                <a:r>
                  <a:rPr kumimoji="1" lang="en-US" altLang="ja-JP" sz="1400" b="1" dirty="0">
                    <a:latin typeface="Meiryo" panose="020B0604030504040204" pitchFamily="34" charset="-128"/>
                    <a:ea typeface="Meiryo" panose="020B0604030504040204" pitchFamily="34" charset="-128"/>
                  </a:rPr>
                  <a:t>:</a:t>
                </a:r>
                <a:r>
                  <a:rPr kumimoji="1" lang="ja-JP" altLang="en-US" sz="1400" b="1">
                    <a:latin typeface="Meiryo" panose="020B0604030504040204" pitchFamily="34" charset="-128"/>
                    <a:ea typeface="Meiryo" panose="020B0604030504040204" pitchFamily="34" charset="-128"/>
                  </a:rPr>
                  <a:t>主成分ベクトル</a:t>
                </a:r>
                <a:endParaRPr kumimoji="1" lang="en-US" altLang="ja-JP" sz="1400" b="1" dirty="0">
                  <a:latin typeface="Meiryo" panose="020B0604030504040204" pitchFamily="34" charset="-128"/>
                  <a:ea typeface="Meiryo" panose="020B0604030504040204" pitchFamily="34" charset="-128"/>
                </a:endParaRPr>
              </a:p>
              <a:p>
                <a14:m>
                  <m:oMath xmlns:m="http://schemas.openxmlformats.org/officeDocument/2006/math">
                    <m:r>
                      <a:rPr kumimoji="1" lang="en-US" altLang="ja-JP" sz="1400" b="1" i="1" smtClean="0">
                        <a:latin typeface="Cambria Math" panose="02040503050406030204" pitchFamily="18" charset="0"/>
                      </a:rPr>
                      <m:t>𝑿</m:t>
                    </m:r>
                  </m:oMath>
                </a14:m>
                <a:r>
                  <a:rPr kumimoji="1" lang="en-US" altLang="ja-JP" sz="1400" b="1" dirty="0">
                    <a:latin typeface="Meiryo" panose="020B0604030504040204" pitchFamily="34" charset="-128"/>
                    <a:ea typeface="Meiryo" panose="020B0604030504040204" pitchFamily="34" charset="-128"/>
                  </a:rPr>
                  <a:t>:</a:t>
                </a:r>
                <a:r>
                  <a:rPr kumimoji="1" lang="ja-JP" altLang="en-US" sz="1400" b="1">
                    <a:latin typeface="Meiryo" panose="020B0604030504040204" pitchFamily="34" charset="-128"/>
                    <a:ea typeface="Meiryo" panose="020B0604030504040204" pitchFamily="34" charset="-128"/>
                  </a:rPr>
                  <a:t>説明変数ベクトル</a:t>
                </a:r>
                <a:endParaRPr kumimoji="1" lang="en-US" altLang="ja-JP" sz="1400" b="1" dirty="0">
                  <a:latin typeface="Meiryo" panose="020B0604030504040204" pitchFamily="34" charset="-128"/>
                  <a:ea typeface="Meiryo" panose="020B0604030504040204" pitchFamily="34" charset="-128"/>
                </a:endParaRPr>
              </a:p>
              <a:p>
                <a14:m>
                  <m:oMath xmlns:m="http://schemas.openxmlformats.org/officeDocument/2006/math">
                    <m:r>
                      <a:rPr kumimoji="1" lang="en-US" altLang="ja-JP" sz="1400" b="1" i="1" smtClean="0">
                        <a:latin typeface="Cambria Math" panose="02040503050406030204" pitchFamily="18" charset="0"/>
                        <a:ea typeface="Cambria Math" panose="02040503050406030204" pitchFamily="18" charset="0"/>
                      </a:rPr>
                      <m:t>𝝎</m:t>
                    </m:r>
                  </m:oMath>
                </a14:m>
                <a:r>
                  <a:rPr kumimoji="1" lang="en-US" altLang="ja-JP" sz="1400" b="1" dirty="0">
                    <a:latin typeface="Meiryo" panose="020B0604030504040204" pitchFamily="34" charset="-128"/>
                    <a:ea typeface="Meiryo" panose="020B0604030504040204" pitchFamily="34" charset="-128"/>
                  </a:rPr>
                  <a:t>:</a:t>
                </a:r>
                <a:r>
                  <a:rPr kumimoji="1" lang="ja-JP" altLang="en-US" sz="1400" b="1">
                    <a:latin typeface="Meiryo" panose="020B0604030504040204" pitchFamily="34" charset="-128"/>
                    <a:ea typeface="Meiryo" panose="020B0604030504040204" pitchFamily="34" charset="-128"/>
                  </a:rPr>
                  <a:t>重み</a:t>
                </a:r>
                <a:r>
                  <a:rPr kumimoji="1" lang="en-US" altLang="ja-JP" sz="1400" b="1" dirty="0">
                    <a:latin typeface="Meiryo" panose="020B0604030504040204" pitchFamily="34" charset="-128"/>
                    <a:ea typeface="Meiryo" panose="020B0604030504040204" pitchFamily="34" charset="-128"/>
                  </a:rPr>
                  <a:t>(</a:t>
                </a:r>
                <a:r>
                  <a:rPr kumimoji="1" lang="ja-JP" altLang="en-US" sz="1400" b="1">
                    <a:latin typeface="Meiryo" panose="020B0604030504040204" pitchFamily="34" charset="-128"/>
                    <a:ea typeface="Meiryo" panose="020B0604030504040204" pitchFamily="34" charset="-128"/>
                  </a:rPr>
                  <a:t>単位ベクトル</a:t>
                </a:r>
                <a:r>
                  <a:rPr kumimoji="1" lang="en-US" altLang="ja-JP" sz="1400" b="1" dirty="0">
                    <a:latin typeface="Meiryo" panose="020B0604030504040204" pitchFamily="34" charset="-128"/>
                    <a:ea typeface="Meiryo" panose="020B0604030504040204" pitchFamily="34" charset="-128"/>
                  </a:rPr>
                  <a:t>)</a:t>
                </a:r>
              </a:p>
            </p:txBody>
          </p:sp>
        </mc:Choice>
        <mc:Fallback>
          <p:sp>
            <p:nvSpPr>
              <p:cNvPr id="45" name="テキスト ボックス 44">
                <a:extLst>
                  <a:ext uri="{FF2B5EF4-FFF2-40B4-BE49-F238E27FC236}">
                    <a16:creationId xmlns:a16="http://schemas.microsoft.com/office/drawing/2014/main" id="{93B0DEA2-31D8-665D-1176-01E06E0A22B4}"/>
                  </a:ext>
                </a:extLst>
              </p:cNvPr>
              <p:cNvSpPr txBox="1">
                <a:spLocks noRot="1" noChangeAspect="1" noMove="1" noResize="1" noEditPoints="1" noAdjustHandles="1" noChangeArrowheads="1" noChangeShapeType="1" noTextEdit="1"/>
              </p:cNvSpPr>
              <p:nvPr/>
            </p:nvSpPr>
            <p:spPr>
              <a:xfrm>
                <a:off x="8162419" y="1299032"/>
                <a:ext cx="2013693" cy="738664"/>
              </a:xfrm>
              <a:prstGeom prst="rect">
                <a:avLst/>
              </a:prstGeom>
              <a:blipFill>
                <a:blip r:embed="rId7"/>
                <a:stretch>
                  <a:fillRect t="-1695" b="-847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7" name="テキスト ボックス 46">
                <a:extLst>
                  <a:ext uri="{FF2B5EF4-FFF2-40B4-BE49-F238E27FC236}">
                    <a16:creationId xmlns:a16="http://schemas.microsoft.com/office/drawing/2014/main" id="{3DDE5416-75F3-005F-251F-4B7A2CDFD44E}"/>
                  </a:ext>
                </a:extLst>
              </p:cNvPr>
              <p:cNvSpPr txBox="1"/>
              <p:nvPr/>
            </p:nvSpPr>
            <p:spPr>
              <a:xfrm>
                <a:off x="6612662" y="3326691"/>
                <a:ext cx="2845652" cy="1169551"/>
              </a:xfrm>
              <a:prstGeom prst="rect">
                <a:avLst/>
              </a:prstGeom>
              <a:solidFill>
                <a:schemeClr val="bg1"/>
              </a:solidFill>
            </p:spPr>
            <p:txBody>
              <a:bodyPr wrap="square" rtlCol="0">
                <a:spAutoFit/>
              </a:bodyPr>
              <a:lstStyle/>
              <a:p>
                <a14:m>
                  <m:oMath xmlns:m="http://schemas.openxmlformats.org/officeDocument/2006/math">
                    <m:r>
                      <a:rPr kumimoji="1" lang="en-US" altLang="ja-JP" sz="1400" b="1" i="1" dirty="0" smtClean="0">
                        <a:latin typeface="Cambria Math" panose="02040503050406030204" pitchFamily="18" charset="0"/>
                      </a:rPr>
                      <m:t>𝑨</m:t>
                    </m:r>
                  </m:oMath>
                </a14:m>
                <a:r>
                  <a:rPr kumimoji="1" lang="en-US" altLang="ja-JP" sz="1400" b="1" dirty="0"/>
                  <a:t>:</a:t>
                </a:r>
                <a:r>
                  <a:rPr kumimoji="1" lang="ja-JP" altLang="en-US" sz="1400" b="1">
                    <a:latin typeface="Meiryo" panose="020B0604030504040204" pitchFamily="34" charset="-128"/>
                    <a:ea typeface="Meiryo" panose="020B0604030504040204" pitchFamily="34" charset="-128"/>
                  </a:rPr>
                  <a:t>主成分数</a:t>
                </a:r>
                <a:endParaRPr kumimoji="1" lang="en-US" altLang="ja-JP" sz="1400" b="1" dirty="0">
                  <a:latin typeface="Meiryo" panose="020B0604030504040204" pitchFamily="34" charset="-128"/>
                  <a:ea typeface="Meiryo" panose="020B0604030504040204" pitchFamily="34" charset="-128"/>
                </a:endParaRPr>
              </a:p>
              <a:p>
                <a14:m>
                  <m:oMath xmlns:m="http://schemas.openxmlformats.org/officeDocument/2006/math">
                    <m:sSub>
                      <m:sSubPr>
                        <m:ctrlPr>
                          <a:rPr kumimoji="1" lang="en-US" altLang="ja-JP" sz="1400" b="1" i="1" smtClean="0">
                            <a:latin typeface="Cambria Math" panose="02040503050406030204" pitchFamily="18" charset="0"/>
                          </a:rPr>
                        </m:ctrlPr>
                      </m:sSubPr>
                      <m:e>
                        <m:r>
                          <a:rPr kumimoji="1" lang="en-US" altLang="ja-JP" sz="1400" b="1" i="1" smtClean="0">
                            <a:latin typeface="Cambria Math" panose="02040503050406030204" pitchFamily="18" charset="0"/>
                          </a:rPr>
                          <m:t>𝒕</m:t>
                        </m:r>
                      </m:e>
                      <m:sub>
                        <m:r>
                          <a:rPr kumimoji="1" lang="en-US" altLang="ja-JP" sz="1400" b="1" i="1" smtClean="0">
                            <a:latin typeface="Cambria Math" panose="02040503050406030204" pitchFamily="18" charset="0"/>
                          </a:rPr>
                          <m:t>𝒂</m:t>
                        </m:r>
                      </m:sub>
                    </m:sSub>
                    <m:r>
                      <a:rPr kumimoji="1" lang="en-US" altLang="ja-JP" sz="1400" b="1" i="0" smtClean="0">
                        <a:latin typeface="Cambria Math" panose="02040503050406030204" pitchFamily="18" charset="0"/>
                      </a:rPr>
                      <m:t>:</m:t>
                    </m:r>
                  </m:oMath>
                </a14:m>
                <a:r>
                  <a:rPr kumimoji="1" lang="en-US" altLang="ja-JP" sz="1400" b="1" dirty="0">
                    <a:latin typeface="Meiryo" panose="020B0604030504040204" pitchFamily="34" charset="-128"/>
                    <a:ea typeface="Meiryo" panose="020B0604030504040204" pitchFamily="34" charset="-128"/>
                  </a:rPr>
                  <a:t>a</a:t>
                </a:r>
                <a:r>
                  <a:rPr kumimoji="1" lang="ja-JP" altLang="en-US" sz="1400" b="1">
                    <a:latin typeface="Meiryo" panose="020B0604030504040204" pitchFamily="34" charset="-128"/>
                    <a:ea typeface="Meiryo" panose="020B0604030504040204" pitchFamily="34" charset="-128"/>
                  </a:rPr>
                  <a:t>番目の主成分</a:t>
                </a:r>
                <a:endParaRPr kumimoji="1" lang="en-US" altLang="ja-JP" sz="1400" b="1" dirty="0">
                  <a:latin typeface="Meiryo" panose="020B0604030504040204" pitchFamily="34" charset="-128"/>
                  <a:ea typeface="Meiryo" panose="020B0604030504040204" pitchFamily="34" charset="-128"/>
                </a:endParaRPr>
              </a:p>
              <a:p>
                <a14:m>
                  <m:oMath xmlns:m="http://schemas.openxmlformats.org/officeDocument/2006/math">
                    <m:sSub>
                      <m:sSubPr>
                        <m:ctrlPr>
                          <a:rPr kumimoji="1" lang="en-US" altLang="ja-JP" sz="1400" b="1" i="1" smtClean="0">
                            <a:latin typeface="Cambria Math" panose="02040503050406030204" pitchFamily="18" charset="0"/>
                          </a:rPr>
                        </m:ctrlPr>
                      </m:sSubPr>
                      <m:e>
                        <m:r>
                          <a:rPr kumimoji="1" lang="en-US" altLang="ja-JP" sz="1400" b="1" i="1" smtClean="0">
                            <a:latin typeface="Cambria Math" panose="02040503050406030204" pitchFamily="18" charset="0"/>
                          </a:rPr>
                          <m:t>𝒑</m:t>
                        </m:r>
                      </m:e>
                      <m:sub>
                        <m:r>
                          <a:rPr kumimoji="1" lang="en-US" altLang="ja-JP" sz="1400" b="1" i="1" smtClean="0">
                            <a:latin typeface="Cambria Math" panose="02040503050406030204" pitchFamily="18" charset="0"/>
                          </a:rPr>
                          <m:t>𝒂</m:t>
                        </m:r>
                      </m:sub>
                    </m:sSub>
                    <m:r>
                      <a:rPr kumimoji="1" lang="en-US" altLang="ja-JP" sz="1400" b="1" i="1" smtClean="0">
                        <a:latin typeface="Cambria Math" panose="02040503050406030204" pitchFamily="18" charset="0"/>
                      </a:rPr>
                      <m:t>:</m:t>
                    </m:r>
                  </m:oMath>
                </a14:m>
                <a:r>
                  <a:rPr kumimoji="1" lang="en-US" altLang="ja-JP" sz="1400" b="1" dirty="0">
                    <a:latin typeface="Meiryo" panose="020B0604030504040204" pitchFamily="34" charset="-128"/>
                    <a:ea typeface="Meiryo" panose="020B0604030504040204" pitchFamily="34" charset="-128"/>
                  </a:rPr>
                  <a:t>a</a:t>
                </a:r>
                <a:r>
                  <a:rPr kumimoji="1" lang="ja-JP" altLang="en-US" sz="1400" b="1">
                    <a:latin typeface="Meiryo" panose="020B0604030504040204" pitchFamily="34" charset="-128"/>
                    <a:ea typeface="Meiryo" panose="020B0604030504040204" pitchFamily="34" charset="-128"/>
                  </a:rPr>
                  <a:t>番目の</a:t>
                </a:r>
                <a:r>
                  <a:rPr kumimoji="1" lang="en-US" altLang="ja-JP" sz="1400" b="1" dirty="0">
                    <a:latin typeface="Meiryo" panose="020B0604030504040204" pitchFamily="34" charset="-128"/>
                    <a:ea typeface="Meiryo" panose="020B0604030504040204" pitchFamily="34" charset="-128"/>
                  </a:rPr>
                  <a:t>X</a:t>
                </a:r>
                <a:r>
                  <a:rPr lang="ja-JP" altLang="en-US" sz="1400" b="1">
                    <a:latin typeface="Meiryo" panose="020B0604030504040204" pitchFamily="34" charset="-128"/>
                    <a:ea typeface="Meiryo" panose="020B0604030504040204" pitchFamily="34" charset="-128"/>
                  </a:rPr>
                  <a:t>に対する</a:t>
                </a:r>
                <a:r>
                  <a:rPr kumimoji="1" lang="ja-JP" altLang="en-US" sz="1400" b="1">
                    <a:latin typeface="Meiryo" panose="020B0604030504040204" pitchFamily="34" charset="-128"/>
                    <a:ea typeface="Meiryo" panose="020B0604030504040204" pitchFamily="34" charset="-128"/>
                  </a:rPr>
                  <a:t>回帰係数（ローディング）</a:t>
                </a:r>
                <a:endParaRPr lang="en-US" altLang="ja-JP" sz="1400" b="1" dirty="0">
                  <a:latin typeface="Meiryo" panose="020B0604030504040204" pitchFamily="34" charset="-128"/>
                  <a:ea typeface="Meiryo" panose="020B0604030504040204" pitchFamily="34" charset="-128"/>
                </a:endParaRPr>
              </a:p>
              <a:p>
                <a14:m>
                  <m:oMath xmlns:m="http://schemas.openxmlformats.org/officeDocument/2006/math">
                    <m:r>
                      <a:rPr kumimoji="1" lang="en-US" altLang="ja-JP" sz="1400" b="1" i="1" smtClean="0">
                        <a:latin typeface="Cambria Math" panose="02040503050406030204" pitchFamily="18" charset="0"/>
                        <a:ea typeface="Cambria Math" panose="02040503050406030204" pitchFamily="18" charset="0"/>
                      </a:rPr>
                      <m:t>𝑬</m:t>
                    </m:r>
                    <m:r>
                      <a:rPr kumimoji="1" lang="en-US" altLang="ja-JP" sz="1400" b="1" i="1" smtClean="0">
                        <a:latin typeface="Cambria Math" panose="02040503050406030204" pitchFamily="18" charset="0"/>
                        <a:ea typeface="Cambria Math" panose="02040503050406030204" pitchFamily="18" charset="0"/>
                      </a:rPr>
                      <m:t>:</m:t>
                    </m:r>
                  </m:oMath>
                </a14:m>
                <a:r>
                  <a:rPr kumimoji="1" lang="en-US" altLang="ja-JP" sz="1400" b="1" dirty="0">
                    <a:latin typeface="Meiryo" panose="020B0604030504040204" pitchFamily="34" charset="-128"/>
                    <a:ea typeface="Meiryo" panose="020B0604030504040204" pitchFamily="34" charset="-128"/>
                  </a:rPr>
                  <a:t>X</a:t>
                </a:r>
                <a:r>
                  <a:rPr kumimoji="1" lang="ja-JP" altLang="en-US" sz="1400" b="1">
                    <a:latin typeface="Meiryo" panose="020B0604030504040204" pitchFamily="34" charset="-128"/>
                    <a:ea typeface="Meiryo" panose="020B0604030504040204" pitchFamily="34" charset="-128"/>
                  </a:rPr>
                  <a:t>の</a:t>
                </a:r>
                <a:r>
                  <a:rPr lang="ja-JP" altLang="en-US" sz="1400" b="1">
                    <a:latin typeface="Meiryo" panose="020B0604030504040204" pitchFamily="34" charset="-128"/>
                    <a:ea typeface="Meiryo" panose="020B0604030504040204" pitchFamily="34" charset="-128"/>
                  </a:rPr>
                  <a:t>残差</a:t>
                </a:r>
                <a:endParaRPr kumimoji="1" lang="en-US" altLang="ja-JP" sz="1400" b="1" dirty="0">
                  <a:latin typeface="Meiryo" panose="020B0604030504040204" pitchFamily="34" charset="-128"/>
                  <a:ea typeface="Meiryo" panose="020B0604030504040204" pitchFamily="34" charset="-128"/>
                </a:endParaRPr>
              </a:p>
            </p:txBody>
          </p:sp>
        </mc:Choice>
        <mc:Fallback>
          <p:sp>
            <p:nvSpPr>
              <p:cNvPr id="47" name="テキスト ボックス 46">
                <a:extLst>
                  <a:ext uri="{FF2B5EF4-FFF2-40B4-BE49-F238E27FC236}">
                    <a16:creationId xmlns:a16="http://schemas.microsoft.com/office/drawing/2014/main" id="{3DDE5416-75F3-005F-251F-4B7A2CDFD44E}"/>
                  </a:ext>
                </a:extLst>
              </p:cNvPr>
              <p:cNvSpPr txBox="1">
                <a:spLocks noRot="1" noChangeAspect="1" noMove="1" noResize="1" noEditPoints="1" noAdjustHandles="1" noChangeArrowheads="1" noChangeShapeType="1" noTextEdit="1"/>
              </p:cNvSpPr>
              <p:nvPr/>
            </p:nvSpPr>
            <p:spPr>
              <a:xfrm>
                <a:off x="6612662" y="3326691"/>
                <a:ext cx="2845652" cy="1169551"/>
              </a:xfrm>
              <a:prstGeom prst="rect">
                <a:avLst/>
              </a:prstGeom>
              <a:blipFill>
                <a:blip r:embed="rId8"/>
                <a:stretch>
                  <a:fillRect l="-444" t="-2151" b="-4301"/>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9" name="テキスト ボックス 48">
                <a:extLst>
                  <a:ext uri="{FF2B5EF4-FFF2-40B4-BE49-F238E27FC236}">
                    <a16:creationId xmlns:a16="http://schemas.microsoft.com/office/drawing/2014/main" id="{7A30BE00-5DB8-264A-35A2-9115F5A7B791}"/>
                  </a:ext>
                </a:extLst>
              </p:cNvPr>
              <p:cNvSpPr txBox="1"/>
              <p:nvPr/>
            </p:nvSpPr>
            <p:spPr>
              <a:xfrm>
                <a:off x="9632874" y="3892917"/>
                <a:ext cx="2176323" cy="523220"/>
              </a:xfrm>
              <a:prstGeom prst="rect">
                <a:avLst/>
              </a:prstGeom>
              <a:solidFill>
                <a:schemeClr val="bg1"/>
              </a:solidFill>
            </p:spPr>
            <p:txBody>
              <a:bodyPr wrap="square" rtlCol="0">
                <a:spAutoFit/>
              </a:bodyPr>
              <a:lstStyle/>
              <a:p>
                <a14:m>
                  <m:oMath xmlns:m="http://schemas.openxmlformats.org/officeDocument/2006/math">
                    <m:r>
                      <a:rPr kumimoji="1" lang="en-US" altLang="ja-JP" sz="1400" b="1" i="1" smtClean="0">
                        <a:latin typeface="Cambria Math" panose="02040503050406030204" pitchFamily="18" charset="0"/>
                      </a:rPr>
                      <m:t>𝒒</m:t>
                    </m:r>
                  </m:oMath>
                </a14:m>
                <a:r>
                  <a:rPr kumimoji="1" lang="en-US" altLang="ja-JP" sz="1400" b="1" dirty="0"/>
                  <a:t>:</a:t>
                </a:r>
                <a:r>
                  <a:rPr kumimoji="1" lang="en-US" altLang="ja-JP" sz="1400" b="1" dirty="0">
                    <a:latin typeface="Meiryo" panose="020B0604030504040204" pitchFamily="34" charset="-128"/>
                    <a:ea typeface="Meiryo" panose="020B0604030504040204" pitchFamily="34" charset="-128"/>
                  </a:rPr>
                  <a:t>a</a:t>
                </a:r>
                <a:r>
                  <a:rPr kumimoji="1" lang="ja-JP" altLang="en-US" sz="1400" b="1">
                    <a:latin typeface="Meiryo" panose="020B0604030504040204" pitchFamily="34" charset="-128"/>
                    <a:ea typeface="Meiryo" panose="020B0604030504040204" pitchFamily="34" charset="-128"/>
                  </a:rPr>
                  <a:t>番目の回帰係数</a:t>
                </a:r>
                <a:endParaRPr kumimoji="1" lang="en-US" altLang="ja-JP" sz="1400" b="1" dirty="0">
                  <a:latin typeface="Meiryo" panose="020B0604030504040204" pitchFamily="34" charset="-128"/>
                  <a:ea typeface="Meiryo" panose="020B0604030504040204" pitchFamily="34" charset="-128"/>
                </a:endParaRPr>
              </a:p>
              <a:p>
                <a14:m>
                  <m:oMath xmlns:m="http://schemas.openxmlformats.org/officeDocument/2006/math">
                    <m:r>
                      <a:rPr kumimoji="1" lang="en-US" altLang="ja-JP" sz="1400" b="1" i="1" dirty="0">
                        <a:latin typeface="Cambria Math" panose="02040503050406030204" pitchFamily="18" charset="0"/>
                      </a:rPr>
                      <m:t>𝒇</m:t>
                    </m:r>
                    <m:r>
                      <a:rPr kumimoji="1" lang="en-US" altLang="ja-JP" sz="1400" b="1" i="0" smtClean="0">
                        <a:latin typeface="Cambria Math" panose="02040503050406030204" pitchFamily="18" charset="0"/>
                      </a:rPr>
                      <m:t>:</m:t>
                    </m:r>
                  </m:oMath>
                </a14:m>
                <a:r>
                  <a:rPr kumimoji="1" lang="en-US" altLang="ja-JP" sz="1400" b="1" dirty="0">
                    <a:latin typeface="Meiryo" panose="020B0604030504040204" pitchFamily="34" charset="-128"/>
                    <a:ea typeface="Meiryo" panose="020B0604030504040204" pitchFamily="34" charset="-128"/>
                  </a:rPr>
                  <a:t>y</a:t>
                </a:r>
                <a:r>
                  <a:rPr kumimoji="1" lang="ja-JP" altLang="en-US" sz="1400" b="1" dirty="0">
                    <a:latin typeface="Meiryo" panose="020B0604030504040204" pitchFamily="34" charset="-128"/>
                    <a:ea typeface="Meiryo" panose="020B0604030504040204" pitchFamily="34" charset="-128"/>
                  </a:rPr>
                  <a:t>の残差</a:t>
                </a:r>
                <a:endParaRPr kumimoji="1" lang="en-US" altLang="ja-JP" sz="1400" b="1" dirty="0">
                  <a:latin typeface="Meiryo" panose="020B0604030504040204" pitchFamily="34" charset="-128"/>
                  <a:ea typeface="Meiryo" panose="020B0604030504040204" pitchFamily="34" charset="-128"/>
                </a:endParaRPr>
              </a:p>
            </p:txBody>
          </p:sp>
        </mc:Choice>
        <mc:Fallback>
          <p:sp>
            <p:nvSpPr>
              <p:cNvPr id="49" name="テキスト ボックス 48">
                <a:extLst>
                  <a:ext uri="{FF2B5EF4-FFF2-40B4-BE49-F238E27FC236}">
                    <a16:creationId xmlns:a16="http://schemas.microsoft.com/office/drawing/2014/main" id="{7A30BE00-5DB8-264A-35A2-9115F5A7B791}"/>
                  </a:ext>
                </a:extLst>
              </p:cNvPr>
              <p:cNvSpPr txBox="1">
                <a:spLocks noRot="1" noChangeAspect="1" noMove="1" noResize="1" noEditPoints="1" noAdjustHandles="1" noChangeArrowheads="1" noChangeShapeType="1" noTextEdit="1"/>
              </p:cNvSpPr>
              <p:nvPr/>
            </p:nvSpPr>
            <p:spPr>
              <a:xfrm>
                <a:off x="9632874" y="3892917"/>
                <a:ext cx="2176323" cy="523220"/>
              </a:xfrm>
              <a:prstGeom prst="rect">
                <a:avLst/>
              </a:prstGeom>
              <a:blipFill>
                <a:blip r:embed="rId9"/>
                <a:stretch>
                  <a:fillRect t="-4762" b="-11905"/>
                </a:stretch>
              </a:blipFill>
            </p:spPr>
            <p:txBody>
              <a:bodyPr/>
              <a:lstStyle/>
              <a:p>
                <a:r>
                  <a:rPr lang="ja-JP" altLang="en-US">
                    <a:noFill/>
                  </a:rPr>
                  <a:t> </a:t>
                </a:r>
              </a:p>
            </p:txBody>
          </p:sp>
        </mc:Fallback>
      </mc:AlternateContent>
      <p:sp>
        <p:nvSpPr>
          <p:cNvPr id="51" name="テキスト ボックス 50">
            <a:extLst>
              <a:ext uri="{FF2B5EF4-FFF2-40B4-BE49-F238E27FC236}">
                <a16:creationId xmlns:a16="http://schemas.microsoft.com/office/drawing/2014/main" id="{15240000-4ABC-F0F8-DFBB-E9C3A2BB21FC}"/>
              </a:ext>
            </a:extLst>
          </p:cNvPr>
          <p:cNvSpPr txBox="1"/>
          <p:nvPr/>
        </p:nvSpPr>
        <p:spPr>
          <a:xfrm>
            <a:off x="6352479" y="150874"/>
            <a:ext cx="2951449" cy="369332"/>
          </a:xfrm>
          <a:prstGeom prst="rect">
            <a:avLst/>
          </a:prstGeom>
          <a:noFill/>
        </p:spPr>
        <p:txBody>
          <a:bodyPr wrap="none" rtlCol="0">
            <a:spAutoFit/>
          </a:bodyPr>
          <a:lstStyle/>
          <a:p>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詳しい定義は省略します</a:t>
            </a:r>
            <a:r>
              <a:rPr kumimoji="1" lang="en-US" altLang="ja-JP" b="1" dirty="0">
                <a:latin typeface="Meiryo" panose="020B0604030504040204" pitchFamily="34" charset="-128"/>
                <a:ea typeface="Meiryo" panose="020B0604030504040204" pitchFamily="34" charset="-128"/>
              </a:rPr>
              <a:t>)</a:t>
            </a:r>
            <a:endParaRPr kumimoji="1" lang="ja-JP" altLang="en-US" b="1">
              <a:latin typeface="Meiryo" panose="020B0604030504040204" pitchFamily="34" charset="-128"/>
              <a:ea typeface="Meiryo" panose="020B0604030504040204" pitchFamily="34" charset="-128"/>
            </a:endParaRPr>
          </a:p>
        </p:txBody>
      </p:sp>
      <mc:AlternateContent xmlns:mc="http://schemas.openxmlformats.org/markup-compatibility/2006">
        <mc:Choice xmlns:a14="http://schemas.microsoft.com/office/drawing/2010/main" Requires="a14">
          <p:sp>
            <p:nvSpPr>
              <p:cNvPr id="52" name="テキスト ボックス 51">
                <a:extLst>
                  <a:ext uri="{FF2B5EF4-FFF2-40B4-BE49-F238E27FC236}">
                    <a16:creationId xmlns:a16="http://schemas.microsoft.com/office/drawing/2014/main" id="{CFD753F9-582C-8A03-2545-FA14F80B4788}"/>
                  </a:ext>
                </a:extLst>
              </p:cNvPr>
              <p:cNvSpPr txBox="1"/>
              <p:nvPr/>
            </p:nvSpPr>
            <p:spPr>
              <a:xfrm>
                <a:off x="6542717" y="4675801"/>
                <a:ext cx="4653831" cy="2031325"/>
              </a:xfrm>
              <a:prstGeom prst="rect">
                <a:avLst/>
              </a:prstGeom>
              <a:noFill/>
            </p:spPr>
            <p:txBody>
              <a:bodyPr wrap="square" rtlCol="0">
                <a:spAutoFit/>
              </a:bodyPr>
              <a:lstStyle/>
              <a:p>
                <a:r>
                  <a:rPr kumimoji="1" lang="ja-JP" altLang="en-US" b="1" u="sng">
                    <a:latin typeface="Meiryo" panose="020B0604030504040204" pitchFamily="34" charset="-128"/>
                    <a:ea typeface="Meiryo" panose="020B0604030504040204" pitchFamily="34" charset="-128"/>
                  </a:rPr>
                  <a:t>特徴</a:t>
                </a:r>
                <a:endParaRPr kumimoji="1" lang="en-US" altLang="ja-JP" b="1" u="sng" dirty="0">
                  <a:latin typeface="Meiryo" panose="020B0604030504040204" pitchFamily="34" charset="-128"/>
                  <a:ea typeface="Meiryo" panose="020B0604030504040204" pitchFamily="34" charset="-128"/>
                </a:endParaRPr>
              </a:p>
              <a:p>
                <a:pPr marL="285750" indent="-285750">
                  <a:buFont typeface="Wingdings" pitchFamily="2" charset="2"/>
                  <a:buChar char="l"/>
                </a:pPr>
                <a:r>
                  <a:rPr lang="en-US" altLang="ja-JP" b="1" dirty="0">
                    <a:latin typeface="Meiryo" panose="020B0604030504040204" pitchFamily="34" charset="-128"/>
                    <a:ea typeface="Meiryo" panose="020B0604030504040204" pitchFamily="34" charset="-128"/>
                  </a:rPr>
                  <a:t>VIP</a:t>
                </a:r>
                <a:r>
                  <a:rPr lang="ja-JP" altLang="en-US" b="1">
                    <a:latin typeface="Meiryo" panose="020B0604030504040204" pitchFamily="34" charset="-128"/>
                    <a:ea typeface="Meiryo" panose="020B0604030504040204" pitchFamily="34" charset="-128"/>
                  </a:rPr>
                  <a:t>スコアという変数の重要度の指数を算出でき、解釈性が高い。</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lang="ja-JP" altLang="en-US" b="1">
                    <a:latin typeface="Meiryo" panose="020B0604030504040204" pitchFamily="34" charset="-128"/>
                    <a:ea typeface="Meiryo" panose="020B0604030504040204" pitchFamily="34" charset="-128"/>
                  </a:rPr>
                  <a:t>説明変数の数</a:t>
                </a:r>
                <a14:m>
                  <m:oMath xmlns:m="http://schemas.openxmlformats.org/officeDocument/2006/math">
                    <m:r>
                      <a:rPr lang="en-US" altLang="ja-JP" b="1" i="1" smtClean="0">
                        <a:latin typeface="Cambria Math" panose="02040503050406030204" pitchFamily="18" charset="0"/>
                        <a:ea typeface="Cambria Math" panose="02040503050406030204" pitchFamily="18" charset="0"/>
                      </a:rPr>
                      <m:t>&gt;</m:t>
                    </m:r>
                  </m:oMath>
                </a14:m>
                <a:r>
                  <a:rPr lang="ja-JP" altLang="en-US" b="1">
                    <a:latin typeface="Meiryo" panose="020B0604030504040204" pitchFamily="34" charset="-128"/>
                    <a:ea typeface="Meiryo" panose="020B0604030504040204" pitchFamily="34" charset="-128"/>
                  </a:rPr>
                  <a:t>データ数であるデータセットに対して強い。</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lang="ja-JP" altLang="en-US" b="1">
                    <a:latin typeface="Meiryo" panose="020B0604030504040204" pitchFamily="34" charset="-128"/>
                    <a:ea typeface="Meiryo" panose="020B0604030504040204" pitchFamily="34" charset="-128"/>
                  </a:rPr>
                  <a:t>多重共線性のあるデータセットに対して</a:t>
                </a:r>
                <a:r>
                  <a:rPr lang="ja-JP" altLang="en-US" b="1" u="sng">
                    <a:latin typeface="Meiryo" panose="020B0604030504040204" pitchFamily="34" charset="-128"/>
                    <a:ea typeface="Meiryo" panose="020B0604030504040204" pitchFamily="34" charset="-128"/>
                  </a:rPr>
                  <a:t>強い</a:t>
                </a:r>
                <a:r>
                  <a:rPr lang="ja-JP" altLang="en-US" b="1">
                    <a:latin typeface="Meiryo" panose="020B0604030504040204" pitchFamily="34" charset="-128"/>
                    <a:ea typeface="Meiryo" panose="020B0604030504040204" pitchFamily="34" charset="-128"/>
                  </a:rPr>
                  <a:t>。</a:t>
                </a:r>
                <a:endParaRPr lang="en-US" altLang="ja-JP" b="1" dirty="0">
                  <a:latin typeface="Meiryo" panose="020B0604030504040204" pitchFamily="34" charset="-128"/>
                  <a:ea typeface="Meiryo" panose="020B0604030504040204" pitchFamily="34" charset="-128"/>
                </a:endParaRPr>
              </a:p>
            </p:txBody>
          </p:sp>
        </mc:Choice>
        <mc:Fallback>
          <p:sp>
            <p:nvSpPr>
              <p:cNvPr id="52" name="テキスト ボックス 51">
                <a:extLst>
                  <a:ext uri="{FF2B5EF4-FFF2-40B4-BE49-F238E27FC236}">
                    <a16:creationId xmlns:a16="http://schemas.microsoft.com/office/drawing/2014/main" id="{CFD753F9-582C-8A03-2545-FA14F80B4788}"/>
                  </a:ext>
                </a:extLst>
              </p:cNvPr>
              <p:cNvSpPr txBox="1">
                <a:spLocks noRot="1" noChangeAspect="1" noMove="1" noResize="1" noEditPoints="1" noAdjustHandles="1" noChangeArrowheads="1" noChangeShapeType="1" noTextEdit="1"/>
              </p:cNvSpPr>
              <p:nvPr/>
            </p:nvSpPr>
            <p:spPr>
              <a:xfrm>
                <a:off x="6542717" y="4675801"/>
                <a:ext cx="4653831" cy="2031325"/>
              </a:xfrm>
              <a:prstGeom prst="rect">
                <a:avLst/>
              </a:prstGeom>
              <a:blipFill>
                <a:blip r:embed="rId10"/>
                <a:stretch>
                  <a:fillRect l="-1090" t="-1250" b="-437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4773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0B5048D-38BA-690A-06E9-10803F6B0307}"/>
              </a:ext>
            </a:extLst>
          </p:cNvPr>
          <p:cNvSpPr txBox="1"/>
          <p:nvPr/>
        </p:nvSpPr>
        <p:spPr>
          <a:xfrm>
            <a:off x="207818" y="152400"/>
            <a:ext cx="8905002" cy="707886"/>
          </a:xfrm>
          <a:prstGeom prst="rect">
            <a:avLst/>
          </a:prstGeom>
          <a:noFill/>
        </p:spPr>
        <p:txBody>
          <a:bodyPr wrap="none" rtlCol="0">
            <a:spAutoFit/>
          </a:bodyPr>
          <a:lstStyle/>
          <a:p>
            <a:r>
              <a:rPr lang="ja-JP" altLang="en-US" sz="4000" b="1"/>
              <a:t>最小二乗法における多重共線性の問題</a:t>
            </a:r>
            <a:endParaRPr kumimoji="1" lang="ja-JP" altLang="en-US" sz="4000" b="1"/>
          </a:p>
        </p:txBody>
      </p:sp>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7040A323-1ADE-8507-3299-5DF60E7F7026}"/>
                  </a:ext>
                </a:extLst>
              </p:cNvPr>
              <p:cNvSpPr txBox="1"/>
              <p:nvPr/>
            </p:nvSpPr>
            <p:spPr>
              <a:xfrm>
                <a:off x="207818" y="1321832"/>
                <a:ext cx="2344552"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kumimoji="1" lang="en-US" altLang="ja-JP" sz="2000" b="1" i="1" smtClean="0">
                          <a:latin typeface="Cambria Math" panose="02040503050406030204" pitchFamily="18" charset="0"/>
                        </a:rPr>
                        <m:t>𝒚</m:t>
                      </m:r>
                      <m:r>
                        <a:rPr kumimoji="1" lang="en-US" altLang="ja-JP" sz="2000" b="1" i="1" smtClean="0">
                          <a:latin typeface="Cambria Math" panose="02040503050406030204" pitchFamily="18" charset="0"/>
                        </a:rPr>
                        <m:t>=</m:t>
                      </m:r>
                      <m:r>
                        <a:rPr kumimoji="1" lang="en-US" altLang="ja-JP" sz="2000" b="1" i="1" smtClean="0">
                          <a:latin typeface="Cambria Math" panose="02040503050406030204" pitchFamily="18" charset="0"/>
                        </a:rPr>
                        <m:t>𝒂</m:t>
                      </m:r>
                      <m:sSub>
                        <m:sSubPr>
                          <m:ctrlPr>
                            <a:rPr kumimoji="1" lang="en-US" altLang="ja-JP" sz="2000" b="1" i="1" smtClean="0">
                              <a:latin typeface="Cambria Math" panose="02040503050406030204" pitchFamily="18" charset="0"/>
                            </a:rPr>
                          </m:ctrlPr>
                        </m:sSubPr>
                        <m:e>
                          <m:r>
                            <a:rPr kumimoji="1" lang="en-US" altLang="ja-JP" sz="2000" b="1" i="1" smtClean="0">
                              <a:latin typeface="Cambria Math" panose="02040503050406030204" pitchFamily="18" charset="0"/>
                            </a:rPr>
                            <m:t>𝒙</m:t>
                          </m:r>
                        </m:e>
                        <m:sub>
                          <m:r>
                            <a:rPr kumimoji="1" lang="en-US" altLang="ja-JP" sz="2000" b="1" i="1" smtClean="0">
                              <a:latin typeface="Cambria Math" panose="02040503050406030204" pitchFamily="18" charset="0"/>
                            </a:rPr>
                            <m:t>𝟏</m:t>
                          </m:r>
                        </m:sub>
                      </m:sSub>
                      <m:r>
                        <a:rPr kumimoji="1" lang="en-US" altLang="ja-JP" sz="2000" b="1" i="1" smtClean="0">
                          <a:latin typeface="Cambria Math" panose="02040503050406030204" pitchFamily="18" charset="0"/>
                        </a:rPr>
                        <m:t>+</m:t>
                      </m:r>
                      <m:r>
                        <a:rPr kumimoji="1" lang="en-US" altLang="ja-JP" sz="2000" b="1" i="1" smtClean="0">
                          <a:latin typeface="Cambria Math" panose="02040503050406030204" pitchFamily="18" charset="0"/>
                        </a:rPr>
                        <m:t>𝒃</m:t>
                      </m:r>
                      <m:sSub>
                        <m:sSubPr>
                          <m:ctrlPr>
                            <a:rPr kumimoji="1" lang="en-US" altLang="ja-JP" sz="2000" b="1" i="1" smtClean="0">
                              <a:latin typeface="Cambria Math" panose="02040503050406030204" pitchFamily="18" charset="0"/>
                            </a:rPr>
                          </m:ctrlPr>
                        </m:sSubPr>
                        <m:e>
                          <m:r>
                            <a:rPr kumimoji="1" lang="en-US" altLang="ja-JP" sz="2000" b="1" i="1" smtClean="0">
                              <a:latin typeface="Cambria Math" panose="02040503050406030204" pitchFamily="18" charset="0"/>
                            </a:rPr>
                            <m:t>𝒙</m:t>
                          </m:r>
                        </m:e>
                        <m:sub>
                          <m:r>
                            <a:rPr kumimoji="1" lang="en-US" altLang="ja-JP" sz="2000" b="1" i="1" smtClean="0">
                              <a:latin typeface="Cambria Math" panose="02040503050406030204" pitchFamily="18" charset="0"/>
                            </a:rPr>
                            <m:t>𝟐</m:t>
                          </m:r>
                        </m:sub>
                      </m:sSub>
                      <m:r>
                        <a:rPr kumimoji="1" lang="en-US" altLang="ja-JP" sz="2000" b="1" i="1" smtClean="0">
                          <a:latin typeface="Cambria Math" panose="02040503050406030204" pitchFamily="18" charset="0"/>
                        </a:rPr>
                        <m:t>+</m:t>
                      </m:r>
                      <m:r>
                        <a:rPr kumimoji="1" lang="en-US" altLang="ja-JP" sz="2000" b="1" i="1" smtClean="0">
                          <a:latin typeface="Cambria Math" panose="02040503050406030204" pitchFamily="18" charset="0"/>
                        </a:rPr>
                        <m:t>𝒄</m:t>
                      </m:r>
                    </m:oMath>
                  </m:oMathPara>
                </a14:m>
                <a:endParaRPr kumimoji="1" lang="ja-JP" altLang="en-US" sz="2000" b="1"/>
              </a:p>
            </p:txBody>
          </p:sp>
        </mc:Choice>
        <mc:Fallback>
          <p:sp>
            <p:nvSpPr>
              <p:cNvPr id="3" name="テキスト ボックス 2">
                <a:extLst>
                  <a:ext uri="{FF2B5EF4-FFF2-40B4-BE49-F238E27FC236}">
                    <a16:creationId xmlns:a16="http://schemas.microsoft.com/office/drawing/2014/main" id="{7040A323-1ADE-8507-3299-5DF60E7F7026}"/>
                  </a:ext>
                </a:extLst>
              </p:cNvPr>
              <p:cNvSpPr txBox="1">
                <a:spLocks noRot="1" noChangeAspect="1" noMove="1" noResize="1" noEditPoints="1" noAdjustHandles="1" noChangeArrowheads="1" noChangeShapeType="1" noTextEdit="1"/>
              </p:cNvSpPr>
              <p:nvPr/>
            </p:nvSpPr>
            <p:spPr>
              <a:xfrm>
                <a:off x="207818" y="1321832"/>
                <a:ext cx="2344552" cy="400110"/>
              </a:xfrm>
              <a:prstGeom prst="rect">
                <a:avLst/>
              </a:prstGeom>
              <a:blipFill>
                <a:blip r:embed="rId2"/>
                <a:stretch>
                  <a:fillRect b="-625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73C84A40-8ECD-99ED-B144-D63679490E2E}"/>
                  </a:ext>
                </a:extLst>
              </p:cNvPr>
              <p:cNvSpPr txBox="1"/>
              <p:nvPr/>
            </p:nvSpPr>
            <p:spPr>
              <a:xfrm>
                <a:off x="207818" y="952500"/>
                <a:ext cx="5253041" cy="369332"/>
              </a:xfrm>
              <a:prstGeom prst="rect">
                <a:avLst/>
              </a:prstGeom>
              <a:noFill/>
            </p:spPr>
            <p:txBody>
              <a:bodyPr wrap="none" rtlCol="0">
                <a:spAutoFit/>
              </a:bodyPr>
              <a:lstStyle/>
              <a:p>
                <a:r>
                  <a:rPr kumimoji="1" lang="ja-JP" altLang="en-US" b="1"/>
                  <a:t>例えば、</a:t>
                </a:r>
                <a14:m>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𝒙</m:t>
                        </m:r>
                      </m:e>
                      <m:sub>
                        <m:r>
                          <a:rPr kumimoji="1" lang="en-US" altLang="ja-JP" b="1" i="1" smtClean="0">
                            <a:latin typeface="Cambria Math" panose="02040503050406030204" pitchFamily="18" charset="0"/>
                          </a:rPr>
                          <m:t>𝟏</m:t>
                        </m:r>
                      </m:sub>
                    </m:sSub>
                    <m:r>
                      <a:rPr lang="ja-JP" altLang="en-US" b="1" i="1" smtClean="0">
                        <a:latin typeface="Cambria Math" panose="02040503050406030204" pitchFamily="18" charset="0"/>
                      </a:rPr>
                      <m:t>と</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𝒙</m:t>
                        </m:r>
                      </m:e>
                      <m:sub>
                        <m:r>
                          <a:rPr lang="en-US" altLang="ja-JP" b="1" i="1" smtClean="0">
                            <a:latin typeface="Cambria Math" panose="02040503050406030204" pitchFamily="18" charset="0"/>
                          </a:rPr>
                          <m:t>𝟐</m:t>
                        </m:r>
                      </m:sub>
                    </m:sSub>
                  </m:oMath>
                </a14:m>
                <a:r>
                  <a:rPr kumimoji="1" lang="ja-JP" altLang="en-US" b="1"/>
                  <a:t>がほぼ完全に相関してるとする。</a:t>
                </a:r>
              </a:p>
            </p:txBody>
          </p:sp>
        </mc:Choice>
        <mc:Fallback>
          <p:sp>
            <p:nvSpPr>
              <p:cNvPr id="4" name="テキスト ボックス 3">
                <a:extLst>
                  <a:ext uri="{FF2B5EF4-FFF2-40B4-BE49-F238E27FC236}">
                    <a16:creationId xmlns:a16="http://schemas.microsoft.com/office/drawing/2014/main" id="{73C84A40-8ECD-99ED-B144-D63679490E2E}"/>
                  </a:ext>
                </a:extLst>
              </p:cNvPr>
              <p:cNvSpPr txBox="1">
                <a:spLocks noRot="1" noChangeAspect="1" noMove="1" noResize="1" noEditPoints="1" noAdjustHandles="1" noChangeArrowheads="1" noChangeShapeType="1" noTextEdit="1"/>
              </p:cNvSpPr>
              <p:nvPr/>
            </p:nvSpPr>
            <p:spPr>
              <a:xfrm>
                <a:off x="207818" y="952500"/>
                <a:ext cx="5253041" cy="369332"/>
              </a:xfrm>
              <a:prstGeom prst="rect">
                <a:avLst/>
              </a:prstGeom>
              <a:blipFill>
                <a:blip r:embed="rId3"/>
                <a:stretch>
                  <a:fillRect l="-964" t="-6452" r="-482" b="-22581"/>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DC386209-B9B9-7539-8372-D8FBCE6CA202}"/>
              </a:ext>
            </a:extLst>
          </p:cNvPr>
          <p:cNvSpPr txBox="1"/>
          <p:nvPr/>
        </p:nvSpPr>
        <p:spPr>
          <a:xfrm>
            <a:off x="342900" y="1906608"/>
            <a:ext cx="2492990" cy="369332"/>
          </a:xfrm>
          <a:prstGeom prst="rect">
            <a:avLst/>
          </a:prstGeom>
          <a:noFill/>
        </p:spPr>
        <p:txBody>
          <a:bodyPr wrap="none" rtlCol="0">
            <a:spAutoFit/>
          </a:bodyPr>
          <a:lstStyle/>
          <a:p>
            <a:r>
              <a:rPr kumimoji="1" lang="ja-JP" altLang="en-US" b="1"/>
              <a:t>で</a:t>
            </a:r>
            <a:r>
              <a:rPr lang="ja-JP" altLang="en-US" b="1"/>
              <a:t>、回帰したとする。</a:t>
            </a:r>
            <a:endParaRPr kumimoji="1" lang="ja-JP" altLang="en-US" b="1"/>
          </a:p>
        </p:txBody>
      </p:sp>
      <p:sp>
        <p:nvSpPr>
          <p:cNvPr id="6" name="テキスト ボックス 5">
            <a:extLst>
              <a:ext uri="{FF2B5EF4-FFF2-40B4-BE49-F238E27FC236}">
                <a16:creationId xmlns:a16="http://schemas.microsoft.com/office/drawing/2014/main" id="{5EF76E8A-5A7D-ED99-EBB9-F06934A515D2}"/>
              </a:ext>
            </a:extLst>
          </p:cNvPr>
          <p:cNvSpPr txBox="1"/>
          <p:nvPr/>
        </p:nvSpPr>
        <p:spPr>
          <a:xfrm>
            <a:off x="207818" y="2676050"/>
            <a:ext cx="3121367" cy="369332"/>
          </a:xfrm>
          <a:prstGeom prst="rect">
            <a:avLst/>
          </a:prstGeom>
          <a:noFill/>
        </p:spPr>
        <p:txBody>
          <a:bodyPr wrap="none" rtlCol="0">
            <a:spAutoFit/>
          </a:bodyPr>
          <a:lstStyle/>
          <a:p>
            <a:r>
              <a:rPr lang="ja-JP" altLang="en-US"/>
              <a:t>ケース</a:t>
            </a:r>
            <a:r>
              <a:rPr lang="en-US" altLang="ja-JP" dirty="0"/>
              <a:t>①</a:t>
            </a:r>
            <a:r>
              <a:rPr lang="ja-JP" altLang="en-US"/>
              <a:t>：</a:t>
            </a:r>
            <a:r>
              <a:rPr lang="en-US" altLang="ja-JP" dirty="0"/>
              <a:t>a=2000,b=-1999</a:t>
            </a:r>
            <a:endParaRPr kumimoji="1" lang="ja-JP" altLang="en-US"/>
          </a:p>
        </p:txBody>
      </p:sp>
      <p:sp>
        <p:nvSpPr>
          <p:cNvPr id="7" name="テキスト ボックス 6">
            <a:extLst>
              <a:ext uri="{FF2B5EF4-FFF2-40B4-BE49-F238E27FC236}">
                <a16:creationId xmlns:a16="http://schemas.microsoft.com/office/drawing/2014/main" id="{32220BAC-57BA-B5DF-61A0-EEA9DAE11A2A}"/>
              </a:ext>
            </a:extLst>
          </p:cNvPr>
          <p:cNvSpPr txBox="1"/>
          <p:nvPr/>
        </p:nvSpPr>
        <p:spPr>
          <a:xfrm>
            <a:off x="207818" y="4399600"/>
            <a:ext cx="2250937" cy="369332"/>
          </a:xfrm>
          <a:prstGeom prst="rect">
            <a:avLst/>
          </a:prstGeom>
          <a:noFill/>
        </p:spPr>
        <p:txBody>
          <a:bodyPr wrap="none" rtlCol="0">
            <a:spAutoFit/>
          </a:bodyPr>
          <a:lstStyle/>
          <a:p>
            <a:r>
              <a:rPr lang="ja-JP" altLang="en-US"/>
              <a:t>ケース</a:t>
            </a:r>
            <a:r>
              <a:rPr lang="en-US" altLang="ja-JP" dirty="0"/>
              <a:t>②</a:t>
            </a:r>
            <a:r>
              <a:rPr lang="ja-JP" altLang="en-US"/>
              <a:t>：</a:t>
            </a:r>
            <a:r>
              <a:rPr lang="en-US" altLang="ja-JP" dirty="0"/>
              <a:t>a=1,b=0</a:t>
            </a:r>
            <a:endParaRPr kumimoji="1" lang="ja-JP" altLang="en-US"/>
          </a:p>
        </p:txBody>
      </p:sp>
      <p:graphicFrame>
        <p:nvGraphicFramePr>
          <p:cNvPr id="10" name="表 9">
            <a:extLst>
              <a:ext uri="{FF2B5EF4-FFF2-40B4-BE49-F238E27FC236}">
                <a16:creationId xmlns:a16="http://schemas.microsoft.com/office/drawing/2014/main" id="{93BFBE45-F4C8-C3DC-EB9B-2EE1E3AB35F7}"/>
              </a:ext>
            </a:extLst>
          </p:cNvPr>
          <p:cNvGraphicFramePr>
            <a:graphicFrameLocks noGrp="1"/>
          </p:cNvGraphicFramePr>
          <p:nvPr>
            <p:extLst>
              <p:ext uri="{D42A27DB-BD31-4B8C-83A1-F6EECF244321}">
                <p14:modId xmlns:p14="http://schemas.microsoft.com/office/powerpoint/2010/main" val="3199027018"/>
              </p:ext>
            </p:extLst>
          </p:nvPr>
        </p:nvGraphicFramePr>
        <p:xfrm>
          <a:off x="5384800" y="868502"/>
          <a:ext cx="6172198" cy="1706880"/>
        </p:xfrm>
        <a:graphic>
          <a:graphicData uri="http://schemas.openxmlformats.org/drawingml/2006/table">
            <a:tbl>
              <a:tblPr/>
              <a:tblGrid>
                <a:gridCol w="1460500">
                  <a:extLst>
                    <a:ext uri="{9D8B030D-6E8A-4147-A177-3AD203B41FA5}">
                      <a16:colId xmlns:a16="http://schemas.microsoft.com/office/drawing/2014/main" val="1708682098"/>
                    </a:ext>
                  </a:extLst>
                </a:gridCol>
                <a:gridCol w="1570566">
                  <a:extLst>
                    <a:ext uri="{9D8B030D-6E8A-4147-A177-3AD203B41FA5}">
                      <a16:colId xmlns:a16="http://schemas.microsoft.com/office/drawing/2014/main" val="2527805074"/>
                    </a:ext>
                  </a:extLst>
                </a:gridCol>
                <a:gridCol w="1570566">
                  <a:extLst>
                    <a:ext uri="{9D8B030D-6E8A-4147-A177-3AD203B41FA5}">
                      <a16:colId xmlns:a16="http://schemas.microsoft.com/office/drawing/2014/main" val="453835213"/>
                    </a:ext>
                  </a:extLst>
                </a:gridCol>
                <a:gridCol w="1570566">
                  <a:extLst>
                    <a:ext uri="{9D8B030D-6E8A-4147-A177-3AD203B41FA5}">
                      <a16:colId xmlns:a16="http://schemas.microsoft.com/office/drawing/2014/main" val="955972358"/>
                    </a:ext>
                  </a:extLst>
                </a:gridCol>
              </a:tblGrid>
              <a:tr h="0">
                <a:tc>
                  <a:txBody>
                    <a:bodyPr/>
                    <a:lstStyle/>
                    <a:p>
                      <a:pPr rtl="0">
                        <a:buNone/>
                      </a:pPr>
                      <a:r>
                        <a:rPr lang="ja-JP" altLang="en-US" b="1">
                          <a:solidFill>
                            <a:srgbClr val="1F1F1F"/>
                          </a:solidFill>
                          <a:effectLst/>
                          <a:latin typeface="Google Sans Text"/>
                        </a:rPr>
                        <a:t>データ番号</a:t>
                      </a:r>
                      <a:endParaRPr lang="ja-JP" alt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 b="1" dirty="0">
                          <a:solidFill>
                            <a:srgbClr val="1F1F1F"/>
                          </a:solidFill>
                          <a:effectLst/>
                          <a:latin typeface="Google Sans Text"/>
                        </a:rPr>
                        <a:t>x1</a:t>
                      </a:r>
                      <a:endParaRPr lang="en"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 b="1" dirty="0">
                          <a:solidFill>
                            <a:srgbClr val="1F1F1F"/>
                          </a:solidFill>
                          <a:effectLst/>
                          <a:latin typeface="Google Sans Text"/>
                        </a:rPr>
                        <a:t>x2</a:t>
                      </a:r>
                      <a:endParaRPr lang="en"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 b="1" dirty="0">
                          <a:solidFill>
                            <a:srgbClr val="1F1F1F"/>
                          </a:solidFill>
                          <a:effectLst/>
                          <a:latin typeface="Google Sans Text"/>
                        </a:rPr>
                        <a:t>y</a:t>
                      </a:r>
                      <a:endParaRPr lang="ja-JP" alt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20124187"/>
                  </a:ext>
                </a:extLst>
              </a:tr>
              <a:tr h="0">
                <a:tc>
                  <a:txBody>
                    <a:bodyPr/>
                    <a:lstStyle/>
                    <a:p>
                      <a:pPr rtl="0">
                        <a:buNone/>
                      </a:pPr>
                      <a:r>
                        <a:rPr lang="ja-JP" altLang="en-US" b="1">
                          <a:solidFill>
                            <a:srgbClr val="1F1F1F"/>
                          </a:solidFill>
                          <a:effectLst/>
                          <a:latin typeface="Google Sans Text"/>
                        </a:rPr>
                        <a:t>データ</a:t>
                      </a:r>
                      <a:r>
                        <a:rPr lang="en-US" altLang="ja-JP" b="1">
                          <a:solidFill>
                            <a:srgbClr val="1F1F1F"/>
                          </a:solidFill>
                          <a:effectLst/>
                          <a:latin typeface="Google Sans Text"/>
                        </a:rPr>
                        <a:t>1</a:t>
                      </a:r>
                      <a:endParaRPr lang="ja-JP" alt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-1</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-1</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-1</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006085931"/>
                  </a:ext>
                </a:extLst>
              </a:tr>
              <a:tr h="0">
                <a:tc>
                  <a:txBody>
                    <a:bodyPr/>
                    <a:lstStyle/>
                    <a:p>
                      <a:pPr rtl="0">
                        <a:buNone/>
                      </a:pPr>
                      <a:r>
                        <a:rPr lang="ja-JP" altLang="en-US" b="1">
                          <a:solidFill>
                            <a:srgbClr val="1F1F1F"/>
                          </a:solidFill>
                          <a:effectLst/>
                          <a:latin typeface="Google Sans Text"/>
                        </a:rPr>
                        <a:t>データ</a:t>
                      </a:r>
                      <a:r>
                        <a:rPr lang="en-US" altLang="ja-JP" b="1">
                          <a:solidFill>
                            <a:srgbClr val="1F1F1F"/>
                          </a:solidFill>
                          <a:effectLst/>
                          <a:latin typeface="Google Sans Text"/>
                        </a:rPr>
                        <a:t>2</a:t>
                      </a:r>
                      <a:endParaRPr lang="ja-JP" alt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32093133"/>
                  </a:ext>
                </a:extLst>
              </a:tr>
              <a:tr h="0">
                <a:tc>
                  <a:txBody>
                    <a:bodyPr/>
                    <a:lstStyle/>
                    <a:p>
                      <a:pPr rtl="0">
                        <a:buNone/>
                      </a:pPr>
                      <a:r>
                        <a:rPr lang="ja-JP" altLang="en-US" b="1">
                          <a:solidFill>
                            <a:srgbClr val="1F1F1F"/>
                          </a:solidFill>
                          <a:effectLst/>
                          <a:latin typeface="Google Sans Text"/>
                        </a:rPr>
                        <a:t>データ</a:t>
                      </a:r>
                      <a:r>
                        <a:rPr lang="en-US" altLang="ja-JP" b="1">
                          <a:solidFill>
                            <a:srgbClr val="1F1F1F"/>
                          </a:solidFill>
                          <a:effectLst/>
                          <a:latin typeface="Google Sans Text"/>
                        </a:rPr>
                        <a:t>3</a:t>
                      </a:r>
                      <a:endParaRPr lang="ja-JP" altLang="en-US">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1</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1</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dirty="0">
                          <a:solidFill>
                            <a:srgbClr val="1F1F1F"/>
                          </a:solidFill>
                          <a:effectLst/>
                          <a:latin typeface="Google Sans Text"/>
                        </a:rPr>
                        <a:t>1</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968105180"/>
                  </a:ext>
                </a:extLst>
              </a:tr>
            </a:tbl>
          </a:graphicData>
        </a:graphic>
      </p:graphicFrame>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471DC409-32BC-076F-4E7F-9CD907D6370C}"/>
                  </a:ext>
                </a:extLst>
              </p:cNvPr>
              <p:cNvSpPr txBox="1"/>
              <p:nvPr/>
            </p:nvSpPr>
            <p:spPr>
              <a:xfrm>
                <a:off x="342900" y="3445492"/>
                <a:ext cx="6887078" cy="376898"/>
              </a:xfrm>
              <a:prstGeom prst="rect">
                <a:avLst/>
              </a:prstGeom>
              <a:noFill/>
            </p:spPr>
            <p:txBody>
              <a:bodyPr wrap="none" rtlCol="0">
                <a:spAutoFit/>
              </a:bodyPr>
              <a:lstStyle/>
              <a:p>
                <a14:m>
                  <m:oMath xmlns:m="http://schemas.openxmlformats.org/officeDocument/2006/math">
                    <m:r>
                      <a:rPr lang="ja-JP" altLang="en-US" i="1" smtClean="0">
                        <a:latin typeface="Cambria Math" panose="02040503050406030204" pitchFamily="18" charset="0"/>
                      </a:rPr>
                      <m:t>データ１</m:t>
                    </m:r>
                    <m:r>
                      <a:rPr lang="ja-JP" altLang="en-US" i="1">
                        <a:latin typeface="Cambria Math" panose="02040503050406030204" pitchFamily="18" charset="0"/>
                      </a:rPr>
                      <m:t>の</m:t>
                    </m:r>
                    <m:r>
                      <a:rPr lang="ja-JP" altLang="en-US" i="1" smtClean="0">
                        <a:latin typeface="Cambria Math" panose="02040503050406030204" pitchFamily="18" charset="0"/>
                      </a:rPr>
                      <m:t>損失</m:t>
                    </m:r>
                    <m:sSup>
                      <m:sSupPr>
                        <m:ctrlPr>
                          <a:rPr lang="en-US" altLang="ja-JP" b="0" i="1" smtClean="0">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rPr>
                          <m:t>=(</m:t>
                        </m:r>
                        <m:d>
                          <m:dPr>
                            <m:ctrlPr>
                              <a:rPr lang="en-US" altLang="ja-JP" i="1">
                                <a:latin typeface="Cambria Math" panose="02040503050406030204" pitchFamily="18" charset="0"/>
                              </a:rPr>
                            </m:ctrlPr>
                          </m:dPr>
                          <m:e>
                            <m:r>
                              <a:rPr lang="en-US" altLang="ja-JP" i="1">
                                <a:latin typeface="Cambria Math" panose="02040503050406030204" pitchFamily="18" charset="0"/>
                              </a:rPr>
                              <m:t>−1</m:t>
                            </m:r>
                          </m:e>
                        </m:d>
                        <m:r>
                          <a:rPr lang="en-US" altLang="ja-JP" i="1">
                            <a:latin typeface="Cambria Math" panose="02040503050406030204" pitchFamily="18" charset="0"/>
                          </a:rPr>
                          <m:t>−(2000</m:t>
                        </m:r>
                        <m:r>
                          <a:rPr lang="en-US" altLang="ja-JP" i="1">
                            <a:latin typeface="Cambria Math" panose="02040503050406030204" pitchFamily="18" charset="0"/>
                            <a:ea typeface="Cambria Math" panose="02040503050406030204" pitchFamily="18" charset="0"/>
                          </a:rPr>
                          <m:t>×</m:t>
                        </m:r>
                        <m:d>
                          <m:dPr>
                            <m:ctrlPr>
                              <a:rPr lang="en-US" altLang="ja-JP" i="1">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−1</m:t>
                            </m:r>
                          </m:e>
                        </m:d>
                        <m:r>
                          <a:rPr lang="en-US" altLang="ja-JP" i="1">
                            <a:latin typeface="Cambria Math" panose="02040503050406030204" pitchFamily="18" charset="0"/>
                            <a:ea typeface="Cambria Math" panose="02040503050406030204" pitchFamily="18" charset="0"/>
                          </a:rPr>
                          <m:t>−19</m:t>
                        </m:r>
                        <m:r>
                          <a:rPr lang="en-US" altLang="ja-JP" b="0" i="1" smtClean="0">
                            <a:latin typeface="Cambria Math" panose="02040503050406030204" pitchFamily="18" charset="0"/>
                            <a:ea typeface="Cambria Math" panose="02040503050406030204" pitchFamily="18" charset="0"/>
                          </a:rPr>
                          <m:t>99</m:t>
                        </m:r>
                        <m:r>
                          <a:rPr lang="en-US" altLang="ja-JP" i="1">
                            <a:latin typeface="Cambria Math" panose="02040503050406030204" pitchFamily="18" charset="0"/>
                            <a:ea typeface="Cambria Math" panose="02040503050406030204" pitchFamily="18" charset="0"/>
                          </a:rPr>
                          <m:t>×</m:t>
                        </m:r>
                        <m:d>
                          <m:dPr>
                            <m:ctrlPr>
                              <a:rPr lang="en-US" altLang="ja-JP" i="1">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−1</m:t>
                            </m:r>
                          </m:e>
                        </m:d>
                        <m:r>
                          <a:rPr lang="en-US" altLang="ja-JP" i="1">
                            <a:latin typeface="Cambria Math" panose="02040503050406030204" pitchFamily="18" charset="0"/>
                            <a:ea typeface="Cambria Math" panose="02040503050406030204" pitchFamily="18" charset="0"/>
                          </a:rPr>
                          <m:t>=−1))</m:t>
                        </m:r>
                      </m:e>
                      <m:sup>
                        <m:r>
                          <a:rPr lang="en-US" altLang="ja-JP" b="0" i="1" smtClean="0">
                            <a:latin typeface="Cambria Math" panose="02040503050406030204" pitchFamily="18" charset="0"/>
                            <a:ea typeface="Cambria Math" panose="02040503050406030204" pitchFamily="18" charset="0"/>
                          </a:rPr>
                          <m:t>2</m:t>
                        </m:r>
                      </m:sup>
                    </m:sSup>
                  </m:oMath>
                </a14:m>
                <a:r>
                  <a:rPr lang="en-US" altLang="ja-JP" b="0" dirty="0">
                    <a:ea typeface="Cambria Math" panose="02040503050406030204" pitchFamily="18" charset="0"/>
                  </a:rPr>
                  <a:t>=0</a:t>
                </a:r>
              </a:p>
            </p:txBody>
          </p:sp>
        </mc:Choice>
        <mc:Fallback>
          <p:sp>
            <p:nvSpPr>
              <p:cNvPr id="11" name="テキスト ボックス 10">
                <a:extLst>
                  <a:ext uri="{FF2B5EF4-FFF2-40B4-BE49-F238E27FC236}">
                    <a16:creationId xmlns:a16="http://schemas.microsoft.com/office/drawing/2014/main" id="{471DC409-32BC-076F-4E7F-9CD907D6370C}"/>
                  </a:ext>
                </a:extLst>
              </p:cNvPr>
              <p:cNvSpPr txBox="1">
                <a:spLocks noRot="1" noChangeAspect="1" noMove="1" noResize="1" noEditPoints="1" noAdjustHandles="1" noChangeArrowheads="1" noChangeShapeType="1" noTextEdit="1"/>
              </p:cNvSpPr>
              <p:nvPr/>
            </p:nvSpPr>
            <p:spPr>
              <a:xfrm>
                <a:off x="342900" y="3445492"/>
                <a:ext cx="6887078" cy="376898"/>
              </a:xfrm>
              <a:prstGeom prst="rect">
                <a:avLst/>
              </a:prstGeom>
              <a:blipFill>
                <a:blip r:embed="rId4"/>
                <a:stretch>
                  <a:fillRect l="-184" t="-6667" b="-26667"/>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2" name="テキスト ボックス 11">
                <a:extLst>
                  <a:ext uri="{FF2B5EF4-FFF2-40B4-BE49-F238E27FC236}">
                    <a16:creationId xmlns:a16="http://schemas.microsoft.com/office/drawing/2014/main" id="{516086A8-07B3-0DD0-64BD-F24B1C21E1F4}"/>
                  </a:ext>
                </a:extLst>
              </p:cNvPr>
              <p:cNvSpPr txBox="1"/>
              <p:nvPr/>
            </p:nvSpPr>
            <p:spPr>
              <a:xfrm>
                <a:off x="342900" y="5137476"/>
                <a:ext cx="6245877" cy="376898"/>
              </a:xfrm>
              <a:prstGeom prst="rect">
                <a:avLst/>
              </a:prstGeom>
              <a:noFill/>
            </p:spPr>
            <p:txBody>
              <a:bodyPr wrap="none" rtlCol="0">
                <a:spAutoFit/>
              </a:bodyPr>
              <a:lstStyle/>
              <a:p>
                <a14:m>
                  <m:oMath xmlns:m="http://schemas.openxmlformats.org/officeDocument/2006/math">
                    <m:r>
                      <a:rPr lang="ja-JP" altLang="en-US" i="1" smtClean="0">
                        <a:latin typeface="Cambria Math" panose="02040503050406030204" pitchFamily="18" charset="0"/>
                      </a:rPr>
                      <m:t>データ１</m:t>
                    </m:r>
                    <m:r>
                      <a:rPr lang="ja-JP" altLang="en-US" i="1">
                        <a:latin typeface="Cambria Math" panose="02040503050406030204" pitchFamily="18" charset="0"/>
                      </a:rPr>
                      <m:t>の</m:t>
                    </m:r>
                    <m:r>
                      <a:rPr lang="ja-JP" altLang="en-US" i="1" smtClean="0">
                        <a:latin typeface="Cambria Math" panose="02040503050406030204" pitchFamily="18" charset="0"/>
                      </a:rPr>
                      <m:t>損失</m:t>
                    </m:r>
                    <m:sSup>
                      <m:sSupPr>
                        <m:ctrlPr>
                          <a:rPr lang="en-US" altLang="ja-JP" b="0" i="1" smtClean="0">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rPr>
                          <m:t>=(</m:t>
                        </m:r>
                        <m:d>
                          <m:dPr>
                            <m:ctrlPr>
                              <a:rPr lang="en-US" altLang="ja-JP" i="1">
                                <a:latin typeface="Cambria Math" panose="02040503050406030204" pitchFamily="18" charset="0"/>
                              </a:rPr>
                            </m:ctrlPr>
                          </m:dPr>
                          <m:e>
                            <m:r>
                              <a:rPr lang="en-US" altLang="ja-JP" i="1">
                                <a:latin typeface="Cambria Math" panose="02040503050406030204" pitchFamily="18" charset="0"/>
                              </a:rPr>
                              <m:t>−1</m:t>
                            </m:r>
                          </m:e>
                        </m:d>
                        <m:r>
                          <a:rPr lang="en-US" altLang="ja-JP" i="1">
                            <a:latin typeface="Cambria Math" panose="02040503050406030204" pitchFamily="18" charset="0"/>
                          </a:rPr>
                          <m:t>−(</m:t>
                        </m:r>
                        <m:r>
                          <a:rPr lang="en-US" altLang="ja-JP" b="0" i="1" smtClean="0">
                            <a:latin typeface="Cambria Math" panose="02040503050406030204" pitchFamily="18" charset="0"/>
                          </a:rPr>
                          <m:t>1</m:t>
                        </m:r>
                        <m:r>
                          <a:rPr lang="en-US" altLang="ja-JP" i="1">
                            <a:latin typeface="Cambria Math" panose="02040503050406030204" pitchFamily="18" charset="0"/>
                            <a:ea typeface="Cambria Math" panose="02040503050406030204" pitchFamily="18" charset="0"/>
                          </a:rPr>
                          <m:t>×</m:t>
                        </m:r>
                        <m:d>
                          <m:dPr>
                            <m:ctrlPr>
                              <a:rPr lang="en-US" altLang="ja-JP" i="1">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−1</m:t>
                            </m:r>
                          </m:e>
                        </m:d>
                        <m:r>
                          <a:rPr lang="en-US" altLang="ja-JP" b="0" i="1" smtClean="0">
                            <a:latin typeface="Cambria Math" panose="02040503050406030204" pitchFamily="18" charset="0"/>
                            <a:ea typeface="Cambria Math" panose="02040503050406030204" pitchFamily="18" charset="0"/>
                          </a:rPr>
                          <m:t>+0</m:t>
                        </m:r>
                        <m:r>
                          <a:rPr lang="en-US" altLang="ja-JP" i="1">
                            <a:latin typeface="Cambria Math" panose="02040503050406030204" pitchFamily="18" charset="0"/>
                            <a:ea typeface="Cambria Math" panose="02040503050406030204" pitchFamily="18" charset="0"/>
                          </a:rPr>
                          <m:t>×</m:t>
                        </m:r>
                        <m:d>
                          <m:dPr>
                            <m:ctrlPr>
                              <a:rPr lang="en-US" altLang="ja-JP" i="1">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−1</m:t>
                            </m:r>
                          </m:e>
                        </m:d>
                        <m:r>
                          <a:rPr lang="en-US" altLang="ja-JP" i="1">
                            <a:latin typeface="Cambria Math" panose="02040503050406030204" pitchFamily="18" charset="0"/>
                            <a:ea typeface="Cambria Math" panose="02040503050406030204" pitchFamily="18" charset="0"/>
                          </a:rPr>
                          <m:t>=−1))</m:t>
                        </m:r>
                      </m:e>
                      <m:sup>
                        <m:r>
                          <a:rPr lang="en-US" altLang="ja-JP" b="0" i="1" smtClean="0">
                            <a:latin typeface="Cambria Math" panose="02040503050406030204" pitchFamily="18" charset="0"/>
                            <a:ea typeface="Cambria Math" panose="02040503050406030204" pitchFamily="18" charset="0"/>
                          </a:rPr>
                          <m:t>2</m:t>
                        </m:r>
                      </m:sup>
                    </m:sSup>
                  </m:oMath>
                </a14:m>
                <a:r>
                  <a:rPr lang="en-US" altLang="ja-JP" b="0" dirty="0">
                    <a:ea typeface="Cambria Math" panose="02040503050406030204" pitchFamily="18" charset="0"/>
                  </a:rPr>
                  <a:t>=0</a:t>
                </a:r>
              </a:p>
            </p:txBody>
          </p:sp>
        </mc:Choice>
        <mc:Fallback>
          <p:sp>
            <p:nvSpPr>
              <p:cNvPr id="12" name="テキスト ボックス 11">
                <a:extLst>
                  <a:ext uri="{FF2B5EF4-FFF2-40B4-BE49-F238E27FC236}">
                    <a16:creationId xmlns:a16="http://schemas.microsoft.com/office/drawing/2014/main" id="{516086A8-07B3-0DD0-64BD-F24B1C21E1F4}"/>
                  </a:ext>
                </a:extLst>
              </p:cNvPr>
              <p:cNvSpPr txBox="1">
                <a:spLocks noRot="1" noChangeAspect="1" noMove="1" noResize="1" noEditPoints="1" noAdjustHandles="1" noChangeArrowheads="1" noChangeShapeType="1" noTextEdit="1"/>
              </p:cNvSpPr>
              <p:nvPr/>
            </p:nvSpPr>
            <p:spPr>
              <a:xfrm>
                <a:off x="342900" y="5137476"/>
                <a:ext cx="6245877" cy="376898"/>
              </a:xfrm>
              <a:prstGeom prst="rect">
                <a:avLst/>
              </a:prstGeom>
              <a:blipFill>
                <a:blip r:embed="rId5"/>
                <a:stretch>
                  <a:fillRect l="-203" t="-6452" b="-22581"/>
                </a:stretch>
              </a:blipFill>
            </p:spPr>
            <p:txBody>
              <a:bodyPr/>
              <a:lstStyle/>
              <a:p>
                <a:r>
                  <a:rPr lang="ja-JP" altLang="en-US">
                    <a:noFill/>
                  </a:rPr>
                  <a:t> </a:t>
                </a:r>
              </a:p>
            </p:txBody>
          </p:sp>
        </mc:Fallback>
      </mc:AlternateContent>
      <p:sp>
        <p:nvSpPr>
          <p:cNvPr id="13" name="テキスト ボックス 12">
            <a:extLst>
              <a:ext uri="{FF2B5EF4-FFF2-40B4-BE49-F238E27FC236}">
                <a16:creationId xmlns:a16="http://schemas.microsoft.com/office/drawing/2014/main" id="{F65D78A9-8B1F-C085-C0F8-FCCFAC66F542}"/>
              </a:ext>
            </a:extLst>
          </p:cNvPr>
          <p:cNvSpPr txBox="1"/>
          <p:nvPr/>
        </p:nvSpPr>
        <p:spPr>
          <a:xfrm>
            <a:off x="207818" y="5882918"/>
            <a:ext cx="5032147" cy="646331"/>
          </a:xfrm>
          <a:prstGeom prst="rect">
            <a:avLst/>
          </a:prstGeom>
          <a:noFill/>
        </p:spPr>
        <p:txBody>
          <a:bodyPr wrap="none" rtlCol="0">
            <a:spAutoFit/>
          </a:bodyPr>
          <a:lstStyle/>
          <a:p>
            <a:r>
              <a:rPr kumimoji="1" lang="ja-JP" altLang="en-US" b="1"/>
              <a:t>ケース</a:t>
            </a:r>
            <a:r>
              <a:rPr kumimoji="1" lang="en-US" altLang="ja-JP" b="1" dirty="0"/>
              <a:t>①②</a:t>
            </a:r>
            <a:r>
              <a:rPr kumimoji="1" lang="ja-JP" altLang="en-US" b="1"/>
              <a:t>ともに損失関数では同じ評価。</a:t>
            </a:r>
            <a:endParaRPr kumimoji="1" lang="en-US" altLang="ja-JP" b="1" dirty="0"/>
          </a:p>
          <a:p>
            <a:r>
              <a:rPr lang="ja-JP" altLang="en-US" b="1"/>
              <a:t>しかし、現実とは大きく乖離した結果となる。</a:t>
            </a:r>
            <a:endParaRPr kumimoji="1" lang="ja-JP" altLang="en-US" b="1"/>
          </a:p>
        </p:txBody>
      </p:sp>
    </p:spTree>
    <p:extLst>
      <p:ext uri="{BB962C8B-B14F-4D97-AF65-F5344CB8AC3E}">
        <p14:creationId xmlns:p14="http://schemas.microsoft.com/office/powerpoint/2010/main" val="257487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3D00B8A-8143-D6A8-B2FD-7C8ADF21E818}"/>
              </a:ext>
            </a:extLst>
          </p:cNvPr>
          <p:cNvSpPr txBox="1"/>
          <p:nvPr/>
        </p:nvSpPr>
        <p:spPr>
          <a:xfrm>
            <a:off x="146304" y="170688"/>
            <a:ext cx="9424416" cy="646331"/>
          </a:xfrm>
          <a:prstGeom prst="rect">
            <a:avLst/>
          </a:prstGeom>
          <a:noFill/>
        </p:spPr>
        <p:txBody>
          <a:bodyPr wrap="square" rtlCol="0">
            <a:spAutoFit/>
          </a:bodyPr>
          <a:lstStyle/>
          <a:p>
            <a:r>
              <a:rPr lang="en-US" altLang="ja-JP" sz="3600" b="1" dirty="0">
                <a:latin typeface="Meiryo" panose="020B0604030504040204" pitchFamily="34" charset="-128"/>
                <a:ea typeface="Meiryo" panose="020B0604030504040204" pitchFamily="34" charset="-128"/>
              </a:rPr>
              <a:t>Lasso</a:t>
            </a:r>
            <a:r>
              <a:rPr lang="ja-JP" altLang="en-US" sz="3600" b="1">
                <a:latin typeface="Meiryo" panose="020B0604030504040204" pitchFamily="34" charset="-128"/>
                <a:ea typeface="Meiryo" panose="020B0604030504040204" pitchFamily="34" charset="-128"/>
              </a:rPr>
              <a:t>回帰と</a:t>
            </a:r>
            <a:r>
              <a:rPr lang="en-US" altLang="ja-JP" sz="3600" b="1" dirty="0">
                <a:latin typeface="Meiryo" panose="020B0604030504040204" pitchFamily="34" charset="-128"/>
                <a:ea typeface="Meiryo" panose="020B0604030504040204" pitchFamily="34" charset="-128"/>
              </a:rPr>
              <a:t>PLS</a:t>
            </a:r>
            <a:r>
              <a:rPr lang="ja-JP" altLang="en-US" sz="3600" b="1">
                <a:latin typeface="Meiryo" panose="020B0604030504040204" pitchFamily="34" charset="-128"/>
                <a:ea typeface="Meiryo" panose="020B0604030504040204" pitchFamily="34" charset="-128"/>
              </a:rPr>
              <a:t>回帰の使い分け</a:t>
            </a:r>
            <a:endParaRPr lang="en-US" altLang="ja-JP" sz="3600" b="1" dirty="0">
              <a:latin typeface="Meiryo" panose="020B0604030504040204" pitchFamily="34" charset="-128"/>
              <a:ea typeface="Meiryo" panose="020B0604030504040204" pitchFamily="34" charset="-128"/>
            </a:endParaRPr>
          </a:p>
        </p:txBody>
      </p:sp>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9E238446-4BE4-4F91-2970-D9BB60A7F7BB}"/>
                  </a:ext>
                </a:extLst>
              </p:cNvPr>
              <p:cNvSpPr txBox="1"/>
              <p:nvPr/>
            </p:nvSpPr>
            <p:spPr>
              <a:xfrm>
                <a:off x="243841" y="817019"/>
                <a:ext cx="11801856" cy="1477328"/>
              </a:xfrm>
              <a:prstGeom prst="rect">
                <a:avLst/>
              </a:prstGeom>
              <a:noFill/>
            </p:spPr>
            <p:txBody>
              <a:bodyPr wrap="square" rtlCol="0">
                <a:spAutoFit/>
              </a:bodyPr>
              <a:lstStyle/>
              <a:p>
                <a:r>
                  <a:rPr kumimoji="1" lang="en-US" altLang="ja-JP" b="1" dirty="0">
                    <a:latin typeface="Meiryo" panose="020B0604030504040204" pitchFamily="34" charset="-128"/>
                    <a:ea typeface="Meiryo" panose="020B0604030504040204" pitchFamily="34" charset="-128"/>
                  </a:rPr>
                  <a:t>Lasso</a:t>
                </a:r>
                <a:r>
                  <a:rPr kumimoji="1" lang="ja-JP" altLang="en-US" b="1">
                    <a:latin typeface="Meiryo" panose="020B0604030504040204" pitchFamily="34" charset="-128"/>
                    <a:ea typeface="Meiryo" panose="020B0604030504040204" pitchFamily="34" charset="-128"/>
                  </a:rPr>
                  <a:t>と</a:t>
                </a:r>
                <a:r>
                  <a:rPr kumimoji="1" lang="en-US" altLang="ja-JP" b="1" dirty="0">
                    <a:latin typeface="Meiryo" panose="020B0604030504040204" pitchFamily="34" charset="-128"/>
                    <a:ea typeface="Meiryo" panose="020B0604030504040204" pitchFamily="34" charset="-128"/>
                  </a:rPr>
                  <a:t>PLS</a:t>
                </a:r>
                <a:r>
                  <a:rPr lang="ja-JP" altLang="en-US" b="1">
                    <a:latin typeface="Meiryo" panose="020B0604030504040204" pitchFamily="34" charset="-128"/>
                    <a:ea typeface="Meiryo" panose="020B0604030504040204" pitchFamily="34" charset="-128"/>
                  </a:rPr>
                  <a:t>はどちらも</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lang="ja-JP" altLang="en-US" b="1">
                    <a:latin typeface="Meiryo" panose="020B0604030504040204" pitchFamily="34" charset="-128"/>
                    <a:ea typeface="Meiryo" panose="020B0604030504040204" pitchFamily="34" charset="-128"/>
                  </a:rPr>
                  <a:t>説明変数の数</a:t>
                </a:r>
                <a14:m>
                  <m:oMath xmlns:m="http://schemas.openxmlformats.org/officeDocument/2006/math">
                    <m:r>
                      <a:rPr lang="en-US" altLang="ja-JP" b="1" i="1" smtClean="0">
                        <a:latin typeface="Cambria Math" panose="02040503050406030204" pitchFamily="18" charset="0"/>
                        <a:ea typeface="Cambria Math" panose="02040503050406030204" pitchFamily="18" charset="0"/>
                      </a:rPr>
                      <m:t>&gt;</m:t>
                    </m:r>
                  </m:oMath>
                </a14:m>
                <a:r>
                  <a:rPr lang="ja-JP" altLang="en-US" b="1">
                    <a:latin typeface="Meiryo" panose="020B0604030504040204" pitchFamily="34" charset="-128"/>
                    <a:ea typeface="Meiryo" panose="020B0604030504040204" pitchFamily="34" charset="-128"/>
                  </a:rPr>
                  <a:t>データ数</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kumimoji="1" lang="ja-JP" altLang="en-US" b="1">
                    <a:latin typeface="Meiryo" panose="020B0604030504040204" pitchFamily="34" charset="-128"/>
                    <a:ea typeface="Meiryo" panose="020B0604030504040204" pitchFamily="34" charset="-128"/>
                  </a:rPr>
                  <a:t>多重共線性（説明変数どうしに高い相関がある事）</a:t>
                </a:r>
                <a:endParaRPr kumimoji="1" lang="en-US" altLang="ja-JP" b="1" dirty="0">
                  <a:latin typeface="Meiryo" panose="020B0604030504040204" pitchFamily="34" charset="-128"/>
                  <a:ea typeface="Meiryo" panose="020B0604030504040204" pitchFamily="34" charset="-128"/>
                </a:endParaRPr>
              </a:p>
              <a:p>
                <a:r>
                  <a:rPr lang="ja-JP" altLang="en-US" b="1">
                    <a:latin typeface="Meiryo" panose="020B0604030504040204" pitchFamily="34" charset="-128"/>
                    <a:ea typeface="Meiryo" panose="020B0604030504040204" pitchFamily="34" charset="-128"/>
                  </a:rPr>
                  <a:t>であるデータに対して強く、使う分にはほぼ変わらないようにみえる。しかし、多重共線性のあるデータに対しては目的に合わせた使い分けが必要である。</a:t>
                </a:r>
                <a:endParaRPr lang="en-US" altLang="ja-JP" b="1" dirty="0">
                  <a:latin typeface="Meiryo" panose="020B0604030504040204" pitchFamily="34" charset="-128"/>
                  <a:ea typeface="Meiryo" panose="020B0604030504040204" pitchFamily="34" charset="-128"/>
                </a:endParaRPr>
              </a:p>
            </p:txBody>
          </p:sp>
        </mc:Choice>
        <mc:Fallback>
          <p:sp>
            <p:nvSpPr>
              <p:cNvPr id="3" name="テキスト ボックス 2">
                <a:extLst>
                  <a:ext uri="{FF2B5EF4-FFF2-40B4-BE49-F238E27FC236}">
                    <a16:creationId xmlns:a16="http://schemas.microsoft.com/office/drawing/2014/main" id="{9E238446-4BE4-4F91-2970-D9BB60A7F7BB}"/>
                  </a:ext>
                </a:extLst>
              </p:cNvPr>
              <p:cNvSpPr txBox="1">
                <a:spLocks noRot="1" noChangeAspect="1" noMove="1" noResize="1" noEditPoints="1" noAdjustHandles="1" noChangeArrowheads="1" noChangeShapeType="1" noTextEdit="1"/>
              </p:cNvSpPr>
              <p:nvPr/>
            </p:nvSpPr>
            <p:spPr>
              <a:xfrm>
                <a:off x="243841" y="817019"/>
                <a:ext cx="11801856" cy="1477328"/>
              </a:xfrm>
              <a:prstGeom prst="rect">
                <a:avLst/>
              </a:prstGeom>
              <a:blipFill>
                <a:blip r:embed="rId2"/>
                <a:stretch>
                  <a:fillRect l="-430" t="-1709" b="-5983"/>
                </a:stretch>
              </a:blipFill>
            </p:spPr>
            <p:txBody>
              <a:bodyPr/>
              <a:lstStyle/>
              <a:p>
                <a:r>
                  <a:rPr lang="ja-JP" altLang="en-US">
                    <a:noFill/>
                  </a:rPr>
                  <a:t> </a:t>
                </a:r>
              </a:p>
            </p:txBody>
          </p:sp>
        </mc:Fallback>
      </mc:AlternateContent>
      <p:pic>
        <p:nvPicPr>
          <p:cNvPr id="5122" name="Picture 2">
            <a:extLst>
              <a:ext uri="{FF2B5EF4-FFF2-40B4-BE49-F238E27FC236}">
                <a16:creationId xmlns:a16="http://schemas.microsoft.com/office/drawing/2014/main" id="{C9680D79-6BD9-8661-B6BC-91F46417A4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16"/>
          <a:stretch>
            <a:fillRect/>
          </a:stretch>
        </p:blipFill>
        <p:spPr bwMode="auto">
          <a:xfrm>
            <a:off x="828895" y="2625844"/>
            <a:ext cx="3560327" cy="3417313"/>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F5B408E9-BCF8-0C38-4840-C6FB9ECE9A2F}"/>
              </a:ext>
            </a:extLst>
          </p:cNvPr>
          <p:cNvSpPr txBox="1"/>
          <p:nvPr/>
        </p:nvSpPr>
        <p:spPr>
          <a:xfrm>
            <a:off x="146303" y="6118168"/>
            <a:ext cx="5519650" cy="646331"/>
          </a:xfrm>
          <a:prstGeom prst="rect">
            <a:avLst/>
          </a:prstGeom>
          <a:noFill/>
        </p:spPr>
        <p:txBody>
          <a:bodyPr wrap="square" rtlCol="0">
            <a:spAutoFit/>
          </a:bodyPr>
          <a:lstStyle/>
          <a:p>
            <a:pPr algn="ctr"/>
            <a:r>
              <a:rPr kumimoji="1" lang="en-US" altLang="ja-JP" b="1" dirty="0">
                <a:latin typeface="Meiryo" panose="020B0604030504040204" pitchFamily="34" charset="-128"/>
                <a:ea typeface="Meiryo" panose="020B0604030504040204" pitchFamily="34" charset="-128"/>
              </a:rPr>
              <a:t>Lasso</a:t>
            </a:r>
            <a:r>
              <a:rPr kumimoji="1" lang="ja-JP" altLang="en-US" b="1">
                <a:latin typeface="Meiryo" panose="020B0604030504040204" pitchFamily="34" charset="-128"/>
                <a:ea typeface="Meiryo" panose="020B0604030504040204" pitchFamily="34" charset="-128"/>
              </a:rPr>
              <a:t>では上図のように多重共線性のある変数が</a:t>
            </a:r>
            <a:endParaRPr kumimoji="1" lang="en-US" altLang="ja-JP" b="1" dirty="0">
              <a:latin typeface="Meiryo" panose="020B0604030504040204" pitchFamily="34" charset="-128"/>
              <a:ea typeface="Meiryo" panose="020B0604030504040204" pitchFamily="34" charset="-128"/>
            </a:endParaRPr>
          </a:p>
          <a:p>
            <a:pPr algn="ctr"/>
            <a:r>
              <a:rPr kumimoji="1" lang="ja-JP" altLang="en-US" b="1">
                <a:latin typeface="Meiryo" panose="020B0604030504040204" pitchFamily="34" charset="-128"/>
                <a:ea typeface="Meiryo" panose="020B0604030504040204" pitchFamily="34" charset="-128"/>
              </a:rPr>
              <a:t>ノイズなどによりランダムに一方の係数が０になる。</a:t>
            </a:r>
          </a:p>
        </p:txBody>
      </p:sp>
      <p:sp>
        <p:nvSpPr>
          <p:cNvPr id="7" name="テキスト ボックス 6">
            <a:extLst>
              <a:ext uri="{FF2B5EF4-FFF2-40B4-BE49-F238E27FC236}">
                <a16:creationId xmlns:a16="http://schemas.microsoft.com/office/drawing/2014/main" id="{53257544-A483-04B8-6764-F38FDD7EA873}"/>
              </a:ext>
            </a:extLst>
          </p:cNvPr>
          <p:cNvSpPr txBox="1"/>
          <p:nvPr/>
        </p:nvSpPr>
        <p:spPr>
          <a:xfrm>
            <a:off x="146303" y="2275430"/>
            <a:ext cx="2133918" cy="369332"/>
          </a:xfrm>
          <a:prstGeom prst="rect">
            <a:avLst/>
          </a:prstGeom>
          <a:noFill/>
        </p:spPr>
        <p:txBody>
          <a:bodyPr wrap="none" rtlCol="0">
            <a:spAutoFit/>
          </a:bodyPr>
          <a:lstStyle/>
          <a:p>
            <a:r>
              <a:rPr kumimoji="1" lang="ja-JP" altLang="en-US" b="1"/>
              <a:t>例</a:t>
            </a:r>
            <a:r>
              <a:rPr kumimoji="1" lang="en-US" altLang="ja-JP" b="1" dirty="0"/>
              <a:t>1</a:t>
            </a:r>
            <a:r>
              <a:rPr kumimoji="1" lang="ja-JP" altLang="en-US" b="1"/>
              <a:t>：</a:t>
            </a:r>
            <a:r>
              <a:rPr kumimoji="1" lang="en-US" altLang="ja-JP" b="1" dirty="0"/>
              <a:t>Lasso</a:t>
            </a:r>
            <a:r>
              <a:rPr kumimoji="1" lang="ja-JP" altLang="en-US" b="1"/>
              <a:t>の場合</a:t>
            </a:r>
          </a:p>
        </p:txBody>
      </p:sp>
      <p:sp>
        <p:nvSpPr>
          <p:cNvPr id="8" name="テキスト ボックス 7">
            <a:extLst>
              <a:ext uri="{FF2B5EF4-FFF2-40B4-BE49-F238E27FC236}">
                <a16:creationId xmlns:a16="http://schemas.microsoft.com/office/drawing/2014/main" id="{48041635-826A-DC64-E1C1-CCD7ABF3218E}"/>
              </a:ext>
            </a:extLst>
          </p:cNvPr>
          <p:cNvSpPr txBox="1"/>
          <p:nvPr/>
        </p:nvSpPr>
        <p:spPr>
          <a:xfrm>
            <a:off x="5871601" y="2275430"/>
            <a:ext cx="1928733" cy="369332"/>
          </a:xfrm>
          <a:prstGeom prst="rect">
            <a:avLst/>
          </a:prstGeom>
          <a:noFill/>
        </p:spPr>
        <p:txBody>
          <a:bodyPr wrap="none" rtlCol="0">
            <a:spAutoFit/>
          </a:bodyPr>
          <a:lstStyle/>
          <a:p>
            <a:r>
              <a:rPr kumimoji="1" lang="ja-JP" altLang="en-US" b="1"/>
              <a:t>例</a:t>
            </a:r>
            <a:r>
              <a:rPr kumimoji="1" lang="en-US" altLang="ja-JP" b="1" dirty="0"/>
              <a:t>2</a:t>
            </a:r>
            <a:r>
              <a:rPr kumimoji="1" lang="ja-JP" altLang="en-US" b="1"/>
              <a:t>：</a:t>
            </a:r>
            <a:r>
              <a:rPr kumimoji="1" lang="en-US" altLang="ja-JP" b="1" dirty="0"/>
              <a:t>PLS</a:t>
            </a:r>
            <a:r>
              <a:rPr kumimoji="1" lang="ja-JP" altLang="en-US" b="1"/>
              <a:t>の場合</a:t>
            </a:r>
          </a:p>
        </p:txBody>
      </p:sp>
      <mc:AlternateContent xmlns:mc="http://schemas.openxmlformats.org/markup-compatibility/2006">
        <mc:Choice xmlns:a14="http://schemas.microsoft.com/office/drawing/2010/main" Requires="a14">
          <p:sp>
            <p:nvSpPr>
              <p:cNvPr id="9" name="テキスト ボックス 8">
                <a:extLst>
                  <a:ext uri="{FF2B5EF4-FFF2-40B4-BE49-F238E27FC236}">
                    <a16:creationId xmlns:a16="http://schemas.microsoft.com/office/drawing/2014/main" id="{6D85AAB8-27E3-54B4-88BC-A5931737368C}"/>
                  </a:ext>
                </a:extLst>
              </p:cNvPr>
              <p:cNvSpPr txBox="1"/>
              <p:nvPr/>
            </p:nvSpPr>
            <p:spPr>
              <a:xfrm>
                <a:off x="6807508" y="4289777"/>
                <a:ext cx="794768" cy="36875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en-US" altLang="ja-JP" sz="1100" b="0" i="1" smtClean="0">
                          <a:latin typeface="Cambria Math" panose="02040503050406030204" pitchFamily="18" charset="0"/>
                          <a:ea typeface="Cambria Math" panose="02040503050406030204" pitchFamily="18" charset="0"/>
                        </a:rPr>
                        <m:t>𝜔</m:t>
                      </m:r>
                      <m:r>
                        <a:rPr kumimoji="1" lang="en-US" altLang="ja-JP" sz="1100" b="0" i="1" smtClean="0">
                          <a:latin typeface="Cambria Math" panose="02040503050406030204" pitchFamily="18" charset="0"/>
                        </a:rPr>
                        <m:t>=</m:t>
                      </m:r>
                      <m:f>
                        <m:fPr>
                          <m:ctrlPr>
                            <a:rPr kumimoji="1" lang="en-US" altLang="ja-JP" sz="1100" b="0" i="1" smtClean="0">
                              <a:latin typeface="Cambria Math" panose="02040503050406030204" pitchFamily="18" charset="0"/>
                            </a:rPr>
                          </m:ctrlPr>
                        </m:fPr>
                        <m:num>
                          <m:sSup>
                            <m:sSupPr>
                              <m:ctrlPr>
                                <a:rPr kumimoji="1" lang="en-US" altLang="ja-JP" sz="1100" b="0" i="1" smtClean="0">
                                  <a:latin typeface="Cambria Math" panose="02040503050406030204" pitchFamily="18" charset="0"/>
                                </a:rPr>
                              </m:ctrlPr>
                            </m:sSupPr>
                            <m:e>
                              <m:r>
                                <a:rPr kumimoji="1" lang="en-US" altLang="ja-JP" sz="1100" b="0" i="1" smtClean="0">
                                  <a:latin typeface="Cambria Math" panose="02040503050406030204" pitchFamily="18" charset="0"/>
                                </a:rPr>
                                <m:t>𝑋</m:t>
                              </m:r>
                            </m:e>
                            <m:sup>
                              <m:r>
                                <a:rPr kumimoji="1" lang="en-US" altLang="ja-JP" sz="1100" b="0" i="1" smtClean="0">
                                  <a:latin typeface="Cambria Math" panose="02040503050406030204" pitchFamily="18" charset="0"/>
                                </a:rPr>
                                <m:t>𝑇</m:t>
                              </m:r>
                            </m:sup>
                          </m:sSup>
                          <m:r>
                            <a:rPr kumimoji="1" lang="en-US" altLang="ja-JP" sz="1100" b="0" i="1" smtClean="0">
                              <a:latin typeface="Cambria Math" panose="02040503050406030204" pitchFamily="18" charset="0"/>
                            </a:rPr>
                            <m:t>𝑦</m:t>
                          </m:r>
                        </m:num>
                        <m:den>
                          <m:sSub>
                            <m:sSubPr>
                              <m:ctrlPr>
                                <a:rPr kumimoji="1" lang="en-US" altLang="ja-JP" sz="1100" b="0" i="1" smtClean="0">
                                  <a:latin typeface="Cambria Math" panose="02040503050406030204" pitchFamily="18" charset="0"/>
                                </a:rPr>
                              </m:ctrlPr>
                            </m:sSubPr>
                            <m:e>
                              <m:d>
                                <m:dPr>
                                  <m:begChr m:val="‖"/>
                                  <m:endChr m:val="‖"/>
                                  <m:ctrlPr>
                                    <a:rPr kumimoji="1" lang="en-US" altLang="ja-JP" sz="1100" b="0" i="1" smtClean="0">
                                      <a:latin typeface="Cambria Math" panose="02040503050406030204" pitchFamily="18" charset="0"/>
                                    </a:rPr>
                                  </m:ctrlPr>
                                </m:dPr>
                                <m:e>
                                  <m:sSup>
                                    <m:sSupPr>
                                      <m:ctrlPr>
                                        <a:rPr kumimoji="1" lang="en-US" altLang="ja-JP" sz="1100" b="0" i="1" smtClean="0">
                                          <a:latin typeface="Cambria Math" panose="02040503050406030204" pitchFamily="18" charset="0"/>
                                        </a:rPr>
                                      </m:ctrlPr>
                                    </m:sSupPr>
                                    <m:e>
                                      <m:r>
                                        <a:rPr kumimoji="1" lang="en-US" altLang="ja-JP" sz="1100" b="0" i="1" smtClean="0">
                                          <a:latin typeface="Cambria Math" panose="02040503050406030204" pitchFamily="18" charset="0"/>
                                        </a:rPr>
                                        <m:t>𝑋</m:t>
                                      </m:r>
                                    </m:e>
                                    <m:sup>
                                      <m:r>
                                        <a:rPr kumimoji="1" lang="en-US" altLang="ja-JP" sz="1100" b="0" i="1" smtClean="0">
                                          <a:latin typeface="Cambria Math" panose="02040503050406030204" pitchFamily="18" charset="0"/>
                                        </a:rPr>
                                        <m:t>𝑇</m:t>
                                      </m:r>
                                    </m:sup>
                                  </m:sSup>
                                  <m:r>
                                    <a:rPr kumimoji="1" lang="en-US" altLang="ja-JP" sz="1100" b="0" i="1" smtClean="0">
                                      <a:latin typeface="Cambria Math" panose="02040503050406030204" pitchFamily="18" charset="0"/>
                                    </a:rPr>
                                    <m:t>𝑦</m:t>
                                  </m:r>
                                </m:e>
                              </m:d>
                            </m:e>
                            <m:sub>
                              <m:r>
                                <a:rPr kumimoji="1" lang="en-US" altLang="ja-JP" sz="1100" b="0" i="1" smtClean="0">
                                  <a:latin typeface="Cambria Math" panose="02040503050406030204" pitchFamily="18" charset="0"/>
                                </a:rPr>
                                <m:t>2</m:t>
                              </m:r>
                            </m:sub>
                          </m:sSub>
                        </m:den>
                      </m:f>
                    </m:oMath>
                  </m:oMathPara>
                </a14:m>
                <a:endParaRPr kumimoji="1" lang="ja-JP" altLang="en-US" sz="1100"/>
              </a:p>
            </p:txBody>
          </p:sp>
        </mc:Choice>
        <mc:Fallback>
          <p:sp>
            <p:nvSpPr>
              <p:cNvPr id="9" name="テキスト ボックス 8">
                <a:extLst>
                  <a:ext uri="{FF2B5EF4-FFF2-40B4-BE49-F238E27FC236}">
                    <a16:creationId xmlns:a16="http://schemas.microsoft.com/office/drawing/2014/main" id="{6D85AAB8-27E3-54B4-88BC-A5931737368C}"/>
                  </a:ext>
                </a:extLst>
              </p:cNvPr>
              <p:cNvSpPr txBox="1">
                <a:spLocks noRot="1" noChangeAspect="1" noMove="1" noResize="1" noEditPoints="1" noAdjustHandles="1" noChangeArrowheads="1" noChangeShapeType="1" noTextEdit="1"/>
              </p:cNvSpPr>
              <p:nvPr/>
            </p:nvSpPr>
            <p:spPr>
              <a:xfrm>
                <a:off x="6807508" y="4289777"/>
                <a:ext cx="794768" cy="368755"/>
              </a:xfrm>
              <a:prstGeom prst="rect">
                <a:avLst/>
              </a:prstGeom>
              <a:blipFill>
                <a:blip r:embed="rId4"/>
                <a:stretch>
                  <a:fillRect l="-1587" r="-1587" b="-13333"/>
                </a:stretch>
              </a:blipFill>
            </p:spPr>
            <p:txBody>
              <a:bodyPr/>
              <a:lstStyle/>
              <a:p>
                <a:r>
                  <a:rPr lang="ja-JP" altLang="en-US">
                    <a:noFill/>
                  </a:rPr>
                  <a:t> </a:t>
                </a:r>
              </a:p>
            </p:txBody>
          </p:sp>
        </mc:Fallback>
      </mc:AlternateContent>
      <p:graphicFrame>
        <p:nvGraphicFramePr>
          <p:cNvPr id="11" name="表 10">
            <a:extLst>
              <a:ext uri="{FF2B5EF4-FFF2-40B4-BE49-F238E27FC236}">
                <a16:creationId xmlns:a16="http://schemas.microsoft.com/office/drawing/2014/main" id="{4013F19A-C9A9-37A7-E1CB-633EACCD85A9}"/>
              </a:ext>
            </a:extLst>
          </p:cNvPr>
          <p:cNvGraphicFramePr>
            <a:graphicFrameLocks noGrp="1"/>
          </p:cNvGraphicFramePr>
          <p:nvPr>
            <p:extLst>
              <p:ext uri="{D42A27DB-BD31-4B8C-83A1-F6EECF244321}">
                <p14:modId xmlns:p14="http://schemas.microsoft.com/office/powerpoint/2010/main" val="2578867416"/>
              </p:ext>
            </p:extLst>
          </p:nvPr>
        </p:nvGraphicFramePr>
        <p:xfrm>
          <a:off x="5960962" y="2784057"/>
          <a:ext cx="4732859" cy="1463040"/>
        </p:xfrm>
        <a:graphic>
          <a:graphicData uri="http://schemas.openxmlformats.org/drawingml/2006/table">
            <a:tbl>
              <a:tblPr/>
              <a:tblGrid>
                <a:gridCol w="874120">
                  <a:extLst>
                    <a:ext uri="{9D8B030D-6E8A-4147-A177-3AD203B41FA5}">
                      <a16:colId xmlns:a16="http://schemas.microsoft.com/office/drawing/2014/main" val="2665091247"/>
                    </a:ext>
                  </a:extLst>
                </a:gridCol>
                <a:gridCol w="1044988">
                  <a:extLst>
                    <a:ext uri="{9D8B030D-6E8A-4147-A177-3AD203B41FA5}">
                      <a16:colId xmlns:a16="http://schemas.microsoft.com/office/drawing/2014/main" val="3662177795"/>
                    </a:ext>
                  </a:extLst>
                </a:gridCol>
                <a:gridCol w="1044988">
                  <a:extLst>
                    <a:ext uri="{9D8B030D-6E8A-4147-A177-3AD203B41FA5}">
                      <a16:colId xmlns:a16="http://schemas.microsoft.com/office/drawing/2014/main" val="1554124171"/>
                    </a:ext>
                  </a:extLst>
                </a:gridCol>
                <a:gridCol w="1768763">
                  <a:extLst>
                    <a:ext uri="{9D8B030D-6E8A-4147-A177-3AD203B41FA5}">
                      <a16:colId xmlns:a16="http://schemas.microsoft.com/office/drawing/2014/main" val="1797715779"/>
                    </a:ext>
                  </a:extLst>
                </a:gridCol>
              </a:tblGrid>
              <a:tr h="342079">
                <a:tc>
                  <a:txBody>
                    <a:bodyPr/>
                    <a:lstStyle/>
                    <a:p>
                      <a:pPr rtl="0">
                        <a:buNone/>
                      </a:pPr>
                      <a:r>
                        <a:rPr lang="ja-JP" altLang="en-US" sz="1400" b="1">
                          <a:solidFill>
                            <a:srgbClr val="1F1F1F"/>
                          </a:solidFill>
                          <a:effectLst/>
                          <a:latin typeface="Google Sans Text"/>
                        </a:rPr>
                        <a:t>被験者</a:t>
                      </a:r>
                      <a:endParaRPr lang="ja-JP" altLang="en-US" sz="140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ja-JP" altLang="en-US" sz="1400" b="1">
                          <a:solidFill>
                            <a:srgbClr val="1F1F1F"/>
                          </a:solidFill>
                          <a:effectLst/>
                          <a:latin typeface="Google Sans Text"/>
                        </a:rPr>
                        <a:t>身長</a:t>
                      </a:r>
                      <a:endParaRPr lang="ja-JP" altLang="en-US" sz="140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ja-JP" altLang="en-US" sz="1400" b="1">
                          <a:solidFill>
                            <a:srgbClr val="1F1F1F"/>
                          </a:solidFill>
                          <a:effectLst/>
                          <a:latin typeface="Google Sans Text"/>
                        </a:rPr>
                        <a:t>座高</a:t>
                      </a:r>
                      <a:endParaRPr lang="ja-JP" altLang="en-US" sz="140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ja-JP" altLang="en-US" sz="1400" b="1">
                          <a:solidFill>
                            <a:srgbClr val="1F1F1F"/>
                          </a:solidFill>
                          <a:effectLst/>
                          <a:latin typeface="Google Sans Text"/>
                        </a:rPr>
                        <a:t>体重（目的変数）</a:t>
                      </a:r>
                      <a:endParaRPr lang="ja-JP" altLang="en-US" sz="140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008338636"/>
                  </a:ext>
                </a:extLst>
              </a:tr>
              <a:tr h="342079">
                <a:tc>
                  <a:txBody>
                    <a:bodyPr/>
                    <a:lstStyle/>
                    <a:p>
                      <a:pPr rtl="0">
                        <a:buNone/>
                      </a:pPr>
                      <a:r>
                        <a:rPr lang="en" sz="1400" b="1">
                          <a:solidFill>
                            <a:srgbClr val="1F1F1F"/>
                          </a:solidFill>
                          <a:effectLst/>
                          <a:latin typeface="Google Sans Text"/>
                        </a:rPr>
                        <a:t>A</a:t>
                      </a:r>
                      <a:r>
                        <a:rPr lang="ja-JP" altLang="en-US" sz="1400" b="1">
                          <a:solidFill>
                            <a:srgbClr val="1F1F1F"/>
                          </a:solidFill>
                          <a:effectLst/>
                          <a:latin typeface="Google Sans Text"/>
                        </a:rPr>
                        <a:t>さん</a:t>
                      </a:r>
                      <a:endParaRPr lang="ja-JP" altLang="en-US" sz="140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1.225</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1.225</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1.225</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808557705"/>
                  </a:ext>
                </a:extLst>
              </a:tr>
              <a:tr h="342079">
                <a:tc>
                  <a:txBody>
                    <a:bodyPr/>
                    <a:lstStyle/>
                    <a:p>
                      <a:pPr rtl="0">
                        <a:buNone/>
                      </a:pPr>
                      <a:r>
                        <a:rPr lang="en" sz="1400" b="1" dirty="0">
                          <a:solidFill>
                            <a:srgbClr val="1F1F1F"/>
                          </a:solidFill>
                          <a:effectLst/>
                          <a:latin typeface="Google Sans Text"/>
                        </a:rPr>
                        <a:t>B</a:t>
                      </a:r>
                      <a:r>
                        <a:rPr lang="ja-JP" altLang="en-US" sz="1400" b="1">
                          <a:solidFill>
                            <a:srgbClr val="1F1F1F"/>
                          </a:solidFill>
                          <a:effectLst/>
                          <a:latin typeface="Google Sans Text"/>
                        </a:rPr>
                        <a:t>さん</a:t>
                      </a:r>
                      <a:endParaRPr lang="ja-JP" altLang="en-US" sz="140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-1.225</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-1.225</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-1.225</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89818760"/>
                  </a:ext>
                </a:extLst>
              </a:tr>
              <a:tr h="342079">
                <a:tc>
                  <a:txBody>
                    <a:bodyPr/>
                    <a:lstStyle/>
                    <a:p>
                      <a:pPr rtl="0">
                        <a:buNone/>
                      </a:pPr>
                      <a:r>
                        <a:rPr lang="en" sz="1400" b="1">
                          <a:solidFill>
                            <a:srgbClr val="1F1F1F"/>
                          </a:solidFill>
                          <a:effectLst/>
                          <a:latin typeface="Google Sans Text"/>
                        </a:rPr>
                        <a:t>C</a:t>
                      </a:r>
                      <a:r>
                        <a:rPr lang="ja-JP" altLang="en-US" sz="1400" b="1">
                          <a:solidFill>
                            <a:srgbClr val="1F1F1F"/>
                          </a:solidFill>
                          <a:effectLst/>
                          <a:latin typeface="Google Sans Text"/>
                        </a:rPr>
                        <a:t>さん</a:t>
                      </a:r>
                      <a:endParaRPr lang="ja-JP" altLang="en-US" sz="140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rtl="0">
                        <a:buNone/>
                      </a:pPr>
                      <a:r>
                        <a:rPr lang="en-US" altLang="ja-JP" sz="1400" dirty="0">
                          <a:solidFill>
                            <a:srgbClr val="1F1F1F"/>
                          </a:solidFill>
                          <a:effectLst/>
                          <a:latin typeface="Google Sans Text"/>
                        </a:rPr>
                        <a:t>0</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11568452"/>
                  </a:ext>
                </a:extLst>
              </a:tr>
            </a:tbl>
          </a:graphicData>
        </a:graphic>
      </p:graphicFrame>
      <p:sp>
        <p:nvSpPr>
          <p:cNvPr id="12" name="テキスト ボックス 11">
            <a:extLst>
              <a:ext uri="{FF2B5EF4-FFF2-40B4-BE49-F238E27FC236}">
                <a16:creationId xmlns:a16="http://schemas.microsoft.com/office/drawing/2014/main" id="{3EC8B35B-FB2C-E978-C3C8-34FD1400EE59}"/>
              </a:ext>
            </a:extLst>
          </p:cNvPr>
          <p:cNvSpPr txBox="1"/>
          <p:nvPr/>
        </p:nvSpPr>
        <p:spPr>
          <a:xfrm>
            <a:off x="5960962" y="2571346"/>
            <a:ext cx="4047903" cy="261610"/>
          </a:xfrm>
          <a:prstGeom prst="rect">
            <a:avLst/>
          </a:prstGeom>
          <a:noFill/>
        </p:spPr>
        <p:txBody>
          <a:bodyPr wrap="none" rtlCol="0">
            <a:spAutoFit/>
          </a:bodyPr>
          <a:lstStyle/>
          <a:p>
            <a:r>
              <a:rPr lang="ja-JP" altLang="en-US" sz="1100"/>
              <a:t>表：身長、座高、体重データセット</a:t>
            </a:r>
            <a:r>
              <a:rPr lang="en-US" altLang="ja-JP" sz="1100" dirty="0"/>
              <a:t>(</a:t>
            </a:r>
            <a:r>
              <a:rPr lang="ja-JP" altLang="en-US" sz="1100"/>
              <a:t>オートスケーリング後）</a:t>
            </a:r>
            <a:endParaRPr kumimoji="1" lang="ja-JP" altLang="en-US" sz="1100"/>
          </a:p>
        </p:txBody>
      </p:sp>
      <p:sp>
        <p:nvSpPr>
          <p:cNvPr id="13" name="テキスト ボックス 12">
            <a:extLst>
              <a:ext uri="{FF2B5EF4-FFF2-40B4-BE49-F238E27FC236}">
                <a16:creationId xmlns:a16="http://schemas.microsoft.com/office/drawing/2014/main" id="{6FA54E14-6560-3F34-11EA-354B73B15921}"/>
              </a:ext>
            </a:extLst>
          </p:cNvPr>
          <p:cNvSpPr txBox="1"/>
          <p:nvPr/>
        </p:nvSpPr>
        <p:spPr>
          <a:xfrm>
            <a:off x="5977860" y="4358759"/>
            <a:ext cx="748923" cy="261610"/>
          </a:xfrm>
          <a:prstGeom prst="rect">
            <a:avLst/>
          </a:prstGeom>
          <a:noFill/>
        </p:spPr>
        <p:txBody>
          <a:bodyPr wrap="none" rtlCol="0">
            <a:spAutoFit/>
          </a:bodyPr>
          <a:lstStyle/>
          <a:p>
            <a:r>
              <a:rPr kumimoji="1" lang="ja-JP" altLang="en-US" sz="1100"/>
              <a:t>重み</a:t>
            </a:r>
            <a:r>
              <a:rPr kumimoji="1" lang="en-US" altLang="ja-JP" sz="1100" dirty="0" err="1"/>
              <a:t>ω</a:t>
            </a:r>
            <a:r>
              <a:rPr kumimoji="1" lang="ja-JP" altLang="en-US" sz="1100"/>
              <a:t>は</a:t>
            </a:r>
            <a:endParaRPr kumimoji="1" lang="en-US" altLang="ja-JP" sz="1100" dirty="0"/>
          </a:p>
        </p:txBody>
      </p:sp>
      <p:sp>
        <p:nvSpPr>
          <p:cNvPr id="14" name="テキスト ボックス 13">
            <a:extLst>
              <a:ext uri="{FF2B5EF4-FFF2-40B4-BE49-F238E27FC236}">
                <a16:creationId xmlns:a16="http://schemas.microsoft.com/office/drawing/2014/main" id="{363969B5-5380-7B92-D15D-5A602A90AF05}"/>
              </a:ext>
            </a:extLst>
          </p:cNvPr>
          <p:cNvSpPr txBox="1"/>
          <p:nvPr/>
        </p:nvSpPr>
        <p:spPr>
          <a:xfrm>
            <a:off x="7604098" y="4370732"/>
            <a:ext cx="1454244" cy="261610"/>
          </a:xfrm>
          <a:prstGeom prst="rect">
            <a:avLst/>
          </a:prstGeom>
          <a:noFill/>
        </p:spPr>
        <p:txBody>
          <a:bodyPr wrap="none" rtlCol="0">
            <a:spAutoFit/>
          </a:bodyPr>
          <a:lstStyle/>
          <a:p>
            <a:r>
              <a:rPr lang="ja-JP" altLang="en-US" sz="1100"/>
              <a:t>で計算される</a:t>
            </a:r>
            <a:r>
              <a:rPr kumimoji="1" lang="ja-JP" altLang="en-US" sz="1100"/>
              <a:t>ので、</a:t>
            </a:r>
          </a:p>
        </p:txBody>
      </p:sp>
      <p:pic>
        <p:nvPicPr>
          <p:cNvPr id="18" name="図 17">
            <a:extLst>
              <a:ext uri="{FF2B5EF4-FFF2-40B4-BE49-F238E27FC236}">
                <a16:creationId xmlns:a16="http://schemas.microsoft.com/office/drawing/2014/main" id="{500A2AF2-59CB-E64E-3600-5F05B4DC0886}"/>
              </a:ext>
            </a:extLst>
          </p:cNvPr>
          <p:cNvPicPr>
            <a:picLocks noChangeAspect="1"/>
          </p:cNvPicPr>
          <p:nvPr/>
        </p:nvPicPr>
        <p:blipFill>
          <a:blip r:embed="rId5"/>
          <a:stretch>
            <a:fillRect/>
          </a:stretch>
        </p:blipFill>
        <p:spPr>
          <a:xfrm>
            <a:off x="5802730" y="5000722"/>
            <a:ext cx="3106037" cy="898680"/>
          </a:xfrm>
          <a:prstGeom prst="rect">
            <a:avLst/>
          </a:prstGeom>
        </p:spPr>
      </p:pic>
      <p:pic>
        <p:nvPicPr>
          <p:cNvPr id="20" name="図 19">
            <a:extLst>
              <a:ext uri="{FF2B5EF4-FFF2-40B4-BE49-F238E27FC236}">
                <a16:creationId xmlns:a16="http://schemas.microsoft.com/office/drawing/2014/main" id="{E75D45EA-6057-9238-C312-AF8292371B70}"/>
              </a:ext>
            </a:extLst>
          </p:cNvPr>
          <p:cNvPicPr>
            <a:picLocks noChangeAspect="1"/>
          </p:cNvPicPr>
          <p:nvPr/>
        </p:nvPicPr>
        <p:blipFill>
          <a:blip r:embed="rId6"/>
          <a:srcRect l="2950" t="23664" r="4998" b="23772"/>
          <a:stretch>
            <a:fillRect/>
          </a:stretch>
        </p:blipFill>
        <p:spPr>
          <a:xfrm>
            <a:off x="6995548" y="5539331"/>
            <a:ext cx="2896108" cy="299452"/>
          </a:xfrm>
          <a:prstGeom prst="rect">
            <a:avLst/>
          </a:prstGeom>
        </p:spPr>
      </p:pic>
      <p:pic>
        <p:nvPicPr>
          <p:cNvPr id="22" name="図 21">
            <a:extLst>
              <a:ext uri="{FF2B5EF4-FFF2-40B4-BE49-F238E27FC236}">
                <a16:creationId xmlns:a16="http://schemas.microsoft.com/office/drawing/2014/main" id="{0DDF81AF-B653-0117-70B7-83B060919714}"/>
              </a:ext>
            </a:extLst>
          </p:cNvPr>
          <p:cNvPicPr>
            <a:picLocks noChangeAspect="1"/>
          </p:cNvPicPr>
          <p:nvPr/>
        </p:nvPicPr>
        <p:blipFill>
          <a:blip r:embed="rId7"/>
          <a:stretch>
            <a:fillRect/>
          </a:stretch>
        </p:blipFill>
        <p:spPr>
          <a:xfrm>
            <a:off x="5960962" y="5936024"/>
            <a:ext cx="2329692" cy="491769"/>
          </a:xfrm>
          <a:prstGeom prst="rect">
            <a:avLst/>
          </a:prstGeom>
        </p:spPr>
      </p:pic>
      <mc:AlternateContent xmlns:mc="http://schemas.openxmlformats.org/markup-compatibility/2006">
        <mc:Choice xmlns:a14="http://schemas.microsoft.com/office/drawing/2010/main" Requires="a14">
          <p:sp>
            <p:nvSpPr>
              <p:cNvPr id="24" name="テキスト ボックス 23">
                <a:extLst>
                  <a:ext uri="{FF2B5EF4-FFF2-40B4-BE49-F238E27FC236}">
                    <a16:creationId xmlns:a16="http://schemas.microsoft.com/office/drawing/2014/main" id="{D82DD862-F96B-10F2-F143-801A822AC68E}"/>
                  </a:ext>
                </a:extLst>
              </p:cNvPr>
              <p:cNvSpPr txBox="1"/>
              <p:nvPr/>
            </p:nvSpPr>
            <p:spPr>
              <a:xfrm>
                <a:off x="6995548" y="5609163"/>
                <a:ext cx="384227" cy="215444"/>
              </a:xfrm>
              <a:prstGeom prst="rect">
                <a:avLst/>
              </a:prstGeom>
              <a:solidFill>
                <a:srgbClr val="FEFCFC"/>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kumimoji="1" lang="en-US" altLang="ja-JP" sz="800" b="0" i="1" smtClean="0">
                              <a:latin typeface="Cambria Math" panose="02040503050406030204" pitchFamily="18" charset="0"/>
                            </a:rPr>
                          </m:ctrlPr>
                        </m:dPr>
                        <m:e>
                          <m:sSup>
                            <m:sSupPr>
                              <m:ctrlPr>
                                <a:rPr lang="en-US" altLang="ja-JP" sz="800" i="1">
                                  <a:latin typeface="Cambria Math" panose="02040503050406030204" pitchFamily="18" charset="0"/>
                                </a:rPr>
                              </m:ctrlPr>
                            </m:sSupPr>
                            <m:e>
                              <m:r>
                                <a:rPr lang="en-US" altLang="ja-JP" sz="800" i="1">
                                  <a:latin typeface="Cambria Math" panose="02040503050406030204" pitchFamily="18" charset="0"/>
                                </a:rPr>
                                <m:t>𝑋</m:t>
                              </m:r>
                            </m:e>
                            <m:sup>
                              <m:r>
                                <a:rPr lang="en-US" altLang="ja-JP" sz="800" i="1">
                                  <a:latin typeface="Cambria Math" panose="02040503050406030204" pitchFamily="18" charset="0"/>
                                </a:rPr>
                                <m:t>𝑇</m:t>
                              </m:r>
                            </m:sup>
                          </m:sSup>
                          <m:r>
                            <a:rPr lang="en-US" altLang="ja-JP" sz="800" i="1">
                              <a:latin typeface="Cambria Math" panose="02040503050406030204" pitchFamily="18" charset="0"/>
                            </a:rPr>
                            <m:t>𝑦</m:t>
                          </m:r>
                        </m:e>
                      </m:d>
                    </m:oMath>
                  </m:oMathPara>
                </a14:m>
                <a:endParaRPr kumimoji="1" lang="ja-JP" altLang="en-US" sz="800"/>
              </a:p>
            </p:txBody>
          </p:sp>
        </mc:Choice>
        <mc:Fallback>
          <p:sp>
            <p:nvSpPr>
              <p:cNvPr id="24" name="テキスト ボックス 23">
                <a:extLst>
                  <a:ext uri="{FF2B5EF4-FFF2-40B4-BE49-F238E27FC236}">
                    <a16:creationId xmlns:a16="http://schemas.microsoft.com/office/drawing/2014/main" id="{D82DD862-F96B-10F2-F143-801A822AC68E}"/>
                  </a:ext>
                </a:extLst>
              </p:cNvPr>
              <p:cNvSpPr txBox="1">
                <a:spLocks noRot="1" noChangeAspect="1" noMove="1" noResize="1" noEditPoints="1" noAdjustHandles="1" noChangeArrowheads="1" noChangeShapeType="1" noTextEdit="1"/>
              </p:cNvSpPr>
              <p:nvPr/>
            </p:nvSpPr>
            <p:spPr>
              <a:xfrm>
                <a:off x="6995548" y="5609163"/>
                <a:ext cx="384227" cy="215444"/>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5" name="テキスト ボックス 24">
                <a:extLst>
                  <a:ext uri="{FF2B5EF4-FFF2-40B4-BE49-F238E27FC236}">
                    <a16:creationId xmlns:a16="http://schemas.microsoft.com/office/drawing/2014/main" id="{587FC374-CE65-3B16-A2BB-05C328008DAF}"/>
                  </a:ext>
                </a:extLst>
              </p:cNvPr>
              <p:cNvSpPr txBox="1"/>
              <p:nvPr/>
            </p:nvSpPr>
            <p:spPr>
              <a:xfrm>
                <a:off x="6069635" y="6020799"/>
                <a:ext cx="649280" cy="301686"/>
              </a:xfrm>
              <a:prstGeom prst="rect">
                <a:avLst/>
              </a:prstGeom>
              <a:solidFill>
                <a:srgbClr val="FEFCFC"/>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en-US" altLang="ja-JP" sz="900" b="0" i="1" smtClean="0">
                          <a:latin typeface="Cambria Math" panose="02040503050406030204" pitchFamily="18" charset="0"/>
                          <a:ea typeface="Cambria Math" panose="02040503050406030204" pitchFamily="18" charset="0"/>
                        </a:rPr>
                        <m:t>𝜔</m:t>
                      </m:r>
                      <m:r>
                        <a:rPr kumimoji="1" lang="en-US" altLang="ja-JP" sz="900" b="0" i="1" smtClean="0">
                          <a:latin typeface="Cambria Math" panose="02040503050406030204" pitchFamily="18" charset="0"/>
                        </a:rPr>
                        <m:t>=</m:t>
                      </m:r>
                      <m:f>
                        <m:fPr>
                          <m:ctrlPr>
                            <a:rPr kumimoji="1" lang="en-US" altLang="ja-JP" sz="900" b="0" i="1" smtClean="0">
                              <a:latin typeface="Cambria Math" panose="02040503050406030204" pitchFamily="18" charset="0"/>
                            </a:rPr>
                          </m:ctrlPr>
                        </m:fPr>
                        <m:num>
                          <m:sSup>
                            <m:sSupPr>
                              <m:ctrlPr>
                                <a:rPr kumimoji="1" lang="en-US" altLang="ja-JP" sz="900" b="0" i="1" smtClean="0">
                                  <a:latin typeface="Cambria Math" panose="02040503050406030204" pitchFamily="18" charset="0"/>
                                </a:rPr>
                              </m:ctrlPr>
                            </m:sSupPr>
                            <m:e>
                              <m:r>
                                <a:rPr kumimoji="1" lang="en-US" altLang="ja-JP" sz="900" b="0" i="1" smtClean="0">
                                  <a:latin typeface="Cambria Math" panose="02040503050406030204" pitchFamily="18" charset="0"/>
                                </a:rPr>
                                <m:t>𝑋</m:t>
                              </m:r>
                            </m:e>
                            <m:sup>
                              <m:r>
                                <a:rPr kumimoji="1" lang="en-US" altLang="ja-JP" sz="900" b="0" i="1" smtClean="0">
                                  <a:latin typeface="Cambria Math" panose="02040503050406030204" pitchFamily="18" charset="0"/>
                                </a:rPr>
                                <m:t>𝑇</m:t>
                              </m:r>
                            </m:sup>
                          </m:sSup>
                          <m:r>
                            <a:rPr kumimoji="1" lang="en-US" altLang="ja-JP" sz="900" b="0" i="1" smtClean="0">
                              <a:latin typeface="Cambria Math" panose="02040503050406030204" pitchFamily="18" charset="0"/>
                            </a:rPr>
                            <m:t>𝑦</m:t>
                          </m:r>
                        </m:num>
                        <m:den>
                          <m:sSub>
                            <m:sSubPr>
                              <m:ctrlPr>
                                <a:rPr kumimoji="1" lang="en-US" altLang="ja-JP" sz="900" b="0" i="1" smtClean="0">
                                  <a:latin typeface="Cambria Math" panose="02040503050406030204" pitchFamily="18" charset="0"/>
                                </a:rPr>
                              </m:ctrlPr>
                            </m:sSubPr>
                            <m:e>
                              <m:d>
                                <m:dPr>
                                  <m:begChr m:val="‖"/>
                                  <m:endChr m:val="‖"/>
                                  <m:ctrlPr>
                                    <a:rPr kumimoji="1" lang="en-US" altLang="ja-JP" sz="900" b="0" i="1" smtClean="0">
                                      <a:latin typeface="Cambria Math" panose="02040503050406030204" pitchFamily="18" charset="0"/>
                                    </a:rPr>
                                  </m:ctrlPr>
                                </m:dPr>
                                <m:e>
                                  <m:sSup>
                                    <m:sSupPr>
                                      <m:ctrlPr>
                                        <a:rPr kumimoji="1" lang="en-US" altLang="ja-JP" sz="900" b="0" i="1" smtClean="0">
                                          <a:latin typeface="Cambria Math" panose="02040503050406030204" pitchFamily="18" charset="0"/>
                                        </a:rPr>
                                      </m:ctrlPr>
                                    </m:sSupPr>
                                    <m:e>
                                      <m:r>
                                        <a:rPr kumimoji="1" lang="en-US" altLang="ja-JP" sz="900" b="0" i="1" smtClean="0">
                                          <a:latin typeface="Cambria Math" panose="02040503050406030204" pitchFamily="18" charset="0"/>
                                        </a:rPr>
                                        <m:t>𝑋</m:t>
                                      </m:r>
                                    </m:e>
                                    <m:sup>
                                      <m:r>
                                        <a:rPr kumimoji="1" lang="en-US" altLang="ja-JP" sz="900" b="0" i="1" smtClean="0">
                                          <a:latin typeface="Cambria Math" panose="02040503050406030204" pitchFamily="18" charset="0"/>
                                        </a:rPr>
                                        <m:t>𝑇</m:t>
                                      </m:r>
                                    </m:sup>
                                  </m:sSup>
                                  <m:r>
                                    <a:rPr kumimoji="1" lang="en-US" altLang="ja-JP" sz="900" b="0" i="1" smtClean="0">
                                      <a:latin typeface="Cambria Math" panose="02040503050406030204" pitchFamily="18" charset="0"/>
                                    </a:rPr>
                                    <m:t>𝑦</m:t>
                                  </m:r>
                                </m:e>
                              </m:d>
                            </m:e>
                            <m:sub>
                              <m:r>
                                <a:rPr kumimoji="1" lang="en-US" altLang="ja-JP" sz="900" b="0" i="1" smtClean="0">
                                  <a:latin typeface="Cambria Math" panose="02040503050406030204" pitchFamily="18" charset="0"/>
                                </a:rPr>
                                <m:t>2</m:t>
                              </m:r>
                            </m:sub>
                          </m:sSub>
                        </m:den>
                      </m:f>
                    </m:oMath>
                  </m:oMathPara>
                </a14:m>
                <a:endParaRPr kumimoji="1" lang="ja-JP" altLang="en-US" sz="900"/>
              </a:p>
            </p:txBody>
          </p:sp>
        </mc:Choice>
        <mc:Fallback>
          <p:sp>
            <p:nvSpPr>
              <p:cNvPr id="25" name="テキスト ボックス 24">
                <a:extLst>
                  <a:ext uri="{FF2B5EF4-FFF2-40B4-BE49-F238E27FC236}">
                    <a16:creationId xmlns:a16="http://schemas.microsoft.com/office/drawing/2014/main" id="{587FC374-CE65-3B16-A2BB-05C328008DAF}"/>
                  </a:ext>
                </a:extLst>
              </p:cNvPr>
              <p:cNvSpPr txBox="1">
                <a:spLocks noRot="1" noChangeAspect="1" noMove="1" noResize="1" noEditPoints="1" noAdjustHandles="1" noChangeArrowheads="1" noChangeShapeType="1" noTextEdit="1"/>
              </p:cNvSpPr>
              <p:nvPr/>
            </p:nvSpPr>
            <p:spPr>
              <a:xfrm>
                <a:off x="6069635" y="6020799"/>
                <a:ext cx="649280" cy="301686"/>
              </a:xfrm>
              <a:prstGeom prst="rect">
                <a:avLst/>
              </a:prstGeom>
              <a:blipFill>
                <a:blip r:embed="rId9"/>
                <a:stretch>
                  <a:fillRect l="-1961" r="-1961" b="-16667"/>
                </a:stretch>
              </a:blipFill>
            </p:spPr>
            <p:txBody>
              <a:bodyPr/>
              <a:lstStyle/>
              <a:p>
                <a:r>
                  <a:rPr lang="ja-JP" altLang="en-US">
                    <a:noFill/>
                  </a:rPr>
                  <a:t> </a:t>
                </a:r>
              </a:p>
            </p:txBody>
          </p:sp>
        </mc:Fallback>
      </mc:AlternateContent>
      <p:sp>
        <p:nvSpPr>
          <p:cNvPr id="26" name="テキスト ボックス 25">
            <a:extLst>
              <a:ext uri="{FF2B5EF4-FFF2-40B4-BE49-F238E27FC236}">
                <a16:creationId xmlns:a16="http://schemas.microsoft.com/office/drawing/2014/main" id="{FDB24B68-D72B-B376-F8A1-2090B911907E}"/>
              </a:ext>
            </a:extLst>
          </p:cNvPr>
          <p:cNvSpPr txBox="1"/>
          <p:nvPr/>
        </p:nvSpPr>
        <p:spPr>
          <a:xfrm>
            <a:off x="5871601" y="6464415"/>
            <a:ext cx="5724644" cy="369332"/>
          </a:xfrm>
          <a:prstGeom prst="rect">
            <a:avLst/>
          </a:prstGeom>
          <a:noFill/>
        </p:spPr>
        <p:txBody>
          <a:bodyPr wrap="square" rtlCol="0">
            <a:spAutoFit/>
          </a:bodyPr>
          <a:lstStyle/>
          <a:p>
            <a:r>
              <a:rPr lang="ja-JP" altLang="en-US" b="1">
                <a:latin typeface="Meiryo" panose="020B0604030504040204" pitchFamily="34" charset="-128"/>
                <a:ea typeface="Meiryo" panose="020B0604030504040204" pitchFamily="34" charset="-128"/>
              </a:rPr>
              <a:t>重みはほぼ同じになり、重要な特徴量を見逃さない。</a:t>
            </a:r>
            <a:endParaRPr kumimoji="1" lang="ja-JP" altLang="en-US" b="1">
              <a:latin typeface="Meiryo" panose="020B0604030504040204" pitchFamily="34" charset="-128"/>
              <a:ea typeface="Meiryo" panose="020B0604030504040204" pitchFamily="34" charset="-128"/>
            </a:endParaRPr>
          </a:p>
        </p:txBody>
      </p:sp>
      <p:pic>
        <p:nvPicPr>
          <p:cNvPr id="27" name="図 26">
            <a:extLst>
              <a:ext uri="{FF2B5EF4-FFF2-40B4-BE49-F238E27FC236}">
                <a16:creationId xmlns:a16="http://schemas.microsoft.com/office/drawing/2014/main" id="{C2450248-F761-6243-7299-836BD8CA800C}"/>
              </a:ext>
            </a:extLst>
          </p:cNvPr>
          <p:cNvPicPr>
            <a:picLocks noChangeAspect="1"/>
          </p:cNvPicPr>
          <p:nvPr/>
        </p:nvPicPr>
        <p:blipFill>
          <a:blip r:embed="rId10"/>
          <a:srcRect t="-103" r="4730" b="17255"/>
          <a:stretch>
            <a:fillRect/>
          </a:stretch>
        </p:blipFill>
        <p:spPr>
          <a:xfrm>
            <a:off x="5977860" y="4681445"/>
            <a:ext cx="1697444" cy="338338"/>
          </a:xfrm>
          <a:prstGeom prst="rect">
            <a:avLst/>
          </a:prstGeom>
        </p:spPr>
      </p:pic>
      <mc:AlternateContent xmlns:mc="http://schemas.openxmlformats.org/markup-compatibility/2006">
        <mc:Choice xmlns:a14="http://schemas.microsoft.com/office/drawing/2010/main" Requires="a14">
          <p:sp>
            <p:nvSpPr>
              <p:cNvPr id="23" name="テキスト ボックス 22">
                <a:extLst>
                  <a:ext uri="{FF2B5EF4-FFF2-40B4-BE49-F238E27FC236}">
                    <a16:creationId xmlns:a16="http://schemas.microsoft.com/office/drawing/2014/main" id="{795E1B9B-4C68-81DE-1AA5-1DAD0B7D4F88}"/>
                  </a:ext>
                </a:extLst>
              </p:cNvPr>
              <p:cNvSpPr txBox="1"/>
              <p:nvPr/>
            </p:nvSpPr>
            <p:spPr>
              <a:xfrm>
                <a:off x="5871601" y="4723240"/>
                <a:ext cx="314004" cy="215444"/>
              </a:xfrm>
              <a:prstGeom prst="rect">
                <a:avLst/>
              </a:prstGeom>
              <a:solidFill>
                <a:srgbClr val="FEFCFC"/>
              </a:solid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kumimoji="1" lang="en-US" altLang="ja-JP" sz="800" i="1" smtClean="0">
                              <a:latin typeface="Cambria Math" panose="02040503050406030204" pitchFamily="18" charset="0"/>
                            </a:rPr>
                          </m:ctrlPr>
                        </m:sSupPr>
                        <m:e>
                          <m:r>
                            <a:rPr kumimoji="1" lang="en-US" altLang="ja-JP" sz="800" b="0" i="1" smtClean="0">
                              <a:latin typeface="Cambria Math" panose="02040503050406030204" pitchFamily="18" charset="0"/>
                            </a:rPr>
                            <m:t>𝑋</m:t>
                          </m:r>
                        </m:e>
                        <m:sup>
                          <m:r>
                            <a:rPr kumimoji="1" lang="en-US" altLang="ja-JP" sz="800" b="0" i="1" smtClean="0">
                              <a:latin typeface="Cambria Math" panose="02040503050406030204" pitchFamily="18" charset="0"/>
                            </a:rPr>
                            <m:t>𝑇</m:t>
                          </m:r>
                        </m:sup>
                      </m:sSup>
                      <m:r>
                        <a:rPr kumimoji="1" lang="en-US" altLang="ja-JP" sz="800" b="0" i="1" smtClean="0">
                          <a:latin typeface="Cambria Math" panose="02040503050406030204" pitchFamily="18" charset="0"/>
                        </a:rPr>
                        <m:t>𝑦</m:t>
                      </m:r>
                    </m:oMath>
                  </m:oMathPara>
                </a14:m>
                <a:endParaRPr kumimoji="1" lang="ja-JP" altLang="en-US" sz="800"/>
              </a:p>
            </p:txBody>
          </p:sp>
        </mc:Choice>
        <mc:Fallback>
          <p:sp>
            <p:nvSpPr>
              <p:cNvPr id="23" name="テキスト ボックス 22">
                <a:extLst>
                  <a:ext uri="{FF2B5EF4-FFF2-40B4-BE49-F238E27FC236}">
                    <a16:creationId xmlns:a16="http://schemas.microsoft.com/office/drawing/2014/main" id="{795E1B9B-4C68-81DE-1AA5-1DAD0B7D4F88}"/>
                  </a:ext>
                </a:extLst>
              </p:cNvPr>
              <p:cNvSpPr txBox="1">
                <a:spLocks noRot="1" noChangeAspect="1" noMove="1" noResize="1" noEditPoints="1" noAdjustHandles="1" noChangeArrowheads="1" noChangeShapeType="1" noTextEdit="1"/>
              </p:cNvSpPr>
              <p:nvPr/>
            </p:nvSpPr>
            <p:spPr>
              <a:xfrm>
                <a:off x="5871601" y="4723240"/>
                <a:ext cx="314004" cy="215444"/>
              </a:xfrm>
              <a:prstGeom prst="rect">
                <a:avLst/>
              </a:prstGeom>
              <a:blipFill>
                <a:blip r:embed="rId11"/>
                <a:stretch>
                  <a:fillRect/>
                </a:stretch>
              </a:blipFill>
            </p:spPr>
            <p:txBody>
              <a:bodyPr/>
              <a:lstStyle/>
              <a:p>
                <a:r>
                  <a:rPr lang="ja-JP" altLang="en-US">
                    <a:noFill/>
                  </a:rPr>
                  <a:t> </a:t>
                </a:r>
              </a:p>
            </p:txBody>
          </p:sp>
        </mc:Fallback>
      </mc:AlternateContent>
      <p:sp>
        <p:nvSpPr>
          <p:cNvPr id="28" name="テキスト ボックス 27">
            <a:extLst>
              <a:ext uri="{FF2B5EF4-FFF2-40B4-BE49-F238E27FC236}">
                <a16:creationId xmlns:a16="http://schemas.microsoft.com/office/drawing/2014/main" id="{34AF9FF2-4C4C-13DA-4D5B-ABC553371199}"/>
              </a:ext>
            </a:extLst>
          </p:cNvPr>
          <p:cNvSpPr txBox="1"/>
          <p:nvPr/>
        </p:nvSpPr>
        <p:spPr>
          <a:xfrm>
            <a:off x="5888198" y="5079744"/>
            <a:ext cx="314004" cy="215444"/>
          </a:xfrm>
          <a:prstGeom prst="rect">
            <a:avLst/>
          </a:prstGeom>
          <a:solidFill>
            <a:srgbClr val="FEFCFC"/>
          </a:solidFill>
        </p:spPr>
        <p:txBody>
          <a:bodyPr wrap="square" rtlCol="0">
            <a:spAutoFit/>
          </a:bodyPr>
          <a:lstStyle/>
          <a:p>
            <a:endParaRPr kumimoji="1" lang="ja-JP" altLang="en-US" sz="800"/>
          </a:p>
        </p:txBody>
      </p:sp>
    </p:spTree>
    <p:extLst>
      <p:ext uri="{BB962C8B-B14F-4D97-AF65-F5344CB8AC3E}">
        <p14:creationId xmlns:p14="http://schemas.microsoft.com/office/powerpoint/2010/main" val="1632648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5F39A-2B3D-1B5A-C780-A748F9CC3F2C}"/>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6744296-AAEC-D69D-09E5-7FA5C38221B5}"/>
              </a:ext>
            </a:extLst>
          </p:cNvPr>
          <p:cNvSpPr txBox="1"/>
          <p:nvPr/>
        </p:nvSpPr>
        <p:spPr>
          <a:xfrm>
            <a:off x="146304" y="170688"/>
            <a:ext cx="9424416" cy="646331"/>
          </a:xfrm>
          <a:prstGeom prst="rect">
            <a:avLst/>
          </a:prstGeom>
          <a:noFill/>
        </p:spPr>
        <p:txBody>
          <a:bodyPr wrap="square" rtlCol="0">
            <a:spAutoFit/>
          </a:bodyPr>
          <a:lstStyle/>
          <a:p>
            <a:r>
              <a:rPr lang="en-US" altLang="ja-JP" sz="3600" b="1" dirty="0">
                <a:latin typeface="Meiryo" panose="020B0604030504040204" pitchFamily="34" charset="-128"/>
                <a:ea typeface="Meiryo" panose="020B0604030504040204" pitchFamily="34" charset="-128"/>
              </a:rPr>
              <a:t>Lasso</a:t>
            </a:r>
            <a:r>
              <a:rPr lang="ja-JP" altLang="en-US" sz="3600" b="1">
                <a:latin typeface="Meiryo" panose="020B0604030504040204" pitchFamily="34" charset="-128"/>
                <a:ea typeface="Meiryo" panose="020B0604030504040204" pitchFamily="34" charset="-128"/>
              </a:rPr>
              <a:t>回帰と</a:t>
            </a:r>
            <a:r>
              <a:rPr lang="en-US" altLang="ja-JP" sz="3600" b="1" dirty="0">
                <a:latin typeface="Meiryo" panose="020B0604030504040204" pitchFamily="34" charset="-128"/>
                <a:ea typeface="Meiryo" panose="020B0604030504040204" pitchFamily="34" charset="-128"/>
              </a:rPr>
              <a:t>PLS</a:t>
            </a:r>
            <a:r>
              <a:rPr lang="ja-JP" altLang="en-US" sz="3600" b="1">
                <a:latin typeface="Meiryo" panose="020B0604030504040204" pitchFamily="34" charset="-128"/>
                <a:ea typeface="Meiryo" panose="020B0604030504040204" pitchFamily="34" charset="-128"/>
              </a:rPr>
              <a:t>回帰の使い分け</a:t>
            </a:r>
            <a:endParaRPr lang="en-US" altLang="ja-JP" sz="3600" b="1" dirty="0">
              <a:latin typeface="Meiryo" panose="020B0604030504040204" pitchFamily="34" charset="-128"/>
              <a:ea typeface="Meiryo" panose="020B0604030504040204" pitchFamily="34" charset="-128"/>
            </a:endParaRPr>
          </a:p>
        </p:txBody>
      </p:sp>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BFB7AC81-7AC7-190E-EC79-9FA071426CF8}"/>
                  </a:ext>
                </a:extLst>
              </p:cNvPr>
              <p:cNvSpPr txBox="1"/>
              <p:nvPr/>
            </p:nvSpPr>
            <p:spPr>
              <a:xfrm>
                <a:off x="243841" y="817019"/>
                <a:ext cx="11801856" cy="1477328"/>
              </a:xfrm>
              <a:prstGeom prst="rect">
                <a:avLst/>
              </a:prstGeom>
              <a:noFill/>
            </p:spPr>
            <p:txBody>
              <a:bodyPr wrap="square" rtlCol="0">
                <a:spAutoFit/>
              </a:bodyPr>
              <a:lstStyle/>
              <a:p>
                <a:r>
                  <a:rPr kumimoji="1" lang="en-US" altLang="ja-JP" b="1" dirty="0">
                    <a:latin typeface="Meiryo" panose="020B0604030504040204" pitchFamily="34" charset="-128"/>
                    <a:ea typeface="Meiryo" panose="020B0604030504040204" pitchFamily="34" charset="-128"/>
                  </a:rPr>
                  <a:t>Lasso</a:t>
                </a:r>
                <a:r>
                  <a:rPr kumimoji="1" lang="ja-JP" altLang="en-US" b="1">
                    <a:latin typeface="Meiryo" panose="020B0604030504040204" pitchFamily="34" charset="-128"/>
                    <a:ea typeface="Meiryo" panose="020B0604030504040204" pitchFamily="34" charset="-128"/>
                  </a:rPr>
                  <a:t>と</a:t>
                </a:r>
                <a:r>
                  <a:rPr kumimoji="1" lang="en-US" altLang="ja-JP" b="1" dirty="0">
                    <a:latin typeface="Meiryo" panose="020B0604030504040204" pitchFamily="34" charset="-128"/>
                    <a:ea typeface="Meiryo" panose="020B0604030504040204" pitchFamily="34" charset="-128"/>
                  </a:rPr>
                  <a:t>PLS</a:t>
                </a:r>
                <a:r>
                  <a:rPr lang="ja-JP" altLang="en-US" b="1">
                    <a:latin typeface="Meiryo" panose="020B0604030504040204" pitchFamily="34" charset="-128"/>
                    <a:ea typeface="Meiryo" panose="020B0604030504040204" pitchFamily="34" charset="-128"/>
                  </a:rPr>
                  <a:t>はどちらも</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lang="ja-JP" altLang="en-US" b="1">
                    <a:latin typeface="Meiryo" panose="020B0604030504040204" pitchFamily="34" charset="-128"/>
                    <a:ea typeface="Meiryo" panose="020B0604030504040204" pitchFamily="34" charset="-128"/>
                  </a:rPr>
                  <a:t>説明変数の数</a:t>
                </a:r>
                <a14:m>
                  <m:oMath xmlns:m="http://schemas.openxmlformats.org/officeDocument/2006/math">
                    <m:r>
                      <a:rPr lang="en-US" altLang="ja-JP" b="1" i="1" smtClean="0">
                        <a:latin typeface="Cambria Math" panose="02040503050406030204" pitchFamily="18" charset="0"/>
                        <a:ea typeface="Cambria Math" panose="02040503050406030204" pitchFamily="18" charset="0"/>
                      </a:rPr>
                      <m:t>&gt;</m:t>
                    </m:r>
                  </m:oMath>
                </a14:m>
                <a:r>
                  <a:rPr lang="ja-JP" altLang="en-US" b="1">
                    <a:latin typeface="Meiryo" panose="020B0604030504040204" pitchFamily="34" charset="-128"/>
                    <a:ea typeface="Meiryo" panose="020B0604030504040204" pitchFamily="34" charset="-128"/>
                  </a:rPr>
                  <a:t>データ数</a:t>
                </a:r>
                <a:endParaRPr lang="en-US" altLang="ja-JP" b="1" dirty="0">
                  <a:latin typeface="Meiryo" panose="020B0604030504040204" pitchFamily="34" charset="-128"/>
                  <a:ea typeface="Meiryo" panose="020B0604030504040204" pitchFamily="34" charset="-128"/>
                </a:endParaRPr>
              </a:p>
              <a:p>
                <a:pPr marL="285750" indent="-285750">
                  <a:buFont typeface="Wingdings" pitchFamily="2" charset="2"/>
                  <a:buChar char="l"/>
                </a:pPr>
                <a:r>
                  <a:rPr kumimoji="1" lang="ja-JP" altLang="en-US" b="1">
                    <a:latin typeface="Meiryo" panose="020B0604030504040204" pitchFamily="34" charset="-128"/>
                    <a:ea typeface="Meiryo" panose="020B0604030504040204" pitchFamily="34" charset="-128"/>
                  </a:rPr>
                  <a:t>多重共線性（説明変数どうしに高い相関がある事）</a:t>
                </a:r>
                <a:endParaRPr kumimoji="1" lang="en-US" altLang="ja-JP" b="1" dirty="0">
                  <a:latin typeface="Meiryo" panose="020B0604030504040204" pitchFamily="34" charset="-128"/>
                  <a:ea typeface="Meiryo" panose="020B0604030504040204" pitchFamily="34" charset="-128"/>
                </a:endParaRPr>
              </a:p>
              <a:p>
                <a:r>
                  <a:rPr lang="ja-JP" altLang="en-US" b="1">
                    <a:latin typeface="Meiryo" panose="020B0604030504040204" pitchFamily="34" charset="-128"/>
                    <a:ea typeface="Meiryo" panose="020B0604030504040204" pitchFamily="34" charset="-128"/>
                  </a:rPr>
                  <a:t>であるデータに対して強く、使う分にはほぼ変わらないようにみえる。しかし、多重共線性のあるデータに対しては目的に合わせた使い分けが必要である。</a:t>
                </a:r>
                <a:endParaRPr lang="en-US" altLang="ja-JP" b="1" dirty="0">
                  <a:latin typeface="Meiryo" panose="020B0604030504040204" pitchFamily="34" charset="-128"/>
                  <a:ea typeface="Meiryo" panose="020B0604030504040204" pitchFamily="34" charset="-128"/>
                </a:endParaRPr>
              </a:p>
            </p:txBody>
          </p:sp>
        </mc:Choice>
        <mc:Fallback>
          <p:sp>
            <p:nvSpPr>
              <p:cNvPr id="3" name="テキスト ボックス 2">
                <a:extLst>
                  <a:ext uri="{FF2B5EF4-FFF2-40B4-BE49-F238E27FC236}">
                    <a16:creationId xmlns:a16="http://schemas.microsoft.com/office/drawing/2014/main" id="{BFB7AC81-7AC7-190E-EC79-9FA071426CF8}"/>
                  </a:ext>
                </a:extLst>
              </p:cNvPr>
              <p:cNvSpPr txBox="1">
                <a:spLocks noRot="1" noChangeAspect="1" noMove="1" noResize="1" noEditPoints="1" noAdjustHandles="1" noChangeArrowheads="1" noChangeShapeType="1" noTextEdit="1"/>
              </p:cNvSpPr>
              <p:nvPr/>
            </p:nvSpPr>
            <p:spPr>
              <a:xfrm>
                <a:off x="243841" y="817019"/>
                <a:ext cx="11801856" cy="1477328"/>
              </a:xfrm>
              <a:prstGeom prst="rect">
                <a:avLst/>
              </a:prstGeom>
              <a:blipFill>
                <a:blip r:embed="rId2"/>
                <a:stretch>
                  <a:fillRect l="-430" t="-1709" b="-5983"/>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8013FACF-F709-4F10-B97B-055BA9E806C0}"/>
              </a:ext>
            </a:extLst>
          </p:cNvPr>
          <p:cNvSpPr txBox="1"/>
          <p:nvPr/>
        </p:nvSpPr>
        <p:spPr>
          <a:xfrm>
            <a:off x="243842" y="2629140"/>
            <a:ext cx="2133600" cy="369332"/>
          </a:xfrm>
          <a:prstGeom prst="rect">
            <a:avLst/>
          </a:prstGeom>
          <a:noFill/>
        </p:spPr>
        <p:txBody>
          <a:bodyPr wrap="square" rtlCol="0">
            <a:spAutoFit/>
          </a:bodyPr>
          <a:lstStyle/>
          <a:p>
            <a:r>
              <a:rPr kumimoji="1" lang="ja-JP" altLang="en-US" b="1">
                <a:latin typeface="Meiryo" panose="020B0604030504040204" pitchFamily="34" charset="-128"/>
                <a:ea typeface="Meiryo" panose="020B0604030504040204" pitchFamily="34" charset="-128"/>
              </a:rPr>
              <a:t>判断軸</a:t>
            </a:r>
            <a:r>
              <a:rPr kumimoji="1" lang="en-US" altLang="ja-JP" b="1" dirty="0">
                <a:latin typeface="Meiryo" panose="020B0604030504040204" pitchFamily="34" charset="-128"/>
                <a:ea typeface="Meiryo" panose="020B0604030504040204" pitchFamily="34" charset="-128"/>
              </a:rPr>
              <a:t>①</a:t>
            </a:r>
            <a:r>
              <a:rPr kumimoji="1" lang="ja-JP" altLang="en-US" b="1">
                <a:latin typeface="Meiryo" panose="020B0604030504040204" pitchFamily="34" charset="-128"/>
                <a:ea typeface="Meiryo" panose="020B0604030504040204" pitchFamily="34" charset="-128"/>
              </a:rPr>
              <a:t>：目的</a:t>
            </a:r>
          </a:p>
        </p:txBody>
      </p:sp>
      <p:sp>
        <p:nvSpPr>
          <p:cNvPr id="10" name="テキスト ボックス 9">
            <a:extLst>
              <a:ext uri="{FF2B5EF4-FFF2-40B4-BE49-F238E27FC236}">
                <a16:creationId xmlns:a16="http://schemas.microsoft.com/office/drawing/2014/main" id="{C4D3FD69-F78A-E549-E239-52BCC4676364}"/>
              </a:ext>
            </a:extLst>
          </p:cNvPr>
          <p:cNvSpPr txBox="1"/>
          <p:nvPr/>
        </p:nvSpPr>
        <p:spPr>
          <a:xfrm>
            <a:off x="243841" y="4563654"/>
            <a:ext cx="2582486" cy="369332"/>
          </a:xfrm>
          <a:prstGeom prst="rect">
            <a:avLst/>
          </a:prstGeom>
          <a:noFill/>
        </p:spPr>
        <p:txBody>
          <a:bodyPr wrap="square" rtlCol="0">
            <a:spAutoFit/>
          </a:bodyPr>
          <a:lstStyle/>
          <a:p>
            <a:r>
              <a:rPr kumimoji="1" lang="ja-JP" altLang="en-US" b="1">
                <a:latin typeface="Meiryo" panose="020B0604030504040204" pitchFamily="34" charset="-128"/>
                <a:ea typeface="Meiryo" panose="020B0604030504040204" pitchFamily="34" charset="-128"/>
              </a:rPr>
              <a:t>判断軸</a:t>
            </a:r>
            <a:r>
              <a:rPr lang="en-US" altLang="ja-JP" b="1" dirty="0">
                <a:latin typeface="Meiryo" panose="020B0604030504040204" pitchFamily="34" charset="-128"/>
                <a:ea typeface="Meiryo" panose="020B0604030504040204" pitchFamily="34" charset="-128"/>
              </a:rPr>
              <a:t>②</a:t>
            </a:r>
            <a:r>
              <a:rPr kumimoji="1" lang="ja-JP" altLang="en-US" b="1">
                <a:latin typeface="Meiryo" panose="020B0604030504040204" pitchFamily="34" charset="-128"/>
                <a:ea typeface="Meiryo" panose="020B0604030504040204" pitchFamily="34" charset="-128"/>
              </a:rPr>
              <a:t>：データ特性</a:t>
            </a:r>
          </a:p>
        </p:txBody>
      </p:sp>
      <p:sp>
        <p:nvSpPr>
          <p:cNvPr id="17" name="テキスト ボックス 16">
            <a:extLst>
              <a:ext uri="{FF2B5EF4-FFF2-40B4-BE49-F238E27FC236}">
                <a16:creationId xmlns:a16="http://schemas.microsoft.com/office/drawing/2014/main" id="{74174580-C0FB-6DFF-D59F-4802A10EDA25}"/>
              </a:ext>
            </a:extLst>
          </p:cNvPr>
          <p:cNvSpPr txBox="1"/>
          <p:nvPr/>
        </p:nvSpPr>
        <p:spPr>
          <a:xfrm>
            <a:off x="243841" y="3086326"/>
            <a:ext cx="11801856" cy="1477328"/>
          </a:xfrm>
          <a:prstGeom prst="rect">
            <a:avLst/>
          </a:prstGeom>
          <a:noFill/>
        </p:spPr>
        <p:txBody>
          <a:bodyPr wrap="square" rtlCol="0">
            <a:spAutoFit/>
          </a:bodyPr>
          <a:lstStyle/>
          <a:p>
            <a:pPr marL="285750" indent="-285750">
              <a:buFont typeface="Wingdings" pitchFamily="2" charset="2"/>
              <a:buChar char="l"/>
            </a:pPr>
            <a:r>
              <a:rPr kumimoji="1" lang="ja-JP" altLang="en-US" b="1">
                <a:latin typeface="Meiryo" panose="020B0604030504040204" pitchFamily="34" charset="-128"/>
                <a:ea typeface="Meiryo" panose="020B0604030504040204" pitchFamily="34" charset="-128"/>
              </a:rPr>
              <a:t>重要な特徴量を絞りたい場合（例：</a:t>
            </a:r>
            <a:r>
              <a:rPr lang="en-US" altLang="ja-JP" b="1" dirty="0">
                <a:latin typeface="Meiryo" panose="020B0604030504040204" pitchFamily="34" charset="-128"/>
                <a:ea typeface="Meiryo" panose="020B0604030504040204" pitchFamily="34" charset="-128"/>
              </a:rPr>
              <a:t>100</a:t>
            </a:r>
            <a:r>
              <a:rPr lang="ja-JP" altLang="en-US" b="1">
                <a:latin typeface="Meiryo" panose="020B0604030504040204" pitchFamily="34" charset="-128"/>
                <a:ea typeface="Meiryo" panose="020B0604030504040204" pitchFamily="34" charset="-128"/>
              </a:rPr>
              <a:t>個のセンサーから監視すべき</a:t>
            </a:r>
            <a:r>
              <a:rPr lang="en-US" altLang="ja-JP" b="1" dirty="0">
                <a:latin typeface="Meiryo" panose="020B0604030504040204" pitchFamily="34" charset="-128"/>
                <a:ea typeface="Meiryo" panose="020B0604030504040204" pitchFamily="34" charset="-128"/>
              </a:rPr>
              <a:t>5</a:t>
            </a:r>
            <a:r>
              <a:rPr lang="ja-JP" altLang="en-US" b="1">
                <a:latin typeface="Meiryo" panose="020B0604030504040204" pitchFamily="34" charset="-128"/>
                <a:ea typeface="Meiryo" panose="020B0604030504040204" pitchFamily="34" charset="-128"/>
              </a:rPr>
              <a:t>個を特定する</a:t>
            </a:r>
            <a:r>
              <a:rPr kumimoji="1" lang="ja-JP" altLang="en-US" b="1">
                <a:latin typeface="Meiryo" panose="020B0604030504040204" pitchFamily="34" charset="-128"/>
                <a:ea typeface="Meiryo" panose="020B0604030504040204" pitchFamily="34" charset="-128"/>
              </a:rPr>
              <a:t>）</a:t>
            </a:r>
            <a:br>
              <a:rPr lang="en-US" altLang="ja-JP" b="1" dirty="0">
                <a:latin typeface="Meiryo" panose="020B0604030504040204" pitchFamily="34" charset="-128"/>
                <a:ea typeface="Meiryo" panose="020B0604030504040204" pitchFamily="34" charset="-128"/>
              </a:rPr>
            </a:br>
            <a:r>
              <a:rPr lang="ja-JP" altLang="en-US" b="1">
                <a:latin typeface="Meiryo" panose="020B0604030504040204" pitchFamily="34" charset="-128"/>
                <a:ea typeface="Meiryo" panose="020B0604030504040204" pitchFamily="34" charset="-128"/>
              </a:rPr>
              <a:t>→</a:t>
            </a:r>
            <a:r>
              <a:rPr lang="en-US" altLang="ja-JP" b="1" dirty="0">
                <a:latin typeface="Meiryo" panose="020B0604030504040204" pitchFamily="34" charset="-128"/>
                <a:ea typeface="Meiryo" panose="020B0604030504040204" pitchFamily="34" charset="-128"/>
              </a:rPr>
              <a:t>Lasso</a:t>
            </a:r>
          </a:p>
          <a:p>
            <a:pPr marL="285750" indent="-285750">
              <a:buFont typeface="Wingdings" pitchFamily="2" charset="2"/>
              <a:buChar char="l"/>
            </a:pPr>
            <a:r>
              <a:rPr kumimoji="1" lang="ja-JP" altLang="en-US" b="1">
                <a:latin typeface="Meiryo" panose="020B0604030504040204" pitchFamily="34" charset="-128"/>
                <a:ea typeface="Meiryo" panose="020B0604030504040204" pitchFamily="34" charset="-128"/>
              </a:rPr>
              <a:t>要因に関わる全変数を漏れなく解明したい場合（例：</a:t>
            </a:r>
            <a:r>
              <a:rPr lang="ja-JP" altLang="en-US" b="1">
                <a:latin typeface="Meiryo" panose="020B0604030504040204" pitchFamily="34" charset="-128"/>
                <a:ea typeface="Meiryo" panose="020B0604030504040204" pitchFamily="34" charset="-128"/>
              </a:rPr>
              <a:t>化学反応のデータから、物理的なメカニズム全体を解き明かしたいとき</a:t>
            </a:r>
            <a:r>
              <a:rPr kumimoji="1" lang="ja-JP" altLang="en-US" b="1">
                <a:latin typeface="Meiryo" panose="020B0604030504040204" pitchFamily="34" charset="-128"/>
                <a:ea typeface="Meiryo" panose="020B0604030504040204" pitchFamily="34" charset="-128"/>
              </a:rPr>
              <a:t>）</a:t>
            </a:r>
            <a:br>
              <a:rPr kumimoji="1" lang="en-US" altLang="ja-JP" b="1" dirty="0">
                <a:latin typeface="Meiryo" panose="020B0604030504040204" pitchFamily="34" charset="-128"/>
                <a:ea typeface="Meiryo" panose="020B0604030504040204" pitchFamily="34" charset="-128"/>
              </a:rPr>
            </a:br>
            <a:r>
              <a:rPr kumimoji="1" lang="ja-JP" altLang="en-US" b="1">
                <a:latin typeface="Meiryo" panose="020B0604030504040204" pitchFamily="34" charset="-128"/>
                <a:ea typeface="Meiryo" panose="020B0604030504040204" pitchFamily="34" charset="-128"/>
              </a:rPr>
              <a:t>→</a:t>
            </a:r>
            <a:r>
              <a:rPr kumimoji="1" lang="en-US" altLang="ja-JP" b="1" dirty="0">
                <a:latin typeface="Meiryo" panose="020B0604030504040204" pitchFamily="34" charset="-128"/>
                <a:ea typeface="Meiryo" panose="020B0604030504040204" pitchFamily="34" charset="-128"/>
              </a:rPr>
              <a:t>PLS</a:t>
            </a:r>
            <a:endParaRPr kumimoji="1" lang="ja-JP" altLang="en-US" b="1">
              <a:latin typeface="Meiryo" panose="020B0604030504040204" pitchFamily="34" charset="-128"/>
              <a:ea typeface="Meiryo" panose="020B0604030504040204" pitchFamily="34" charset="-128"/>
            </a:endParaRPr>
          </a:p>
        </p:txBody>
      </p:sp>
      <p:sp>
        <p:nvSpPr>
          <p:cNvPr id="19" name="テキスト ボックス 18">
            <a:extLst>
              <a:ext uri="{FF2B5EF4-FFF2-40B4-BE49-F238E27FC236}">
                <a16:creationId xmlns:a16="http://schemas.microsoft.com/office/drawing/2014/main" id="{176877B9-A948-92CE-96BE-FD1E58B0B045}"/>
              </a:ext>
            </a:extLst>
          </p:cNvPr>
          <p:cNvSpPr txBox="1"/>
          <p:nvPr/>
        </p:nvSpPr>
        <p:spPr>
          <a:xfrm>
            <a:off x="243841" y="4933158"/>
            <a:ext cx="9706503" cy="1200329"/>
          </a:xfrm>
          <a:prstGeom prst="rect">
            <a:avLst/>
          </a:prstGeom>
          <a:noFill/>
        </p:spPr>
        <p:txBody>
          <a:bodyPr wrap="none" rtlCol="0">
            <a:spAutoFit/>
          </a:bodyPr>
          <a:lstStyle/>
          <a:p>
            <a:pPr marL="285750" indent="-285750">
              <a:buFont typeface="Wingdings" pitchFamily="2" charset="2"/>
              <a:buChar char="l"/>
            </a:pPr>
            <a:r>
              <a:rPr lang="ja-JP" altLang="en-US" b="1">
                <a:latin typeface="Meiryo" panose="020B0604030504040204" pitchFamily="34" charset="-128"/>
                <a:ea typeface="Meiryo" panose="020B0604030504040204" pitchFamily="34" charset="-128"/>
              </a:rPr>
              <a:t>変数の数はそこそこ（数十</a:t>
            </a:r>
            <a:r>
              <a:rPr lang="en-US" altLang="ja-JP" b="1" dirty="0">
                <a:latin typeface="Meiryo" panose="020B0604030504040204" pitchFamily="34" charset="-128"/>
                <a:ea typeface="Meiryo" panose="020B0604030504040204" pitchFamily="34" charset="-128"/>
              </a:rPr>
              <a:t>〜</a:t>
            </a:r>
            <a:r>
              <a:rPr lang="ja-JP" altLang="en-US" b="1">
                <a:latin typeface="Meiryo" panose="020B0604030504040204" pitchFamily="34" charset="-128"/>
                <a:ea typeface="Meiryo" panose="020B0604030504040204" pitchFamily="34" charset="-128"/>
              </a:rPr>
              <a:t>数百個程度）で、相関の強い変数が数ペアあるくらいの場合</a:t>
            </a:r>
            <a:br>
              <a:rPr lang="en-US" altLang="ja-JP" b="1" dirty="0">
                <a:latin typeface="Meiryo" panose="020B0604030504040204" pitchFamily="34" charset="-128"/>
                <a:ea typeface="Meiryo" panose="020B0604030504040204" pitchFamily="34" charset="-128"/>
              </a:rPr>
            </a:br>
            <a:r>
              <a:rPr lang="ja-JP" altLang="en-US" b="1">
                <a:latin typeface="Meiryo" panose="020B0604030504040204" pitchFamily="34" charset="-128"/>
                <a:ea typeface="Meiryo" panose="020B0604030504040204" pitchFamily="34" charset="-128"/>
              </a:rPr>
              <a:t>→</a:t>
            </a:r>
            <a:r>
              <a:rPr lang="en-US" altLang="ja-JP" b="1" dirty="0">
                <a:latin typeface="Meiryo" panose="020B0604030504040204" pitchFamily="34" charset="-128"/>
                <a:ea typeface="Meiryo" panose="020B0604030504040204" pitchFamily="34" charset="-128"/>
              </a:rPr>
              <a:t>Lasso</a:t>
            </a:r>
          </a:p>
          <a:p>
            <a:pPr marL="285750" indent="-285750">
              <a:buFont typeface="Wingdings" pitchFamily="2" charset="2"/>
              <a:buChar char="l"/>
            </a:pPr>
            <a:r>
              <a:rPr lang="ja-JP" altLang="en-US" b="1">
                <a:latin typeface="Meiryo" panose="020B0604030504040204" pitchFamily="34" charset="-128"/>
                <a:ea typeface="Meiryo" panose="020B0604030504040204" pitchFamily="34" charset="-128"/>
              </a:rPr>
              <a:t>ほぼすべての変数が高い相関にある場合（例：分光スペクトルデータ）</a:t>
            </a:r>
            <a:br>
              <a:rPr lang="en-US" altLang="ja-JP" b="1" dirty="0">
                <a:latin typeface="Meiryo" panose="020B0604030504040204" pitchFamily="34" charset="-128"/>
                <a:ea typeface="Meiryo" panose="020B0604030504040204" pitchFamily="34" charset="-128"/>
              </a:rPr>
            </a:br>
            <a:r>
              <a:rPr lang="ja-JP" altLang="en-US" b="1">
                <a:latin typeface="Meiryo" panose="020B0604030504040204" pitchFamily="34" charset="-128"/>
                <a:ea typeface="Meiryo" panose="020B0604030504040204" pitchFamily="34" charset="-128"/>
              </a:rPr>
              <a:t>→</a:t>
            </a:r>
            <a:r>
              <a:rPr lang="en-US" altLang="ja-JP" b="1" dirty="0">
                <a:latin typeface="Meiryo" panose="020B0604030504040204" pitchFamily="34" charset="-128"/>
                <a:ea typeface="Meiryo" panose="020B0604030504040204" pitchFamily="34" charset="-128"/>
              </a:rPr>
              <a:t>PLS</a:t>
            </a:r>
          </a:p>
        </p:txBody>
      </p:sp>
    </p:spTree>
    <p:extLst>
      <p:ext uri="{BB962C8B-B14F-4D97-AF65-F5344CB8AC3E}">
        <p14:creationId xmlns:p14="http://schemas.microsoft.com/office/powerpoint/2010/main" val="2422622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344D4C-19B2-071E-D4F6-A1FB2E44787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6465C87-219E-F406-8B55-47C1F98201C1}"/>
              </a:ext>
            </a:extLst>
          </p:cNvPr>
          <p:cNvSpPr txBox="1"/>
          <p:nvPr/>
        </p:nvSpPr>
        <p:spPr>
          <a:xfrm>
            <a:off x="90195" y="110079"/>
            <a:ext cx="2015295" cy="646331"/>
          </a:xfrm>
          <a:prstGeom prst="rect">
            <a:avLst/>
          </a:prstGeom>
          <a:noFill/>
        </p:spPr>
        <p:txBody>
          <a:bodyPr wrap="none" rtlCol="0">
            <a:spAutoFit/>
          </a:bodyPr>
          <a:lstStyle/>
          <a:p>
            <a:r>
              <a:rPr kumimoji="1" lang="en-US" altLang="ja-JP" sz="3600" b="1" dirty="0">
                <a:latin typeface="Meiryo" panose="020B0604030504040204" pitchFamily="34" charset="-128"/>
                <a:ea typeface="Meiryo" panose="020B0604030504040204" pitchFamily="34" charset="-128"/>
              </a:rPr>
              <a:t>PLS</a:t>
            </a:r>
            <a:r>
              <a:rPr kumimoji="1" lang="ja-JP" altLang="en-US" sz="3600" b="1">
                <a:latin typeface="Meiryo" panose="020B0604030504040204" pitchFamily="34" charset="-128"/>
                <a:ea typeface="Meiryo" panose="020B0604030504040204" pitchFamily="34" charset="-128"/>
              </a:rPr>
              <a:t>回帰</a:t>
            </a:r>
          </a:p>
        </p:txBody>
      </p:sp>
      <p:sp>
        <p:nvSpPr>
          <p:cNvPr id="4" name="テキスト ボックス 3">
            <a:extLst>
              <a:ext uri="{FF2B5EF4-FFF2-40B4-BE49-F238E27FC236}">
                <a16:creationId xmlns:a16="http://schemas.microsoft.com/office/drawing/2014/main" id="{D98C858C-E9D8-80EE-1BCE-1862A27F0F4D}"/>
              </a:ext>
            </a:extLst>
          </p:cNvPr>
          <p:cNvSpPr txBox="1"/>
          <p:nvPr/>
        </p:nvSpPr>
        <p:spPr>
          <a:xfrm>
            <a:off x="90195" y="756410"/>
            <a:ext cx="6947213" cy="646331"/>
          </a:xfrm>
          <a:prstGeom prst="rect">
            <a:avLst/>
          </a:prstGeom>
          <a:noFill/>
        </p:spPr>
        <p:txBody>
          <a:bodyPr wrap="square" rtlCol="0">
            <a:spAutoFit/>
          </a:bodyPr>
          <a:lstStyle/>
          <a:p>
            <a:r>
              <a:rPr lang="ja-JP" altLang="en-US" b="1"/>
              <a:t>説明変数の中から目的変数の予測に最も直結する説明変数の組み合わせ</a:t>
            </a:r>
            <a:r>
              <a:rPr lang="en-US" altLang="ja-JP" b="1" dirty="0"/>
              <a:t>(</a:t>
            </a:r>
            <a:r>
              <a:rPr lang="en-US" altLang="ja-JP" b="1" dirty="0" err="1"/>
              <a:t>ω</a:t>
            </a:r>
            <a:r>
              <a:rPr lang="en-US" altLang="ja-JP" b="1" dirty="0"/>
              <a:t>)</a:t>
            </a:r>
            <a:r>
              <a:rPr lang="ja-JP" altLang="en-US" b="1"/>
              <a:t>新たな変数</a:t>
            </a:r>
            <a:r>
              <a:rPr lang="en-US" altLang="ja-JP" b="1" dirty="0"/>
              <a:t>t</a:t>
            </a:r>
            <a:r>
              <a:rPr lang="ja-JP" altLang="en-US" b="1"/>
              <a:t>（主成分）を作る手法</a:t>
            </a:r>
            <a:endParaRPr lang="en-US" altLang="ja-JP" b="1" dirty="0"/>
          </a:p>
        </p:txBody>
      </p:sp>
      <p:pic>
        <p:nvPicPr>
          <p:cNvPr id="2054" name="Picture 6">
            <a:extLst>
              <a:ext uri="{FF2B5EF4-FFF2-40B4-BE49-F238E27FC236}">
                <a16:creationId xmlns:a16="http://schemas.microsoft.com/office/drawing/2014/main" id="{5602A8E8-5D8D-187A-9236-5C0BBAB17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95" y="1759140"/>
            <a:ext cx="6798580" cy="300536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0" name="テキスト ボックス 19">
                <a:extLst>
                  <a:ext uri="{FF2B5EF4-FFF2-40B4-BE49-F238E27FC236}">
                    <a16:creationId xmlns:a16="http://schemas.microsoft.com/office/drawing/2014/main" id="{A29C1F24-900F-7186-CB81-15B45E6654FC}"/>
                  </a:ext>
                </a:extLst>
              </p:cNvPr>
              <p:cNvSpPr txBox="1"/>
              <p:nvPr/>
            </p:nvSpPr>
            <p:spPr>
              <a:xfrm>
                <a:off x="9210909" y="1033409"/>
                <a:ext cx="99257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𝒕</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𝑿</m:t>
                      </m:r>
                      <m:r>
                        <a:rPr kumimoji="1" lang="en-US" altLang="ja-JP" b="1" i="1" smtClean="0">
                          <a:latin typeface="Cambria Math" panose="02040503050406030204" pitchFamily="18" charset="0"/>
                          <a:ea typeface="Cambria Math" panose="02040503050406030204" pitchFamily="18" charset="0"/>
                        </a:rPr>
                        <m:t>𝝎</m:t>
                      </m:r>
                    </m:oMath>
                  </m:oMathPara>
                </a14:m>
                <a:endParaRPr kumimoji="1" lang="ja-JP" altLang="en-US" b="1"/>
              </a:p>
            </p:txBody>
          </p:sp>
        </mc:Choice>
        <mc:Fallback>
          <p:sp>
            <p:nvSpPr>
              <p:cNvPr id="20" name="テキスト ボックス 19">
                <a:extLst>
                  <a:ext uri="{FF2B5EF4-FFF2-40B4-BE49-F238E27FC236}">
                    <a16:creationId xmlns:a16="http://schemas.microsoft.com/office/drawing/2014/main" id="{A29C1F24-900F-7186-CB81-15B45E6654FC}"/>
                  </a:ext>
                </a:extLst>
              </p:cNvPr>
              <p:cNvSpPr txBox="1">
                <a:spLocks noRot="1" noChangeAspect="1" noMove="1" noResize="1" noEditPoints="1" noAdjustHandles="1" noChangeArrowheads="1" noChangeShapeType="1" noTextEdit="1"/>
              </p:cNvSpPr>
              <p:nvPr/>
            </p:nvSpPr>
            <p:spPr>
              <a:xfrm>
                <a:off x="9210909" y="1033409"/>
                <a:ext cx="992579" cy="369332"/>
              </a:xfrm>
              <a:prstGeom prst="rect">
                <a:avLst/>
              </a:prstGeom>
              <a:blipFill>
                <a:blip r:embed="rId3"/>
                <a:stretch>
                  <a:fillRect/>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6B80D251-434D-703A-A530-A00B6C9A5629}"/>
              </a:ext>
            </a:extLst>
          </p:cNvPr>
          <p:cNvSpPr txBox="1"/>
          <p:nvPr/>
        </p:nvSpPr>
        <p:spPr>
          <a:xfrm>
            <a:off x="7277026" y="525577"/>
            <a:ext cx="5086649" cy="369332"/>
          </a:xfrm>
          <a:prstGeom prst="rect">
            <a:avLst/>
          </a:prstGeom>
          <a:noFill/>
        </p:spPr>
        <p:txBody>
          <a:bodyPr wrap="none" rtlCol="0">
            <a:spAutoFit/>
          </a:bodyPr>
          <a:lstStyle/>
          <a:p>
            <a:r>
              <a:rPr kumimoji="1" lang="en-US" altLang="ja-JP" b="1" dirty="0"/>
              <a:t>PLS</a:t>
            </a:r>
            <a:r>
              <a:rPr kumimoji="1" lang="ja-JP" altLang="en-US" b="1"/>
              <a:t>回帰では主成分</a:t>
            </a:r>
            <a:r>
              <a:rPr kumimoji="1" lang="en-US" altLang="ja-JP" b="1" dirty="0"/>
              <a:t>t</a:t>
            </a:r>
            <a:r>
              <a:rPr lang="ja-JP" altLang="en-US" b="1"/>
              <a:t>は下記のように定義する。</a:t>
            </a:r>
            <a:endParaRPr kumimoji="1" lang="ja-JP" altLang="en-US" b="1"/>
          </a:p>
        </p:txBody>
      </p:sp>
      <mc:AlternateContent xmlns:mc="http://schemas.openxmlformats.org/markup-compatibility/2006">
        <mc:Choice xmlns:a14="http://schemas.microsoft.com/office/drawing/2010/main" Requires="a14">
          <p:sp>
            <p:nvSpPr>
              <p:cNvPr id="23" name="テキスト ボックス 22">
                <a:extLst>
                  <a:ext uri="{FF2B5EF4-FFF2-40B4-BE49-F238E27FC236}">
                    <a16:creationId xmlns:a16="http://schemas.microsoft.com/office/drawing/2014/main" id="{7D9EB627-9606-1AD1-3D42-9EA1B7B8BF0D}"/>
                  </a:ext>
                </a:extLst>
              </p:cNvPr>
              <p:cNvSpPr txBox="1"/>
              <p:nvPr/>
            </p:nvSpPr>
            <p:spPr>
              <a:xfrm>
                <a:off x="7351108" y="1425609"/>
                <a:ext cx="2536272" cy="923330"/>
              </a:xfrm>
              <a:prstGeom prst="rect">
                <a:avLst/>
              </a:prstGeom>
              <a:noFill/>
            </p:spPr>
            <p:txBody>
              <a:bodyPr wrap="none" rtlCol="0">
                <a:spAutoFit/>
              </a:bodyPr>
              <a:lstStyle/>
              <a:p>
                <a14:m>
                  <m:oMath xmlns:m="http://schemas.openxmlformats.org/officeDocument/2006/math">
                    <m:r>
                      <a:rPr kumimoji="1" lang="en-US" altLang="ja-JP" b="1" i="1" smtClean="0">
                        <a:latin typeface="Cambria Math" panose="02040503050406030204" pitchFamily="18" charset="0"/>
                      </a:rPr>
                      <m:t>𝒕</m:t>
                    </m:r>
                  </m:oMath>
                </a14:m>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主成分ベクトル</a:t>
                </a:r>
                <a:endParaRPr kumimoji="1" lang="en-US" altLang="ja-JP" b="1" dirty="0">
                  <a:latin typeface="Meiryo" panose="020B0604030504040204" pitchFamily="34" charset="-128"/>
                  <a:ea typeface="Meiryo" panose="020B0604030504040204" pitchFamily="34" charset="-128"/>
                </a:endParaRPr>
              </a:p>
              <a:p>
                <a14:m>
                  <m:oMath xmlns:m="http://schemas.openxmlformats.org/officeDocument/2006/math">
                    <m:r>
                      <a:rPr kumimoji="1" lang="en-US" altLang="ja-JP" b="1" i="1" smtClean="0">
                        <a:latin typeface="Cambria Math" panose="02040503050406030204" pitchFamily="18" charset="0"/>
                      </a:rPr>
                      <m:t>𝑿</m:t>
                    </m:r>
                  </m:oMath>
                </a14:m>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説明変数ベクトル</a:t>
                </a:r>
                <a:endParaRPr kumimoji="1" lang="en-US" altLang="ja-JP" b="1" dirty="0">
                  <a:latin typeface="Meiryo" panose="020B0604030504040204" pitchFamily="34" charset="-128"/>
                  <a:ea typeface="Meiryo" panose="020B0604030504040204" pitchFamily="34" charset="-128"/>
                </a:endParaRPr>
              </a:p>
              <a:p>
                <a14:m>
                  <m:oMath xmlns:m="http://schemas.openxmlformats.org/officeDocument/2006/math">
                    <m:r>
                      <a:rPr kumimoji="1" lang="en-US" altLang="ja-JP" b="1" i="1" smtClean="0">
                        <a:latin typeface="Cambria Math" panose="02040503050406030204" pitchFamily="18" charset="0"/>
                        <a:ea typeface="Cambria Math" panose="02040503050406030204" pitchFamily="18" charset="0"/>
                      </a:rPr>
                      <m:t>𝝎</m:t>
                    </m:r>
                  </m:oMath>
                </a14:m>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重み</a:t>
                </a:r>
                <a:r>
                  <a:rPr kumimoji="1" lang="en-US" altLang="ja-JP" b="1" dirty="0">
                    <a:latin typeface="Meiryo" panose="020B0604030504040204" pitchFamily="34" charset="-128"/>
                    <a:ea typeface="Meiryo" panose="020B0604030504040204" pitchFamily="34" charset="-128"/>
                  </a:rPr>
                  <a:t>(</a:t>
                </a:r>
                <a:r>
                  <a:rPr kumimoji="1" lang="ja-JP" altLang="en-US" b="1">
                    <a:latin typeface="Meiryo" panose="020B0604030504040204" pitchFamily="34" charset="-128"/>
                    <a:ea typeface="Meiryo" panose="020B0604030504040204" pitchFamily="34" charset="-128"/>
                  </a:rPr>
                  <a:t>単位ベクトル</a:t>
                </a:r>
                <a:r>
                  <a:rPr kumimoji="1" lang="en-US" altLang="ja-JP" b="1" dirty="0">
                    <a:latin typeface="Meiryo" panose="020B0604030504040204" pitchFamily="34" charset="-128"/>
                    <a:ea typeface="Meiryo" panose="020B0604030504040204" pitchFamily="34" charset="-128"/>
                  </a:rPr>
                  <a:t>)</a:t>
                </a:r>
              </a:p>
            </p:txBody>
          </p:sp>
        </mc:Choice>
        <mc:Fallback>
          <p:sp>
            <p:nvSpPr>
              <p:cNvPr id="23" name="テキスト ボックス 22">
                <a:extLst>
                  <a:ext uri="{FF2B5EF4-FFF2-40B4-BE49-F238E27FC236}">
                    <a16:creationId xmlns:a16="http://schemas.microsoft.com/office/drawing/2014/main" id="{7D9EB627-9606-1AD1-3D42-9EA1B7B8BF0D}"/>
                  </a:ext>
                </a:extLst>
              </p:cNvPr>
              <p:cNvSpPr txBox="1">
                <a:spLocks noRot="1" noChangeAspect="1" noMove="1" noResize="1" noEditPoints="1" noAdjustHandles="1" noChangeArrowheads="1" noChangeShapeType="1" noTextEdit="1"/>
              </p:cNvSpPr>
              <p:nvPr/>
            </p:nvSpPr>
            <p:spPr>
              <a:xfrm>
                <a:off x="7351108" y="1425609"/>
                <a:ext cx="2536272" cy="923330"/>
              </a:xfrm>
              <a:prstGeom prst="rect">
                <a:avLst/>
              </a:prstGeom>
              <a:blipFill>
                <a:blip r:embed="rId4"/>
                <a:stretch>
                  <a:fillRect t="-2740" r="-995" b="-958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4" name="テキスト ボックス 23">
                <a:extLst>
                  <a:ext uri="{FF2B5EF4-FFF2-40B4-BE49-F238E27FC236}">
                    <a16:creationId xmlns:a16="http://schemas.microsoft.com/office/drawing/2014/main" id="{C9204615-5E39-8953-2A14-A656D412E2D4}"/>
                  </a:ext>
                </a:extLst>
              </p:cNvPr>
              <p:cNvSpPr txBox="1"/>
              <p:nvPr/>
            </p:nvSpPr>
            <p:spPr>
              <a:xfrm>
                <a:off x="7303750" y="2402728"/>
                <a:ext cx="4706114" cy="646331"/>
              </a:xfrm>
              <a:prstGeom prst="rect">
                <a:avLst/>
              </a:prstGeom>
              <a:noFill/>
            </p:spPr>
            <p:txBody>
              <a:bodyPr wrap="square" rtlCol="0">
                <a:spAutoFit/>
              </a:bodyPr>
              <a:lstStyle/>
              <a:p>
                <a:r>
                  <a:rPr lang="ja-JP" altLang="en-US" b="1"/>
                  <a:t>この </a:t>
                </a:r>
                <a14:m>
                  <m:oMath xmlns:m="http://schemas.openxmlformats.org/officeDocument/2006/math">
                    <m:r>
                      <a:rPr lang="ja-JP" altLang="en-US" b="1" i="1"/>
                      <m:t>𝒕</m:t>
                    </m:r>
                  </m:oMath>
                </a14:m>
                <a:r>
                  <a:rPr lang="ja-JP" altLang="en-US" b="1"/>
                  <a:t> と、予測したい </a:t>
                </a:r>
                <a14:m>
                  <m:oMath xmlns:m="http://schemas.openxmlformats.org/officeDocument/2006/math">
                    <m:r>
                      <a:rPr lang="en-US" altLang="ja-JP" b="1" i="1" smtClean="0">
                        <a:latin typeface="Cambria Math" panose="02040503050406030204" pitchFamily="18" charset="0"/>
                      </a:rPr>
                      <m:t>𝒚</m:t>
                    </m:r>
                  </m:oMath>
                </a14:m>
                <a:r>
                  <a:rPr lang="ja-JP" altLang="en-US" b="1"/>
                  <a:t> の共分散が最大になるように、最適な重み </a:t>
                </a:r>
                <a14:m>
                  <m:oMath xmlns:m="http://schemas.openxmlformats.org/officeDocument/2006/math">
                    <m:r>
                      <m:rPr>
                        <m:sty m:val="p"/>
                      </m:rPr>
                      <a:rPr lang="en-US" altLang="ja-JP" b="1" i="1">
                        <a:latin typeface="Cambria Math" panose="02040503050406030204" pitchFamily="18" charset="0"/>
                      </a:rPr>
                      <m:t>ω</m:t>
                    </m:r>
                  </m:oMath>
                </a14:m>
                <a:r>
                  <a:rPr lang="ja-JP" altLang="en-US" b="1"/>
                  <a:t>を決める</a:t>
                </a:r>
                <a:endParaRPr lang="en-US" altLang="ja-JP" b="1" dirty="0"/>
              </a:p>
            </p:txBody>
          </p:sp>
        </mc:Choice>
        <mc:Fallback>
          <p:sp>
            <p:nvSpPr>
              <p:cNvPr id="24" name="テキスト ボックス 23">
                <a:extLst>
                  <a:ext uri="{FF2B5EF4-FFF2-40B4-BE49-F238E27FC236}">
                    <a16:creationId xmlns:a16="http://schemas.microsoft.com/office/drawing/2014/main" id="{C9204615-5E39-8953-2A14-A656D412E2D4}"/>
                  </a:ext>
                </a:extLst>
              </p:cNvPr>
              <p:cNvSpPr txBox="1">
                <a:spLocks noRot="1" noChangeAspect="1" noMove="1" noResize="1" noEditPoints="1" noAdjustHandles="1" noChangeArrowheads="1" noChangeShapeType="1" noTextEdit="1"/>
              </p:cNvSpPr>
              <p:nvPr/>
            </p:nvSpPr>
            <p:spPr>
              <a:xfrm>
                <a:off x="7303750" y="2402728"/>
                <a:ext cx="4706114" cy="646331"/>
              </a:xfrm>
              <a:prstGeom prst="rect">
                <a:avLst/>
              </a:prstGeom>
              <a:blipFill>
                <a:blip r:embed="rId5"/>
                <a:stretch>
                  <a:fillRect l="-1078" t="-3846" b="-13462"/>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5" name="テキスト ボックス 24">
                <a:extLst>
                  <a:ext uri="{FF2B5EF4-FFF2-40B4-BE49-F238E27FC236}">
                    <a16:creationId xmlns:a16="http://schemas.microsoft.com/office/drawing/2014/main" id="{67AD110F-AC1A-3639-4FCD-E1B2A92AB506}"/>
                  </a:ext>
                </a:extLst>
              </p:cNvPr>
              <p:cNvSpPr txBox="1"/>
              <p:nvPr/>
            </p:nvSpPr>
            <p:spPr>
              <a:xfrm>
                <a:off x="8321563" y="3156637"/>
                <a:ext cx="2040110" cy="374270"/>
              </a:xfrm>
              <a:prstGeom prst="rect">
                <a:avLst/>
              </a:prstGeom>
              <a:noFill/>
            </p:spPr>
            <p:txBody>
              <a:bodyPr wrap="none" rtlCol="0">
                <a:spAutoFit/>
              </a:bodyPr>
              <a:lstStyle/>
              <a:p>
                <a:r>
                  <a:rPr kumimoji="1" lang="ja-JP" altLang="en-US" b="1"/>
                  <a:t>共分散</a:t>
                </a:r>
                <a14:m>
                  <m:oMath xmlns:m="http://schemas.openxmlformats.org/officeDocument/2006/math">
                    <m:d>
                      <m:dPr>
                        <m:ctrlPr>
                          <a:rPr kumimoji="1" lang="en-US" altLang="ja-JP" b="1" i="1" smtClean="0">
                            <a:latin typeface="Cambria Math" panose="02040503050406030204" pitchFamily="18" charset="0"/>
                          </a:rPr>
                        </m:ctrlPr>
                      </m:dPr>
                      <m:e>
                        <m:r>
                          <a:rPr kumimoji="1" lang="en-US" altLang="ja-JP" b="1" i="1" smtClean="0">
                            <a:latin typeface="Cambria Math" panose="02040503050406030204" pitchFamily="18" charset="0"/>
                          </a:rPr>
                          <m:t>𝒕</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𝒚</m:t>
                        </m:r>
                      </m:e>
                    </m:d>
                    <m:r>
                      <a:rPr kumimoji="1" lang="en-US" altLang="ja-JP" b="1" i="1" smtClean="0">
                        <a:latin typeface="Cambria Math" panose="02040503050406030204" pitchFamily="18" charset="0"/>
                      </a:rPr>
                      <m:t>=</m:t>
                    </m:r>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𝒕</m:t>
                        </m:r>
                      </m:e>
                      <m:sup>
                        <m:r>
                          <a:rPr kumimoji="1" lang="en-US" altLang="ja-JP" b="1" i="1" smtClean="0">
                            <a:latin typeface="Cambria Math" panose="02040503050406030204" pitchFamily="18" charset="0"/>
                          </a:rPr>
                          <m:t>𝑻</m:t>
                        </m:r>
                      </m:sup>
                    </m:sSup>
                    <m:r>
                      <a:rPr kumimoji="1" lang="en-US" altLang="ja-JP" b="1" i="1" smtClean="0">
                        <a:latin typeface="Cambria Math" panose="02040503050406030204" pitchFamily="18" charset="0"/>
                      </a:rPr>
                      <m:t>𝒚</m:t>
                    </m:r>
                  </m:oMath>
                </a14:m>
                <a:endParaRPr kumimoji="1" lang="en-US" altLang="ja-JP" b="1" dirty="0"/>
              </a:p>
            </p:txBody>
          </p:sp>
        </mc:Choice>
        <mc:Fallback>
          <p:sp>
            <p:nvSpPr>
              <p:cNvPr id="25" name="テキスト ボックス 24">
                <a:extLst>
                  <a:ext uri="{FF2B5EF4-FFF2-40B4-BE49-F238E27FC236}">
                    <a16:creationId xmlns:a16="http://schemas.microsoft.com/office/drawing/2014/main" id="{67AD110F-AC1A-3639-4FCD-E1B2A92AB506}"/>
                  </a:ext>
                </a:extLst>
              </p:cNvPr>
              <p:cNvSpPr txBox="1">
                <a:spLocks noRot="1" noChangeAspect="1" noMove="1" noResize="1" noEditPoints="1" noAdjustHandles="1" noChangeArrowheads="1" noChangeShapeType="1" noTextEdit="1"/>
              </p:cNvSpPr>
              <p:nvPr/>
            </p:nvSpPr>
            <p:spPr>
              <a:xfrm>
                <a:off x="8321563" y="3156637"/>
                <a:ext cx="2040110" cy="374270"/>
              </a:xfrm>
              <a:prstGeom prst="rect">
                <a:avLst/>
              </a:prstGeom>
              <a:blipFill>
                <a:blip r:embed="rId6"/>
                <a:stretch>
                  <a:fillRect l="-2469" t="-6667" b="-2666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64401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テキスト ボックス 1">
                <a:extLst>
                  <a:ext uri="{FF2B5EF4-FFF2-40B4-BE49-F238E27FC236}">
                    <a16:creationId xmlns:a16="http://schemas.microsoft.com/office/drawing/2014/main" id="{2CE3E795-170E-67FB-9C29-0704F73B325A}"/>
                  </a:ext>
                </a:extLst>
              </p:cNvPr>
              <p:cNvSpPr txBox="1"/>
              <p:nvPr/>
            </p:nvSpPr>
            <p:spPr>
              <a:xfrm>
                <a:off x="334537" y="1584873"/>
                <a:ext cx="969624"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𝑋</m:t>
                      </m:r>
                      <m:r>
                        <a:rPr kumimoji="1" lang="en-US" altLang="ja-JP" b="0" i="1" smtClean="0">
                          <a:latin typeface="Cambria Math" panose="02040503050406030204" pitchFamily="18" charset="0"/>
                          <a:ea typeface="Cambria Math" panose="02040503050406030204" pitchFamily="18" charset="0"/>
                        </a:rPr>
                        <m:t>𝜔</m:t>
                      </m:r>
                    </m:oMath>
                  </m:oMathPara>
                </a14:m>
                <a:endParaRPr kumimoji="1" lang="ja-JP" altLang="en-US"/>
              </a:p>
            </p:txBody>
          </p:sp>
        </mc:Choice>
        <mc:Fallback>
          <p:sp>
            <p:nvSpPr>
              <p:cNvPr id="2" name="テキスト ボックス 1">
                <a:extLst>
                  <a:ext uri="{FF2B5EF4-FFF2-40B4-BE49-F238E27FC236}">
                    <a16:creationId xmlns:a16="http://schemas.microsoft.com/office/drawing/2014/main" id="{2CE3E795-170E-67FB-9C29-0704F73B325A}"/>
                  </a:ext>
                </a:extLst>
              </p:cNvPr>
              <p:cNvSpPr txBox="1">
                <a:spLocks noRot="1" noChangeAspect="1" noMove="1" noResize="1" noEditPoints="1" noAdjustHandles="1" noChangeArrowheads="1" noChangeShapeType="1" noTextEdit="1"/>
              </p:cNvSpPr>
              <p:nvPr/>
            </p:nvSpPr>
            <p:spPr>
              <a:xfrm>
                <a:off x="334537" y="1584873"/>
                <a:ext cx="969624" cy="369332"/>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2CDAC5CB-7193-C05A-2F67-12E7184E52A9}"/>
                  </a:ext>
                </a:extLst>
              </p:cNvPr>
              <p:cNvSpPr txBox="1"/>
              <p:nvPr/>
            </p:nvSpPr>
            <p:spPr>
              <a:xfrm>
                <a:off x="334537" y="2046538"/>
                <a:ext cx="177869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𝑐𝑜𝑣</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e>
                      </m:d>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𝑡</m:t>
                          </m:r>
                        </m:e>
                        <m:sup>
                          <m:r>
                            <a:rPr kumimoji="1" lang="en-US" altLang="ja-JP" b="0" i="1" smtClean="0">
                              <a:latin typeface="Cambria Math" panose="02040503050406030204" pitchFamily="18" charset="0"/>
                            </a:rPr>
                            <m:t>𝑇</m:t>
                          </m:r>
                        </m:sup>
                      </m:sSup>
                      <m:r>
                        <a:rPr kumimoji="1" lang="en-US" altLang="ja-JP" b="0" i="1" smtClean="0">
                          <a:latin typeface="Cambria Math" panose="02040503050406030204" pitchFamily="18" charset="0"/>
                        </a:rPr>
                        <m:t>𝑦</m:t>
                      </m:r>
                    </m:oMath>
                  </m:oMathPara>
                </a14:m>
                <a:endParaRPr kumimoji="1" lang="en-US" altLang="ja-JP" b="0" dirty="0"/>
              </a:p>
            </p:txBody>
          </p:sp>
        </mc:Choice>
        <mc:Fallback>
          <p:sp>
            <p:nvSpPr>
              <p:cNvPr id="3" name="テキスト ボックス 2">
                <a:extLst>
                  <a:ext uri="{FF2B5EF4-FFF2-40B4-BE49-F238E27FC236}">
                    <a16:creationId xmlns:a16="http://schemas.microsoft.com/office/drawing/2014/main" id="{2CDAC5CB-7193-C05A-2F67-12E7184E52A9}"/>
                  </a:ext>
                </a:extLst>
              </p:cNvPr>
              <p:cNvSpPr txBox="1">
                <a:spLocks noRot="1" noChangeAspect="1" noMove="1" noResize="1" noEditPoints="1" noAdjustHandles="1" noChangeArrowheads="1" noChangeShapeType="1" noTextEdit="1"/>
              </p:cNvSpPr>
              <p:nvPr/>
            </p:nvSpPr>
            <p:spPr>
              <a:xfrm>
                <a:off x="334537" y="2046538"/>
                <a:ext cx="1778692" cy="369332"/>
              </a:xfrm>
              <a:prstGeom prst="rect">
                <a:avLst/>
              </a:prstGeom>
              <a:blipFill>
                <a:blip r:embed="rId3"/>
                <a:stretch>
                  <a:fillRect b="-6667"/>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9E8B9F5A-C8A8-05A5-5EB5-B49AE2869976}"/>
                  </a:ext>
                </a:extLst>
              </p:cNvPr>
              <p:cNvSpPr txBox="1"/>
              <p:nvPr/>
            </p:nvSpPr>
            <p:spPr>
              <a:xfrm>
                <a:off x="334537" y="2553103"/>
                <a:ext cx="212506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𝑐𝑜𝑣</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e>
                      </m:d>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ea typeface="Cambria Math" panose="02040503050406030204" pitchFamily="18" charset="0"/>
                            </a:rPr>
                            <m:t>𝜔</m:t>
                          </m:r>
                        </m:e>
                        <m:sup>
                          <m:r>
                            <a:rPr kumimoji="1" lang="en-US" altLang="ja-JP" b="0" i="1" smtClean="0">
                              <a:latin typeface="Cambria Math" panose="02040503050406030204" pitchFamily="18" charset="0"/>
                            </a:rPr>
                            <m:t>𝑇</m:t>
                          </m:r>
                        </m:sup>
                      </m:sSup>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𝑋</m:t>
                          </m:r>
                        </m:e>
                        <m:sup>
                          <m:r>
                            <a:rPr kumimoji="1" lang="en-US" altLang="ja-JP" b="0" i="1" smtClean="0">
                              <a:latin typeface="Cambria Math" panose="02040503050406030204" pitchFamily="18" charset="0"/>
                            </a:rPr>
                            <m:t>𝑇</m:t>
                          </m:r>
                        </m:sup>
                      </m:sSup>
                      <m:r>
                        <a:rPr kumimoji="1" lang="en-US" altLang="ja-JP" b="0" i="1" smtClean="0">
                          <a:latin typeface="Cambria Math" panose="02040503050406030204" pitchFamily="18" charset="0"/>
                        </a:rPr>
                        <m:t>𝑦</m:t>
                      </m:r>
                    </m:oMath>
                  </m:oMathPara>
                </a14:m>
                <a:endParaRPr kumimoji="1" lang="en-US" altLang="ja-JP" b="0" dirty="0"/>
              </a:p>
            </p:txBody>
          </p:sp>
        </mc:Choice>
        <mc:Fallback>
          <p:sp>
            <p:nvSpPr>
              <p:cNvPr id="4" name="テキスト ボックス 3">
                <a:extLst>
                  <a:ext uri="{FF2B5EF4-FFF2-40B4-BE49-F238E27FC236}">
                    <a16:creationId xmlns:a16="http://schemas.microsoft.com/office/drawing/2014/main" id="{9E8B9F5A-C8A8-05A5-5EB5-B49AE2869976}"/>
                  </a:ext>
                </a:extLst>
              </p:cNvPr>
              <p:cNvSpPr txBox="1">
                <a:spLocks noRot="1" noChangeAspect="1" noMove="1" noResize="1" noEditPoints="1" noAdjustHandles="1" noChangeArrowheads="1" noChangeShapeType="1" noTextEdit="1"/>
              </p:cNvSpPr>
              <p:nvPr/>
            </p:nvSpPr>
            <p:spPr>
              <a:xfrm>
                <a:off x="334537" y="2553103"/>
                <a:ext cx="2125069" cy="369332"/>
              </a:xfrm>
              <a:prstGeom prst="rect">
                <a:avLst/>
              </a:prstGeom>
              <a:blipFill>
                <a:blip r:embed="rId4"/>
                <a:stretch>
                  <a:fillRect b="-1034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 name="テキスト ボックス 4">
                <a:extLst>
                  <a:ext uri="{FF2B5EF4-FFF2-40B4-BE49-F238E27FC236}">
                    <a16:creationId xmlns:a16="http://schemas.microsoft.com/office/drawing/2014/main" id="{B4E5C4C4-EF8D-017C-2B8D-B47A8680C631}"/>
                  </a:ext>
                </a:extLst>
              </p:cNvPr>
              <p:cNvSpPr txBox="1"/>
              <p:nvPr/>
            </p:nvSpPr>
            <p:spPr>
              <a:xfrm>
                <a:off x="526660" y="3104567"/>
                <a:ext cx="1142364"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kumimoji="1" lang="en-US" altLang="ja-JP" i="1" smtClean="0">
                              <a:latin typeface="Cambria Math" panose="02040503050406030204" pitchFamily="18" charset="0"/>
                            </a:rPr>
                          </m:ctrlPr>
                        </m:sSupPr>
                        <m:e>
                          <m:r>
                            <a:rPr kumimoji="1" lang="en-US" altLang="ja-JP" i="1" smtClean="0">
                              <a:latin typeface="Cambria Math" panose="02040503050406030204" pitchFamily="18" charset="0"/>
                              <a:ea typeface="Cambria Math" panose="02040503050406030204" pitchFamily="18" charset="0"/>
                            </a:rPr>
                            <m:t>𝜔</m:t>
                          </m:r>
                        </m:e>
                        <m:sup>
                          <m:r>
                            <a:rPr kumimoji="1" lang="en-US" altLang="ja-JP" b="0" i="1" smtClean="0">
                              <a:latin typeface="Cambria Math" panose="02040503050406030204" pitchFamily="18" charset="0"/>
                            </a:rPr>
                            <m:t>𝑇</m:t>
                          </m:r>
                        </m:sup>
                      </m:sSup>
                      <m:r>
                        <a:rPr kumimoji="1" lang="en-US" altLang="ja-JP" i="1" smtClean="0">
                          <a:latin typeface="Cambria Math" panose="02040503050406030204" pitchFamily="18" charset="0"/>
                          <a:ea typeface="Cambria Math" panose="02040503050406030204" pitchFamily="18" charset="0"/>
                        </a:rPr>
                        <m:t>𝜔</m:t>
                      </m:r>
                      <m:r>
                        <a:rPr kumimoji="1" lang="en-US" altLang="ja-JP" b="0" i="1" smtClean="0">
                          <a:latin typeface="Cambria Math" panose="02040503050406030204" pitchFamily="18" charset="0"/>
                          <a:ea typeface="Cambria Math" panose="02040503050406030204" pitchFamily="18" charset="0"/>
                        </a:rPr>
                        <m:t>=1</m:t>
                      </m:r>
                    </m:oMath>
                  </m:oMathPara>
                </a14:m>
                <a:endParaRPr kumimoji="1" lang="ja-JP" altLang="en-US"/>
              </a:p>
            </p:txBody>
          </p:sp>
        </mc:Choice>
        <mc:Fallback>
          <p:sp>
            <p:nvSpPr>
              <p:cNvPr id="5" name="テキスト ボックス 4">
                <a:extLst>
                  <a:ext uri="{FF2B5EF4-FFF2-40B4-BE49-F238E27FC236}">
                    <a16:creationId xmlns:a16="http://schemas.microsoft.com/office/drawing/2014/main" id="{B4E5C4C4-EF8D-017C-2B8D-B47A8680C631}"/>
                  </a:ext>
                </a:extLst>
              </p:cNvPr>
              <p:cNvSpPr txBox="1">
                <a:spLocks noRot="1" noChangeAspect="1" noMove="1" noResize="1" noEditPoints="1" noAdjustHandles="1" noChangeArrowheads="1" noChangeShapeType="1" noTextEdit="1"/>
              </p:cNvSpPr>
              <p:nvPr/>
            </p:nvSpPr>
            <p:spPr>
              <a:xfrm>
                <a:off x="526660" y="3104567"/>
                <a:ext cx="1142364"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D4C6191A-0D67-DABB-68AA-DE1961044823}"/>
                  </a:ext>
                </a:extLst>
              </p:cNvPr>
              <p:cNvSpPr txBox="1"/>
              <p:nvPr/>
            </p:nvSpPr>
            <p:spPr>
              <a:xfrm>
                <a:off x="334537" y="3627308"/>
                <a:ext cx="3445751" cy="61651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𝐿</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ea typeface="Cambria Math" panose="02040503050406030204" pitchFamily="18" charset="0"/>
                            </a:rPr>
                            <m:t>𝜔</m:t>
                          </m:r>
                          <m:r>
                            <a:rPr kumimoji="1" lang="en-US" altLang="ja-JP" b="0" i="1" smtClean="0">
                              <a:latin typeface="Cambria Math" panose="02040503050406030204" pitchFamily="18" charset="0"/>
                              <a:ea typeface="Cambria Math" panose="02040503050406030204" pitchFamily="18" charset="0"/>
                            </a:rPr>
                            <m:t>,</m:t>
                          </m:r>
                          <m:r>
                            <m:rPr>
                              <m:sty m:val="p"/>
                            </m:rPr>
                            <a:rPr lang="en-US" altLang="ja-JP" i="1">
                              <a:latin typeface="Cambria Math" panose="02040503050406030204" pitchFamily="18" charset="0"/>
                              <a:ea typeface="Cambria Math" panose="02040503050406030204" pitchFamily="18" charset="0"/>
                            </a:rPr>
                            <m:t>λ</m:t>
                          </m:r>
                        </m:e>
                      </m:d>
                      <m:r>
                        <a:rPr lang="en-US" altLang="ja-JP" b="0" i="1" smtClean="0">
                          <a:latin typeface="Cambria Math" panose="02040503050406030204" pitchFamily="18" charset="0"/>
                          <a:ea typeface="Cambria Math" panose="02040503050406030204" pitchFamily="18" charset="0"/>
                        </a:rPr>
                        <m:t>=</m:t>
                      </m:r>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𝜔</m:t>
                          </m:r>
                        </m:e>
                        <m:sup>
                          <m:r>
                            <a:rPr lang="en-US" altLang="ja-JP" b="0" i="1" smtClean="0">
                              <a:latin typeface="Cambria Math" panose="02040503050406030204" pitchFamily="18" charset="0"/>
                              <a:ea typeface="Cambria Math" panose="02040503050406030204" pitchFamily="18" charset="0"/>
                            </a:rPr>
                            <m:t>𝑇</m:t>
                          </m:r>
                        </m:sup>
                      </m:sSup>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𝑋</m:t>
                          </m:r>
                        </m:e>
                        <m:sup>
                          <m:r>
                            <a:rPr lang="en-US" altLang="ja-JP" b="0" i="1" smtClean="0">
                              <a:latin typeface="Cambria Math" panose="02040503050406030204" pitchFamily="18" charset="0"/>
                              <a:ea typeface="Cambria Math" panose="02040503050406030204" pitchFamily="18" charset="0"/>
                            </a:rPr>
                            <m:t>𝑇</m:t>
                          </m:r>
                        </m:sup>
                      </m:sSup>
                      <m:r>
                        <a:rPr lang="en-US" altLang="ja-JP" b="0" i="1" smtClean="0">
                          <a:latin typeface="Cambria Math" panose="02040503050406030204" pitchFamily="18" charset="0"/>
                          <a:ea typeface="Cambria Math" panose="02040503050406030204" pitchFamily="18" charset="0"/>
                        </a:rPr>
                        <m:t>𝑦</m:t>
                      </m:r>
                      <m:r>
                        <a:rPr lang="en-US" altLang="ja-JP" b="0" i="1" smtClean="0">
                          <a:latin typeface="Cambria Math" panose="02040503050406030204" pitchFamily="18" charset="0"/>
                          <a:ea typeface="Cambria Math" panose="02040503050406030204" pitchFamily="18" charset="0"/>
                        </a:rPr>
                        <m:t>−</m:t>
                      </m:r>
                      <m:f>
                        <m:fPr>
                          <m:ctrlPr>
                            <a:rPr lang="en-US" altLang="ja-JP" b="0" i="1" smtClean="0">
                              <a:latin typeface="Cambria Math" panose="02040503050406030204" pitchFamily="18" charset="0"/>
                              <a:ea typeface="Cambria Math" panose="02040503050406030204" pitchFamily="18" charset="0"/>
                            </a:rPr>
                          </m:ctrlPr>
                        </m:fPr>
                        <m:num>
                          <m:r>
                            <m:rPr>
                              <m:sty m:val="p"/>
                            </m:rPr>
                            <a:rPr lang="en-US" altLang="ja-JP" i="1">
                              <a:latin typeface="Cambria Math" panose="02040503050406030204" pitchFamily="18" charset="0"/>
                              <a:ea typeface="Cambria Math" panose="02040503050406030204" pitchFamily="18" charset="0"/>
                            </a:rPr>
                            <m:t>λ</m:t>
                          </m:r>
                        </m:num>
                        <m:den>
                          <m:r>
                            <a:rPr lang="en-US" altLang="ja-JP" b="0" i="1" smtClean="0">
                              <a:latin typeface="Cambria Math" panose="02040503050406030204" pitchFamily="18" charset="0"/>
                              <a:ea typeface="Cambria Math" panose="02040503050406030204" pitchFamily="18" charset="0"/>
                            </a:rPr>
                            <m:t>2</m:t>
                          </m:r>
                        </m:den>
                      </m:f>
                      <m:d>
                        <m:dPr>
                          <m:ctrlPr>
                            <a:rPr lang="en-US" altLang="ja-JP" b="0" i="1" smtClean="0">
                              <a:latin typeface="Cambria Math" panose="02040503050406030204" pitchFamily="18" charset="0"/>
                              <a:ea typeface="Cambria Math" panose="02040503050406030204" pitchFamily="18" charset="0"/>
                            </a:rPr>
                          </m:ctrlPr>
                        </m:dPr>
                        <m:e>
                          <m:sSup>
                            <m:sSupPr>
                              <m:ctrlPr>
                                <a:rPr lang="en-US" altLang="ja-JP" b="0" i="1" smtClean="0">
                                  <a:latin typeface="Cambria Math" panose="02040503050406030204" pitchFamily="18" charset="0"/>
                                  <a:ea typeface="Cambria Math" panose="02040503050406030204" pitchFamily="18" charset="0"/>
                                </a:rPr>
                              </m:ctrlPr>
                            </m:sSupPr>
                            <m:e>
                              <m:r>
                                <a:rPr lang="en-US" altLang="ja-JP" i="1" smtClean="0">
                                  <a:latin typeface="Cambria Math" panose="02040503050406030204" pitchFamily="18" charset="0"/>
                                  <a:ea typeface="Cambria Math" panose="02040503050406030204" pitchFamily="18" charset="0"/>
                                </a:rPr>
                                <m:t>𝜔</m:t>
                              </m:r>
                            </m:e>
                            <m:sup>
                              <m:r>
                                <a:rPr lang="en-US" altLang="ja-JP" b="0" i="1" smtClean="0">
                                  <a:latin typeface="Cambria Math" panose="02040503050406030204" pitchFamily="18" charset="0"/>
                                  <a:ea typeface="Cambria Math" panose="02040503050406030204" pitchFamily="18" charset="0"/>
                                </a:rPr>
                                <m:t>𝑇</m:t>
                              </m:r>
                            </m:sup>
                          </m:sSup>
                          <m:r>
                            <a:rPr lang="en-US" altLang="ja-JP" b="0" i="1" smtClean="0">
                              <a:latin typeface="Cambria Math" panose="02040503050406030204" pitchFamily="18" charset="0"/>
                              <a:ea typeface="Cambria Math" panose="02040503050406030204" pitchFamily="18" charset="0"/>
                            </a:rPr>
                            <m:t>𝜔</m:t>
                          </m:r>
                          <m:r>
                            <a:rPr lang="en-US" altLang="ja-JP" b="0" i="1" smtClean="0">
                              <a:latin typeface="Cambria Math" panose="02040503050406030204" pitchFamily="18" charset="0"/>
                              <a:ea typeface="Cambria Math" panose="02040503050406030204" pitchFamily="18" charset="0"/>
                            </a:rPr>
                            <m:t>−1</m:t>
                          </m:r>
                        </m:e>
                      </m:d>
                    </m:oMath>
                  </m:oMathPara>
                </a14:m>
                <a:endParaRPr kumimoji="1" lang="ja-JP" altLang="en-US"/>
              </a:p>
            </p:txBody>
          </p:sp>
        </mc:Choice>
        <mc:Fallback>
          <p:sp>
            <p:nvSpPr>
              <p:cNvPr id="6" name="テキスト ボックス 5">
                <a:extLst>
                  <a:ext uri="{FF2B5EF4-FFF2-40B4-BE49-F238E27FC236}">
                    <a16:creationId xmlns:a16="http://schemas.microsoft.com/office/drawing/2014/main" id="{D4C6191A-0D67-DABB-68AA-DE1961044823}"/>
                  </a:ext>
                </a:extLst>
              </p:cNvPr>
              <p:cNvSpPr txBox="1">
                <a:spLocks noRot="1" noChangeAspect="1" noMove="1" noResize="1" noEditPoints="1" noAdjustHandles="1" noChangeArrowheads="1" noChangeShapeType="1" noTextEdit="1"/>
              </p:cNvSpPr>
              <p:nvPr/>
            </p:nvSpPr>
            <p:spPr>
              <a:xfrm>
                <a:off x="334537" y="3627308"/>
                <a:ext cx="3445751" cy="616515"/>
              </a:xfrm>
              <a:prstGeom prst="rect">
                <a:avLst/>
              </a:prstGeom>
              <a:blipFill>
                <a:blip r:embed="rId6"/>
                <a:stretch>
                  <a:fillRect b="-40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 name="テキスト ボックス 6">
                <a:extLst>
                  <a:ext uri="{FF2B5EF4-FFF2-40B4-BE49-F238E27FC236}">
                    <a16:creationId xmlns:a16="http://schemas.microsoft.com/office/drawing/2014/main" id="{2D4F9C5E-74F3-DA8F-6D93-66522FDF0584}"/>
                  </a:ext>
                </a:extLst>
              </p:cNvPr>
              <p:cNvSpPr txBox="1"/>
              <p:nvPr/>
            </p:nvSpPr>
            <p:spPr>
              <a:xfrm>
                <a:off x="735980" y="4471639"/>
                <a:ext cx="2253822" cy="61901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f>
                        <m:fPr>
                          <m:ctrlPr>
                            <a:rPr kumimoji="1" lang="en-US" altLang="ja-JP" i="1" smtClean="0">
                              <a:latin typeface="Cambria Math" panose="02040503050406030204" pitchFamily="18" charset="0"/>
                            </a:rPr>
                          </m:ctrlPr>
                        </m:fPr>
                        <m:num>
                          <m:r>
                            <a:rPr kumimoji="1" lang="en-US" altLang="ja-JP"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𝐿</m:t>
                          </m:r>
                        </m:num>
                        <m:den>
                          <m:r>
                            <a:rPr kumimoji="1" lang="en-US" altLang="ja-JP" i="1" smtClean="0">
                              <a:latin typeface="Cambria Math" panose="02040503050406030204" pitchFamily="18" charset="0"/>
                              <a:ea typeface="Cambria Math" panose="02040503050406030204" pitchFamily="18" charset="0"/>
                            </a:rPr>
                            <m:t>𝜕𝜔</m:t>
                          </m:r>
                        </m:den>
                      </m:f>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𝑋</m:t>
                          </m:r>
                        </m:e>
                        <m:sup>
                          <m:r>
                            <a:rPr kumimoji="1" lang="en-US" altLang="ja-JP" b="0" i="1" smtClean="0">
                              <a:latin typeface="Cambria Math" panose="02040503050406030204" pitchFamily="18" charset="0"/>
                            </a:rPr>
                            <m:t>𝑇</m:t>
                          </m:r>
                        </m:sup>
                      </m:sSup>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r>
                        <m:rPr>
                          <m:sty m:val="p"/>
                        </m:rPr>
                        <a:rPr lang="en-US" altLang="ja-JP" i="1">
                          <a:latin typeface="Cambria Math" panose="02040503050406030204" pitchFamily="18" charset="0"/>
                        </a:rPr>
                        <m:t>λ</m:t>
                      </m:r>
                      <m:r>
                        <a:rPr lang="en-US" altLang="ja-JP" i="1" smtClean="0">
                          <a:latin typeface="Cambria Math" panose="02040503050406030204" pitchFamily="18" charset="0"/>
                          <a:ea typeface="Cambria Math" panose="02040503050406030204" pitchFamily="18" charset="0"/>
                        </a:rPr>
                        <m:t>𝜔</m:t>
                      </m:r>
                      <m:r>
                        <a:rPr lang="en-US" altLang="ja-JP" b="0" i="1" smtClean="0">
                          <a:latin typeface="Cambria Math" panose="02040503050406030204" pitchFamily="18" charset="0"/>
                          <a:ea typeface="Cambria Math" panose="02040503050406030204" pitchFamily="18" charset="0"/>
                        </a:rPr>
                        <m:t>=0</m:t>
                      </m:r>
                    </m:oMath>
                  </m:oMathPara>
                </a14:m>
                <a:endParaRPr kumimoji="1" lang="ja-JP" altLang="en-US"/>
              </a:p>
            </p:txBody>
          </p:sp>
        </mc:Choice>
        <mc:Fallback>
          <p:sp>
            <p:nvSpPr>
              <p:cNvPr id="7" name="テキスト ボックス 6">
                <a:extLst>
                  <a:ext uri="{FF2B5EF4-FFF2-40B4-BE49-F238E27FC236}">
                    <a16:creationId xmlns:a16="http://schemas.microsoft.com/office/drawing/2014/main" id="{2D4F9C5E-74F3-DA8F-6D93-66522FDF0584}"/>
                  </a:ext>
                </a:extLst>
              </p:cNvPr>
              <p:cNvSpPr txBox="1">
                <a:spLocks noRot="1" noChangeAspect="1" noMove="1" noResize="1" noEditPoints="1" noAdjustHandles="1" noChangeArrowheads="1" noChangeShapeType="1" noTextEdit="1"/>
              </p:cNvSpPr>
              <p:nvPr/>
            </p:nvSpPr>
            <p:spPr>
              <a:xfrm>
                <a:off x="735980" y="4471639"/>
                <a:ext cx="2253822" cy="619016"/>
              </a:xfrm>
              <a:prstGeom prst="rect">
                <a:avLst/>
              </a:prstGeom>
              <a:blipFill>
                <a:blip r:embed="rId7"/>
                <a:stretch>
                  <a:fillRect b="-6122"/>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8" name="テキスト ボックス 7">
                <a:extLst>
                  <a:ext uri="{FF2B5EF4-FFF2-40B4-BE49-F238E27FC236}">
                    <a16:creationId xmlns:a16="http://schemas.microsoft.com/office/drawing/2014/main" id="{9EB3D5AB-19BA-B120-3A28-E65A9AD2A396}"/>
                  </a:ext>
                </a:extLst>
              </p:cNvPr>
              <p:cNvSpPr txBox="1"/>
              <p:nvPr/>
            </p:nvSpPr>
            <p:spPr>
              <a:xfrm>
                <a:off x="797684" y="5273127"/>
                <a:ext cx="1275734"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l-GR" altLang="ja-JP" i="1" smtClean="0">
                          <a:latin typeface="Cambria Math" panose="02040503050406030204" pitchFamily="18" charset="0"/>
                        </a:rPr>
                        <m:t>Λ</m:t>
                      </m:r>
                      <m:r>
                        <a:rPr lang="en-US" altLang="ja-JP" i="1" smtClean="0">
                          <a:latin typeface="Cambria Math" panose="02040503050406030204" pitchFamily="18" charset="0"/>
                          <a:ea typeface="Cambria Math" panose="02040503050406030204" pitchFamily="18" charset="0"/>
                        </a:rPr>
                        <m:t>𝜔</m:t>
                      </m:r>
                      <m:r>
                        <a:rPr lang="en-US" altLang="ja-JP" b="0" i="1" smtClean="0">
                          <a:latin typeface="Cambria Math" panose="02040503050406030204" pitchFamily="18" charset="0"/>
                          <a:ea typeface="Cambria Math" panose="02040503050406030204" pitchFamily="18" charset="0"/>
                        </a:rPr>
                        <m:t>=</m:t>
                      </m:r>
                      <m:sSup>
                        <m:sSupPr>
                          <m:ctrlPr>
                            <a:rPr lang="en-US" altLang="ja-JP" b="0" i="1" smtClean="0">
                              <a:latin typeface="Cambria Math" panose="02040503050406030204" pitchFamily="18" charset="0"/>
                              <a:ea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𝑋</m:t>
                          </m:r>
                        </m:e>
                        <m:sup>
                          <m:r>
                            <a:rPr lang="en-US" altLang="ja-JP" b="0" i="1" smtClean="0">
                              <a:latin typeface="Cambria Math" panose="02040503050406030204" pitchFamily="18" charset="0"/>
                              <a:ea typeface="Cambria Math" panose="02040503050406030204" pitchFamily="18" charset="0"/>
                            </a:rPr>
                            <m:t>𝑇</m:t>
                          </m:r>
                        </m:sup>
                      </m:sSup>
                      <m:r>
                        <a:rPr lang="en-US" altLang="ja-JP" b="0" i="1" smtClean="0">
                          <a:latin typeface="Cambria Math" panose="02040503050406030204" pitchFamily="18" charset="0"/>
                          <a:ea typeface="Cambria Math" panose="02040503050406030204" pitchFamily="18" charset="0"/>
                        </a:rPr>
                        <m:t>𝑦</m:t>
                      </m:r>
                    </m:oMath>
                  </m:oMathPara>
                </a14:m>
                <a:endParaRPr kumimoji="1" lang="ja-JP" altLang="en-US"/>
              </a:p>
            </p:txBody>
          </p:sp>
        </mc:Choice>
        <mc:Fallback>
          <p:sp>
            <p:nvSpPr>
              <p:cNvPr id="8" name="テキスト ボックス 7">
                <a:extLst>
                  <a:ext uri="{FF2B5EF4-FFF2-40B4-BE49-F238E27FC236}">
                    <a16:creationId xmlns:a16="http://schemas.microsoft.com/office/drawing/2014/main" id="{9EB3D5AB-19BA-B120-3A28-E65A9AD2A396}"/>
                  </a:ext>
                </a:extLst>
              </p:cNvPr>
              <p:cNvSpPr txBox="1">
                <a:spLocks noRot="1" noChangeAspect="1" noMove="1" noResize="1" noEditPoints="1" noAdjustHandles="1" noChangeArrowheads="1" noChangeShapeType="1" noTextEdit="1"/>
              </p:cNvSpPr>
              <p:nvPr/>
            </p:nvSpPr>
            <p:spPr>
              <a:xfrm>
                <a:off x="797684" y="5273127"/>
                <a:ext cx="1275734" cy="369332"/>
              </a:xfrm>
              <a:prstGeom prst="rect">
                <a:avLst/>
              </a:prstGeom>
              <a:blipFill>
                <a:blip r:embed="rId8"/>
                <a:stretch>
                  <a:fillRect b="-6667"/>
                </a:stretch>
              </a:blipFill>
            </p:spPr>
            <p:txBody>
              <a:bodyPr/>
              <a:lstStyle/>
              <a:p>
                <a:r>
                  <a:rPr lang="ja-JP" altLang="en-US">
                    <a:noFill/>
                  </a:rPr>
                  <a:t> </a:t>
                </a:r>
              </a:p>
            </p:txBody>
          </p:sp>
        </mc:Fallback>
      </mc:AlternateContent>
      <p:pic>
        <p:nvPicPr>
          <p:cNvPr id="9" name="図 8">
            <a:extLst>
              <a:ext uri="{FF2B5EF4-FFF2-40B4-BE49-F238E27FC236}">
                <a16:creationId xmlns:a16="http://schemas.microsoft.com/office/drawing/2014/main" id="{157716EE-6037-E56D-B2E8-2C98A77CE17D}"/>
              </a:ext>
            </a:extLst>
          </p:cNvPr>
          <p:cNvPicPr>
            <a:picLocks noChangeAspect="1"/>
          </p:cNvPicPr>
          <p:nvPr/>
        </p:nvPicPr>
        <p:blipFill>
          <a:blip r:embed="rId9"/>
          <a:stretch>
            <a:fillRect/>
          </a:stretch>
        </p:blipFill>
        <p:spPr>
          <a:xfrm>
            <a:off x="4419600" y="1033379"/>
            <a:ext cx="7772400" cy="3408779"/>
          </a:xfrm>
          <a:prstGeom prst="rect">
            <a:avLst/>
          </a:prstGeom>
        </p:spPr>
      </p:pic>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548AE978-636E-A66E-A495-25204E315CF8}"/>
                  </a:ext>
                </a:extLst>
              </p:cNvPr>
              <p:cNvSpPr txBox="1"/>
              <p:nvPr/>
            </p:nvSpPr>
            <p:spPr>
              <a:xfrm>
                <a:off x="735980" y="5916924"/>
                <a:ext cx="2009204"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d>
                            <m:dPr>
                              <m:begChr m:val="‖"/>
                              <m:endChr m:val="‖"/>
                              <m:ctrlPr>
                                <a:rPr lang="en-US" altLang="ja-JP" i="1">
                                  <a:latin typeface="Cambria Math" panose="02040503050406030204" pitchFamily="18" charset="0"/>
                                </a:rPr>
                              </m:ctrlPr>
                            </m:dPr>
                            <m:e>
                              <m:r>
                                <m:rPr>
                                  <m:sty m:val="p"/>
                                </m:rPr>
                                <a:rPr lang="en-US" altLang="ja-JP" i="1" smtClean="0">
                                  <a:latin typeface="Cambria Math" panose="02040503050406030204" pitchFamily="18" charset="0"/>
                                </a:rPr>
                                <m:t>λ</m:t>
                              </m:r>
                              <m:r>
                                <a:rPr lang="en-US" altLang="ja-JP" i="1" smtClean="0">
                                  <a:latin typeface="Cambria Math" panose="02040503050406030204" pitchFamily="18" charset="0"/>
                                  <a:ea typeface="Cambria Math" panose="02040503050406030204" pitchFamily="18" charset="0"/>
                                </a:rPr>
                                <m:t>𝜔</m:t>
                              </m:r>
                            </m:e>
                          </m:d>
                        </m:e>
                        <m:sub>
                          <m:r>
                            <a:rPr kumimoji="1" lang="en-US" altLang="ja-JP" b="0" i="1" smtClean="0">
                              <a:latin typeface="Cambria Math" panose="02040503050406030204" pitchFamily="18" charset="0"/>
                            </a:rPr>
                            <m:t>2</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d>
                            <m:dPr>
                              <m:begChr m:val="‖"/>
                              <m:endChr m:val="‖"/>
                              <m:ctrlPr>
                                <a:rPr kumimoji="1" lang="en-US" altLang="ja-JP" b="0" i="1" smtClean="0">
                                  <a:latin typeface="Cambria Math" panose="02040503050406030204" pitchFamily="18" charset="0"/>
                                </a:rPr>
                              </m:ctrlPr>
                            </m:dPr>
                            <m:e>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𝑋</m:t>
                                  </m:r>
                                </m:e>
                                <m:sup>
                                  <m:r>
                                    <a:rPr kumimoji="1" lang="en-US" altLang="ja-JP" b="0" i="1" smtClean="0">
                                      <a:latin typeface="Cambria Math" panose="02040503050406030204" pitchFamily="18" charset="0"/>
                                    </a:rPr>
                                    <m:t>𝑇</m:t>
                                  </m:r>
                                </m:sup>
                              </m:sSup>
                              <m:r>
                                <a:rPr kumimoji="1" lang="en-US" altLang="ja-JP" b="0" i="1" smtClean="0">
                                  <a:latin typeface="Cambria Math" panose="02040503050406030204" pitchFamily="18" charset="0"/>
                                </a:rPr>
                                <m:t>𝑦</m:t>
                              </m:r>
                            </m:e>
                          </m:d>
                        </m:e>
                        <m:sub>
                          <m:r>
                            <a:rPr kumimoji="1" lang="en-US" altLang="ja-JP" b="0" i="1" smtClean="0">
                              <a:latin typeface="Cambria Math" panose="02040503050406030204" pitchFamily="18" charset="0"/>
                            </a:rPr>
                            <m:t>2</m:t>
                          </m:r>
                        </m:sub>
                      </m:sSub>
                    </m:oMath>
                  </m:oMathPara>
                </a14:m>
                <a:endParaRPr kumimoji="1" lang="ja-JP" altLang="en-US"/>
              </a:p>
            </p:txBody>
          </p:sp>
        </mc:Choice>
        <mc:Fallback>
          <p:sp>
            <p:nvSpPr>
              <p:cNvPr id="10" name="テキスト ボックス 9">
                <a:extLst>
                  <a:ext uri="{FF2B5EF4-FFF2-40B4-BE49-F238E27FC236}">
                    <a16:creationId xmlns:a16="http://schemas.microsoft.com/office/drawing/2014/main" id="{548AE978-636E-A66E-A495-25204E315CF8}"/>
                  </a:ext>
                </a:extLst>
              </p:cNvPr>
              <p:cNvSpPr txBox="1">
                <a:spLocks noRot="1" noChangeAspect="1" noMove="1" noResize="1" noEditPoints="1" noAdjustHandles="1" noChangeArrowheads="1" noChangeShapeType="1" noTextEdit="1"/>
              </p:cNvSpPr>
              <p:nvPr/>
            </p:nvSpPr>
            <p:spPr>
              <a:xfrm>
                <a:off x="735980" y="5916924"/>
                <a:ext cx="2009204" cy="369332"/>
              </a:xfrm>
              <a:prstGeom prst="rect">
                <a:avLst/>
              </a:prstGeom>
              <a:blipFill>
                <a:blip r:embed="rId10"/>
                <a:stretch>
                  <a:fillRect b="-1034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991B6B73-877B-636C-5D74-7925F9A28CA5}"/>
                  </a:ext>
                </a:extLst>
              </p:cNvPr>
              <p:cNvSpPr txBox="1"/>
              <p:nvPr/>
            </p:nvSpPr>
            <p:spPr>
              <a:xfrm>
                <a:off x="3066182" y="5916924"/>
                <a:ext cx="1428211"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ja-JP" i="1" smtClean="0">
                          <a:latin typeface="Cambria Math" panose="02040503050406030204" pitchFamily="18" charset="0"/>
                        </a:rPr>
                        <m:t>λ</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d>
                            <m:dPr>
                              <m:begChr m:val="‖"/>
                              <m:endChr m:val="‖"/>
                              <m:ctrlPr>
                                <a:rPr kumimoji="1" lang="en-US" altLang="ja-JP" b="0" i="1" smtClean="0">
                                  <a:latin typeface="Cambria Math" panose="02040503050406030204" pitchFamily="18" charset="0"/>
                                </a:rPr>
                              </m:ctrlPr>
                            </m:dPr>
                            <m:e>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𝑋</m:t>
                                  </m:r>
                                </m:e>
                                <m:sup>
                                  <m:r>
                                    <a:rPr kumimoji="1" lang="en-US" altLang="ja-JP" b="0" i="1" smtClean="0">
                                      <a:latin typeface="Cambria Math" panose="02040503050406030204" pitchFamily="18" charset="0"/>
                                    </a:rPr>
                                    <m:t>𝑇</m:t>
                                  </m:r>
                                </m:sup>
                              </m:sSup>
                              <m:r>
                                <a:rPr kumimoji="1" lang="en-US" altLang="ja-JP" b="0" i="1" smtClean="0">
                                  <a:latin typeface="Cambria Math" panose="02040503050406030204" pitchFamily="18" charset="0"/>
                                </a:rPr>
                                <m:t>𝑦</m:t>
                              </m:r>
                            </m:e>
                          </m:d>
                        </m:e>
                        <m:sub>
                          <m:r>
                            <a:rPr kumimoji="1" lang="en-US" altLang="ja-JP" b="0" i="1" smtClean="0">
                              <a:latin typeface="Cambria Math" panose="02040503050406030204" pitchFamily="18" charset="0"/>
                            </a:rPr>
                            <m:t>2</m:t>
                          </m:r>
                        </m:sub>
                      </m:sSub>
                    </m:oMath>
                  </m:oMathPara>
                </a14:m>
                <a:endParaRPr kumimoji="1" lang="ja-JP" altLang="en-US"/>
              </a:p>
            </p:txBody>
          </p:sp>
        </mc:Choice>
        <mc:Fallback>
          <p:sp>
            <p:nvSpPr>
              <p:cNvPr id="11" name="テキスト ボックス 10">
                <a:extLst>
                  <a:ext uri="{FF2B5EF4-FFF2-40B4-BE49-F238E27FC236}">
                    <a16:creationId xmlns:a16="http://schemas.microsoft.com/office/drawing/2014/main" id="{991B6B73-877B-636C-5D74-7925F9A28CA5}"/>
                  </a:ext>
                </a:extLst>
              </p:cNvPr>
              <p:cNvSpPr txBox="1">
                <a:spLocks noRot="1" noChangeAspect="1" noMove="1" noResize="1" noEditPoints="1" noAdjustHandles="1" noChangeArrowheads="1" noChangeShapeType="1" noTextEdit="1"/>
              </p:cNvSpPr>
              <p:nvPr/>
            </p:nvSpPr>
            <p:spPr>
              <a:xfrm>
                <a:off x="3066182" y="5916924"/>
                <a:ext cx="1428211" cy="369332"/>
              </a:xfrm>
              <a:prstGeom prst="rect">
                <a:avLst/>
              </a:prstGeom>
              <a:blipFill>
                <a:blip r:embed="rId11"/>
                <a:stretch>
                  <a:fillRect b="-10345"/>
                </a:stretch>
              </a:blipFill>
            </p:spPr>
            <p:txBody>
              <a:bodyPr/>
              <a:lstStyle/>
              <a:p>
                <a:r>
                  <a:rPr lang="ja-JP" altLang="en-US">
                    <a:noFill/>
                  </a:rPr>
                  <a:t> </a:t>
                </a:r>
              </a:p>
            </p:txBody>
          </p:sp>
        </mc:Fallback>
      </mc:AlternateContent>
      <p:pic>
        <p:nvPicPr>
          <p:cNvPr id="12" name="図 11">
            <a:extLst>
              <a:ext uri="{FF2B5EF4-FFF2-40B4-BE49-F238E27FC236}">
                <a16:creationId xmlns:a16="http://schemas.microsoft.com/office/drawing/2014/main" id="{45E41BF5-81EF-5AD9-213D-EBE5C92A10DB}"/>
              </a:ext>
            </a:extLst>
          </p:cNvPr>
          <p:cNvPicPr>
            <a:picLocks noChangeAspect="1"/>
          </p:cNvPicPr>
          <p:nvPr/>
        </p:nvPicPr>
        <p:blipFill>
          <a:blip r:embed="rId12"/>
          <a:stretch>
            <a:fillRect/>
          </a:stretch>
        </p:blipFill>
        <p:spPr>
          <a:xfrm>
            <a:off x="1964376" y="-956720"/>
            <a:ext cx="5060034" cy="3879155"/>
          </a:xfrm>
          <a:prstGeom prst="rect">
            <a:avLst/>
          </a:prstGeom>
        </p:spPr>
      </p:pic>
      <mc:AlternateContent xmlns:mc="http://schemas.openxmlformats.org/markup-compatibility/2006">
        <mc:Choice xmlns:a14="http://schemas.microsoft.com/office/drawing/2010/main" Requires="a14">
          <p:sp>
            <p:nvSpPr>
              <p:cNvPr id="13" name="テキスト ボックス 12">
                <a:extLst>
                  <a:ext uri="{FF2B5EF4-FFF2-40B4-BE49-F238E27FC236}">
                    <a16:creationId xmlns:a16="http://schemas.microsoft.com/office/drawing/2014/main" id="{4F0F0AE4-5B09-19CB-9B2E-2C5C7CDF67E8}"/>
                  </a:ext>
                </a:extLst>
              </p:cNvPr>
              <p:cNvSpPr txBox="1"/>
              <p:nvPr/>
            </p:nvSpPr>
            <p:spPr>
              <a:xfrm>
                <a:off x="5632679" y="5501874"/>
                <a:ext cx="1303114" cy="59971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ea typeface="Cambria Math" panose="02040503050406030204" pitchFamily="18" charset="0"/>
                        </a:rPr>
                        <m:t>𝜔</m:t>
                      </m:r>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𝑋</m:t>
                              </m:r>
                            </m:e>
                            <m:sup>
                              <m:r>
                                <a:rPr kumimoji="1" lang="en-US" altLang="ja-JP" b="0" i="1" smtClean="0">
                                  <a:latin typeface="Cambria Math" panose="02040503050406030204" pitchFamily="18" charset="0"/>
                                </a:rPr>
                                <m:t>𝑡</m:t>
                              </m:r>
                            </m:sup>
                          </m:sSup>
                          <m:r>
                            <a:rPr kumimoji="1" lang="en-US" altLang="ja-JP" b="0" i="1" smtClean="0">
                              <a:latin typeface="Cambria Math" panose="02040503050406030204" pitchFamily="18" charset="0"/>
                            </a:rPr>
                            <m:t>𝑦</m:t>
                          </m:r>
                        </m:num>
                        <m:den>
                          <m:sSub>
                            <m:sSubPr>
                              <m:ctrlPr>
                                <a:rPr kumimoji="1" lang="en-US" altLang="ja-JP" b="0" i="1" smtClean="0">
                                  <a:latin typeface="Cambria Math" panose="02040503050406030204" pitchFamily="18" charset="0"/>
                                </a:rPr>
                              </m:ctrlPr>
                            </m:sSubPr>
                            <m:e>
                              <m:d>
                                <m:dPr>
                                  <m:begChr m:val="‖"/>
                                  <m:endChr m:val="‖"/>
                                  <m:ctrlPr>
                                    <a:rPr kumimoji="1" lang="en-US" altLang="ja-JP" b="0" i="1" smtClean="0">
                                      <a:latin typeface="Cambria Math" panose="02040503050406030204" pitchFamily="18" charset="0"/>
                                    </a:rPr>
                                  </m:ctrlPr>
                                </m:dPr>
                                <m:e>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𝑋</m:t>
                                      </m:r>
                                    </m:e>
                                    <m:sup>
                                      <m:r>
                                        <a:rPr kumimoji="1" lang="en-US" altLang="ja-JP" b="0" i="1" smtClean="0">
                                          <a:latin typeface="Cambria Math" panose="02040503050406030204" pitchFamily="18" charset="0"/>
                                        </a:rPr>
                                        <m:t>𝑇</m:t>
                                      </m:r>
                                    </m:sup>
                                  </m:sSup>
                                  <m:r>
                                    <a:rPr kumimoji="1" lang="en-US" altLang="ja-JP" b="0" i="1" smtClean="0">
                                      <a:latin typeface="Cambria Math" panose="02040503050406030204" pitchFamily="18" charset="0"/>
                                    </a:rPr>
                                    <m:t>𝑦</m:t>
                                  </m:r>
                                </m:e>
                              </m:d>
                            </m:e>
                            <m:sub>
                              <m:r>
                                <a:rPr kumimoji="1" lang="en-US" altLang="ja-JP" b="0" i="1" smtClean="0">
                                  <a:latin typeface="Cambria Math" panose="02040503050406030204" pitchFamily="18" charset="0"/>
                                </a:rPr>
                                <m:t>2</m:t>
                              </m:r>
                            </m:sub>
                          </m:sSub>
                        </m:den>
                      </m:f>
                    </m:oMath>
                  </m:oMathPara>
                </a14:m>
                <a:endParaRPr kumimoji="1" lang="ja-JP" altLang="en-US"/>
              </a:p>
            </p:txBody>
          </p:sp>
        </mc:Choice>
        <mc:Fallback>
          <p:sp>
            <p:nvSpPr>
              <p:cNvPr id="13" name="テキスト ボックス 12">
                <a:extLst>
                  <a:ext uri="{FF2B5EF4-FFF2-40B4-BE49-F238E27FC236}">
                    <a16:creationId xmlns:a16="http://schemas.microsoft.com/office/drawing/2014/main" id="{4F0F0AE4-5B09-19CB-9B2E-2C5C7CDF67E8}"/>
                  </a:ext>
                </a:extLst>
              </p:cNvPr>
              <p:cNvSpPr txBox="1">
                <a:spLocks noRot="1" noChangeAspect="1" noMove="1" noResize="1" noEditPoints="1" noAdjustHandles="1" noChangeArrowheads="1" noChangeShapeType="1" noTextEdit="1"/>
              </p:cNvSpPr>
              <p:nvPr/>
            </p:nvSpPr>
            <p:spPr>
              <a:xfrm>
                <a:off x="5632679" y="5501874"/>
                <a:ext cx="1303114" cy="599716"/>
              </a:xfrm>
              <a:prstGeom prst="rect">
                <a:avLst/>
              </a:prstGeom>
              <a:blipFill>
                <a:blip r:embed="rId13"/>
                <a:stretch>
                  <a:fillRect l="-1923" b="-1458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5928333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2986</TotalTime>
  <Words>930</Words>
  <Application>Microsoft Macintosh PowerPoint</Application>
  <PresentationFormat>ワイド画面</PresentationFormat>
  <Paragraphs>131</Paragraphs>
  <Slides>7</Slides>
  <Notes>0</Notes>
  <HiddenSlides>2</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7</vt:i4>
      </vt:variant>
    </vt:vector>
  </HeadingPairs>
  <TitlesOfParts>
    <vt:vector size="15" baseType="lpstr">
      <vt:lpstr>Google Sans Text</vt:lpstr>
      <vt:lpstr>Meiryo</vt:lpstr>
      <vt:lpstr>游ゴシック</vt:lpstr>
      <vt:lpstr>游ゴシック Light</vt:lpstr>
      <vt:lpstr>Arial</vt:lpstr>
      <vt:lpstr>Cambria Math</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Kawaguchi Teppei</dc:creator>
  <cp:lastModifiedBy>Utsuhara Jo</cp:lastModifiedBy>
  <cp:revision>7</cp:revision>
  <dcterms:created xsi:type="dcterms:W3CDTF">2026-06-04T09:55:44Z</dcterms:created>
  <dcterms:modified xsi:type="dcterms:W3CDTF">2026-06-10T03:49:39Z</dcterms:modified>
</cp:coreProperties>
</file>