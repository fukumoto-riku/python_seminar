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3" r:id="rId15"/>
    <p:sldId id="269" r:id="rId16"/>
    <p:sldId id="270" r:id="rId17"/>
    <p:sldId id="284" r:id="rId18"/>
    <p:sldId id="271" r:id="rId19"/>
    <p:sldId id="272" r:id="rId20"/>
    <p:sldId id="273" r:id="rId21"/>
    <p:sldId id="274" r:id="rId22"/>
    <p:sldId id="275" r:id="rId23"/>
    <p:sldId id="276" r:id="rId24"/>
    <p:sldId id="277" r:id="rId25"/>
    <p:sldId id="278" r:id="rId26"/>
    <p:sldId id="279" r:id="rId27"/>
    <p:sldId id="281" r:id="rId28"/>
    <p:sldId id="28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24"/>
    <p:restoredTop sz="94637"/>
  </p:normalViewPr>
  <p:slideViewPr>
    <p:cSldViewPr snapToGrid="0" snapToObjects="1">
      <p:cViewPr varScale="1">
        <p:scale>
          <a:sx n="149" d="100"/>
          <a:sy n="149" d="100"/>
        </p:scale>
        <p:origin x="1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endParaRPr lang="ja-JP" sz="1200"/>
          </a:p>
        </p:txBody>
      </p:sp>
      <p:sp>
        <p:nvSpPr>
          <p:cNvPr id="4" name="Header Placeholder"/>
          <p:cNvSpPr>
            <a:spLocks noGrp="1"/>
          </p:cNvSpPr>
          <p:nvPr>
            <p:ph type="hdr" sz="quarter" idx="3"/>
          </p:nvPr>
        </p:nvSpPr>
        <p:spPr>
          <a:xfrm>
            <a:off x="685800" y="274638"/>
            <a:ext cx="2971800" cy="457200"/>
          </a:xfrm>
          <a:prstGeom prst="rect">
            <a:avLst/>
          </a:prstGeom>
        </p:spPr>
        <p:txBody>
          <a:bodyPr/>
          <a:lstStyle/>
          <a:p>
            <a:endParaRPr/>
          </a:p>
        </p:txBody>
      </p:sp>
      <p:sp>
        <p:nvSpPr>
          <p:cNvPr id="5" name="Date Placeholder"/>
          <p:cNvSpPr>
            <a:spLocks noGrp="1"/>
          </p:cNvSpPr>
          <p:nvPr>
            <p:ph type="dt" sz="quarter" idx="4"/>
          </p:nvPr>
        </p:nvSpPr>
        <p:spPr>
          <a:xfrm>
            <a:off x="3886200" y="274638"/>
            <a:ext cx="2286000" cy="457200"/>
          </a:xfrm>
          <a:prstGeom prst="rect">
            <a:avLst/>
          </a:prstGeom>
        </p:spPr>
        <p:txBody>
          <a:bodyPr/>
          <a:lstStyle/>
          <a:p>
            <a:endParaRPr/>
          </a:p>
        </p:txBody>
      </p:sp>
      <p:sp>
        <p:nvSpPr>
          <p:cNvPr id="6" name="Footer Placeholder"/>
          <p:cNvSpPr>
            <a:spLocks noGrp="1"/>
          </p:cNvSpPr>
          <p:nvPr>
            <p:ph type="ftr" sz="quarter" idx="5"/>
          </p:nvPr>
        </p:nvSpPr>
        <p:spPr>
          <a:xfrm>
            <a:off x="685800" y="8585200"/>
            <a:ext cx="2971800" cy="457200"/>
          </a:xfrm>
          <a:prstGeom prst="rect">
            <a:avLst/>
          </a:prstGeom>
        </p:spPr>
        <p:txBody>
          <a:bodyPr/>
          <a:lstStyle/>
          <a:p>
            <a:endParaRPr/>
          </a:p>
        </p:txBody>
      </p:sp>
      <p:sp>
        <p:nvSpPr>
          <p:cNvPr id="7" name="Slide Number Placeholder"/>
          <p:cNvSpPr>
            <a:spLocks noGrp="1"/>
          </p:cNvSpPr>
          <p:nvPr>
            <p:ph type="sldNum" sz="quarter" idx="6"/>
          </p:nvPr>
        </p:nvSpPr>
        <p:spPr>
          <a:xfrm>
            <a:off x="3886200" y="8585200"/>
            <a:ext cx="2286000" cy="4572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a:defRPr lang="ja-JP" sz="1200">
        <a:latin typeface="+mn-lt"/>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今日は、適用ドメイン、英語では Applicability Domain について説明します。題材は Boston データを使った回帰モデルです。</a:t>
            </a:r>
          </a:p>
          <a:p>
            <a:r>
              <a:rPr lang="ja-JP" sz="1200"/>
              <a:t>今回のポイントは、予測値そのものだけではなく、その予測をどの範囲まで信じてよいかを可視化することです。材料探索でも、モデルの出力をそのまま採用するのではなく、入力が学習データに近いかどうかを一緒に見ることが重要になり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この回のゴールは 3 つです。1 つ目は、AD の考え方を自分の言葉で説明できることです。2 つ目は、ノートブックのコードが何をしているか追えることです。3 つ目は、AD 内と AD 外で予測値の信頼性をどう読み取るかを理解することです。</a:t>
            </a:r>
          </a:p>
          <a:p>
            <a:r>
              <a:rPr lang="ja-JP" sz="1200"/>
              <a:t>今日見るのは、単なる予測精度ではありません。この予測はどこまで信じてよいのか、という判断材料を作る流れを見ていきます。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適用ドメインとは、モデルが学習データから見て内挿と考えられる入力範囲のことです。図では、黒い点が学習データで、その近くにある点を AD 内、離れている赤い点を AD 外として表しています。</a:t>
            </a:r>
          </a:p>
          <a:p>
            <a:r>
              <a:rPr lang="ja-JP" sz="1200"/>
              <a:t>AD 内の予測は、AD 外の予測より相対的に信頼しやすいと考えます。言い換えると、いま予測したい入力が、過去に見たデータと似ているかどうかを数値化する仕組みです。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通常のモデル評価では、テストデータ全体に対する MAE、RMSE、R2 などを見ます。これは平均的な性能を見るには有効ですが、個々の予測が内挿なのか外挿なのかまでは分かりません。</a:t>
            </a:r>
          </a:p>
          <a:p>
            <a:r>
              <a:rPr lang="ja-JP" sz="1200"/>
              <a:t>外挿領域では誤差が大きくなりやすく、予測の信頼性が下がります。そこで AD を使って、予測値に信頼性のラベルを付けます。ただし、AD は当たる保証ではありません。外挿っぽさを検知する補助情報として使う、という位置づけです。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今回の課題でやることを整理します。目的変数は Boston データの MEDV、検証方法は Hold-Out、AD の手法は kNN 距離です。判定対象は Hold-Out で分けた test data です。</a:t>
            </a:r>
          </a:p>
          <a:p>
            <a:r>
              <a:rPr lang="ja-JP" sz="1200"/>
              <a:t>まず MEDV を目的変数として回帰モデルを作ります。その後、テストデータの各点について、学習データから見て AD 内か AD 外かを判定します。最後に、予測誤差と AD 判定を可視化して、予測値の信頼性を考えます。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全体のワークフローは 6 段階です。まず boston.csv を読み込み、train と test に Hold-Out 分割します。次に標準化を行いますが、fit は train のみに行う点が重要です。</a:t>
            </a:r>
          </a:p>
          <a:p>
            <a:r>
              <a:rPr lang="ja-JP" sz="1200"/>
              <a:t>その後、複数モデルを MAE、RMSE、R2 で比較し、選んだモデルで予測します。AD のしきい値は train の kNN 距離から決め、最後に test が inside か outside かを判定します。この流れは、別のデータセットにも応用できます。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ここでは Boston データの基本情報を確認します。データ数は 506、列数は 14 で、そのうち説明変数が 13、目的変数が MEDV です。欠損値はありません。</a:t>
            </a:r>
          </a:p>
          <a:p>
            <a:r>
              <a:rPr lang="ja-JP" sz="1200"/>
              <a:t>右側の分布を見ると、MEDV は 20 前後に多く、最大値は 50 です。まずデータの件数、列数、欠損、目的変数の分布を確認しておくことで、この後のモデル評価や可視化を解釈しやすくなります。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次に、目的変数 y と説明変数 X を分けます。目的変数は MEDV、説明変数は CRIM から LSTAT までの 13 列です。</a:t>
            </a:r>
          </a:p>
          <a:p>
            <a:r>
              <a:rPr lang="ja-JP" sz="1200"/>
              <a:t>ここで大事なのは、AD の距離計算に使うのは X だけという点です。y、予測値、予測誤差は AD 判定そのものには使いません。つまり AD は、正解を見てから判定するものではなく、入力特徴量が学習データに近いかどうかを見るものです。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Hold-Out 検証では、全体の 25 パーセントを test、残りを train に分けます。この分割では train が 379 件、test が 127 件です。</a:t>
            </a:r>
          </a:p>
          <a:p>
            <a:r>
              <a:rPr lang="ja-JP" sz="1200"/>
              <a:t>train はモデル学習と AD しきい値の作成に使います。test は性能評価と AD 判定に使います。注意点は、test の情報を学習や標準化の fit に混ぜないことです。これを混ぜると、評価が実際より良く見えてしまいます。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kNN 距離のような距離ベースの方法では、特徴量のスケールをそろえる必要があります。例えば、単位や値の範囲が大きい特徴量があると、その特徴量だけが距離を支配してしまいます。</a:t>
            </a:r>
          </a:p>
          <a:p>
            <a:r>
              <a:rPr lang="ja-JP" sz="1200"/>
              <a:t>そこで StandardScaler を使って、各特徴量を平均 0、標準偏差 1 にそろえます。fit_transform は train のみに使い、test には transform だけを使います。この処理も、test の情報を train 側へ漏らさないために重要です。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モデル比較では、MAE、RMSE、R2 を見ます。MAE は平均絶対誤差で、小さいほどよいです。RMSE は大きな誤差をより強く反映します。R2 は決定係数で、1 に近いほどよい指標です。</a:t>
            </a:r>
          </a:p>
          <a:p>
            <a:r>
              <a:rPr lang="ja-JP" sz="1200"/>
              <a:t>このノートブックでは、RMSE が最小のモデルを AD 解析に使います。比較条件をそろえるために、同じ train/test 分割、同じ標準化済み説明変数、同じ評価指標で各モデルを比較します。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比較したモデルは、ベースライン、線形モデル、距離・カーネル法、木モデル、Boosting 系に分けられます。Dummy は平均値を返す基準モデルで、そこからどれだけ改善するかを見るために入れています。</a:t>
            </a:r>
          </a:p>
          <a:p>
            <a:r>
              <a:rPr lang="ja-JP" sz="1200"/>
              <a:t>ここで押さえておきたいのは、AD 判定の仕組みは選んだ回帰モデルとは独立している点です。AD は入力空間での距離を見ます。一方、予測誤差の可視化には、選ばれた最良モデルの予測値を使います。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モデル比較の結果、今回は Gradient Boosting が選ばれました。MAE は 2.028、RMSE は 2.993、R2 は 0.872 です。Dummy モデルより大きく改善しており、回帰モデルとしては十分に予測できていることが分かります。</a:t>
            </a:r>
          </a:p>
          <a:p>
            <a:r>
              <a:rPr lang="ja-JP" sz="1200"/>
              <a:t>ここからは、このモデルの予測値 y_pred を使って、AD 外の点では誤差がどう見えるのかを確認していきます。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ここでは kNN 距離の直感を説明します。図の赤い点が、AD 判定したい対象点です。この点の近くにある学習データを 5 点探し、それぞれの距離 d1 から d5 を測ります。</a:t>
            </a:r>
          </a:p>
          <a:p>
            <a:r>
              <a:rPr lang="ja-JP" sz="1200"/>
              <a:t>そして、この 5 本の距離の平均を、その点の kNN 平均距離とします。平均距離が小さい場合は、周囲に似た学習データが多いという意味です。平均距離が大きい場合は、学習データから離れている、つまり外挿に近い入力だと考えます。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AD の距離計算を少し形式的に書くと、このスライドのようになります。対象点のまわりから近い学習データを k 個探し、今回は k が 5 なので、近い 5 点までの距離を平均します。</a:t>
            </a:r>
          </a:p>
          <a:p>
            <a:r>
              <a:rPr lang="ja-JP" sz="1200"/>
              <a:t>この距離は、標準化後の 13 次元の説明変数空間で、Euclidean distance として計算します。図では 2 次元で描いていますが、実際には 13 個の特徴量を使った空間で近さを測っている点に注意してください。</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次に、AD のしきい値を決めます。距離空間は標準化した説明変数空間、距離指標は Euclidean distance、k は 5 です。しきい値は、学習データ同士の 5 近傍平均距離の 95 パーセンタイルにします。</a:t>
            </a:r>
          </a:p>
          <a:p>
            <a:r>
              <a:rPr lang="ja-JP" sz="1200"/>
              <a:t>コードでは、まず NearestNeighbors に n_neighbors = k + 1 を指定して train に fit します。train から train の近傍を探すと、自分自身が距離 0 で返ってくるため、その列を除いてから 5 近傍の平均を計算します。</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このスライドは、なぜ train では k+1 個、test では k 個を取るのかを説明しています。左側の train 同士の探索では、探索対象の中に対象点自身が含まれます。そのため、最初に距離 0 の自分自身が返ります。</a:t>
            </a:r>
          </a:p>
          <a:p>
            <a:r>
              <a:rPr lang="ja-JP" sz="1200"/>
              <a:t>一方、右側の test から train を探す場合、test 点は train 集合に含まれていません。したがって、距離 0 の自分自身は返りません。train では 0 列目を除外し、test では先頭 k 個をそのまま使う、という違いになります。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95 パーセンタイルは、学習データの典型的な密度を基準にしつつ、上位 5 パーセントの疎な点を境界として扱う考え方です。最大値をしきい値にすると、学習データ中の外れ値に引っ張られやすくなります。</a:t>
            </a:r>
          </a:p>
          <a:p>
            <a:r>
              <a:rPr lang="ja-JP" sz="1200"/>
              <a:t>90、95、99 パーセンタイルのどれを使うかは目的に応じて調整します。厳しくすると AD 外が増え、緩くすると AD 外が減ります。今回は標準的な例として 95 パーセンタイルを使っています。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しきい値が決まったら、test データの AD 判定を行います。test 点から train の近傍を探し、先頭 k 個の距離を平均して test_mean を作ります。</a:t>
            </a:r>
          </a:p>
          <a:p>
            <a:r>
              <a:rPr lang="ja-JP" sz="1200"/>
              <a:t>test_mean が threshold 以下なら AD 内、threshold より大きければ AD 外です。ここでも重要なのは、AD 判定は y_pred の正しさを直接見ていないということです。あくまで、入力特徴量が学習データに近いかどうかで判定しています。</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このノートブックでの AD 設定と結果です。k は 5、距離指標は Euclidean、percentile は 95 パーセント、threshold は 2.435 です。</a:t>
            </a:r>
          </a:p>
          <a:p>
            <a:r>
              <a:rPr lang="ja-JP" sz="1200"/>
              <a:t>今回の分割では、test 全体 127 件のうち、AD 内が 123 件、AD 外が 4 件でした。数としては少ないですが、スクリーニングではこのような AD 外の候補を要確認として扱うことが重要になります。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1 つ目の可視化は、学習データの 5 近傍平均距離の分布です。横軸が train の各点の平均距離、赤い破線が AD しきい値です。</a:t>
            </a:r>
          </a:p>
          <a:p>
            <a:r>
              <a:rPr lang="ja-JP" sz="1200"/>
              <a:t>右側に行くほど、学習データの中でも周囲が疎な点になります。ここで大事なのは、しきい値を test から作っていないことです。train の分布だけを使って境界を決めているので、評価データの情報を使わずに AD を定義しています。</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2 つ目の可視化は、test の kNN 平均距離と予測誤差の関係です。横軸が test の距離、縦軸が絶対誤差、赤い破線より右が AD 外です。</a:t>
            </a:r>
          </a:p>
          <a:p>
            <a:r>
              <a:rPr lang="ja-JP" sz="1200"/>
              <a:t>この図では、AD 外の点で誤差が大きくなりやすい傾向を確認します。ただし、距離が大きければ必ず外れる、距離が小さければ必ず当たる、という意味ではありません。AD は誤差そのものではなく、予測を疑うべきかどうかの補助線です。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3 つ目の可視化は、実測値と予測値の散布図です。点が対角線に近いほど、予測が良いことを表します。色とマーカーで AD 内外を分けることで、予測性能と入力空間での近さを同時に見ることができます。</a:t>
            </a:r>
          </a:p>
          <a:p>
            <a:r>
              <a:rPr lang="ja-JP" sz="1200"/>
              <a:t>AD 外の点は、すべてが大きく外れているわけではありません。ただ、学習データから離れた入力なので、予測値の信頼性は低めに扱います。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ここでは AD 内外で性能を比べています。AD 内は 123 件で、MAE は 1.976、RMSE は 2.927 です。AD 外は 4 件で、MAE は 3.626、RMSE は 4.565 です。</a:t>
            </a:r>
          </a:p>
          <a:p>
            <a:r>
              <a:rPr lang="ja-JP" sz="1200"/>
              <a:t>今回の分割では、AD 外の平均誤差が AD 内より大きくなっています。ただし outside は 4 件だけなので、統計的に強い結論とは言えません。ここでは、AD が予測値を採用するか追加検証するかを考える材料になる、という点を確認します。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AD 外と判定されたサンプルを個別に確認します。距離が大きい順に並べると、どの test 点が学習データから離れているかが分かります。</a:t>
            </a:r>
          </a:p>
          <a:p>
            <a:r>
              <a:rPr lang="ja-JP" sz="1200"/>
              <a:t>例えば sample_413 は AD 外で、絶対誤差も 7.873 と大きいため、予測信頼性に注意する例として説明しやすいです。一方で、sample_415 のように AD 外でも誤差が小さい点もあります。つまり AD 外は必ず外れるという意味ではなく、追加確認すべき候補という意味です。</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ここでは、13 次元の標準化空間を PCA で 2 次元に圧縮して、直感的に見ています。青が train、薄い点が AD 内の test、赤い点が AD 外の test です。</a:t>
            </a:r>
          </a:p>
          <a:p>
            <a:r>
              <a:rPr lang="ja-JP" sz="1200"/>
              <a:t>ただし、AD 判定そのものは PCA 後の 2 次元ではなく、元の 13 次元空間で計算しています。2 次元図は直感を助けますが、距離関係が完全に保存されるわけではないため、説明用の図として扱います。</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AD には限界もあります。AD 内でも予測が外れることはありますし、AD 外でも偶然当たることはあります。また、距離指標、k、percentile の選び方に依存します。特徴量設計が悪ければ、AD の判定も信頼しにくくなります。</a:t>
            </a:r>
          </a:p>
          <a:p>
            <a:r>
              <a:rPr lang="ja-JP" sz="1200"/>
              <a:t>それでも AD が有用なのは、予測値だけでなく、この入力が学習データに近いかどうかを同時に示せるからです。実験コストが高い材料探索では、追加検証すべき候補を選ぶための補助線として役立ちます。</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idx="1"/>
          </p:nvPr>
        </p:nvSpPr>
        <p:spPr>
          <a:xfrm>
            <a:off x="685800" y="685800"/>
            <a:ext cx="5486400" cy="4114800"/>
          </a:xfrm>
          <a:prstGeom prst="rect">
            <a:avLst/>
          </a:prstGeom>
        </p:spPr>
      </p:sp>
      <p:sp>
        <p:nvSpPr>
          <p:cNvPr id="3" name="Notes Placeholder"/>
          <p:cNvSpPr>
            <a:spLocks noGrp="1"/>
          </p:cNvSpPr>
          <p:nvPr>
            <p:ph type="body" idx="2"/>
          </p:nvPr>
        </p:nvSpPr>
        <p:spPr>
          <a:xfrm>
            <a:off x="685800" y="5334000"/>
            <a:ext cx="5486400" cy="3048000"/>
          </a:xfrm>
          <a:prstGeom prst="rect">
            <a:avLst/>
          </a:prstGeom>
        </p:spPr>
        <p:txBody>
          <a:bodyPr/>
          <a:lstStyle/>
          <a:p>
            <a:r>
              <a:rPr lang="ja-JP" sz="1200"/>
              <a:t>最後にまとめです。AD は、モデルが相対的に信頼しやすい入力範囲を表します。今回は、標準化した説明変数空間で kNN 平均距離を使い、train の距離分布の 95 パーセンタイルをしきい値にしました。</a:t>
            </a:r>
          </a:p>
          <a:p>
            <a:r>
              <a:rPr lang="ja-JP" sz="1200"/>
              <a:t>test では 123 件が AD 内、4 件が AD 外になりました。AD 外は予測値をすぐに採用するのではなく、疑って確認する候補として扱います。予測値だけではなく、その予測を使ってよい範囲かも一緒に見る、というのが今回の一番大事な考え方です。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1062990"/>
            <a:ext cx="7863840" cy="891540"/>
          </a:xfrm>
          <a:prstGeom prst="rect">
            <a:avLst/>
          </a:prstGeom>
          <a:noFill/>
        </p:spPr>
        <p:txBody>
          <a:bodyPr wrap="square" lIns="36576" tIns="18288" rIns="36576" bIns="18288" anchor="t">
            <a:normAutofit/>
          </a:bodyPr>
          <a:lstStyle/>
          <a:p>
            <a:pPr algn="ctr">
              <a:spcAft>
                <a:spcPts val="600"/>
              </a:spcAft>
              <a:defRPr sz="4400"/>
            </a:pPr>
            <a:r>
              <a:rPr sz="4400" b="1">
                <a:solidFill>
                  <a:srgbClr val="000000"/>
                </a:solidFill>
                <a:latin typeface="Times New Roman"/>
                <a:ea typeface="Meiryo"/>
                <a:cs typeface="Times New Roman"/>
              </a:rPr>
              <a:t>適用ドメイン</a:t>
            </a:r>
          </a:p>
        </p:txBody>
      </p:sp>
      <p:sp>
        <p:nvSpPr>
          <p:cNvPr id="3" name="TextBox 2"/>
          <p:cNvSpPr txBox="1"/>
          <p:nvPr/>
        </p:nvSpPr>
        <p:spPr>
          <a:xfrm>
            <a:off x="640080" y="2091690"/>
            <a:ext cx="7863840" cy="548640"/>
          </a:xfrm>
          <a:prstGeom prst="rect">
            <a:avLst/>
          </a:prstGeom>
          <a:noFill/>
        </p:spPr>
        <p:txBody>
          <a:bodyPr wrap="square" lIns="36576" tIns="18288" rIns="36576" bIns="18288" anchor="t">
            <a:normAutofit/>
          </a:bodyPr>
          <a:lstStyle/>
          <a:p>
            <a:pPr algn="ctr">
              <a:spcAft>
                <a:spcPts val="600"/>
              </a:spcAft>
              <a:defRPr sz="2800"/>
            </a:pPr>
            <a:r>
              <a:rPr sz="2800" b="0">
                <a:solidFill>
                  <a:srgbClr val="000000"/>
                </a:solidFill>
                <a:latin typeface="Times New Roman"/>
                <a:ea typeface="Meiryo"/>
                <a:cs typeface="Times New Roman"/>
              </a:rPr>
              <a:t>Applicability Domain</a:t>
            </a:r>
          </a:p>
        </p:txBody>
      </p:sp>
      <p:sp>
        <p:nvSpPr>
          <p:cNvPr id="4" name="TextBox 3"/>
          <p:cNvSpPr txBox="1"/>
          <p:nvPr/>
        </p:nvSpPr>
        <p:spPr>
          <a:xfrm>
            <a:off x="640080" y="3257550"/>
            <a:ext cx="7863840" cy="562356"/>
          </a:xfrm>
          <a:prstGeom prst="rect">
            <a:avLst/>
          </a:prstGeom>
          <a:noFill/>
        </p:spPr>
        <p:txBody>
          <a:bodyPr wrap="square" lIns="36576" tIns="18288" rIns="36576" bIns="18288" anchor="t">
            <a:normAutofit fontScale="85000" lnSpcReduction="10000"/>
          </a:bodyPr>
          <a:lstStyle/>
          <a:p>
            <a:pPr algn="ctr">
              <a:spcAft>
                <a:spcPts val="600"/>
              </a:spcAft>
              <a:defRPr sz="2400"/>
            </a:pPr>
            <a:r>
              <a:rPr sz="2400" b="0">
                <a:solidFill>
                  <a:srgbClr val="000000"/>
                </a:solidFill>
                <a:latin typeface="Times New Roman"/>
                <a:ea typeface="Meiryo"/>
                <a:cs typeface="Times New Roman"/>
              </a:rPr>
              <a:t>Boston データの回帰モデルで「予測してよい範囲」を可視化する</a:t>
            </a:r>
          </a:p>
        </p:txBody>
      </p:sp>
      <p:sp>
        <p:nvSpPr>
          <p:cNvPr id="5" name="TextBox 4"/>
          <p:cNvSpPr txBox="1"/>
          <p:nvPr/>
        </p:nvSpPr>
        <p:spPr>
          <a:xfrm>
            <a:off x="640080" y="4903470"/>
            <a:ext cx="7863840" cy="480060"/>
          </a:xfrm>
          <a:prstGeom prst="rect">
            <a:avLst/>
          </a:prstGeom>
          <a:noFill/>
        </p:spPr>
        <p:txBody>
          <a:bodyPr wrap="square" lIns="36576" tIns="18288" rIns="36576" bIns="18288" anchor="t">
            <a:normAutofit/>
          </a:bodyPr>
          <a:lstStyle/>
          <a:p>
            <a:pPr algn="ctr">
              <a:spcAft>
                <a:spcPts val="600"/>
              </a:spcAft>
              <a:defRPr sz="2000"/>
            </a:pPr>
            <a:r>
              <a:rPr sz="2400" b="0">
                <a:solidFill>
                  <a:srgbClr val="000000"/>
                </a:solidFill>
                <a:latin typeface="Times New Roman"/>
                <a:ea typeface="Meiryo"/>
                <a:cs typeface="Times New Roman"/>
              </a:rPr>
              <a:t>Python Seminar 第7回</a:t>
            </a:r>
          </a:p>
        </p:txBody>
      </p:sp>
      <p:sp>
        <p:nvSpPr>
          <p:cNvPr id="6" name="TextBox 5"/>
          <p:cNvSpPr txBox="1"/>
          <p:nvPr/>
        </p:nvSpPr>
        <p:spPr>
          <a:xfrm>
            <a:off x="640080" y="5486400"/>
            <a:ext cx="7863840" cy="377190"/>
          </a:xfrm>
          <a:prstGeom prst="rect">
            <a:avLst/>
          </a:prstGeom>
          <a:noFill/>
        </p:spPr>
        <p:txBody>
          <a:bodyPr wrap="square" lIns="36576" tIns="18288" rIns="36576" bIns="18288" anchor="t">
            <a:noAutofit/>
          </a:bodyPr>
          <a:lstStyle/>
          <a:p>
            <a:pPr algn="ctr">
              <a:spcAft>
                <a:spcPts val="600"/>
              </a:spcAft>
              <a:defRPr sz="1800"/>
            </a:pPr>
            <a:r>
              <a:rPr sz="2400" b="0">
                <a:solidFill>
                  <a:srgbClr val="000000"/>
                </a:solidFill>
                <a:latin typeface="Times New Roman"/>
                <a:ea typeface="Meiryo"/>
                <a:cs typeface="Times New Roman"/>
              </a:rPr>
              <a:t>2026-07-0</a:t>
            </a:r>
            <a:r>
              <a:rPr lang="en-US" sz="2400" b="0">
                <a:solidFill>
                  <a:srgbClr val="000000"/>
                </a:solidFill>
                <a:latin typeface="Times New Roman"/>
                <a:ea typeface="Meiryo"/>
                <a:cs typeface="Times New Roman"/>
              </a:rPr>
              <a:t>7</a:t>
            </a:r>
            <a:endParaRPr sz="2400" b="0">
              <a:solidFill>
                <a:srgbClr val="000000"/>
              </a:solidFill>
              <a:latin typeface="Times New Roman"/>
              <a:ea typeface="Meiryo"/>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a:pPr>
            <a:r>
              <a:rPr sz="3060" b="1">
                <a:solidFill>
                  <a:srgbClr val="000000"/>
                </a:solidFill>
                <a:latin typeface="Times New Roman"/>
                <a:ea typeface="Meiryo"/>
                <a:cs typeface="Times New Roman"/>
              </a:rPr>
              <a:t>この回のゴール</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Rectangle 3"/>
          <p:cNvSpPr/>
          <p:nvPr/>
        </p:nvSpPr>
        <p:spPr>
          <a:xfrm>
            <a:off x="536332" y="1630973"/>
            <a:ext cx="8071338" cy="150876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5" name="TextBox 4"/>
          <p:cNvSpPr txBox="1"/>
          <p:nvPr/>
        </p:nvSpPr>
        <p:spPr>
          <a:xfrm>
            <a:off x="536331" y="1685837"/>
            <a:ext cx="8071337" cy="1399031"/>
          </a:xfrm>
          <a:prstGeom prst="rect">
            <a:avLst/>
          </a:prstGeom>
          <a:noFill/>
        </p:spPr>
        <p:txBody>
          <a:bodyPr wrap="square" lIns="36576" tIns="18288" rIns="36576" bIns="18288">
            <a:noAutofit/>
          </a:bodyPr>
          <a:lstStyle/>
          <a:p>
            <a:pPr>
              <a:spcAft>
                <a:spcPts val="800"/>
              </a:spcAft>
              <a:defRPr/>
            </a:pPr>
            <a:r>
              <a:rPr sz="2800" b="0">
                <a:solidFill>
                  <a:srgbClr val="000000"/>
                </a:solidFill>
                <a:latin typeface="Times New Roman"/>
                <a:ea typeface="Meiryo"/>
                <a:cs typeface="Times New Roman"/>
              </a:rPr>
              <a:t>・ AD の考え方を説明できる</a:t>
            </a:r>
          </a:p>
          <a:p>
            <a:pPr>
              <a:spcAft>
                <a:spcPts val="800"/>
              </a:spcAft>
              <a:defRPr/>
            </a:pPr>
            <a:r>
              <a:rPr sz="2800" b="0">
                <a:solidFill>
                  <a:srgbClr val="000000"/>
                </a:solidFill>
                <a:latin typeface="Times New Roman"/>
                <a:ea typeface="Meiryo"/>
                <a:cs typeface="Times New Roman"/>
              </a:rPr>
              <a:t>・ ノートブックのコードが何をしているか追える</a:t>
            </a:r>
          </a:p>
          <a:p>
            <a:pPr>
              <a:spcAft>
                <a:spcPts val="800"/>
              </a:spcAft>
              <a:defRPr/>
            </a:pPr>
            <a:r>
              <a:rPr sz="2800" b="0">
                <a:solidFill>
                  <a:srgbClr val="000000"/>
                </a:solidFill>
                <a:latin typeface="Times New Roman"/>
                <a:ea typeface="Meiryo"/>
                <a:cs typeface="Times New Roman"/>
              </a:rPr>
              <a:t>・ AD 内外で予測値の信頼性を読み取れる</a:t>
            </a:r>
          </a:p>
        </p:txBody>
      </p:sp>
      <p:sp>
        <p:nvSpPr>
          <p:cNvPr id="7" name="TextBox 6"/>
          <p:cNvSpPr txBox="1"/>
          <p:nvPr/>
        </p:nvSpPr>
        <p:spPr>
          <a:xfrm>
            <a:off x="79130" y="5227027"/>
            <a:ext cx="8985737" cy="365760"/>
          </a:xfrm>
          <a:prstGeom prst="rect">
            <a:avLst/>
          </a:prstGeom>
          <a:noFill/>
        </p:spPr>
        <p:txBody>
          <a:bodyPr wrap="square" lIns="36576" tIns="18288" rIns="36576" bIns="18288" anchor="t">
            <a:noAutofit/>
          </a:bodyPr>
          <a:lstStyle/>
          <a:p>
            <a:pPr algn="l">
              <a:spcAft>
                <a:spcPts val="600"/>
              </a:spcAft>
              <a:defRPr/>
            </a:pPr>
            <a:r>
              <a:rPr sz="2800" b="0">
                <a:solidFill>
                  <a:srgbClr val="000000"/>
                </a:solidFill>
                <a:latin typeface="Times New Roman"/>
                <a:ea typeface="Meiryo"/>
                <a:cs typeface="Times New Roman"/>
              </a:rPr>
              <a:t>「予測精度」ではなく「その予測をどこまで信じるか」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a:pPr>
            <a:r>
              <a:rPr sz="3060" b="1">
                <a:solidFill>
                  <a:srgbClr val="000000"/>
                </a:solidFill>
                <a:latin typeface="Times New Roman"/>
                <a:ea typeface="Meiryo"/>
                <a:cs typeface="Times New Roman"/>
              </a:rPr>
              <a:t>適用ドメインとは何か</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617787" y="1234440"/>
            <a:ext cx="4965966" cy="384048"/>
          </a:xfrm>
          <a:prstGeom prst="rect">
            <a:avLst/>
          </a:prstGeom>
          <a:noFill/>
        </p:spPr>
        <p:txBody>
          <a:bodyPr wrap="square" lIns="36576" tIns="18288" rIns="36576" bIns="18288" anchor="t">
            <a:noAutofit/>
          </a:bodyPr>
          <a:lstStyle/>
          <a:p>
            <a:pPr algn="l">
              <a:spcAft>
                <a:spcPts val="600"/>
              </a:spcAft>
              <a:defRPr/>
            </a:pPr>
            <a:r>
              <a:rPr sz="3200" b="1">
                <a:solidFill>
                  <a:srgbClr val="000000"/>
                </a:solidFill>
                <a:latin typeface="Times New Roman"/>
                <a:ea typeface="Meiryo"/>
                <a:cs typeface="Times New Roman"/>
              </a:rPr>
              <a:t>Applicability Domain (AD)</a:t>
            </a:r>
          </a:p>
        </p:txBody>
      </p:sp>
      <p:sp>
        <p:nvSpPr>
          <p:cNvPr id="5" name="TextBox 4"/>
          <p:cNvSpPr txBox="1"/>
          <p:nvPr/>
        </p:nvSpPr>
        <p:spPr>
          <a:xfrm>
            <a:off x="534415" y="2400931"/>
            <a:ext cx="4965966" cy="2896186"/>
          </a:xfrm>
          <a:prstGeom prst="rect">
            <a:avLst/>
          </a:prstGeom>
          <a:noFill/>
        </p:spPr>
        <p:txBody>
          <a:bodyPr wrap="square" lIns="36576" tIns="18288" rIns="36576" bIns="18288">
            <a:normAutofit lnSpcReduction="10000"/>
          </a:bodyPr>
          <a:lstStyle/>
          <a:p>
            <a:pPr>
              <a:spcAft>
                <a:spcPts val="800"/>
              </a:spcAft>
              <a:defRPr/>
            </a:pPr>
            <a:r>
              <a:rPr sz="2400" b="0">
                <a:solidFill>
                  <a:srgbClr val="000000"/>
                </a:solidFill>
                <a:latin typeface="Times New Roman"/>
                <a:ea typeface="Meiryo"/>
                <a:cs typeface="Times New Roman"/>
              </a:rPr>
              <a:t>・ モデルが学習データから見て</a:t>
            </a:r>
            <a:endParaRPr lang="en-US" sz="2400" b="0">
              <a:solidFill>
                <a:srgbClr val="000000"/>
              </a:solidFill>
              <a:latin typeface="Times New Roman"/>
              <a:ea typeface="Meiryo"/>
              <a:cs typeface="Times New Roman"/>
            </a:endParaRPr>
          </a:p>
          <a:p>
            <a:pPr>
              <a:spcAft>
                <a:spcPts val="800"/>
              </a:spcAft>
              <a:defRPr/>
            </a:pPr>
            <a:r>
              <a:rPr sz="2400" b="0">
                <a:solidFill>
                  <a:srgbClr val="000000"/>
                </a:solidFill>
                <a:latin typeface="Times New Roman"/>
                <a:ea typeface="Meiryo"/>
                <a:cs typeface="Times New Roman"/>
              </a:rPr>
              <a:t>「内挿」と考えられる範囲</a:t>
            </a:r>
          </a:p>
          <a:p>
            <a:pPr>
              <a:spcAft>
                <a:spcPts val="800"/>
              </a:spcAft>
              <a:defRPr/>
            </a:pPr>
            <a:r>
              <a:rPr sz="2400" b="0">
                <a:solidFill>
                  <a:srgbClr val="000000"/>
                </a:solidFill>
                <a:latin typeface="Times New Roman"/>
                <a:ea typeface="Meiryo"/>
                <a:cs typeface="Times New Roman"/>
              </a:rPr>
              <a:t>・ 範囲内の予測は、範囲外より</a:t>
            </a:r>
            <a:endParaRPr lang="en-US" sz="2400" b="0">
              <a:solidFill>
                <a:srgbClr val="000000"/>
              </a:solidFill>
              <a:latin typeface="Times New Roman"/>
              <a:ea typeface="Meiryo"/>
              <a:cs typeface="Times New Roman"/>
            </a:endParaRPr>
          </a:p>
          <a:p>
            <a:pPr>
              <a:spcAft>
                <a:spcPts val="800"/>
              </a:spcAft>
              <a:defRPr/>
            </a:pPr>
            <a:r>
              <a:rPr sz="2400" b="0">
                <a:solidFill>
                  <a:srgbClr val="000000"/>
                </a:solidFill>
                <a:latin typeface="Times New Roman"/>
                <a:ea typeface="Meiryo"/>
                <a:cs typeface="Times New Roman"/>
              </a:rPr>
              <a:t>相対的に信頼しやすい</a:t>
            </a:r>
          </a:p>
          <a:p>
            <a:pPr>
              <a:spcAft>
                <a:spcPts val="800"/>
              </a:spcAft>
              <a:defRPr/>
            </a:pPr>
            <a:r>
              <a:rPr sz="2400" b="0">
                <a:solidFill>
                  <a:srgbClr val="000000"/>
                </a:solidFill>
                <a:latin typeface="Times New Roman"/>
                <a:ea typeface="Meiryo"/>
                <a:cs typeface="Times New Roman"/>
              </a:rPr>
              <a:t>・ 言い換えると「この入力は、</a:t>
            </a:r>
            <a:endParaRPr lang="en-US" sz="2400" b="0">
              <a:solidFill>
                <a:srgbClr val="000000"/>
              </a:solidFill>
              <a:latin typeface="Times New Roman"/>
              <a:ea typeface="Meiryo"/>
              <a:cs typeface="Times New Roman"/>
            </a:endParaRPr>
          </a:p>
          <a:p>
            <a:pPr>
              <a:spcAft>
                <a:spcPts val="800"/>
              </a:spcAft>
              <a:defRPr/>
            </a:pPr>
            <a:r>
              <a:rPr sz="2400" b="0">
                <a:solidFill>
                  <a:srgbClr val="000000"/>
                </a:solidFill>
                <a:latin typeface="Times New Roman"/>
                <a:ea typeface="Meiryo"/>
                <a:cs typeface="Times New Roman"/>
              </a:rPr>
              <a:t>過去に見たデータと似ているか？」を数値化する仕組み</a:t>
            </a:r>
          </a:p>
        </p:txBody>
      </p:sp>
      <p:sp>
        <p:nvSpPr>
          <p:cNvPr id="6" name="Rectangle 5"/>
          <p:cNvSpPr/>
          <p:nvPr/>
        </p:nvSpPr>
        <p:spPr>
          <a:xfrm>
            <a:off x="5741072" y="2064433"/>
            <a:ext cx="2991448" cy="329184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7" name="Oval 6"/>
          <p:cNvSpPr/>
          <p:nvPr/>
        </p:nvSpPr>
        <p:spPr>
          <a:xfrm>
            <a:off x="6153686" y="2748721"/>
            <a:ext cx="1512916" cy="1100303"/>
          </a:xfrm>
          <a:prstGeom prst="ellipse">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8" name="Oval 7"/>
          <p:cNvSpPr/>
          <p:nvPr/>
        </p:nvSpPr>
        <p:spPr>
          <a:xfrm>
            <a:off x="6359992" y="3086143"/>
            <a:ext cx="96276" cy="9627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9" name="Oval 8"/>
          <p:cNvSpPr/>
          <p:nvPr/>
        </p:nvSpPr>
        <p:spPr>
          <a:xfrm>
            <a:off x="6566299" y="2903263"/>
            <a:ext cx="96276" cy="9627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0" name="Oval 9"/>
          <p:cNvSpPr/>
          <p:nvPr/>
        </p:nvSpPr>
        <p:spPr>
          <a:xfrm>
            <a:off x="6841375" y="3314743"/>
            <a:ext cx="96276" cy="9627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1" name="Oval 10"/>
          <p:cNvSpPr/>
          <p:nvPr/>
        </p:nvSpPr>
        <p:spPr>
          <a:xfrm>
            <a:off x="7082066" y="3040423"/>
            <a:ext cx="96276" cy="9627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2" name="Oval 11"/>
          <p:cNvSpPr/>
          <p:nvPr/>
        </p:nvSpPr>
        <p:spPr>
          <a:xfrm>
            <a:off x="7322757" y="3406183"/>
            <a:ext cx="96276" cy="9627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3" name="Oval 12"/>
          <p:cNvSpPr/>
          <p:nvPr/>
        </p:nvSpPr>
        <p:spPr>
          <a:xfrm>
            <a:off x="6806990" y="3065512"/>
            <a:ext cx="137538" cy="137538"/>
          </a:xfrm>
          <a:prstGeom prst="ellipse">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4" name="Oval 13"/>
          <p:cNvSpPr/>
          <p:nvPr/>
        </p:nvSpPr>
        <p:spPr>
          <a:xfrm>
            <a:off x="8044831" y="4466811"/>
            <a:ext cx="151292" cy="151292"/>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5" name="TextBox 14"/>
          <p:cNvSpPr txBox="1"/>
          <p:nvPr/>
        </p:nvSpPr>
        <p:spPr>
          <a:xfrm>
            <a:off x="6497530" y="4167553"/>
            <a:ext cx="825227" cy="320040"/>
          </a:xfrm>
          <a:prstGeom prst="rect">
            <a:avLst/>
          </a:prstGeom>
          <a:noFill/>
        </p:spPr>
        <p:txBody>
          <a:bodyPr wrap="square" lIns="36576" tIns="18288" rIns="36576" bIns="18288" anchor="t">
            <a:normAutofit/>
          </a:bodyPr>
          <a:lstStyle/>
          <a:p>
            <a:pPr algn="ctr">
              <a:spcAft>
                <a:spcPts val="600"/>
              </a:spcAft>
              <a:defRPr/>
            </a:pPr>
            <a:r>
              <a:rPr sz="1848" b="0">
                <a:solidFill>
                  <a:srgbClr val="000000"/>
                </a:solidFill>
                <a:latin typeface="Times New Roman"/>
                <a:ea typeface="Meiryo"/>
                <a:cs typeface="Times New Roman"/>
              </a:rPr>
              <a:t>AD 内</a:t>
            </a:r>
          </a:p>
        </p:txBody>
      </p:sp>
      <p:sp>
        <p:nvSpPr>
          <p:cNvPr id="16" name="TextBox 15"/>
          <p:cNvSpPr txBox="1"/>
          <p:nvPr/>
        </p:nvSpPr>
        <p:spPr>
          <a:xfrm>
            <a:off x="7735371" y="4716192"/>
            <a:ext cx="825227" cy="320040"/>
          </a:xfrm>
          <a:prstGeom prst="rect">
            <a:avLst/>
          </a:prstGeom>
          <a:noFill/>
        </p:spPr>
        <p:txBody>
          <a:bodyPr wrap="square" lIns="36576" tIns="18288" rIns="36576" bIns="18288" anchor="t">
            <a:normAutofit/>
          </a:bodyPr>
          <a:lstStyle/>
          <a:p>
            <a:pPr algn="ctr">
              <a:spcAft>
                <a:spcPts val="600"/>
              </a:spcAft>
              <a:defRPr/>
            </a:pPr>
            <a:r>
              <a:rPr sz="1848" b="0">
                <a:solidFill>
                  <a:srgbClr val="000000"/>
                </a:solidFill>
                <a:latin typeface="Times New Roman"/>
                <a:ea typeface="Meiryo"/>
                <a:cs typeface="Times New Roman"/>
              </a:rPr>
              <a:t>AD 外</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なぜ AD が必要か</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594360" y="1209294"/>
            <a:ext cx="7955280" cy="2073402"/>
          </a:xfrm>
          <a:prstGeom prst="rect">
            <a:avLst/>
          </a:prstGeom>
          <a:noFill/>
        </p:spPr>
        <p:txBody>
          <a:bodyPr wrap="square" lIns="36576" tIns="18288" rIns="36576" bIns="18288">
            <a:noAutofit/>
          </a:bodyPr>
          <a:lstStyle/>
          <a:p>
            <a:pPr>
              <a:defRPr sz="2350"/>
            </a:pPr>
            <a:r>
              <a:rPr sz="2200" b="0">
                <a:solidFill>
                  <a:srgbClr val="000000"/>
                </a:solidFill>
                <a:latin typeface="Times New Roman"/>
                <a:ea typeface="Meiryo"/>
                <a:cs typeface="Times New Roman"/>
              </a:rPr>
              <a:t>・ 通常の予測評価では、テストデータ全体の MAE / RMSE / R2 を見る</a:t>
            </a:r>
          </a:p>
          <a:p>
            <a:pPr>
              <a:defRPr sz="2350"/>
            </a:pPr>
            <a:r>
              <a:rPr sz="2200" b="0">
                <a:solidFill>
                  <a:srgbClr val="000000"/>
                </a:solidFill>
                <a:latin typeface="Times New Roman"/>
                <a:ea typeface="Meiryo"/>
                <a:cs typeface="Times New Roman"/>
              </a:rPr>
              <a:t>・ 平均的な性能は分かるが、個々の予測が内挿か外挿かは</a:t>
            </a:r>
            <a:endParaRPr lang="en-US" sz="2200" b="0">
              <a:solidFill>
                <a:srgbClr val="000000"/>
              </a:solidFill>
              <a:latin typeface="Times New Roman"/>
              <a:ea typeface="Meiryo"/>
              <a:cs typeface="Times New Roman"/>
            </a:endParaRPr>
          </a:p>
          <a:p>
            <a:pPr>
              <a:defRPr sz="2350"/>
            </a:pPr>
            <a:r>
              <a:rPr sz="2200" b="0">
                <a:solidFill>
                  <a:srgbClr val="000000"/>
                </a:solidFill>
                <a:latin typeface="Times New Roman"/>
                <a:ea typeface="Meiryo"/>
                <a:cs typeface="Times New Roman"/>
              </a:rPr>
              <a:t>分からない</a:t>
            </a:r>
          </a:p>
          <a:p>
            <a:pPr>
              <a:defRPr sz="2350"/>
            </a:pPr>
            <a:r>
              <a:rPr sz="2200" b="0">
                <a:solidFill>
                  <a:srgbClr val="000000"/>
                </a:solidFill>
                <a:latin typeface="Times New Roman"/>
                <a:ea typeface="Meiryo"/>
                <a:cs typeface="Times New Roman"/>
              </a:rPr>
              <a:t>・ 外挿領域では誤差が大きくなりやすく、予測の信頼性が</a:t>
            </a:r>
            <a:endParaRPr lang="en-US" sz="2200" b="0">
              <a:solidFill>
                <a:srgbClr val="000000"/>
              </a:solidFill>
              <a:latin typeface="Times New Roman"/>
              <a:ea typeface="Meiryo"/>
              <a:cs typeface="Times New Roman"/>
            </a:endParaRPr>
          </a:p>
          <a:p>
            <a:pPr>
              <a:defRPr sz="2350"/>
            </a:pPr>
            <a:r>
              <a:rPr sz="2200" b="0">
                <a:solidFill>
                  <a:srgbClr val="000000"/>
                </a:solidFill>
                <a:latin typeface="Times New Roman"/>
                <a:ea typeface="Meiryo"/>
                <a:cs typeface="Times New Roman"/>
              </a:rPr>
              <a:t>下がる</a:t>
            </a:r>
          </a:p>
        </p:txBody>
      </p:sp>
      <p:sp>
        <p:nvSpPr>
          <p:cNvPr id="5" name="Rectangle 4"/>
          <p:cNvSpPr/>
          <p:nvPr/>
        </p:nvSpPr>
        <p:spPr>
          <a:xfrm>
            <a:off x="411480" y="4067497"/>
            <a:ext cx="8321040" cy="171450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6" name="TextBox 5"/>
          <p:cNvSpPr txBox="1"/>
          <p:nvPr/>
        </p:nvSpPr>
        <p:spPr>
          <a:xfrm>
            <a:off x="411480" y="4149793"/>
            <a:ext cx="8321040" cy="1543050"/>
          </a:xfrm>
          <a:prstGeom prst="rect">
            <a:avLst/>
          </a:prstGeom>
          <a:noFill/>
        </p:spPr>
        <p:txBody>
          <a:bodyPr wrap="square" lIns="36576" tIns="18288" rIns="36576" bIns="18288">
            <a:normAutofit/>
          </a:bodyPr>
          <a:lstStyle/>
          <a:p>
            <a:pPr>
              <a:spcAft>
                <a:spcPts val="800"/>
              </a:spcAft>
              <a:defRPr sz="2300"/>
            </a:pPr>
            <a:r>
              <a:rPr sz="2300" b="1">
                <a:solidFill>
                  <a:srgbClr val="000000"/>
                </a:solidFill>
                <a:latin typeface="Times New Roman"/>
                <a:ea typeface="Meiryo"/>
                <a:cs typeface="Times New Roman"/>
              </a:rPr>
              <a:t>AD の役割</a:t>
            </a:r>
          </a:p>
          <a:p>
            <a:pPr>
              <a:spcAft>
                <a:spcPts val="800"/>
              </a:spcAft>
              <a:defRPr sz="2300"/>
            </a:pPr>
            <a:r>
              <a:rPr sz="2300" b="0">
                <a:solidFill>
                  <a:srgbClr val="000000"/>
                </a:solidFill>
                <a:latin typeface="Times New Roman"/>
                <a:ea typeface="Meiryo"/>
                <a:cs typeface="Times New Roman"/>
              </a:rPr>
              <a:t>予測値に「信頼性のラベル」を付ける</a:t>
            </a:r>
          </a:p>
          <a:p>
            <a:pPr>
              <a:spcAft>
                <a:spcPts val="800"/>
              </a:spcAft>
              <a:defRPr sz="2300"/>
            </a:pPr>
            <a:r>
              <a:rPr sz="2300" b="0">
                <a:solidFill>
                  <a:srgbClr val="000000"/>
                </a:solidFill>
                <a:latin typeface="Times New Roman"/>
                <a:ea typeface="Meiryo"/>
                <a:cs typeface="Times New Roman"/>
              </a:rPr>
              <a:t>スクリーニングでは、候補を優先順位づけしやすくなる</a:t>
            </a:r>
          </a:p>
        </p:txBody>
      </p:sp>
      <p:sp>
        <p:nvSpPr>
          <p:cNvPr id="7" name="TextBox 6"/>
          <p:cNvSpPr txBox="1"/>
          <p:nvPr/>
        </p:nvSpPr>
        <p:spPr>
          <a:xfrm>
            <a:off x="594360" y="6147054"/>
            <a:ext cx="7955280" cy="480060"/>
          </a:xfrm>
          <a:prstGeom prst="rect">
            <a:avLst/>
          </a:prstGeom>
          <a:noFill/>
        </p:spPr>
        <p:txBody>
          <a:bodyPr wrap="square" lIns="36576" tIns="18288" rIns="36576" bIns="18288" anchor="t">
            <a:normAutofit fontScale="92500"/>
          </a:bodyPr>
          <a:lstStyle/>
          <a:p>
            <a:pPr algn="l">
              <a:spcAft>
                <a:spcPts val="600"/>
              </a:spcAft>
              <a:defRPr sz="2050"/>
            </a:pPr>
            <a:r>
              <a:rPr sz="2050" b="0">
                <a:solidFill>
                  <a:srgbClr val="000000"/>
                </a:solidFill>
                <a:latin typeface="Times New Roman"/>
                <a:ea typeface="Meiryo"/>
                <a:cs typeface="Times New Roman"/>
              </a:rPr>
              <a:t>AD = 「予測が当たる保証」ではなく「外挿っぽさを検知する補助情報」</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今回の課題でやること</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46820641"/>
              </p:ext>
            </p:extLst>
          </p:nvPr>
        </p:nvGraphicFramePr>
        <p:xfrm>
          <a:off x="548640" y="1179576"/>
          <a:ext cx="3163370" cy="2834640"/>
        </p:xfrm>
        <a:graphic>
          <a:graphicData uri="http://schemas.openxmlformats.org/drawingml/2006/table">
            <a:tbl>
              <a:tblPr firstRow="1" bandRow="1">
                <a:tableStyleId>{5C22544A-7EE6-4342-B048-85BDC9FD1C3A}</a:tableStyleId>
              </a:tblPr>
              <a:tblGrid>
                <a:gridCol w="1169072">
                  <a:extLst>
                    <a:ext uri="{9D8B030D-6E8A-4147-A177-3AD203B41FA5}">
                      <a16:colId xmlns:a16="http://schemas.microsoft.com/office/drawing/2014/main" val="20000"/>
                    </a:ext>
                  </a:extLst>
                </a:gridCol>
                <a:gridCol w="1994298">
                  <a:extLst>
                    <a:ext uri="{9D8B030D-6E8A-4147-A177-3AD203B41FA5}">
                      <a16:colId xmlns:a16="http://schemas.microsoft.com/office/drawing/2014/main" val="20001"/>
                    </a:ext>
                  </a:extLst>
                </a:gridCol>
              </a:tblGrid>
              <a:tr h="566928">
                <a:tc>
                  <a:txBody>
                    <a:bodyPr/>
                    <a:lstStyle/>
                    <a:p>
                      <a:pPr algn="ctr">
                        <a:defRPr sz="1950"/>
                      </a:pPr>
                      <a:r>
                        <a:rPr sz="1950" b="1">
                          <a:solidFill>
                            <a:srgbClr val="000000"/>
                          </a:solidFill>
                          <a:latin typeface="Times New Roman"/>
                          <a:ea typeface="Meiryo"/>
                          <a:cs typeface="Times New Roman"/>
                        </a:rPr>
                        <a:t>項目</a:t>
                      </a:r>
                    </a:p>
                  </a:txBody>
                  <a:tcPr marL="54864" marR="54864" marT="27432" marB="27432" anchor="ctr">
                    <a:solidFill>
                      <a:srgbClr val="D9D9D9"/>
                    </a:solidFill>
                  </a:tcPr>
                </a:tc>
                <a:tc>
                  <a:txBody>
                    <a:bodyPr/>
                    <a:lstStyle/>
                    <a:p>
                      <a:pPr algn="ctr">
                        <a:defRPr sz="1950"/>
                      </a:pPr>
                      <a:r>
                        <a:rPr sz="1950" b="1">
                          <a:solidFill>
                            <a:srgbClr val="000000"/>
                          </a:solidFill>
                          <a:latin typeface="Times New Roman"/>
                          <a:ea typeface="Meiryo"/>
                          <a:cs typeface="Times New Roman"/>
                        </a:rPr>
                        <a:t>内容</a:t>
                      </a:r>
                    </a:p>
                  </a:txBody>
                  <a:tcPr marL="54864" marR="54864" marT="27432" marB="27432" anchor="ctr">
                    <a:solidFill>
                      <a:srgbClr val="D9D9D9"/>
                    </a:solidFill>
                  </a:tcPr>
                </a:tc>
                <a:extLst>
                  <a:ext uri="{0D108BD9-81ED-4DB2-BD59-A6C34878D82A}">
                    <a16:rowId xmlns:a16="http://schemas.microsoft.com/office/drawing/2014/main" val="10000"/>
                  </a:ext>
                </a:extLst>
              </a:tr>
              <a:tr h="566928">
                <a:tc>
                  <a:txBody>
                    <a:bodyPr/>
                    <a:lstStyle/>
                    <a:p>
                      <a:pPr algn="ctr">
                        <a:defRPr sz="1950"/>
                      </a:pPr>
                      <a:r>
                        <a:rPr sz="1950" b="0">
                          <a:solidFill>
                            <a:srgbClr val="000000"/>
                          </a:solidFill>
                          <a:latin typeface="Times New Roman"/>
                          <a:ea typeface="Meiryo"/>
                          <a:cs typeface="Times New Roman"/>
                        </a:rPr>
                        <a:t>目的変数</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MEDV</a:t>
                      </a:r>
                    </a:p>
                  </a:txBody>
                  <a:tcPr marL="54864" marR="54864" marT="27432" marB="27432" anchor="ctr">
                    <a:solidFill>
                      <a:srgbClr val="FFFFFF"/>
                    </a:solidFill>
                  </a:tcPr>
                </a:tc>
                <a:extLst>
                  <a:ext uri="{0D108BD9-81ED-4DB2-BD59-A6C34878D82A}">
                    <a16:rowId xmlns:a16="http://schemas.microsoft.com/office/drawing/2014/main" val="10001"/>
                  </a:ext>
                </a:extLst>
              </a:tr>
              <a:tr h="566928">
                <a:tc>
                  <a:txBody>
                    <a:bodyPr/>
                    <a:lstStyle/>
                    <a:p>
                      <a:pPr algn="ctr">
                        <a:defRPr sz="1950"/>
                      </a:pPr>
                      <a:r>
                        <a:rPr sz="1950" b="0">
                          <a:solidFill>
                            <a:srgbClr val="000000"/>
                          </a:solidFill>
                          <a:latin typeface="Times New Roman"/>
                          <a:ea typeface="Meiryo"/>
                          <a:cs typeface="Times New Roman"/>
                        </a:rPr>
                        <a:t>検証方法</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Hold-Out</a:t>
                      </a:r>
                    </a:p>
                  </a:txBody>
                  <a:tcPr marL="54864" marR="54864" marT="27432" marB="27432" anchor="ctr">
                    <a:solidFill>
                      <a:srgbClr val="FFFFFF"/>
                    </a:solidFill>
                  </a:tcPr>
                </a:tc>
                <a:extLst>
                  <a:ext uri="{0D108BD9-81ED-4DB2-BD59-A6C34878D82A}">
                    <a16:rowId xmlns:a16="http://schemas.microsoft.com/office/drawing/2014/main" val="10002"/>
                  </a:ext>
                </a:extLst>
              </a:tr>
              <a:tr h="566928">
                <a:tc>
                  <a:txBody>
                    <a:bodyPr/>
                    <a:lstStyle/>
                    <a:p>
                      <a:pPr algn="ctr">
                        <a:defRPr sz="1950"/>
                      </a:pPr>
                      <a:r>
                        <a:rPr sz="1950" b="0">
                          <a:solidFill>
                            <a:srgbClr val="000000"/>
                          </a:solidFill>
                          <a:latin typeface="Times New Roman"/>
                          <a:ea typeface="Meiryo"/>
                          <a:cs typeface="Times New Roman"/>
                        </a:rPr>
                        <a:t>AD 手法</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kNN 距離</a:t>
                      </a:r>
                    </a:p>
                  </a:txBody>
                  <a:tcPr marL="54864" marR="54864" marT="27432" marB="27432" anchor="ctr">
                    <a:solidFill>
                      <a:srgbClr val="FFFFFF"/>
                    </a:solidFill>
                  </a:tcPr>
                </a:tc>
                <a:extLst>
                  <a:ext uri="{0D108BD9-81ED-4DB2-BD59-A6C34878D82A}">
                    <a16:rowId xmlns:a16="http://schemas.microsoft.com/office/drawing/2014/main" val="10003"/>
                  </a:ext>
                </a:extLst>
              </a:tr>
              <a:tr h="566928">
                <a:tc>
                  <a:txBody>
                    <a:bodyPr/>
                    <a:lstStyle/>
                    <a:p>
                      <a:pPr algn="ctr">
                        <a:defRPr sz="1950"/>
                      </a:pPr>
                      <a:r>
                        <a:rPr sz="1950" b="0">
                          <a:solidFill>
                            <a:srgbClr val="000000"/>
                          </a:solidFill>
                          <a:latin typeface="Times New Roman"/>
                          <a:ea typeface="Meiryo"/>
                          <a:cs typeface="Times New Roman"/>
                        </a:rPr>
                        <a:t>判定対象</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test data</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3930161" y="1220724"/>
            <a:ext cx="5081953" cy="2894076"/>
          </a:xfrm>
          <a:prstGeom prst="rect">
            <a:avLst/>
          </a:prstGeom>
          <a:noFill/>
        </p:spPr>
        <p:txBody>
          <a:bodyPr wrap="square" lIns="36576" tIns="18288" rIns="36576" bIns="18288">
            <a:noAutofit/>
          </a:bodyPr>
          <a:lstStyle/>
          <a:p>
            <a:pPr>
              <a:defRPr sz="2250"/>
            </a:pPr>
            <a:r>
              <a:rPr sz="2400" b="0">
                <a:solidFill>
                  <a:srgbClr val="000000"/>
                </a:solidFill>
                <a:latin typeface="Times New Roman"/>
                <a:ea typeface="Meiryo"/>
                <a:cs typeface="Times New Roman"/>
              </a:rPr>
              <a:t>・ boston.csv の MEDV を目的変数</a:t>
            </a:r>
            <a:endParaRPr lang="en-US" sz="2400" b="0">
              <a:solidFill>
                <a:srgbClr val="000000"/>
              </a:solidFill>
              <a:latin typeface="Times New Roman"/>
              <a:ea typeface="Meiryo"/>
              <a:cs typeface="Times New Roman"/>
            </a:endParaRPr>
          </a:p>
          <a:p>
            <a:pPr>
              <a:defRPr sz="2250"/>
            </a:pPr>
            <a:r>
              <a:rPr sz="2400" b="0">
                <a:solidFill>
                  <a:srgbClr val="000000"/>
                </a:solidFill>
                <a:latin typeface="Times New Roman"/>
                <a:ea typeface="Meiryo"/>
                <a:cs typeface="Times New Roman"/>
              </a:rPr>
              <a:t>として回帰モデルを作成する</a:t>
            </a:r>
          </a:p>
          <a:p>
            <a:pPr>
              <a:defRPr sz="2250"/>
            </a:pPr>
            <a:r>
              <a:rPr sz="2400" b="0">
                <a:solidFill>
                  <a:srgbClr val="000000"/>
                </a:solidFill>
                <a:latin typeface="Times New Roman"/>
                <a:ea typeface="Meiryo"/>
                <a:cs typeface="Times New Roman"/>
              </a:rPr>
              <a:t>・ Hold-Out で得られたテストデータについて、AD 内か AD 外かを判定する</a:t>
            </a:r>
          </a:p>
          <a:p>
            <a:pPr>
              <a:defRPr sz="2250"/>
            </a:pPr>
            <a:r>
              <a:rPr sz="2400" b="0">
                <a:solidFill>
                  <a:srgbClr val="000000"/>
                </a:solidFill>
                <a:latin typeface="Times New Roman"/>
                <a:ea typeface="Meiryo"/>
                <a:cs typeface="Times New Roman"/>
              </a:rPr>
              <a:t>・ 予測誤差と AD 判定を可視化し、予測値の信頼性を考える</a:t>
            </a:r>
          </a:p>
        </p:txBody>
      </p:sp>
      <p:sp>
        <p:nvSpPr>
          <p:cNvPr id="6" name="Rectangle 5"/>
          <p:cNvSpPr/>
          <p:nvPr/>
        </p:nvSpPr>
        <p:spPr>
          <a:xfrm>
            <a:off x="4160520" y="4562856"/>
            <a:ext cx="4572000" cy="205740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7" name="TextBox 6"/>
          <p:cNvSpPr txBox="1"/>
          <p:nvPr/>
        </p:nvSpPr>
        <p:spPr>
          <a:xfrm>
            <a:off x="4251960" y="4645152"/>
            <a:ext cx="4370832" cy="1892808"/>
          </a:xfrm>
          <a:prstGeom prst="rect">
            <a:avLst/>
          </a:prstGeom>
          <a:noFill/>
        </p:spPr>
        <p:txBody>
          <a:bodyPr wrap="square" lIns="50800" tIns="50800" rIns="50800" bIns="50800">
            <a:normAutofit fontScale="92500" lnSpcReduction="20000"/>
          </a:bodyPr>
          <a:lstStyle/>
          <a:p>
            <a:pPr>
              <a:spcAft>
                <a:spcPts val="600"/>
              </a:spcAft>
              <a:defRPr sz="1620"/>
            </a:pPr>
            <a:r>
              <a:rPr sz="1620" b="0">
                <a:solidFill>
                  <a:srgbClr val="000000"/>
                </a:solidFill>
                <a:latin typeface="Times New Roman"/>
                <a:ea typeface="Meiryo"/>
                <a:cs typeface="Times New Roman"/>
              </a:rPr>
              <a:t>target_col = 'MEDV'
X = df.drop(columns=target_col)
y = df[target_col]
X_train, X_test, y_train, y_test = train_test_split(
    X, y, test_size=0.25, random_state=42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全体ワークフロー</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Rectangle 3"/>
          <p:cNvSpPr/>
          <p:nvPr/>
        </p:nvSpPr>
        <p:spPr>
          <a:xfrm>
            <a:off x="617787" y="12344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5" name="TextBox 4"/>
          <p:cNvSpPr txBox="1"/>
          <p:nvPr/>
        </p:nvSpPr>
        <p:spPr>
          <a:xfrm>
            <a:off x="720940" y="13990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1. データ読込</a:t>
            </a:r>
          </a:p>
        </p:txBody>
      </p:sp>
      <p:sp>
        <p:nvSpPr>
          <p:cNvPr id="6" name="TextBox 5"/>
          <p:cNvSpPr txBox="1"/>
          <p:nvPr/>
        </p:nvSpPr>
        <p:spPr>
          <a:xfrm>
            <a:off x="720940" y="1828800"/>
            <a:ext cx="1959914" cy="274320"/>
          </a:xfrm>
          <a:prstGeom prst="rect">
            <a:avLst/>
          </a:prstGeom>
          <a:noFill/>
        </p:spPr>
        <p:txBody>
          <a:bodyPr wrap="square" lIns="36576" tIns="18288" rIns="36576" bIns="18288" anchor="t">
            <a:normAutofit fontScale="92500" lnSpcReduction="10000"/>
          </a:bodyPr>
          <a:lstStyle/>
          <a:p>
            <a:pPr algn="l">
              <a:spcAft>
                <a:spcPts val="600"/>
              </a:spcAft>
              <a:defRPr sz="1850"/>
            </a:pPr>
            <a:r>
              <a:rPr sz="1850" b="0">
                <a:solidFill>
                  <a:srgbClr val="000000"/>
                </a:solidFill>
                <a:latin typeface="Times New Roman"/>
                <a:ea typeface="Meiryo"/>
                <a:cs typeface="Times New Roman"/>
              </a:rPr>
              <a:t>boston.csv</a:t>
            </a:r>
          </a:p>
        </p:txBody>
      </p:sp>
      <p:cxnSp>
        <p:nvCxnSpPr>
          <p:cNvPr id="7" name="Connector 6"/>
          <p:cNvCxnSpPr/>
          <p:nvPr/>
        </p:nvCxnSpPr>
        <p:spPr>
          <a:xfrm>
            <a:off x="2818392" y="1783080"/>
            <a:ext cx="446998"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37312" y="12344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9" name="TextBox 8"/>
          <p:cNvSpPr txBox="1"/>
          <p:nvPr/>
        </p:nvSpPr>
        <p:spPr>
          <a:xfrm>
            <a:off x="3540466" y="13990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2. Hold-Out 分割</a:t>
            </a:r>
          </a:p>
        </p:txBody>
      </p:sp>
      <p:sp>
        <p:nvSpPr>
          <p:cNvPr id="10" name="TextBox 9"/>
          <p:cNvSpPr txBox="1"/>
          <p:nvPr/>
        </p:nvSpPr>
        <p:spPr>
          <a:xfrm>
            <a:off x="3540466" y="1828800"/>
            <a:ext cx="1959914" cy="274320"/>
          </a:xfrm>
          <a:prstGeom prst="rect">
            <a:avLst/>
          </a:prstGeom>
          <a:noFill/>
        </p:spPr>
        <p:txBody>
          <a:bodyPr wrap="square" lIns="36576" tIns="18288" rIns="36576" bIns="18288" anchor="t">
            <a:normAutofit fontScale="92500" lnSpcReduction="10000"/>
          </a:bodyPr>
          <a:lstStyle/>
          <a:p>
            <a:pPr algn="l">
              <a:spcAft>
                <a:spcPts val="600"/>
              </a:spcAft>
              <a:defRPr sz="1850"/>
            </a:pPr>
            <a:r>
              <a:rPr sz="1850" b="0">
                <a:solidFill>
                  <a:srgbClr val="000000"/>
                </a:solidFill>
                <a:latin typeface="Times New Roman"/>
                <a:ea typeface="Meiryo"/>
                <a:cs typeface="Times New Roman"/>
              </a:rPr>
              <a:t>train / test</a:t>
            </a:r>
          </a:p>
        </p:txBody>
      </p:sp>
      <p:cxnSp>
        <p:nvCxnSpPr>
          <p:cNvPr id="11" name="Connector 10"/>
          <p:cNvCxnSpPr/>
          <p:nvPr/>
        </p:nvCxnSpPr>
        <p:spPr>
          <a:xfrm>
            <a:off x="5637918" y="1783080"/>
            <a:ext cx="446998"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256838" y="12344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13" name="TextBox 12"/>
          <p:cNvSpPr txBox="1"/>
          <p:nvPr/>
        </p:nvSpPr>
        <p:spPr>
          <a:xfrm>
            <a:off x="6359992" y="13990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3. 標準化</a:t>
            </a:r>
          </a:p>
        </p:txBody>
      </p:sp>
      <p:sp>
        <p:nvSpPr>
          <p:cNvPr id="14" name="TextBox 13"/>
          <p:cNvSpPr txBox="1"/>
          <p:nvPr/>
        </p:nvSpPr>
        <p:spPr>
          <a:xfrm>
            <a:off x="6359992" y="1828800"/>
            <a:ext cx="1959914" cy="274320"/>
          </a:xfrm>
          <a:prstGeom prst="rect">
            <a:avLst/>
          </a:prstGeom>
          <a:noFill/>
        </p:spPr>
        <p:txBody>
          <a:bodyPr wrap="square" lIns="36576" tIns="18288" rIns="36576" bIns="18288" anchor="t">
            <a:normAutofit fontScale="92500" lnSpcReduction="20000"/>
          </a:bodyPr>
          <a:lstStyle/>
          <a:p>
            <a:pPr algn="l">
              <a:spcAft>
                <a:spcPts val="600"/>
              </a:spcAft>
              <a:defRPr sz="1850"/>
            </a:pPr>
            <a:r>
              <a:rPr sz="1850" b="0">
                <a:solidFill>
                  <a:srgbClr val="000000"/>
                </a:solidFill>
                <a:latin typeface="Times New Roman"/>
                <a:ea typeface="Meiryo"/>
                <a:cs typeface="Times New Roman"/>
              </a:rPr>
              <a:t>fit は train のみ</a:t>
            </a:r>
          </a:p>
        </p:txBody>
      </p:sp>
      <p:sp>
        <p:nvSpPr>
          <p:cNvPr id="15" name="Rectangle 14"/>
          <p:cNvSpPr/>
          <p:nvPr/>
        </p:nvSpPr>
        <p:spPr>
          <a:xfrm>
            <a:off x="617787" y="32918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16" name="TextBox 15"/>
          <p:cNvSpPr txBox="1"/>
          <p:nvPr/>
        </p:nvSpPr>
        <p:spPr>
          <a:xfrm>
            <a:off x="720940" y="34564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4. モデル比較</a:t>
            </a:r>
          </a:p>
        </p:txBody>
      </p:sp>
      <p:sp>
        <p:nvSpPr>
          <p:cNvPr id="17" name="TextBox 16"/>
          <p:cNvSpPr txBox="1"/>
          <p:nvPr/>
        </p:nvSpPr>
        <p:spPr>
          <a:xfrm>
            <a:off x="720940" y="3886200"/>
            <a:ext cx="1959914" cy="274320"/>
          </a:xfrm>
          <a:prstGeom prst="rect">
            <a:avLst/>
          </a:prstGeom>
          <a:noFill/>
        </p:spPr>
        <p:txBody>
          <a:bodyPr wrap="square" lIns="36576" tIns="18288" rIns="36576" bIns="18288" anchor="t">
            <a:normAutofit fontScale="92500" lnSpcReduction="10000"/>
          </a:bodyPr>
          <a:lstStyle/>
          <a:p>
            <a:pPr algn="l">
              <a:spcAft>
                <a:spcPts val="600"/>
              </a:spcAft>
              <a:defRPr sz="1850"/>
            </a:pPr>
            <a:r>
              <a:rPr sz="1850" b="0">
                <a:solidFill>
                  <a:srgbClr val="000000"/>
                </a:solidFill>
                <a:latin typeface="Times New Roman"/>
                <a:ea typeface="Meiryo"/>
                <a:cs typeface="Times New Roman"/>
              </a:rPr>
              <a:t>MAE / RMSE / R2</a:t>
            </a:r>
          </a:p>
        </p:txBody>
      </p:sp>
      <p:cxnSp>
        <p:nvCxnSpPr>
          <p:cNvPr id="18" name="Connector 17"/>
          <p:cNvCxnSpPr/>
          <p:nvPr/>
        </p:nvCxnSpPr>
        <p:spPr>
          <a:xfrm>
            <a:off x="2818392" y="3840480"/>
            <a:ext cx="446998"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437312" y="32918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20" name="TextBox 19"/>
          <p:cNvSpPr txBox="1"/>
          <p:nvPr/>
        </p:nvSpPr>
        <p:spPr>
          <a:xfrm>
            <a:off x="3540466" y="34564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5. AD しきい値</a:t>
            </a:r>
          </a:p>
        </p:txBody>
      </p:sp>
      <p:sp>
        <p:nvSpPr>
          <p:cNvPr id="21" name="TextBox 20"/>
          <p:cNvSpPr txBox="1"/>
          <p:nvPr/>
        </p:nvSpPr>
        <p:spPr>
          <a:xfrm>
            <a:off x="3540466" y="3886200"/>
            <a:ext cx="1959914" cy="274320"/>
          </a:xfrm>
          <a:prstGeom prst="rect">
            <a:avLst/>
          </a:prstGeom>
          <a:noFill/>
        </p:spPr>
        <p:txBody>
          <a:bodyPr wrap="square" lIns="36576" tIns="18288" rIns="36576" bIns="18288" anchor="t">
            <a:normAutofit fontScale="92500" lnSpcReduction="20000"/>
          </a:bodyPr>
          <a:lstStyle/>
          <a:p>
            <a:pPr algn="l">
              <a:spcAft>
                <a:spcPts val="600"/>
              </a:spcAft>
              <a:defRPr sz="1850"/>
            </a:pPr>
            <a:r>
              <a:rPr sz="1850" b="0">
                <a:solidFill>
                  <a:srgbClr val="000000"/>
                </a:solidFill>
                <a:latin typeface="Times New Roman"/>
                <a:ea typeface="Meiryo"/>
                <a:cs typeface="Times New Roman"/>
              </a:rPr>
              <a:t>train の kNN 距離</a:t>
            </a:r>
          </a:p>
        </p:txBody>
      </p:sp>
      <p:cxnSp>
        <p:nvCxnSpPr>
          <p:cNvPr id="22" name="Connector 21"/>
          <p:cNvCxnSpPr/>
          <p:nvPr/>
        </p:nvCxnSpPr>
        <p:spPr>
          <a:xfrm>
            <a:off x="5637918" y="3840480"/>
            <a:ext cx="446998"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256838" y="3291840"/>
            <a:ext cx="2166221" cy="1097280"/>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24" name="TextBox 23"/>
          <p:cNvSpPr txBox="1"/>
          <p:nvPr/>
        </p:nvSpPr>
        <p:spPr>
          <a:xfrm>
            <a:off x="6359992" y="3456432"/>
            <a:ext cx="1959914" cy="292608"/>
          </a:xfrm>
          <a:prstGeom prst="rect">
            <a:avLst/>
          </a:prstGeom>
          <a:noFill/>
        </p:spPr>
        <p:txBody>
          <a:bodyPr wrap="square" lIns="36576" tIns="18288" rIns="36576" bIns="18288" anchor="t">
            <a:normAutofit fontScale="85000" lnSpcReduction="20000"/>
          </a:bodyPr>
          <a:lstStyle/>
          <a:p>
            <a:pPr algn="l">
              <a:spcAft>
                <a:spcPts val="600"/>
              </a:spcAft>
              <a:defRPr sz="2200"/>
            </a:pPr>
            <a:r>
              <a:rPr sz="2200" b="1">
                <a:solidFill>
                  <a:srgbClr val="000000"/>
                </a:solidFill>
                <a:latin typeface="Times New Roman"/>
                <a:ea typeface="Meiryo"/>
                <a:cs typeface="Times New Roman"/>
              </a:rPr>
              <a:t>6. テスト判定</a:t>
            </a:r>
          </a:p>
        </p:txBody>
      </p:sp>
      <p:sp>
        <p:nvSpPr>
          <p:cNvPr id="25" name="TextBox 24"/>
          <p:cNvSpPr txBox="1"/>
          <p:nvPr/>
        </p:nvSpPr>
        <p:spPr>
          <a:xfrm>
            <a:off x="6359992" y="3886200"/>
            <a:ext cx="1959914" cy="274320"/>
          </a:xfrm>
          <a:prstGeom prst="rect">
            <a:avLst/>
          </a:prstGeom>
          <a:noFill/>
        </p:spPr>
        <p:txBody>
          <a:bodyPr wrap="square" lIns="36576" tIns="18288" rIns="36576" bIns="18288" anchor="t">
            <a:normAutofit fontScale="92500" lnSpcReduction="10000"/>
          </a:bodyPr>
          <a:lstStyle/>
          <a:p>
            <a:pPr algn="l">
              <a:spcAft>
                <a:spcPts val="600"/>
              </a:spcAft>
              <a:defRPr sz="1850"/>
            </a:pPr>
            <a:r>
              <a:rPr sz="1850" b="0">
                <a:solidFill>
                  <a:srgbClr val="000000"/>
                </a:solidFill>
                <a:latin typeface="Times New Roman"/>
                <a:ea typeface="Meiryo"/>
                <a:cs typeface="Times New Roman"/>
              </a:rPr>
              <a:t>inside / outside</a:t>
            </a:r>
          </a:p>
        </p:txBody>
      </p:sp>
      <p:sp>
        <p:nvSpPr>
          <p:cNvPr id="26" name="TextBox 25"/>
          <p:cNvSpPr txBox="1"/>
          <p:nvPr/>
        </p:nvSpPr>
        <p:spPr>
          <a:xfrm>
            <a:off x="686556" y="5589270"/>
            <a:ext cx="7564582" cy="480060"/>
          </a:xfrm>
          <a:prstGeom prst="rect">
            <a:avLst/>
          </a:prstGeom>
          <a:noFill/>
        </p:spPr>
        <p:txBody>
          <a:bodyPr wrap="square" lIns="36576" tIns="18288" rIns="36576" bIns="18288" anchor="t">
            <a:normAutofit/>
          </a:bodyPr>
          <a:lstStyle/>
          <a:p>
            <a:pPr algn="l">
              <a:spcAft>
                <a:spcPts val="600"/>
              </a:spcAft>
              <a:defRPr sz="2100"/>
            </a:pPr>
            <a:r>
              <a:rPr sz="2100" b="0">
                <a:solidFill>
                  <a:srgbClr val="000000"/>
                </a:solidFill>
                <a:latin typeface="Times New Roman"/>
                <a:ea typeface="Meiryo"/>
                <a:cs typeface="Times New Roman"/>
              </a:rPr>
              <a:t>別のデータセットにも応用可能な AD 判定の流れ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Boston データの確認</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1009317495"/>
              </p:ext>
            </p:extLst>
          </p:nvPr>
        </p:nvGraphicFramePr>
        <p:xfrm>
          <a:off x="548640" y="1097280"/>
          <a:ext cx="2338144" cy="2560320"/>
        </p:xfrm>
        <a:graphic>
          <a:graphicData uri="http://schemas.openxmlformats.org/drawingml/2006/table">
            <a:tbl>
              <a:tblPr firstRow="1" bandRow="1">
                <a:tableStyleId>{5C22544A-7EE6-4342-B048-85BDC9FD1C3A}</a:tableStyleId>
              </a:tblPr>
              <a:tblGrid>
                <a:gridCol w="1169072">
                  <a:extLst>
                    <a:ext uri="{9D8B030D-6E8A-4147-A177-3AD203B41FA5}">
                      <a16:colId xmlns:a16="http://schemas.microsoft.com/office/drawing/2014/main" val="20000"/>
                    </a:ext>
                  </a:extLst>
                </a:gridCol>
                <a:gridCol w="1169072">
                  <a:extLst>
                    <a:ext uri="{9D8B030D-6E8A-4147-A177-3AD203B41FA5}">
                      <a16:colId xmlns:a16="http://schemas.microsoft.com/office/drawing/2014/main" val="20001"/>
                    </a:ext>
                  </a:extLst>
                </a:gridCol>
              </a:tblGrid>
              <a:tr h="512064">
                <a:tc>
                  <a:txBody>
                    <a:bodyPr/>
                    <a:lstStyle/>
                    <a:p>
                      <a:pPr algn="ctr">
                        <a:defRPr sz="1900"/>
                      </a:pPr>
                      <a:r>
                        <a:rPr sz="1900" b="1">
                          <a:solidFill>
                            <a:srgbClr val="000000"/>
                          </a:solidFill>
                          <a:latin typeface="Times New Roman"/>
                          <a:ea typeface="Meiryo"/>
                          <a:cs typeface="Times New Roman"/>
                        </a:rPr>
                        <a:t>項目</a:t>
                      </a:r>
                    </a:p>
                  </a:txBody>
                  <a:tcPr marL="54864" marR="54864" marT="27432" marB="27432" anchor="ctr">
                    <a:solidFill>
                      <a:srgbClr val="D9D9D9"/>
                    </a:solidFill>
                  </a:tcPr>
                </a:tc>
                <a:tc>
                  <a:txBody>
                    <a:bodyPr/>
                    <a:lstStyle/>
                    <a:p>
                      <a:pPr algn="ctr">
                        <a:defRPr sz="1900"/>
                      </a:pPr>
                      <a:r>
                        <a:rPr sz="1900" b="1">
                          <a:solidFill>
                            <a:srgbClr val="000000"/>
                          </a:solidFill>
                          <a:latin typeface="Times New Roman"/>
                          <a:ea typeface="Meiryo"/>
                          <a:cs typeface="Times New Roman"/>
                        </a:rPr>
                        <a:t>値</a:t>
                      </a:r>
                    </a:p>
                  </a:txBody>
                  <a:tcPr marL="54864" marR="54864" marT="27432" marB="27432" anchor="ctr">
                    <a:solidFill>
                      <a:srgbClr val="D9D9D9"/>
                    </a:solidFill>
                  </a:tcPr>
                </a:tc>
                <a:extLst>
                  <a:ext uri="{0D108BD9-81ED-4DB2-BD59-A6C34878D82A}">
                    <a16:rowId xmlns:a16="http://schemas.microsoft.com/office/drawing/2014/main" val="10000"/>
                  </a:ext>
                </a:extLst>
              </a:tr>
              <a:tr h="512064">
                <a:tc>
                  <a:txBody>
                    <a:bodyPr/>
                    <a:lstStyle/>
                    <a:p>
                      <a:pPr algn="ctr">
                        <a:defRPr sz="1900"/>
                      </a:pPr>
                      <a:r>
                        <a:rPr sz="1900" b="0">
                          <a:solidFill>
                            <a:srgbClr val="000000"/>
                          </a:solidFill>
                          <a:latin typeface="Times New Roman"/>
                          <a:ea typeface="Meiryo"/>
                          <a:cs typeface="Times New Roman"/>
                        </a:rPr>
                        <a:t>データ数</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506</a:t>
                      </a:r>
                    </a:p>
                  </a:txBody>
                  <a:tcPr marL="54864" marR="54864" marT="27432" marB="27432" anchor="ctr">
                    <a:solidFill>
                      <a:srgbClr val="FFFFFF"/>
                    </a:solidFill>
                  </a:tcPr>
                </a:tc>
                <a:extLst>
                  <a:ext uri="{0D108BD9-81ED-4DB2-BD59-A6C34878D82A}">
                    <a16:rowId xmlns:a16="http://schemas.microsoft.com/office/drawing/2014/main" val="10001"/>
                  </a:ext>
                </a:extLst>
              </a:tr>
              <a:tr h="512064">
                <a:tc>
                  <a:txBody>
                    <a:bodyPr/>
                    <a:lstStyle/>
                    <a:p>
                      <a:pPr algn="ctr">
                        <a:defRPr sz="1900"/>
                      </a:pPr>
                      <a:r>
                        <a:rPr sz="1900" b="0">
                          <a:solidFill>
                            <a:srgbClr val="000000"/>
                          </a:solidFill>
                          <a:latin typeface="Times New Roman"/>
                          <a:ea typeface="Meiryo"/>
                          <a:cs typeface="Times New Roman"/>
                        </a:rPr>
                        <a:t>列数</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14</a:t>
                      </a:r>
                    </a:p>
                  </a:txBody>
                  <a:tcPr marL="54864" marR="54864" marT="27432" marB="27432" anchor="ctr">
                    <a:solidFill>
                      <a:srgbClr val="FFFFFF"/>
                    </a:solidFill>
                  </a:tcPr>
                </a:tc>
                <a:extLst>
                  <a:ext uri="{0D108BD9-81ED-4DB2-BD59-A6C34878D82A}">
                    <a16:rowId xmlns:a16="http://schemas.microsoft.com/office/drawing/2014/main" val="10002"/>
                  </a:ext>
                </a:extLst>
              </a:tr>
              <a:tr h="512064">
                <a:tc>
                  <a:txBody>
                    <a:bodyPr/>
                    <a:lstStyle/>
                    <a:p>
                      <a:pPr algn="ctr">
                        <a:defRPr sz="1900"/>
                      </a:pPr>
                      <a:r>
                        <a:rPr sz="1900" b="0">
                          <a:solidFill>
                            <a:srgbClr val="000000"/>
                          </a:solidFill>
                          <a:latin typeface="Times New Roman"/>
                          <a:ea typeface="Meiryo"/>
                          <a:cs typeface="Times New Roman"/>
                        </a:rPr>
                        <a:t>説明変数</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13</a:t>
                      </a:r>
                    </a:p>
                  </a:txBody>
                  <a:tcPr marL="54864" marR="54864" marT="27432" marB="27432" anchor="ctr">
                    <a:solidFill>
                      <a:srgbClr val="FFFFFF"/>
                    </a:solidFill>
                  </a:tcPr>
                </a:tc>
                <a:extLst>
                  <a:ext uri="{0D108BD9-81ED-4DB2-BD59-A6C34878D82A}">
                    <a16:rowId xmlns:a16="http://schemas.microsoft.com/office/drawing/2014/main" val="10003"/>
                  </a:ext>
                </a:extLst>
              </a:tr>
              <a:tr h="512064">
                <a:tc>
                  <a:txBody>
                    <a:bodyPr/>
                    <a:lstStyle/>
                    <a:p>
                      <a:pPr algn="ctr">
                        <a:defRPr sz="1900"/>
                      </a:pPr>
                      <a:r>
                        <a:rPr sz="1900" b="0">
                          <a:solidFill>
                            <a:srgbClr val="000000"/>
                          </a:solidFill>
                          <a:latin typeface="Times New Roman"/>
                          <a:ea typeface="Meiryo"/>
                          <a:cs typeface="Times New Roman"/>
                        </a:rPr>
                        <a:t>欠損値</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0</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pic>
        <p:nvPicPr>
          <p:cNvPr id="5" name="Picture 4" descr="medv_hist.png"/>
          <p:cNvPicPr>
            <a:picLocks noChangeAspect="1"/>
          </p:cNvPicPr>
          <p:nvPr/>
        </p:nvPicPr>
        <p:blipFill>
          <a:blip r:embed="rId3"/>
          <a:stretch>
            <a:fillRect/>
          </a:stretch>
        </p:blipFill>
        <p:spPr>
          <a:xfrm>
            <a:off x="3108960" y="1611630"/>
            <a:ext cx="5577840" cy="301752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305432502"/>
              </p:ext>
            </p:extLst>
          </p:nvPr>
        </p:nvGraphicFramePr>
        <p:xfrm>
          <a:off x="548640" y="4011929"/>
          <a:ext cx="2338143" cy="2066544"/>
        </p:xfrm>
        <a:graphic>
          <a:graphicData uri="http://schemas.openxmlformats.org/drawingml/2006/table">
            <a:tbl>
              <a:tblPr firstRow="1" bandRow="1">
                <a:tableStyleId>{5C22544A-7EE6-4342-B048-85BDC9FD1C3A}</a:tableStyleId>
              </a:tblPr>
              <a:tblGrid>
                <a:gridCol w="1134687">
                  <a:extLst>
                    <a:ext uri="{9D8B030D-6E8A-4147-A177-3AD203B41FA5}">
                      <a16:colId xmlns:a16="http://schemas.microsoft.com/office/drawing/2014/main" val="20000"/>
                    </a:ext>
                  </a:extLst>
                </a:gridCol>
                <a:gridCol w="1203456">
                  <a:extLst>
                    <a:ext uri="{9D8B030D-6E8A-4147-A177-3AD203B41FA5}">
                      <a16:colId xmlns:a16="http://schemas.microsoft.com/office/drawing/2014/main" val="20001"/>
                    </a:ext>
                  </a:extLst>
                </a:gridCol>
              </a:tblGrid>
              <a:tr h="320040">
                <a:tc>
                  <a:txBody>
                    <a:bodyPr/>
                    <a:lstStyle/>
                    <a:p>
                      <a:pPr algn="ctr">
                        <a:defRPr sz="1620"/>
                      </a:pPr>
                      <a:r>
                        <a:rPr sz="1900" b="1">
                          <a:solidFill>
                            <a:srgbClr val="000000"/>
                          </a:solidFill>
                          <a:latin typeface="Times New Roman"/>
                          <a:ea typeface="Meiryo"/>
                          <a:cs typeface="Times New Roman"/>
                        </a:rPr>
                        <a:t>統計量</a:t>
                      </a:r>
                    </a:p>
                  </a:txBody>
                  <a:tcPr marL="54864" marR="54864" marT="27432" marB="27432" anchor="ctr">
                    <a:solidFill>
                      <a:srgbClr val="D9D9D9"/>
                    </a:solidFill>
                  </a:tcPr>
                </a:tc>
                <a:tc>
                  <a:txBody>
                    <a:bodyPr/>
                    <a:lstStyle/>
                    <a:p>
                      <a:pPr algn="ctr">
                        <a:defRPr sz="1620"/>
                      </a:pPr>
                      <a:r>
                        <a:rPr sz="1900" b="1">
                          <a:solidFill>
                            <a:srgbClr val="000000"/>
                          </a:solidFill>
                          <a:latin typeface="Times New Roman"/>
                          <a:ea typeface="Meiryo"/>
                          <a:cs typeface="Times New Roman"/>
                        </a:rPr>
                        <a:t>MEDV</a:t>
                      </a:r>
                    </a:p>
                  </a:txBody>
                  <a:tcPr marL="54864" marR="54864" marT="27432" marB="27432" anchor="ctr">
                    <a:solidFill>
                      <a:srgbClr val="D9D9D9"/>
                    </a:solidFill>
                  </a:tcPr>
                </a:tc>
                <a:extLst>
                  <a:ext uri="{0D108BD9-81ED-4DB2-BD59-A6C34878D82A}">
                    <a16:rowId xmlns:a16="http://schemas.microsoft.com/office/drawing/2014/main" val="10000"/>
                  </a:ext>
                </a:extLst>
              </a:tr>
              <a:tr h="320040">
                <a:tc>
                  <a:txBody>
                    <a:bodyPr/>
                    <a:lstStyle/>
                    <a:p>
                      <a:pPr algn="ctr">
                        <a:defRPr sz="1620"/>
                      </a:pPr>
                      <a:r>
                        <a:rPr sz="1900" b="0">
                          <a:solidFill>
                            <a:srgbClr val="000000"/>
                          </a:solidFill>
                          <a:latin typeface="Times New Roman"/>
                          <a:ea typeface="Meiryo"/>
                          <a:cs typeface="Times New Roman"/>
                        </a:rPr>
                        <a:t>mean</a:t>
                      </a:r>
                    </a:p>
                  </a:txBody>
                  <a:tcPr marL="54864" marR="54864" marT="27432" marB="27432" anchor="ctr">
                    <a:solidFill>
                      <a:srgbClr val="FFFFFF"/>
                    </a:solidFill>
                  </a:tcPr>
                </a:tc>
                <a:tc>
                  <a:txBody>
                    <a:bodyPr/>
                    <a:lstStyle/>
                    <a:p>
                      <a:pPr algn="ctr">
                        <a:defRPr sz="1620"/>
                      </a:pPr>
                      <a:r>
                        <a:rPr sz="1900" b="0">
                          <a:solidFill>
                            <a:srgbClr val="000000"/>
                          </a:solidFill>
                          <a:latin typeface="Times New Roman"/>
                          <a:ea typeface="Meiryo"/>
                          <a:cs typeface="Times New Roman"/>
                        </a:rPr>
                        <a:t>22.53</a:t>
                      </a:r>
                    </a:p>
                  </a:txBody>
                  <a:tcPr marL="54864" marR="54864" marT="27432" marB="27432" anchor="ctr">
                    <a:solidFill>
                      <a:srgbClr val="FFFFFF"/>
                    </a:solidFill>
                  </a:tcPr>
                </a:tc>
                <a:extLst>
                  <a:ext uri="{0D108BD9-81ED-4DB2-BD59-A6C34878D82A}">
                    <a16:rowId xmlns:a16="http://schemas.microsoft.com/office/drawing/2014/main" val="10001"/>
                  </a:ext>
                </a:extLst>
              </a:tr>
              <a:tr h="320040">
                <a:tc>
                  <a:txBody>
                    <a:bodyPr/>
                    <a:lstStyle/>
                    <a:p>
                      <a:pPr algn="ctr">
                        <a:defRPr sz="1620"/>
                      </a:pPr>
                      <a:r>
                        <a:rPr sz="1900" b="0">
                          <a:solidFill>
                            <a:srgbClr val="000000"/>
                          </a:solidFill>
                          <a:latin typeface="Times New Roman"/>
                          <a:ea typeface="Meiryo"/>
                          <a:cs typeface="Times New Roman"/>
                        </a:rPr>
                        <a:t>std</a:t>
                      </a:r>
                    </a:p>
                  </a:txBody>
                  <a:tcPr marL="54864" marR="54864" marT="27432" marB="27432" anchor="ctr">
                    <a:solidFill>
                      <a:srgbClr val="FFFFFF"/>
                    </a:solidFill>
                  </a:tcPr>
                </a:tc>
                <a:tc>
                  <a:txBody>
                    <a:bodyPr/>
                    <a:lstStyle/>
                    <a:p>
                      <a:pPr algn="ctr">
                        <a:defRPr sz="1620"/>
                      </a:pPr>
                      <a:r>
                        <a:rPr sz="1900" b="0">
                          <a:solidFill>
                            <a:srgbClr val="000000"/>
                          </a:solidFill>
                          <a:latin typeface="Times New Roman"/>
                          <a:ea typeface="Meiryo"/>
                          <a:cs typeface="Times New Roman"/>
                        </a:rPr>
                        <a:t>9.20</a:t>
                      </a:r>
                    </a:p>
                  </a:txBody>
                  <a:tcPr marL="54864" marR="54864" marT="27432" marB="27432" anchor="ctr">
                    <a:solidFill>
                      <a:srgbClr val="FFFFFF"/>
                    </a:solidFill>
                  </a:tcPr>
                </a:tc>
                <a:extLst>
                  <a:ext uri="{0D108BD9-81ED-4DB2-BD59-A6C34878D82A}">
                    <a16:rowId xmlns:a16="http://schemas.microsoft.com/office/drawing/2014/main" val="10002"/>
                  </a:ext>
                </a:extLst>
              </a:tr>
              <a:tr h="320040">
                <a:tc>
                  <a:txBody>
                    <a:bodyPr/>
                    <a:lstStyle/>
                    <a:p>
                      <a:pPr algn="ctr">
                        <a:defRPr sz="1620"/>
                      </a:pPr>
                      <a:r>
                        <a:rPr sz="1900" b="0">
                          <a:solidFill>
                            <a:srgbClr val="000000"/>
                          </a:solidFill>
                          <a:latin typeface="Times New Roman"/>
                          <a:ea typeface="Meiryo"/>
                          <a:cs typeface="Times New Roman"/>
                        </a:rPr>
                        <a:t>min</a:t>
                      </a:r>
                    </a:p>
                  </a:txBody>
                  <a:tcPr marL="54864" marR="54864" marT="27432" marB="27432" anchor="ctr">
                    <a:solidFill>
                      <a:srgbClr val="FFFFFF"/>
                    </a:solidFill>
                  </a:tcPr>
                </a:tc>
                <a:tc>
                  <a:txBody>
                    <a:bodyPr/>
                    <a:lstStyle/>
                    <a:p>
                      <a:pPr algn="ctr">
                        <a:defRPr sz="1620"/>
                      </a:pPr>
                      <a:r>
                        <a:rPr sz="1900" b="0">
                          <a:solidFill>
                            <a:srgbClr val="000000"/>
                          </a:solidFill>
                          <a:latin typeface="Times New Roman"/>
                          <a:ea typeface="Meiryo"/>
                          <a:cs typeface="Times New Roman"/>
                        </a:rPr>
                        <a:t>5.0</a:t>
                      </a:r>
                    </a:p>
                  </a:txBody>
                  <a:tcPr marL="54864" marR="54864" marT="27432" marB="27432" anchor="ctr">
                    <a:solidFill>
                      <a:srgbClr val="FFFFFF"/>
                    </a:solidFill>
                  </a:tcPr>
                </a:tc>
                <a:extLst>
                  <a:ext uri="{0D108BD9-81ED-4DB2-BD59-A6C34878D82A}">
                    <a16:rowId xmlns:a16="http://schemas.microsoft.com/office/drawing/2014/main" val="10003"/>
                  </a:ext>
                </a:extLst>
              </a:tr>
              <a:tr h="320040">
                <a:tc>
                  <a:txBody>
                    <a:bodyPr/>
                    <a:lstStyle/>
                    <a:p>
                      <a:pPr algn="ctr">
                        <a:defRPr sz="1620"/>
                      </a:pPr>
                      <a:r>
                        <a:rPr sz="1900" b="0">
                          <a:solidFill>
                            <a:srgbClr val="000000"/>
                          </a:solidFill>
                          <a:latin typeface="Times New Roman"/>
                          <a:ea typeface="Meiryo"/>
                          <a:cs typeface="Times New Roman"/>
                        </a:rPr>
                        <a:t>median</a:t>
                      </a:r>
                    </a:p>
                  </a:txBody>
                  <a:tcPr marL="54864" marR="54864" marT="27432" marB="27432" anchor="ctr">
                    <a:solidFill>
                      <a:srgbClr val="FFFFFF"/>
                    </a:solidFill>
                  </a:tcPr>
                </a:tc>
                <a:tc>
                  <a:txBody>
                    <a:bodyPr/>
                    <a:lstStyle/>
                    <a:p>
                      <a:pPr algn="ctr">
                        <a:defRPr sz="1620"/>
                      </a:pPr>
                      <a:r>
                        <a:rPr sz="1900" b="0">
                          <a:solidFill>
                            <a:srgbClr val="000000"/>
                          </a:solidFill>
                          <a:latin typeface="Times New Roman"/>
                          <a:ea typeface="Meiryo"/>
                          <a:cs typeface="Times New Roman"/>
                        </a:rPr>
                        <a:t>21.2</a:t>
                      </a:r>
                    </a:p>
                  </a:txBody>
                  <a:tcPr marL="54864" marR="54864" marT="27432" marB="27432" anchor="ctr">
                    <a:solidFill>
                      <a:srgbClr val="FFFFFF"/>
                    </a:solidFill>
                  </a:tcPr>
                </a:tc>
                <a:extLst>
                  <a:ext uri="{0D108BD9-81ED-4DB2-BD59-A6C34878D82A}">
                    <a16:rowId xmlns:a16="http://schemas.microsoft.com/office/drawing/2014/main" val="10004"/>
                  </a:ext>
                </a:extLst>
              </a:tr>
              <a:tr h="320040">
                <a:tc>
                  <a:txBody>
                    <a:bodyPr/>
                    <a:lstStyle/>
                    <a:p>
                      <a:pPr algn="ctr">
                        <a:defRPr sz="1620"/>
                      </a:pPr>
                      <a:r>
                        <a:rPr sz="1900" b="0">
                          <a:solidFill>
                            <a:srgbClr val="000000"/>
                          </a:solidFill>
                          <a:latin typeface="Times New Roman"/>
                          <a:ea typeface="Meiryo"/>
                          <a:cs typeface="Times New Roman"/>
                        </a:rPr>
                        <a:t>max</a:t>
                      </a:r>
                    </a:p>
                  </a:txBody>
                  <a:tcPr marL="54864" marR="54864" marT="27432" marB="27432" anchor="ctr">
                    <a:solidFill>
                      <a:srgbClr val="FFFFFF"/>
                    </a:solidFill>
                  </a:tcPr>
                </a:tc>
                <a:tc>
                  <a:txBody>
                    <a:bodyPr/>
                    <a:lstStyle/>
                    <a:p>
                      <a:pPr algn="ctr">
                        <a:defRPr sz="1620"/>
                      </a:pPr>
                      <a:r>
                        <a:rPr sz="1900" b="0">
                          <a:solidFill>
                            <a:srgbClr val="000000"/>
                          </a:solidFill>
                          <a:latin typeface="Times New Roman"/>
                          <a:ea typeface="Meiryo"/>
                          <a:cs typeface="Times New Roman"/>
                        </a:rPr>
                        <a:t>50.0</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目的変数と説明変数を分ける</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1006862794"/>
              </p:ext>
            </p:extLst>
          </p:nvPr>
        </p:nvGraphicFramePr>
        <p:xfrm>
          <a:off x="411480" y="1152144"/>
          <a:ext cx="8321040" cy="1746504"/>
        </p:xfrm>
        <a:graphic>
          <a:graphicData uri="http://schemas.openxmlformats.org/drawingml/2006/table">
            <a:tbl>
              <a:tblPr firstRow="1" bandRow="1">
                <a:tableStyleId>{5C22544A-7EE6-4342-B048-85BDC9FD1C3A}</a:tableStyleId>
              </a:tblPr>
              <a:tblGrid>
                <a:gridCol w="1591850">
                  <a:extLst>
                    <a:ext uri="{9D8B030D-6E8A-4147-A177-3AD203B41FA5}">
                      <a16:colId xmlns:a16="http://schemas.microsoft.com/office/drawing/2014/main" val="20000"/>
                    </a:ext>
                  </a:extLst>
                </a:gridCol>
                <a:gridCol w="6729190">
                  <a:extLst>
                    <a:ext uri="{9D8B030D-6E8A-4147-A177-3AD203B41FA5}">
                      <a16:colId xmlns:a16="http://schemas.microsoft.com/office/drawing/2014/main" val="20001"/>
                    </a:ext>
                  </a:extLst>
                </a:gridCol>
              </a:tblGrid>
              <a:tr h="563880">
                <a:tc>
                  <a:txBody>
                    <a:bodyPr/>
                    <a:lstStyle/>
                    <a:p>
                      <a:pPr algn="ctr">
                        <a:defRPr sz="1850"/>
                      </a:pPr>
                      <a:r>
                        <a:rPr sz="1850" b="1">
                          <a:solidFill>
                            <a:srgbClr val="000000"/>
                          </a:solidFill>
                          <a:latin typeface="Times New Roman"/>
                          <a:ea typeface="Meiryo"/>
                          <a:cs typeface="Times New Roman"/>
                        </a:rPr>
                        <a:t>種類</a:t>
                      </a:r>
                    </a:p>
                  </a:txBody>
                  <a:tcPr marL="54864" marR="54864" marT="27432" marB="27432" anchor="ctr">
                    <a:solidFill>
                      <a:srgbClr val="D9D9D9"/>
                    </a:solidFill>
                  </a:tcPr>
                </a:tc>
                <a:tc>
                  <a:txBody>
                    <a:bodyPr/>
                    <a:lstStyle/>
                    <a:p>
                      <a:pPr algn="ctr">
                        <a:defRPr sz="1850"/>
                      </a:pPr>
                      <a:r>
                        <a:rPr sz="1850" b="1">
                          <a:solidFill>
                            <a:srgbClr val="000000"/>
                          </a:solidFill>
                          <a:latin typeface="Times New Roman"/>
                          <a:ea typeface="Meiryo"/>
                          <a:cs typeface="Times New Roman"/>
                        </a:rPr>
                        <a:t>内容</a:t>
                      </a:r>
                    </a:p>
                  </a:txBody>
                  <a:tcPr marL="54864" marR="54864" marT="27432" marB="27432" anchor="ctr">
                    <a:solidFill>
                      <a:srgbClr val="D9D9D9"/>
                    </a:solidFill>
                  </a:tcPr>
                </a:tc>
                <a:extLst>
                  <a:ext uri="{0D108BD9-81ED-4DB2-BD59-A6C34878D82A}">
                    <a16:rowId xmlns:a16="http://schemas.microsoft.com/office/drawing/2014/main" val="10000"/>
                  </a:ext>
                </a:extLst>
              </a:tr>
              <a:tr h="563880">
                <a:tc>
                  <a:txBody>
                    <a:bodyPr/>
                    <a:lstStyle/>
                    <a:p>
                      <a:pPr algn="ctr">
                        <a:defRPr sz="1850"/>
                      </a:pPr>
                      <a:r>
                        <a:rPr sz="1850" b="0">
                          <a:solidFill>
                            <a:srgbClr val="000000"/>
                          </a:solidFill>
                          <a:latin typeface="Times New Roman"/>
                          <a:ea typeface="Meiryo"/>
                          <a:cs typeface="Times New Roman"/>
                        </a:rPr>
                        <a:t>目的変数 y</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MEDV</a:t>
                      </a:r>
                    </a:p>
                  </a:txBody>
                  <a:tcPr marL="54864" marR="54864" marT="27432" marB="27432" anchor="ctr">
                    <a:solidFill>
                      <a:srgbClr val="FFFFFF"/>
                    </a:solidFill>
                  </a:tcPr>
                </a:tc>
                <a:extLst>
                  <a:ext uri="{0D108BD9-81ED-4DB2-BD59-A6C34878D82A}">
                    <a16:rowId xmlns:a16="http://schemas.microsoft.com/office/drawing/2014/main" val="10001"/>
                  </a:ext>
                </a:extLst>
              </a:tr>
              <a:tr h="563880">
                <a:tc>
                  <a:txBody>
                    <a:bodyPr/>
                    <a:lstStyle/>
                    <a:p>
                      <a:pPr algn="ctr">
                        <a:defRPr sz="1850"/>
                      </a:pPr>
                      <a:r>
                        <a:rPr sz="1850" b="0">
                          <a:solidFill>
                            <a:srgbClr val="000000"/>
                          </a:solidFill>
                          <a:latin typeface="Times New Roman"/>
                          <a:ea typeface="Meiryo"/>
                          <a:cs typeface="Times New Roman"/>
                        </a:rPr>
                        <a:t>説明変数 X</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CRIM, ZN, INDUS, CHAS, NOX, RM, AGE, DIS, RAD, TAX, PTRATIO, B, LSTAT</a:t>
                      </a:r>
                    </a:p>
                  </a:txBody>
                  <a:tcPr marL="54864" marR="54864"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5" name="Rectangle 4"/>
          <p:cNvSpPr/>
          <p:nvPr/>
        </p:nvSpPr>
        <p:spPr>
          <a:xfrm>
            <a:off x="320041" y="3120390"/>
            <a:ext cx="4160520" cy="144018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6" name="TextBox 5"/>
          <p:cNvSpPr txBox="1"/>
          <p:nvPr/>
        </p:nvSpPr>
        <p:spPr>
          <a:xfrm>
            <a:off x="411481" y="3223260"/>
            <a:ext cx="4005072" cy="1268730"/>
          </a:xfrm>
          <a:prstGeom prst="rect">
            <a:avLst/>
          </a:prstGeom>
          <a:noFill/>
        </p:spPr>
        <p:txBody>
          <a:bodyPr wrap="square" lIns="50800" tIns="50800" rIns="50800" bIns="50800">
            <a:normAutofit fontScale="92500" lnSpcReduction="10000"/>
          </a:bodyPr>
          <a:lstStyle/>
          <a:p>
            <a:pPr>
              <a:spcAft>
                <a:spcPts val="600"/>
              </a:spcAft>
              <a:defRPr sz="1739"/>
            </a:pPr>
            <a:r>
              <a:rPr sz="1739" b="0">
                <a:solidFill>
                  <a:srgbClr val="000000"/>
                </a:solidFill>
                <a:latin typeface="Times New Roman"/>
                <a:ea typeface="Meiryo"/>
                <a:cs typeface="Times New Roman"/>
              </a:rPr>
              <a:t>target_col = 'MEDV'
X = df.drop(columns=target_col)
y = df[target_col]</a:t>
            </a:r>
          </a:p>
        </p:txBody>
      </p:sp>
      <p:sp>
        <p:nvSpPr>
          <p:cNvPr id="7" name="TextBox 6"/>
          <p:cNvSpPr txBox="1"/>
          <p:nvPr/>
        </p:nvSpPr>
        <p:spPr>
          <a:xfrm>
            <a:off x="4663441" y="3120390"/>
            <a:ext cx="4160520" cy="2884052"/>
          </a:xfrm>
          <a:prstGeom prst="rect">
            <a:avLst/>
          </a:prstGeom>
          <a:noFill/>
        </p:spPr>
        <p:txBody>
          <a:bodyPr wrap="square" lIns="36576" tIns="18288" rIns="36576" bIns="18288">
            <a:noAutofit/>
          </a:bodyPr>
          <a:lstStyle/>
          <a:p>
            <a:pPr>
              <a:defRPr sz="2150"/>
            </a:pPr>
            <a:r>
              <a:rPr sz="2400" b="0">
                <a:solidFill>
                  <a:srgbClr val="000000"/>
                </a:solidFill>
                <a:latin typeface="Times New Roman"/>
                <a:ea typeface="Meiryo"/>
                <a:cs typeface="Times New Roman"/>
              </a:rPr>
              <a:t>・ AD の距離計算に使うのは X だけ</a:t>
            </a:r>
          </a:p>
          <a:p>
            <a:pPr>
              <a:defRPr sz="2150"/>
            </a:pPr>
            <a:r>
              <a:rPr sz="2400" b="0">
                <a:solidFill>
                  <a:srgbClr val="000000"/>
                </a:solidFill>
                <a:latin typeface="Times New Roman"/>
                <a:ea typeface="Meiryo"/>
                <a:cs typeface="Times New Roman"/>
              </a:rPr>
              <a:t>・ y や予測誤差は、AD 判定そのものには使わない</a:t>
            </a:r>
          </a:p>
          <a:p>
            <a:pPr>
              <a:defRPr sz="2150"/>
            </a:pPr>
            <a:r>
              <a:rPr sz="2400" b="0">
                <a:solidFill>
                  <a:srgbClr val="000000"/>
                </a:solidFill>
                <a:latin typeface="Times New Roman"/>
                <a:ea typeface="Meiryo"/>
                <a:cs typeface="Times New Roman"/>
              </a:rPr>
              <a:t>・ この分離を最初に明確に</a:t>
            </a:r>
            <a:endParaRPr lang="en-US" sz="2400" b="0">
              <a:solidFill>
                <a:srgbClr val="000000"/>
              </a:solidFill>
              <a:latin typeface="Times New Roman"/>
              <a:ea typeface="Meiryo"/>
              <a:cs typeface="Times New Roman"/>
            </a:endParaRPr>
          </a:p>
          <a:p>
            <a:pPr>
              <a:defRPr sz="2150"/>
            </a:pPr>
            <a:r>
              <a:rPr sz="2400" b="0">
                <a:solidFill>
                  <a:srgbClr val="000000"/>
                </a:solidFill>
                <a:latin typeface="Times New Roman"/>
                <a:ea typeface="Meiryo"/>
                <a:cs typeface="Times New Roman"/>
              </a:rPr>
              <a:t>しておくと、後の処理で混乱しにくい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Hold-Out 検証</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3350296408"/>
              </p:ext>
            </p:extLst>
          </p:nvPr>
        </p:nvGraphicFramePr>
        <p:xfrm>
          <a:off x="180242" y="1153199"/>
          <a:ext cx="8783515" cy="1508760"/>
        </p:xfrm>
        <a:graphic>
          <a:graphicData uri="http://schemas.openxmlformats.org/drawingml/2006/table">
            <a:tbl>
              <a:tblPr firstRow="1" bandRow="1">
                <a:tableStyleId>{5C22544A-7EE6-4342-B048-85BDC9FD1C3A}</a:tableStyleId>
              </a:tblPr>
              <a:tblGrid>
                <a:gridCol w="1463919">
                  <a:extLst>
                    <a:ext uri="{9D8B030D-6E8A-4147-A177-3AD203B41FA5}">
                      <a16:colId xmlns:a16="http://schemas.microsoft.com/office/drawing/2014/main" val="20000"/>
                    </a:ext>
                  </a:extLst>
                </a:gridCol>
                <a:gridCol w="3659798">
                  <a:extLst>
                    <a:ext uri="{9D8B030D-6E8A-4147-A177-3AD203B41FA5}">
                      <a16:colId xmlns:a16="http://schemas.microsoft.com/office/drawing/2014/main" val="20001"/>
                    </a:ext>
                  </a:extLst>
                </a:gridCol>
                <a:gridCol w="3659798">
                  <a:extLst>
                    <a:ext uri="{9D8B030D-6E8A-4147-A177-3AD203B41FA5}">
                      <a16:colId xmlns:a16="http://schemas.microsoft.com/office/drawing/2014/main" val="20002"/>
                    </a:ext>
                  </a:extLst>
                </a:gridCol>
              </a:tblGrid>
              <a:tr h="502920">
                <a:tc>
                  <a:txBody>
                    <a:bodyPr/>
                    <a:lstStyle/>
                    <a:p>
                      <a:pPr algn="ctr">
                        <a:defRPr sz="1950"/>
                      </a:pPr>
                      <a:r>
                        <a:rPr sz="1950" b="1">
                          <a:solidFill>
                            <a:srgbClr val="000000"/>
                          </a:solidFill>
                          <a:latin typeface="Times New Roman"/>
                          <a:ea typeface="Meiryo"/>
                          <a:cs typeface="Times New Roman"/>
                        </a:rPr>
                        <a:t>データ</a:t>
                      </a:r>
                    </a:p>
                  </a:txBody>
                  <a:tcPr marL="54864" marR="54864" marT="27432" marB="27432" anchor="ctr">
                    <a:solidFill>
                      <a:srgbClr val="D9D9D9"/>
                    </a:solidFill>
                  </a:tcPr>
                </a:tc>
                <a:tc>
                  <a:txBody>
                    <a:bodyPr/>
                    <a:lstStyle/>
                    <a:p>
                      <a:pPr algn="ctr">
                        <a:defRPr sz="1950"/>
                      </a:pPr>
                      <a:r>
                        <a:rPr sz="1950" b="1">
                          <a:solidFill>
                            <a:srgbClr val="000000"/>
                          </a:solidFill>
                          <a:latin typeface="Times New Roman"/>
                          <a:ea typeface="Meiryo"/>
                          <a:cs typeface="Times New Roman"/>
                        </a:rPr>
                        <a:t>件数</a:t>
                      </a:r>
                    </a:p>
                  </a:txBody>
                  <a:tcPr marL="54864" marR="54864" marT="27432" marB="27432" anchor="ctr">
                    <a:solidFill>
                      <a:srgbClr val="D9D9D9"/>
                    </a:solidFill>
                  </a:tcPr>
                </a:tc>
                <a:tc>
                  <a:txBody>
                    <a:bodyPr/>
                    <a:lstStyle/>
                    <a:p>
                      <a:pPr algn="ctr">
                        <a:defRPr sz="1950"/>
                      </a:pPr>
                      <a:r>
                        <a:rPr sz="1950" b="1">
                          <a:solidFill>
                            <a:srgbClr val="000000"/>
                          </a:solidFill>
                          <a:latin typeface="Times New Roman"/>
                          <a:ea typeface="Meiryo"/>
                          <a:cs typeface="Times New Roman"/>
                        </a:rPr>
                        <a:t>役割</a:t>
                      </a:r>
                    </a:p>
                  </a:txBody>
                  <a:tcPr marL="54864" marR="54864" marT="27432" marB="27432" anchor="ctr">
                    <a:solidFill>
                      <a:srgbClr val="D9D9D9"/>
                    </a:solidFill>
                  </a:tcPr>
                </a:tc>
                <a:extLst>
                  <a:ext uri="{0D108BD9-81ED-4DB2-BD59-A6C34878D82A}">
                    <a16:rowId xmlns:a16="http://schemas.microsoft.com/office/drawing/2014/main" val="10000"/>
                  </a:ext>
                </a:extLst>
              </a:tr>
              <a:tr h="502920">
                <a:tc>
                  <a:txBody>
                    <a:bodyPr/>
                    <a:lstStyle/>
                    <a:p>
                      <a:pPr algn="ctr">
                        <a:defRPr sz="1950"/>
                      </a:pPr>
                      <a:r>
                        <a:rPr sz="1950" b="0">
                          <a:solidFill>
                            <a:srgbClr val="000000"/>
                          </a:solidFill>
                          <a:latin typeface="Times New Roman"/>
                          <a:ea typeface="Meiryo"/>
                          <a:cs typeface="Times New Roman"/>
                        </a:rPr>
                        <a:t>train</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379</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モデル学習と AD しきい値作成</a:t>
                      </a:r>
                    </a:p>
                  </a:txBody>
                  <a:tcPr marL="54864" marR="54864" marT="27432" marB="27432" anchor="ctr">
                    <a:solidFill>
                      <a:srgbClr val="FFFFFF"/>
                    </a:solidFill>
                  </a:tcPr>
                </a:tc>
                <a:extLst>
                  <a:ext uri="{0D108BD9-81ED-4DB2-BD59-A6C34878D82A}">
                    <a16:rowId xmlns:a16="http://schemas.microsoft.com/office/drawing/2014/main" val="10001"/>
                  </a:ext>
                </a:extLst>
              </a:tr>
              <a:tr h="502920">
                <a:tc>
                  <a:txBody>
                    <a:bodyPr/>
                    <a:lstStyle/>
                    <a:p>
                      <a:pPr algn="ctr">
                        <a:defRPr sz="1950"/>
                      </a:pPr>
                      <a:r>
                        <a:rPr sz="1950" b="0">
                          <a:solidFill>
                            <a:srgbClr val="000000"/>
                          </a:solidFill>
                          <a:latin typeface="Times New Roman"/>
                          <a:ea typeface="Meiryo"/>
                          <a:cs typeface="Times New Roman"/>
                        </a:rPr>
                        <a:t>test</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127</a:t>
                      </a:r>
                    </a:p>
                  </a:txBody>
                  <a:tcPr marL="54864" marR="54864" marT="27432" marB="27432" anchor="ctr">
                    <a:solidFill>
                      <a:srgbClr val="FFFFFF"/>
                    </a:solidFill>
                  </a:tcPr>
                </a:tc>
                <a:tc>
                  <a:txBody>
                    <a:bodyPr/>
                    <a:lstStyle/>
                    <a:p>
                      <a:pPr algn="ctr">
                        <a:defRPr sz="1950"/>
                      </a:pPr>
                      <a:r>
                        <a:rPr sz="1950" b="0">
                          <a:solidFill>
                            <a:srgbClr val="000000"/>
                          </a:solidFill>
                          <a:latin typeface="Times New Roman"/>
                          <a:ea typeface="Meiryo"/>
                          <a:cs typeface="Times New Roman"/>
                        </a:rPr>
                        <a:t>性能評価と AD 判定</a:t>
                      </a:r>
                    </a:p>
                  </a:txBody>
                  <a:tcPr marL="54864" marR="54864"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40080" y="3278124"/>
            <a:ext cx="7726680" cy="1817370"/>
          </a:xfrm>
          <a:prstGeom prst="rect">
            <a:avLst/>
          </a:prstGeom>
          <a:noFill/>
        </p:spPr>
        <p:txBody>
          <a:bodyPr wrap="square" lIns="36576" tIns="18288" rIns="36576" bIns="18288">
            <a:normAutofit/>
          </a:bodyPr>
          <a:lstStyle/>
          <a:p>
            <a:pPr>
              <a:spcAft>
                <a:spcPts val="800"/>
              </a:spcAft>
              <a:defRPr sz="2250"/>
            </a:pPr>
            <a:r>
              <a:rPr sz="2250" b="0">
                <a:solidFill>
                  <a:srgbClr val="000000"/>
                </a:solidFill>
                <a:latin typeface="Times New Roman"/>
                <a:ea typeface="Meiryo"/>
                <a:cs typeface="Times New Roman"/>
              </a:rPr>
              <a:t>・ test_size=0.25 なので、全体の 25% をテストデータにする</a:t>
            </a:r>
          </a:p>
          <a:p>
            <a:pPr>
              <a:spcAft>
                <a:spcPts val="800"/>
              </a:spcAft>
              <a:defRPr sz="2250"/>
            </a:pPr>
            <a:r>
              <a:rPr sz="2250" b="0">
                <a:solidFill>
                  <a:srgbClr val="000000"/>
                </a:solidFill>
                <a:latin typeface="Times New Roman"/>
                <a:ea typeface="Meiryo"/>
                <a:cs typeface="Times New Roman"/>
              </a:rPr>
              <a:t>・ random_state=42 で再現性を固定する</a:t>
            </a:r>
          </a:p>
          <a:p>
            <a:pPr>
              <a:spcAft>
                <a:spcPts val="800"/>
              </a:spcAft>
              <a:defRPr sz="2250"/>
            </a:pPr>
            <a:r>
              <a:rPr sz="2250" b="0">
                <a:solidFill>
                  <a:srgbClr val="000000"/>
                </a:solidFill>
                <a:latin typeface="Times New Roman"/>
                <a:ea typeface="Meiryo"/>
                <a:cs typeface="Times New Roman"/>
              </a:rPr>
              <a:t>・ test の情報を学習や標準化の fit に混ぜない</a:t>
            </a:r>
          </a:p>
        </p:txBody>
      </p:sp>
      <p:sp>
        <p:nvSpPr>
          <p:cNvPr id="6" name="TextBox 5"/>
          <p:cNvSpPr txBox="1"/>
          <p:nvPr/>
        </p:nvSpPr>
        <p:spPr>
          <a:xfrm>
            <a:off x="640080" y="5486400"/>
            <a:ext cx="7726680" cy="514350"/>
          </a:xfrm>
          <a:prstGeom prst="rect">
            <a:avLst/>
          </a:prstGeom>
          <a:noFill/>
        </p:spPr>
        <p:txBody>
          <a:bodyPr wrap="square" lIns="36576" tIns="18288" rIns="36576" bIns="18288" anchor="t">
            <a:normAutofit/>
          </a:bodyPr>
          <a:lstStyle/>
          <a:p>
            <a:pPr algn="l">
              <a:spcAft>
                <a:spcPts val="600"/>
              </a:spcAft>
              <a:defRPr sz="2150"/>
            </a:pPr>
            <a:r>
              <a:rPr sz="2150" b="0">
                <a:solidFill>
                  <a:srgbClr val="000000"/>
                </a:solidFill>
                <a:latin typeface="Times New Roman"/>
                <a:ea typeface="Meiryo"/>
                <a:cs typeface="Times New Roman"/>
              </a:rPr>
              <a:t>評価を楽観的にしないために、train と test の役割を分離</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標準化が必要な理由</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feature_scale_std.png"/>
          <p:cNvPicPr>
            <a:picLocks noChangeAspect="1"/>
          </p:cNvPicPr>
          <p:nvPr/>
        </p:nvPicPr>
        <p:blipFill>
          <a:blip r:embed="rId3"/>
          <a:stretch>
            <a:fillRect/>
          </a:stretch>
        </p:blipFill>
        <p:spPr>
          <a:xfrm>
            <a:off x="411480" y="1513157"/>
            <a:ext cx="4160520" cy="2366010"/>
          </a:xfrm>
          <a:prstGeom prst="rect">
            <a:avLst/>
          </a:prstGeom>
        </p:spPr>
      </p:pic>
      <p:sp>
        <p:nvSpPr>
          <p:cNvPr id="5" name="TextBox 4"/>
          <p:cNvSpPr txBox="1"/>
          <p:nvPr/>
        </p:nvSpPr>
        <p:spPr>
          <a:xfrm>
            <a:off x="4709160" y="1200149"/>
            <a:ext cx="4311748" cy="3617595"/>
          </a:xfrm>
          <a:prstGeom prst="rect">
            <a:avLst/>
          </a:prstGeom>
          <a:noFill/>
        </p:spPr>
        <p:txBody>
          <a:bodyPr wrap="square" lIns="36576" tIns="18288" rIns="36576" bIns="18288">
            <a:noAutofit/>
          </a:bodyPr>
          <a:lstStyle/>
          <a:p>
            <a:pPr>
              <a:defRPr sz="2080"/>
            </a:pPr>
            <a:r>
              <a:rPr sz="2400" b="0">
                <a:solidFill>
                  <a:srgbClr val="000000"/>
                </a:solidFill>
                <a:latin typeface="Times New Roman"/>
                <a:ea typeface="Meiryo"/>
                <a:cs typeface="Times New Roman"/>
              </a:rPr>
              <a:t>・ 距離ベースの AD では、</a:t>
            </a:r>
            <a:endParaRPr lang="en-US" sz="2400" b="0">
              <a:solidFill>
                <a:srgbClr val="000000"/>
              </a:solidFill>
              <a:latin typeface="Times New Roman"/>
              <a:ea typeface="Meiryo"/>
              <a:cs typeface="Times New Roman"/>
            </a:endParaRPr>
          </a:p>
          <a:p>
            <a:pPr>
              <a:defRPr sz="2080"/>
            </a:pPr>
            <a:r>
              <a:rPr sz="2400" b="0">
                <a:solidFill>
                  <a:srgbClr val="000000"/>
                </a:solidFill>
                <a:latin typeface="Times New Roman"/>
                <a:ea typeface="Meiryo"/>
                <a:cs typeface="Times New Roman"/>
              </a:rPr>
              <a:t>単位が大きい特徴量が距離を支配してしまう</a:t>
            </a:r>
          </a:p>
          <a:p>
            <a:pPr>
              <a:defRPr sz="2080"/>
            </a:pPr>
            <a:r>
              <a:rPr sz="2400" b="0">
                <a:solidFill>
                  <a:srgbClr val="000000"/>
                </a:solidFill>
                <a:latin typeface="Times New Roman"/>
                <a:ea typeface="Meiryo"/>
                <a:cs typeface="Times New Roman"/>
              </a:rPr>
              <a:t>・ 標準化により、各特徴量を平均 0・標準偏差 1 にそろえる</a:t>
            </a:r>
          </a:p>
          <a:p>
            <a:pPr>
              <a:defRPr sz="2080"/>
            </a:pPr>
            <a:r>
              <a:rPr sz="2400" b="0">
                <a:solidFill>
                  <a:srgbClr val="000000"/>
                </a:solidFill>
                <a:latin typeface="Times New Roman"/>
                <a:ea typeface="Meiryo"/>
                <a:cs typeface="Times New Roman"/>
              </a:rPr>
              <a:t>・ fit_transform は train のみに使い、test は transform のみ</a:t>
            </a:r>
            <a:endParaRPr lang="en-US" sz="2400" b="0">
              <a:solidFill>
                <a:srgbClr val="000000"/>
              </a:solidFill>
              <a:latin typeface="Times New Roman"/>
              <a:ea typeface="Meiryo"/>
              <a:cs typeface="Times New Roman"/>
            </a:endParaRPr>
          </a:p>
          <a:p>
            <a:pPr>
              <a:defRPr sz="2080"/>
            </a:pPr>
            <a:r>
              <a:rPr sz="2400" b="0">
                <a:solidFill>
                  <a:srgbClr val="000000"/>
                </a:solidFill>
                <a:latin typeface="Times New Roman"/>
                <a:ea typeface="Meiryo"/>
                <a:cs typeface="Times New Roman"/>
              </a:rPr>
              <a:t>行う</a:t>
            </a:r>
          </a:p>
        </p:txBody>
      </p:sp>
      <p:sp>
        <p:nvSpPr>
          <p:cNvPr id="6" name="Rectangle 5"/>
          <p:cNvSpPr/>
          <p:nvPr/>
        </p:nvSpPr>
        <p:spPr>
          <a:xfrm>
            <a:off x="4892040" y="4906899"/>
            <a:ext cx="3977640" cy="150876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7" name="TextBox 6"/>
          <p:cNvSpPr txBox="1"/>
          <p:nvPr/>
        </p:nvSpPr>
        <p:spPr>
          <a:xfrm>
            <a:off x="4983480" y="4989195"/>
            <a:ext cx="3794760" cy="1337310"/>
          </a:xfrm>
          <a:prstGeom prst="rect">
            <a:avLst/>
          </a:prstGeom>
          <a:noFill/>
        </p:spPr>
        <p:txBody>
          <a:bodyPr wrap="square" lIns="50800" tIns="50800" rIns="50800" bIns="50800">
            <a:normAutofit/>
          </a:bodyPr>
          <a:lstStyle/>
          <a:p>
            <a:pPr>
              <a:spcAft>
                <a:spcPts val="600"/>
              </a:spcAft>
              <a:defRPr sz="1580"/>
            </a:pPr>
            <a:r>
              <a:rPr sz="1580" b="0">
                <a:solidFill>
                  <a:srgbClr val="000000"/>
                </a:solidFill>
                <a:latin typeface="Times New Roman"/>
                <a:ea typeface="Meiryo"/>
                <a:cs typeface="Times New Roman"/>
              </a:rPr>
              <a:t>scaler = StandardScaler()
X_train_scaled = scaler.fit_transform(X_train)
X_test_scaled = scaler.transform(X_test)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モデル比較の見方</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3356133115"/>
              </p:ext>
            </p:extLst>
          </p:nvPr>
        </p:nvGraphicFramePr>
        <p:xfrm>
          <a:off x="530352" y="1179576"/>
          <a:ext cx="7839658" cy="2286000"/>
        </p:xfrm>
        <a:graphic>
          <a:graphicData uri="http://schemas.openxmlformats.org/drawingml/2006/table">
            <a:tbl>
              <a:tblPr firstRow="1" bandRow="1">
                <a:tableStyleId>{5C22544A-7EE6-4342-B048-85BDC9FD1C3A}</a:tableStyleId>
              </a:tblPr>
              <a:tblGrid>
                <a:gridCol w="1031534">
                  <a:extLst>
                    <a:ext uri="{9D8B030D-6E8A-4147-A177-3AD203B41FA5}">
                      <a16:colId xmlns:a16="http://schemas.microsoft.com/office/drawing/2014/main" val="20000"/>
                    </a:ext>
                  </a:extLst>
                </a:gridCol>
                <a:gridCol w="3404062">
                  <a:extLst>
                    <a:ext uri="{9D8B030D-6E8A-4147-A177-3AD203B41FA5}">
                      <a16:colId xmlns:a16="http://schemas.microsoft.com/office/drawing/2014/main" val="20001"/>
                    </a:ext>
                  </a:extLst>
                </a:gridCol>
                <a:gridCol w="3404062">
                  <a:extLst>
                    <a:ext uri="{9D8B030D-6E8A-4147-A177-3AD203B41FA5}">
                      <a16:colId xmlns:a16="http://schemas.microsoft.com/office/drawing/2014/main" val="20002"/>
                    </a:ext>
                  </a:extLst>
                </a:gridCol>
              </a:tblGrid>
              <a:tr h="571500">
                <a:tc>
                  <a:txBody>
                    <a:bodyPr/>
                    <a:lstStyle/>
                    <a:p>
                      <a:pPr algn="ctr">
                        <a:defRPr sz="1850"/>
                      </a:pPr>
                      <a:r>
                        <a:rPr sz="1850" b="1">
                          <a:solidFill>
                            <a:srgbClr val="000000"/>
                          </a:solidFill>
                          <a:latin typeface="Times New Roman"/>
                          <a:ea typeface="Meiryo"/>
                          <a:cs typeface="Times New Roman"/>
                        </a:rPr>
                        <a:t>指標</a:t>
                      </a:r>
                    </a:p>
                  </a:txBody>
                  <a:tcPr marL="54864" marR="54864" marT="27432" marB="27432" anchor="ctr">
                    <a:solidFill>
                      <a:srgbClr val="D9D9D9"/>
                    </a:solidFill>
                  </a:tcPr>
                </a:tc>
                <a:tc>
                  <a:txBody>
                    <a:bodyPr/>
                    <a:lstStyle/>
                    <a:p>
                      <a:pPr algn="ctr">
                        <a:defRPr sz="1850"/>
                      </a:pPr>
                      <a:r>
                        <a:rPr sz="1850" b="1">
                          <a:solidFill>
                            <a:srgbClr val="000000"/>
                          </a:solidFill>
                          <a:latin typeface="Times New Roman"/>
                          <a:ea typeface="Meiryo"/>
                          <a:cs typeface="Times New Roman"/>
                        </a:rPr>
                        <a:t>意味</a:t>
                      </a:r>
                    </a:p>
                  </a:txBody>
                  <a:tcPr marL="54864" marR="54864" marT="27432" marB="27432" anchor="ctr">
                    <a:solidFill>
                      <a:srgbClr val="D9D9D9"/>
                    </a:solidFill>
                  </a:tcPr>
                </a:tc>
                <a:tc>
                  <a:txBody>
                    <a:bodyPr/>
                    <a:lstStyle/>
                    <a:p>
                      <a:pPr algn="ctr">
                        <a:defRPr sz="1850"/>
                      </a:pPr>
                      <a:r>
                        <a:rPr sz="1850" b="1">
                          <a:solidFill>
                            <a:srgbClr val="000000"/>
                          </a:solidFill>
                          <a:latin typeface="Times New Roman"/>
                          <a:ea typeface="Meiryo"/>
                          <a:cs typeface="Times New Roman"/>
                        </a:rPr>
                        <a:t>見方</a:t>
                      </a:r>
                    </a:p>
                  </a:txBody>
                  <a:tcPr marL="54864" marR="54864" marT="27432" marB="27432" anchor="ctr">
                    <a:solidFill>
                      <a:srgbClr val="D9D9D9"/>
                    </a:solidFill>
                  </a:tcPr>
                </a:tc>
                <a:extLst>
                  <a:ext uri="{0D108BD9-81ED-4DB2-BD59-A6C34878D82A}">
                    <a16:rowId xmlns:a16="http://schemas.microsoft.com/office/drawing/2014/main" val="10000"/>
                  </a:ext>
                </a:extLst>
              </a:tr>
              <a:tr h="571500">
                <a:tc>
                  <a:txBody>
                    <a:bodyPr/>
                    <a:lstStyle/>
                    <a:p>
                      <a:pPr algn="ctr">
                        <a:defRPr sz="1850"/>
                      </a:pPr>
                      <a:r>
                        <a:rPr sz="1850" b="0">
                          <a:solidFill>
                            <a:srgbClr val="000000"/>
                          </a:solidFill>
                          <a:latin typeface="Times New Roman"/>
                          <a:ea typeface="Meiryo"/>
                          <a:cs typeface="Times New Roman"/>
                        </a:rPr>
                        <a:t>MAE</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平均絶対誤差</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小さいほどよい</a:t>
                      </a:r>
                    </a:p>
                  </a:txBody>
                  <a:tcPr marL="54864" marR="54864" marT="27432" marB="27432" anchor="ctr">
                    <a:solidFill>
                      <a:srgbClr val="FFFFFF"/>
                    </a:solidFill>
                  </a:tcPr>
                </a:tc>
                <a:extLst>
                  <a:ext uri="{0D108BD9-81ED-4DB2-BD59-A6C34878D82A}">
                    <a16:rowId xmlns:a16="http://schemas.microsoft.com/office/drawing/2014/main" val="10001"/>
                  </a:ext>
                </a:extLst>
              </a:tr>
              <a:tr h="571500">
                <a:tc>
                  <a:txBody>
                    <a:bodyPr/>
                    <a:lstStyle/>
                    <a:p>
                      <a:pPr algn="ctr">
                        <a:defRPr sz="1850"/>
                      </a:pPr>
                      <a:r>
                        <a:rPr sz="1850" b="0">
                          <a:solidFill>
                            <a:srgbClr val="000000"/>
                          </a:solidFill>
                          <a:latin typeface="Times New Roman"/>
                          <a:ea typeface="Meiryo"/>
                          <a:cs typeface="Times New Roman"/>
                        </a:rPr>
                        <a:t>RMSE</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二乗誤差の平方根</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大きな誤差を強く罰する</a:t>
                      </a:r>
                    </a:p>
                  </a:txBody>
                  <a:tcPr marL="54864" marR="54864" marT="27432" marB="27432" anchor="ctr">
                    <a:solidFill>
                      <a:srgbClr val="FFFFFF"/>
                    </a:solidFill>
                  </a:tcPr>
                </a:tc>
                <a:extLst>
                  <a:ext uri="{0D108BD9-81ED-4DB2-BD59-A6C34878D82A}">
                    <a16:rowId xmlns:a16="http://schemas.microsoft.com/office/drawing/2014/main" val="10002"/>
                  </a:ext>
                </a:extLst>
              </a:tr>
              <a:tr h="571500">
                <a:tc>
                  <a:txBody>
                    <a:bodyPr/>
                    <a:lstStyle/>
                    <a:p>
                      <a:pPr algn="ctr">
                        <a:defRPr sz="1850"/>
                      </a:pPr>
                      <a:r>
                        <a:rPr sz="1850" b="0">
                          <a:solidFill>
                            <a:srgbClr val="000000"/>
                          </a:solidFill>
                          <a:latin typeface="Times New Roman"/>
                          <a:ea typeface="Meiryo"/>
                          <a:cs typeface="Times New Roman"/>
                        </a:rPr>
                        <a:t>R2</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決定係数</a:t>
                      </a:r>
                    </a:p>
                  </a:txBody>
                  <a:tcPr marL="54864" marR="54864" marT="27432" marB="27432" anchor="ctr">
                    <a:solidFill>
                      <a:srgbClr val="FFFFFF"/>
                    </a:solidFill>
                  </a:tcPr>
                </a:tc>
                <a:tc>
                  <a:txBody>
                    <a:bodyPr/>
                    <a:lstStyle/>
                    <a:p>
                      <a:pPr algn="ctr">
                        <a:defRPr sz="1850"/>
                      </a:pPr>
                      <a:r>
                        <a:rPr sz="1850" b="0">
                          <a:solidFill>
                            <a:srgbClr val="000000"/>
                          </a:solidFill>
                          <a:latin typeface="Times New Roman"/>
                          <a:ea typeface="Meiryo"/>
                          <a:cs typeface="Times New Roman"/>
                        </a:rPr>
                        <a:t>1 に近いほどよい</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40080" y="3840480"/>
            <a:ext cx="8138160" cy="1088488"/>
          </a:xfrm>
          <a:prstGeom prst="rect">
            <a:avLst/>
          </a:prstGeom>
          <a:noFill/>
        </p:spPr>
        <p:txBody>
          <a:bodyPr wrap="square" lIns="36576" tIns="18288" rIns="36576" bIns="18288">
            <a:normAutofit fontScale="92500"/>
          </a:bodyPr>
          <a:lstStyle/>
          <a:p>
            <a:pPr>
              <a:defRPr sz="2250"/>
            </a:pPr>
            <a:r>
              <a:rPr sz="2250" b="0">
                <a:solidFill>
                  <a:srgbClr val="000000"/>
                </a:solidFill>
                <a:latin typeface="Times New Roman"/>
                <a:ea typeface="Meiryo"/>
                <a:cs typeface="Times New Roman"/>
              </a:rPr>
              <a:t>・ このノートブックでは RMSE が最小のモデルを AD 解析に使う</a:t>
            </a:r>
          </a:p>
          <a:p>
            <a:pPr>
              <a:defRPr sz="2250"/>
            </a:pPr>
            <a:r>
              <a:rPr sz="2250" b="0">
                <a:solidFill>
                  <a:srgbClr val="000000"/>
                </a:solidFill>
                <a:latin typeface="Times New Roman"/>
                <a:ea typeface="Meiryo"/>
                <a:cs typeface="Times New Roman"/>
              </a:rPr>
              <a:t>・ 比較条件は、同じ train/test 分割、同じ標準化済み説明変数、</a:t>
            </a:r>
            <a:endParaRPr lang="en-US" sz="2250" b="0">
              <a:solidFill>
                <a:srgbClr val="000000"/>
              </a:solidFill>
              <a:latin typeface="Times New Roman"/>
              <a:ea typeface="Meiryo"/>
              <a:cs typeface="Times New Roman"/>
            </a:endParaRPr>
          </a:p>
          <a:p>
            <a:pPr>
              <a:defRPr sz="2250"/>
            </a:pPr>
            <a:r>
              <a:rPr sz="2250" b="0">
                <a:solidFill>
                  <a:srgbClr val="000000"/>
                </a:solidFill>
                <a:latin typeface="Times New Roman"/>
                <a:ea typeface="Meiryo"/>
                <a:cs typeface="Times New Roman"/>
              </a:rPr>
              <a:t>同じ評価指標</a:t>
            </a:r>
          </a:p>
        </p:txBody>
      </p:sp>
      <p:sp>
        <p:nvSpPr>
          <p:cNvPr id="6" name="Rectangle 5"/>
          <p:cNvSpPr/>
          <p:nvPr/>
        </p:nvSpPr>
        <p:spPr>
          <a:xfrm>
            <a:off x="594360" y="5417820"/>
            <a:ext cx="7955280" cy="72009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7" name="TextBox 6"/>
          <p:cNvSpPr txBox="1"/>
          <p:nvPr/>
        </p:nvSpPr>
        <p:spPr>
          <a:xfrm>
            <a:off x="685800" y="5500116"/>
            <a:ext cx="7772400" cy="548640"/>
          </a:xfrm>
          <a:prstGeom prst="rect">
            <a:avLst/>
          </a:prstGeom>
          <a:noFill/>
        </p:spPr>
        <p:txBody>
          <a:bodyPr wrap="square" lIns="38100" tIns="38100" rIns="38100" bIns="38100">
            <a:normAutofit fontScale="92500" lnSpcReduction="20000"/>
          </a:bodyPr>
          <a:lstStyle/>
          <a:p>
            <a:pPr>
              <a:spcAft>
                <a:spcPts val="600"/>
              </a:spcAft>
              <a:defRPr sz="1700"/>
            </a:pPr>
            <a:r>
              <a:rPr sz="1700" b="0">
                <a:solidFill>
                  <a:srgbClr val="000000"/>
                </a:solidFill>
                <a:latin typeface="Times New Roman"/>
                <a:ea typeface="Meiryo"/>
                <a:cs typeface="Times New Roman"/>
              </a:rPr>
              <a:t>candidate_model.fit(X_train_scaled, y_train)
candidate_pred = candidate_model.predict(X_test_scaled)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比較したモデル群</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2205941072"/>
              </p:ext>
            </p:extLst>
          </p:nvPr>
        </p:nvGraphicFramePr>
        <p:xfrm>
          <a:off x="411480" y="1152144"/>
          <a:ext cx="8321040" cy="3337560"/>
        </p:xfrm>
        <a:graphic>
          <a:graphicData uri="http://schemas.openxmlformats.org/drawingml/2006/table">
            <a:tbl>
              <a:tblPr firstRow="1" bandRow="1">
                <a:tableStyleId>{5C22544A-7EE6-4342-B048-85BDC9FD1C3A}</a:tableStyleId>
              </a:tblPr>
              <a:tblGrid>
                <a:gridCol w="1628030">
                  <a:extLst>
                    <a:ext uri="{9D8B030D-6E8A-4147-A177-3AD203B41FA5}">
                      <a16:colId xmlns:a16="http://schemas.microsoft.com/office/drawing/2014/main" val="20000"/>
                    </a:ext>
                  </a:extLst>
                </a:gridCol>
                <a:gridCol w="6693010">
                  <a:extLst>
                    <a:ext uri="{9D8B030D-6E8A-4147-A177-3AD203B41FA5}">
                      <a16:colId xmlns:a16="http://schemas.microsoft.com/office/drawing/2014/main" val="20001"/>
                    </a:ext>
                  </a:extLst>
                </a:gridCol>
              </a:tblGrid>
              <a:tr h="556260">
                <a:tc>
                  <a:txBody>
                    <a:bodyPr/>
                    <a:lstStyle/>
                    <a:p>
                      <a:pPr algn="ctr">
                        <a:defRPr sz="1670"/>
                      </a:pPr>
                      <a:r>
                        <a:rPr sz="1670" b="1">
                          <a:solidFill>
                            <a:srgbClr val="000000"/>
                          </a:solidFill>
                          <a:latin typeface="Times New Roman"/>
                          <a:ea typeface="Meiryo"/>
                          <a:cs typeface="Times New Roman"/>
                        </a:rPr>
                        <a:t>カテゴリ</a:t>
                      </a:r>
                    </a:p>
                  </a:txBody>
                  <a:tcPr marL="54864" marR="54864" marT="27432" marB="27432" anchor="ctr">
                    <a:solidFill>
                      <a:srgbClr val="D9D9D9"/>
                    </a:solidFill>
                  </a:tcPr>
                </a:tc>
                <a:tc>
                  <a:txBody>
                    <a:bodyPr/>
                    <a:lstStyle/>
                    <a:p>
                      <a:pPr algn="ctr">
                        <a:defRPr sz="1670"/>
                      </a:pPr>
                      <a:r>
                        <a:rPr sz="1670" b="1">
                          <a:solidFill>
                            <a:srgbClr val="000000"/>
                          </a:solidFill>
                          <a:latin typeface="Times New Roman"/>
                          <a:ea typeface="Meiryo"/>
                          <a:cs typeface="Times New Roman"/>
                        </a:rPr>
                        <a:t>モデル</a:t>
                      </a:r>
                    </a:p>
                  </a:txBody>
                  <a:tcPr marL="54864" marR="54864" marT="27432" marB="27432" anchor="ctr">
                    <a:solidFill>
                      <a:srgbClr val="D9D9D9"/>
                    </a:solidFill>
                  </a:tcPr>
                </a:tc>
                <a:extLst>
                  <a:ext uri="{0D108BD9-81ED-4DB2-BD59-A6C34878D82A}">
                    <a16:rowId xmlns:a16="http://schemas.microsoft.com/office/drawing/2014/main" val="10000"/>
                  </a:ext>
                </a:extLst>
              </a:tr>
              <a:tr h="556260">
                <a:tc>
                  <a:txBody>
                    <a:bodyPr/>
                    <a:lstStyle/>
                    <a:p>
                      <a:pPr algn="ctr">
                        <a:defRPr sz="1670"/>
                      </a:pPr>
                      <a:r>
                        <a:rPr sz="1670" b="0">
                          <a:solidFill>
                            <a:srgbClr val="000000"/>
                          </a:solidFill>
                          <a:latin typeface="Times New Roman"/>
                          <a:ea typeface="Meiryo"/>
                          <a:cs typeface="Times New Roman"/>
                        </a:rPr>
                        <a:t>ベースライン</a:t>
                      </a:r>
                    </a:p>
                  </a:txBody>
                  <a:tcPr marL="54864" marR="54864" marT="27432" marB="27432" anchor="ctr">
                    <a:solidFill>
                      <a:srgbClr val="FFFFFF"/>
                    </a:solidFill>
                  </a:tcPr>
                </a:tc>
                <a:tc>
                  <a:txBody>
                    <a:bodyPr/>
                    <a:lstStyle/>
                    <a:p>
                      <a:pPr algn="ctr">
                        <a:defRPr sz="1670"/>
                      </a:pPr>
                      <a:r>
                        <a:rPr sz="1670" b="0">
                          <a:solidFill>
                            <a:srgbClr val="000000"/>
                          </a:solidFill>
                          <a:latin typeface="Times New Roman"/>
                          <a:ea typeface="Meiryo"/>
                          <a:cs typeface="Times New Roman"/>
                        </a:rPr>
                        <a:t>Dummy (mean)</a:t>
                      </a:r>
                    </a:p>
                  </a:txBody>
                  <a:tcPr marL="54864" marR="54864" marT="27432" marB="27432" anchor="ctr">
                    <a:solidFill>
                      <a:srgbClr val="FFFFFF"/>
                    </a:solidFill>
                  </a:tcPr>
                </a:tc>
                <a:extLst>
                  <a:ext uri="{0D108BD9-81ED-4DB2-BD59-A6C34878D82A}">
                    <a16:rowId xmlns:a16="http://schemas.microsoft.com/office/drawing/2014/main" val="10001"/>
                  </a:ext>
                </a:extLst>
              </a:tr>
              <a:tr h="556260">
                <a:tc>
                  <a:txBody>
                    <a:bodyPr/>
                    <a:lstStyle/>
                    <a:p>
                      <a:pPr algn="ctr">
                        <a:defRPr sz="1670"/>
                      </a:pPr>
                      <a:r>
                        <a:rPr sz="1670" b="0">
                          <a:solidFill>
                            <a:srgbClr val="000000"/>
                          </a:solidFill>
                          <a:latin typeface="Times New Roman"/>
                          <a:ea typeface="Meiryo"/>
                          <a:cs typeface="Times New Roman"/>
                        </a:rPr>
                        <a:t>線形モデル</a:t>
                      </a:r>
                    </a:p>
                  </a:txBody>
                  <a:tcPr marL="54864" marR="54864" marT="27432" marB="27432" anchor="ctr">
                    <a:solidFill>
                      <a:srgbClr val="FFFFFF"/>
                    </a:solidFill>
                  </a:tcPr>
                </a:tc>
                <a:tc>
                  <a:txBody>
                    <a:bodyPr/>
                    <a:lstStyle/>
                    <a:p>
                      <a:pPr algn="ctr">
                        <a:defRPr sz="1670"/>
                      </a:pPr>
                      <a:r>
                        <a:rPr sz="1670" b="0">
                          <a:solidFill>
                            <a:srgbClr val="000000"/>
                          </a:solidFill>
                          <a:latin typeface="Times New Roman"/>
                          <a:ea typeface="Meiryo"/>
                          <a:cs typeface="Times New Roman"/>
                        </a:rPr>
                        <a:t>Linear Regression / Ridge / Lasso / Elastic Net</a:t>
                      </a:r>
                    </a:p>
                  </a:txBody>
                  <a:tcPr marL="54864" marR="54864" marT="27432" marB="27432" anchor="ctr">
                    <a:solidFill>
                      <a:srgbClr val="FFFFFF"/>
                    </a:solidFill>
                  </a:tcPr>
                </a:tc>
                <a:extLst>
                  <a:ext uri="{0D108BD9-81ED-4DB2-BD59-A6C34878D82A}">
                    <a16:rowId xmlns:a16="http://schemas.microsoft.com/office/drawing/2014/main" val="10002"/>
                  </a:ext>
                </a:extLst>
              </a:tr>
              <a:tr h="556260">
                <a:tc>
                  <a:txBody>
                    <a:bodyPr/>
                    <a:lstStyle/>
                    <a:p>
                      <a:pPr algn="ctr">
                        <a:defRPr sz="1670"/>
                      </a:pPr>
                      <a:r>
                        <a:rPr sz="1670" b="0">
                          <a:solidFill>
                            <a:srgbClr val="000000"/>
                          </a:solidFill>
                          <a:latin typeface="Times New Roman"/>
                          <a:ea typeface="Meiryo"/>
                          <a:cs typeface="Times New Roman"/>
                        </a:rPr>
                        <a:t>距離・カーネル</a:t>
                      </a:r>
                    </a:p>
                  </a:txBody>
                  <a:tcPr marL="54864" marR="54864" marT="27432" marB="27432" anchor="ctr">
                    <a:solidFill>
                      <a:srgbClr val="FFFFFF"/>
                    </a:solidFill>
                  </a:tcPr>
                </a:tc>
                <a:tc>
                  <a:txBody>
                    <a:bodyPr/>
                    <a:lstStyle/>
                    <a:p>
                      <a:pPr algn="ctr">
                        <a:defRPr sz="1670"/>
                      </a:pPr>
                      <a:r>
                        <a:rPr sz="1670" b="0">
                          <a:solidFill>
                            <a:srgbClr val="000000"/>
                          </a:solidFill>
                          <a:latin typeface="Times New Roman"/>
                          <a:ea typeface="Meiryo"/>
                          <a:cs typeface="Times New Roman"/>
                        </a:rPr>
                        <a:t>kNN / SVR (RBF)</a:t>
                      </a:r>
                    </a:p>
                  </a:txBody>
                  <a:tcPr marL="54864" marR="54864" marT="27432" marB="27432" anchor="ctr">
                    <a:solidFill>
                      <a:srgbClr val="FFFFFF"/>
                    </a:solidFill>
                  </a:tcPr>
                </a:tc>
                <a:extLst>
                  <a:ext uri="{0D108BD9-81ED-4DB2-BD59-A6C34878D82A}">
                    <a16:rowId xmlns:a16="http://schemas.microsoft.com/office/drawing/2014/main" val="10003"/>
                  </a:ext>
                </a:extLst>
              </a:tr>
              <a:tr h="556260">
                <a:tc>
                  <a:txBody>
                    <a:bodyPr/>
                    <a:lstStyle/>
                    <a:p>
                      <a:pPr algn="ctr">
                        <a:defRPr sz="1670"/>
                      </a:pPr>
                      <a:r>
                        <a:rPr sz="1670" b="0">
                          <a:solidFill>
                            <a:srgbClr val="000000"/>
                          </a:solidFill>
                          <a:latin typeface="Times New Roman"/>
                          <a:ea typeface="Meiryo"/>
                          <a:cs typeface="Times New Roman"/>
                        </a:rPr>
                        <a:t>木モデル</a:t>
                      </a:r>
                    </a:p>
                  </a:txBody>
                  <a:tcPr marL="54864" marR="54864" marT="27432" marB="27432" anchor="ctr">
                    <a:solidFill>
                      <a:srgbClr val="FFFFFF"/>
                    </a:solidFill>
                  </a:tcPr>
                </a:tc>
                <a:tc>
                  <a:txBody>
                    <a:bodyPr/>
                    <a:lstStyle/>
                    <a:p>
                      <a:pPr algn="ctr">
                        <a:defRPr sz="1670"/>
                      </a:pPr>
                      <a:r>
                        <a:rPr sz="1670" b="0">
                          <a:solidFill>
                            <a:srgbClr val="000000"/>
                          </a:solidFill>
                          <a:latin typeface="Times New Roman"/>
                          <a:ea typeface="Meiryo"/>
                          <a:cs typeface="Times New Roman"/>
                        </a:rPr>
                        <a:t>Decision Tree / Random Forest / Extra Trees</a:t>
                      </a:r>
                    </a:p>
                  </a:txBody>
                  <a:tcPr marL="54864" marR="54864" marT="27432" marB="27432" anchor="ctr">
                    <a:solidFill>
                      <a:srgbClr val="FFFFFF"/>
                    </a:solidFill>
                  </a:tcPr>
                </a:tc>
                <a:extLst>
                  <a:ext uri="{0D108BD9-81ED-4DB2-BD59-A6C34878D82A}">
                    <a16:rowId xmlns:a16="http://schemas.microsoft.com/office/drawing/2014/main" val="10004"/>
                  </a:ext>
                </a:extLst>
              </a:tr>
              <a:tr h="556260">
                <a:tc>
                  <a:txBody>
                    <a:bodyPr/>
                    <a:lstStyle/>
                    <a:p>
                      <a:pPr algn="ctr">
                        <a:defRPr sz="1670"/>
                      </a:pPr>
                      <a:r>
                        <a:rPr sz="1670" b="0">
                          <a:solidFill>
                            <a:srgbClr val="000000"/>
                          </a:solidFill>
                          <a:latin typeface="Times New Roman"/>
                          <a:ea typeface="Meiryo"/>
                          <a:cs typeface="Times New Roman"/>
                        </a:rPr>
                        <a:t>Boosting</a:t>
                      </a:r>
                    </a:p>
                  </a:txBody>
                  <a:tcPr marL="54864" marR="54864" marT="27432" marB="27432" anchor="ctr">
                    <a:solidFill>
                      <a:srgbClr val="FFFFFF"/>
                    </a:solidFill>
                  </a:tcPr>
                </a:tc>
                <a:tc>
                  <a:txBody>
                    <a:bodyPr/>
                    <a:lstStyle/>
                    <a:p>
                      <a:pPr algn="ctr">
                        <a:defRPr sz="1670"/>
                      </a:pPr>
                      <a:r>
                        <a:rPr sz="1670" b="0">
                          <a:solidFill>
                            <a:srgbClr val="000000"/>
                          </a:solidFill>
                          <a:latin typeface="Times New Roman"/>
                          <a:ea typeface="Meiryo"/>
                          <a:cs typeface="Times New Roman"/>
                        </a:rPr>
                        <a:t>Gradient Boosting / Hist Gradient Boosting / AdaBoost</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94360" y="4937760"/>
            <a:ext cx="7955280" cy="925830"/>
          </a:xfrm>
          <a:prstGeom prst="rect">
            <a:avLst/>
          </a:prstGeom>
          <a:noFill/>
        </p:spPr>
        <p:txBody>
          <a:bodyPr wrap="square" lIns="36576" tIns="18288" rIns="36576" bIns="18288" anchor="t">
            <a:normAutofit/>
          </a:bodyPr>
          <a:lstStyle/>
          <a:p>
            <a:pPr algn="l">
              <a:spcAft>
                <a:spcPts val="600"/>
              </a:spcAft>
              <a:defRPr sz="2150"/>
            </a:pPr>
            <a:r>
              <a:rPr sz="2150" b="0">
                <a:solidFill>
                  <a:srgbClr val="000000"/>
                </a:solidFill>
                <a:latin typeface="Times New Roman"/>
                <a:ea typeface="Meiryo"/>
                <a:cs typeface="Times New Roman"/>
              </a:rPr>
              <a:t>AD 判定の仕組みは、選んだ回帰モデルとは独立
予測誤差の可視化には最良モデルの予測値を使用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モデル比較の結果</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model_rmse_bar.png"/>
          <p:cNvPicPr>
            <a:picLocks noChangeAspect="1"/>
          </p:cNvPicPr>
          <p:nvPr/>
        </p:nvPicPr>
        <p:blipFill>
          <a:blip r:embed="rId3"/>
          <a:stretch>
            <a:fillRect/>
          </a:stretch>
        </p:blipFill>
        <p:spPr>
          <a:xfrm>
            <a:off x="91440" y="1967719"/>
            <a:ext cx="5349240" cy="360045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739889132"/>
              </p:ext>
            </p:extLst>
          </p:nvPr>
        </p:nvGraphicFramePr>
        <p:xfrm>
          <a:off x="5440680" y="1200150"/>
          <a:ext cx="3329122" cy="2560320"/>
        </p:xfrm>
        <a:graphic>
          <a:graphicData uri="http://schemas.openxmlformats.org/drawingml/2006/table">
            <a:tbl>
              <a:tblPr firstRow="1" bandRow="1">
                <a:tableStyleId>{5C22544A-7EE6-4342-B048-85BDC9FD1C3A}</a:tableStyleId>
              </a:tblPr>
              <a:tblGrid>
                <a:gridCol w="1357931">
                  <a:extLst>
                    <a:ext uri="{9D8B030D-6E8A-4147-A177-3AD203B41FA5}">
                      <a16:colId xmlns:a16="http://schemas.microsoft.com/office/drawing/2014/main" val="20000"/>
                    </a:ext>
                  </a:extLst>
                </a:gridCol>
                <a:gridCol w="1971191">
                  <a:extLst>
                    <a:ext uri="{9D8B030D-6E8A-4147-A177-3AD203B41FA5}">
                      <a16:colId xmlns:a16="http://schemas.microsoft.com/office/drawing/2014/main" val="20001"/>
                    </a:ext>
                  </a:extLst>
                </a:gridCol>
              </a:tblGrid>
              <a:tr h="512064">
                <a:tc>
                  <a:txBody>
                    <a:bodyPr/>
                    <a:lstStyle/>
                    <a:p>
                      <a:pPr algn="ctr">
                        <a:defRPr sz="1920"/>
                      </a:pPr>
                      <a:r>
                        <a:rPr sz="1920" b="1">
                          <a:solidFill>
                            <a:srgbClr val="000000"/>
                          </a:solidFill>
                          <a:latin typeface="Times New Roman"/>
                          <a:ea typeface="Meiryo"/>
                          <a:cs typeface="Times New Roman"/>
                        </a:rPr>
                        <a:t>項目</a:t>
                      </a:r>
                    </a:p>
                  </a:txBody>
                  <a:tcPr marL="54864" marR="54864" marT="27432" marB="27432" anchor="ctr">
                    <a:solidFill>
                      <a:srgbClr val="D9D9D9"/>
                    </a:solidFill>
                  </a:tcPr>
                </a:tc>
                <a:tc>
                  <a:txBody>
                    <a:bodyPr/>
                    <a:lstStyle/>
                    <a:p>
                      <a:pPr algn="ctr">
                        <a:defRPr sz="1920"/>
                      </a:pPr>
                      <a:r>
                        <a:rPr sz="1920" b="1">
                          <a:solidFill>
                            <a:srgbClr val="000000"/>
                          </a:solidFill>
                          <a:latin typeface="Times New Roman"/>
                          <a:ea typeface="Meiryo"/>
                          <a:cs typeface="Times New Roman"/>
                        </a:rPr>
                        <a:t>値</a:t>
                      </a:r>
                    </a:p>
                  </a:txBody>
                  <a:tcPr marL="54864" marR="54864" marT="27432" marB="27432" anchor="ctr">
                    <a:solidFill>
                      <a:srgbClr val="D9D9D9"/>
                    </a:solidFill>
                  </a:tcPr>
                </a:tc>
                <a:extLst>
                  <a:ext uri="{0D108BD9-81ED-4DB2-BD59-A6C34878D82A}">
                    <a16:rowId xmlns:a16="http://schemas.microsoft.com/office/drawing/2014/main" val="10000"/>
                  </a:ext>
                </a:extLst>
              </a:tr>
              <a:tr h="512064">
                <a:tc>
                  <a:txBody>
                    <a:bodyPr/>
                    <a:lstStyle/>
                    <a:p>
                      <a:pPr algn="ctr">
                        <a:defRPr sz="1920"/>
                      </a:pPr>
                      <a:r>
                        <a:rPr sz="1920" b="0">
                          <a:solidFill>
                            <a:srgbClr val="000000"/>
                          </a:solidFill>
                          <a:latin typeface="Times New Roman"/>
                          <a:ea typeface="Meiryo"/>
                          <a:cs typeface="Times New Roman"/>
                        </a:rPr>
                        <a:t>選択モデル</a:t>
                      </a:r>
                    </a:p>
                  </a:txBody>
                  <a:tcPr marL="54864" marR="54864" marT="27432" marB="27432" anchor="ctr">
                    <a:solidFill>
                      <a:srgbClr val="FFFFFF"/>
                    </a:solidFill>
                  </a:tcPr>
                </a:tc>
                <a:tc>
                  <a:txBody>
                    <a:bodyPr/>
                    <a:lstStyle/>
                    <a:p>
                      <a:pPr algn="ctr">
                        <a:defRPr sz="1920"/>
                      </a:pPr>
                      <a:r>
                        <a:rPr sz="1920" b="0">
                          <a:solidFill>
                            <a:srgbClr val="000000"/>
                          </a:solidFill>
                          <a:latin typeface="Times New Roman"/>
                          <a:ea typeface="Meiryo"/>
                          <a:cs typeface="Times New Roman"/>
                        </a:rPr>
                        <a:t>Gradient Boosting</a:t>
                      </a:r>
                    </a:p>
                  </a:txBody>
                  <a:tcPr marL="54864" marR="54864" marT="27432" marB="27432" anchor="ctr">
                    <a:solidFill>
                      <a:srgbClr val="FFFFFF"/>
                    </a:solidFill>
                  </a:tcPr>
                </a:tc>
                <a:extLst>
                  <a:ext uri="{0D108BD9-81ED-4DB2-BD59-A6C34878D82A}">
                    <a16:rowId xmlns:a16="http://schemas.microsoft.com/office/drawing/2014/main" val="10001"/>
                  </a:ext>
                </a:extLst>
              </a:tr>
              <a:tr h="512064">
                <a:tc>
                  <a:txBody>
                    <a:bodyPr/>
                    <a:lstStyle/>
                    <a:p>
                      <a:pPr algn="ctr">
                        <a:defRPr sz="1920"/>
                      </a:pPr>
                      <a:r>
                        <a:rPr sz="1920" b="0">
                          <a:solidFill>
                            <a:srgbClr val="000000"/>
                          </a:solidFill>
                          <a:latin typeface="Times New Roman"/>
                          <a:ea typeface="Meiryo"/>
                          <a:cs typeface="Times New Roman"/>
                        </a:rPr>
                        <a:t>MAE</a:t>
                      </a:r>
                    </a:p>
                  </a:txBody>
                  <a:tcPr marL="54864" marR="54864" marT="27432" marB="27432" anchor="ctr">
                    <a:solidFill>
                      <a:srgbClr val="FFFFFF"/>
                    </a:solidFill>
                  </a:tcPr>
                </a:tc>
                <a:tc>
                  <a:txBody>
                    <a:bodyPr/>
                    <a:lstStyle/>
                    <a:p>
                      <a:pPr algn="ctr">
                        <a:defRPr sz="1920"/>
                      </a:pPr>
                      <a:r>
                        <a:rPr sz="1920" b="0">
                          <a:solidFill>
                            <a:srgbClr val="000000"/>
                          </a:solidFill>
                          <a:latin typeface="Times New Roman"/>
                          <a:ea typeface="Meiryo"/>
                          <a:cs typeface="Times New Roman"/>
                        </a:rPr>
                        <a:t>2.028</a:t>
                      </a:r>
                    </a:p>
                  </a:txBody>
                  <a:tcPr marL="54864" marR="54864" marT="27432" marB="27432" anchor="ctr">
                    <a:solidFill>
                      <a:srgbClr val="FFFFFF"/>
                    </a:solidFill>
                  </a:tcPr>
                </a:tc>
                <a:extLst>
                  <a:ext uri="{0D108BD9-81ED-4DB2-BD59-A6C34878D82A}">
                    <a16:rowId xmlns:a16="http://schemas.microsoft.com/office/drawing/2014/main" val="10002"/>
                  </a:ext>
                </a:extLst>
              </a:tr>
              <a:tr h="512064">
                <a:tc>
                  <a:txBody>
                    <a:bodyPr/>
                    <a:lstStyle/>
                    <a:p>
                      <a:pPr algn="ctr">
                        <a:defRPr sz="1920"/>
                      </a:pPr>
                      <a:r>
                        <a:rPr sz="1920" b="0">
                          <a:solidFill>
                            <a:srgbClr val="000000"/>
                          </a:solidFill>
                          <a:latin typeface="Times New Roman"/>
                          <a:ea typeface="Meiryo"/>
                          <a:cs typeface="Times New Roman"/>
                        </a:rPr>
                        <a:t>RMSE</a:t>
                      </a:r>
                    </a:p>
                  </a:txBody>
                  <a:tcPr marL="54864" marR="54864" marT="27432" marB="27432" anchor="ctr">
                    <a:solidFill>
                      <a:srgbClr val="FFFFFF"/>
                    </a:solidFill>
                  </a:tcPr>
                </a:tc>
                <a:tc>
                  <a:txBody>
                    <a:bodyPr/>
                    <a:lstStyle/>
                    <a:p>
                      <a:pPr algn="ctr">
                        <a:defRPr sz="1920"/>
                      </a:pPr>
                      <a:r>
                        <a:rPr sz="1920" b="0">
                          <a:solidFill>
                            <a:srgbClr val="000000"/>
                          </a:solidFill>
                          <a:latin typeface="Times New Roman"/>
                          <a:ea typeface="Meiryo"/>
                          <a:cs typeface="Times New Roman"/>
                        </a:rPr>
                        <a:t>2.993</a:t>
                      </a:r>
                    </a:p>
                  </a:txBody>
                  <a:tcPr marL="54864" marR="54864" marT="27432" marB="27432" anchor="ctr">
                    <a:solidFill>
                      <a:srgbClr val="FFFFFF"/>
                    </a:solidFill>
                  </a:tcPr>
                </a:tc>
                <a:extLst>
                  <a:ext uri="{0D108BD9-81ED-4DB2-BD59-A6C34878D82A}">
                    <a16:rowId xmlns:a16="http://schemas.microsoft.com/office/drawing/2014/main" val="10003"/>
                  </a:ext>
                </a:extLst>
              </a:tr>
              <a:tr h="512064">
                <a:tc>
                  <a:txBody>
                    <a:bodyPr/>
                    <a:lstStyle/>
                    <a:p>
                      <a:pPr algn="ctr">
                        <a:defRPr sz="1920"/>
                      </a:pPr>
                      <a:r>
                        <a:rPr sz="1920" b="0">
                          <a:solidFill>
                            <a:srgbClr val="000000"/>
                          </a:solidFill>
                          <a:latin typeface="Times New Roman"/>
                          <a:ea typeface="Meiryo"/>
                          <a:cs typeface="Times New Roman"/>
                        </a:rPr>
                        <a:t>R2</a:t>
                      </a:r>
                    </a:p>
                  </a:txBody>
                  <a:tcPr marL="54864" marR="54864" marT="27432" marB="27432" anchor="ctr">
                    <a:solidFill>
                      <a:srgbClr val="FFFFFF"/>
                    </a:solidFill>
                  </a:tcPr>
                </a:tc>
                <a:tc>
                  <a:txBody>
                    <a:bodyPr/>
                    <a:lstStyle/>
                    <a:p>
                      <a:pPr algn="ctr">
                        <a:defRPr sz="1920"/>
                      </a:pPr>
                      <a:r>
                        <a:rPr sz="1920" b="0">
                          <a:solidFill>
                            <a:srgbClr val="000000"/>
                          </a:solidFill>
                          <a:latin typeface="Times New Roman"/>
                          <a:ea typeface="Meiryo"/>
                          <a:cs typeface="Times New Roman"/>
                        </a:rPr>
                        <a:t>0.872</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5512777" y="4251960"/>
            <a:ext cx="3539783" cy="698109"/>
          </a:xfrm>
          <a:prstGeom prst="rect">
            <a:avLst/>
          </a:prstGeom>
          <a:noFill/>
        </p:spPr>
        <p:txBody>
          <a:bodyPr wrap="square" lIns="36576" tIns="18288" rIns="36576" bIns="18288" anchor="t">
            <a:normAutofit/>
          </a:bodyPr>
          <a:lstStyle/>
          <a:p>
            <a:pPr algn="l">
              <a:spcAft>
                <a:spcPts val="600"/>
              </a:spcAft>
              <a:defRPr sz="2100"/>
            </a:pPr>
            <a:r>
              <a:rPr sz="2100" b="0">
                <a:solidFill>
                  <a:srgbClr val="000000"/>
                </a:solidFill>
                <a:latin typeface="Times New Roman"/>
                <a:ea typeface="Meiryo"/>
                <a:cs typeface="Times New Roman"/>
              </a:rPr>
              <a:t>このモデルの予測値 y_pred で、AD 外の点の誤差を確認</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8321040" cy="502920"/>
          </a:xfrm>
          <a:prstGeom prst="rect">
            <a:avLst/>
          </a:prstGeom>
          <a:noFill/>
        </p:spPr>
        <p:txBody>
          <a:bodyPr wrap="square" lIns="36576" tIns="18288" rIns="36576" bIns="18288">
            <a:normAutofit/>
          </a:bodyPr>
          <a:lstStyle/>
          <a:p>
            <a:pPr>
              <a:lnSpc>
                <a:spcPct val="108000"/>
              </a:lnSpc>
              <a:defRPr sz="2850" b="1">
                <a:solidFill>
                  <a:srgbClr val="1C2B3C"/>
                </a:solidFill>
              </a:defRPr>
            </a:pPr>
            <a:r>
              <a:rPr sz="2850" b="1">
                <a:solidFill>
                  <a:srgbClr val="1C2B3C"/>
                </a:solidFill>
                <a:latin typeface="Times New Roman"/>
                <a:ea typeface="Meiryo"/>
                <a:cs typeface="Times New Roman"/>
              </a:rPr>
              <a:t>kNN距離の直感: 近い学習データを探す</a:t>
            </a:r>
          </a:p>
        </p:txBody>
      </p:sp>
      <p:sp>
        <p:nvSpPr>
          <p:cNvPr id="3" name="Rectangle 2"/>
          <p:cNvSpPr/>
          <p:nvPr/>
        </p:nvSpPr>
        <p:spPr>
          <a:xfrm>
            <a:off x="411480" y="932688"/>
            <a:ext cx="8321040" cy="18288"/>
          </a:xfrm>
          <a:prstGeom prst="rect">
            <a:avLst/>
          </a:prstGeom>
          <a:solidFill>
            <a:srgbClr val="2A5C96"/>
          </a:solidFill>
          <a:ln w="1270">
            <a:solidFill>
              <a:srgbClr val="2A5C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4" name="Rectangle 3"/>
          <p:cNvSpPr/>
          <p:nvPr/>
        </p:nvSpPr>
        <p:spPr>
          <a:xfrm>
            <a:off x="239558" y="1490472"/>
            <a:ext cx="4332442" cy="4434840"/>
          </a:xfrm>
          <a:prstGeom prst="rect">
            <a:avLst/>
          </a:prstGeom>
          <a:solidFill>
            <a:srgbClr val="FFFFFF"/>
          </a:solidFill>
          <a:ln w="12700">
            <a:solidFill>
              <a:srgbClr val="BEC6D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sz="1512"/>
            </a:pPr>
            <a:endParaRPr/>
          </a:p>
        </p:txBody>
      </p:sp>
      <p:cxnSp>
        <p:nvCxnSpPr>
          <p:cNvPr id="5" name="Connector 4"/>
          <p:cNvCxnSpPr/>
          <p:nvPr/>
        </p:nvCxnSpPr>
        <p:spPr>
          <a:xfrm>
            <a:off x="549018" y="5513832"/>
            <a:ext cx="3816675" cy="0"/>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549018" y="1810512"/>
            <a:ext cx="1" cy="3703320"/>
          </a:xfrm>
          <a:prstGeom prst="line">
            <a:avLst/>
          </a:prstGeom>
          <a:ln w="12700">
            <a:solidFill>
              <a:srgbClr val="7D879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849926" y="5614416"/>
            <a:ext cx="653305" cy="237744"/>
          </a:xfrm>
          <a:prstGeom prst="rect">
            <a:avLst/>
          </a:prstGeom>
          <a:noFill/>
        </p:spPr>
        <p:txBody>
          <a:bodyPr wrap="square" lIns="36576" tIns="18288" rIns="36576" bIns="18288">
            <a:normAutofit fontScale="77500" lnSpcReduction="20000"/>
          </a:bodyPr>
          <a:lstStyle/>
          <a:p>
            <a:pPr>
              <a:lnSpc>
                <a:spcPct val="108000"/>
              </a:lnSpc>
              <a:defRPr sz="1650" b="0">
                <a:solidFill>
                  <a:srgbClr val="505A64"/>
                </a:solidFill>
              </a:defRPr>
            </a:pPr>
            <a:r>
              <a:rPr sz="1650" b="0">
                <a:solidFill>
                  <a:srgbClr val="505A64"/>
                </a:solidFill>
                <a:latin typeface="Times New Roman"/>
                <a:ea typeface="Meiryo"/>
                <a:cs typeface="Times New Roman"/>
              </a:rPr>
              <a:t>特徴量1</a:t>
            </a:r>
          </a:p>
        </p:txBody>
      </p:sp>
      <p:sp>
        <p:nvSpPr>
          <p:cNvPr id="8" name="TextBox 7"/>
          <p:cNvSpPr txBox="1"/>
          <p:nvPr/>
        </p:nvSpPr>
        <p:spPr>
          <a:xfrm>
            <a:off x="294573" y="1600200"/>
            <a:ext cx="653305" cy="237744"/>
          </a:xfrm>
          <a:prstGeom prst="rect">
            <a:avLst/>
          </a:prstGeom>
          <a:noFill/>
        </p:spPr>
        <p:txBody>
          <a:bodyPr wrap="square" lIns="36576" tIns="18288" rIns="36576" bIns="18288">
            <a:normAutofit fontScale="77500" lnSpcReduction="20000"/>
          </a:bodyPr>
          <a:lstStyle/>
          <a:p>
            <a:pPr>
              <a:lnSpc>
                <a:spcPct val="108000"/>
              </a:lnSpc>
              <a:defRPr sz="1650" b="0">
                <a:solidFill>
                  <a:srgbClr val="505A64"/>
                </a:solidFill>
              </a:defRPr>
            </a:pPr>
            <a:r>
              <a:rPr sz="1650" b="0">
                <a:solidFill>
                  <a:srgbClr val="505A64"/>
                </a:solidFill>
                <a:latin typeface="Times New Roman"/>
                <a:ea typeface="Meiryo"/>
                <a:cs typeface="Times New Roman"/>
              </a:rPr>
              <a:t>特徴量2</a:t>
            </a:r>
          </a:p>
        </p:txBody>
      </p:sp>
      <p:sp>
        <p:nvSpPr>
          <p:cNvPr id="9" name="Oval 8"/>
          <p:cNvSpPr/>
          <p:nvPr/>
        </p:nvSpPr>
        <p:spPr>
          <a:xfrm>
            <a:off x="1981131" y="2937869"/>
            <a:ext cx="1402886" cy="1402886"/>
          </a:xfrm>
          <a:prstGeom prst="ellipse">
            <a:avLst/>
          </a:prstGeom>
          <a:noFill/>
          <a:ln w="12700">
            <a:solidFill>
              <a:srgbClr val="A5AAB2"/>
            </a:solidFill>
            <a:prstDash val="dash"/>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sz="1512"/>
            </a:pPr>
            <a:endParaRPr/>
          </a:p>
        </p:txBody>
      </p:sp>
      <p:sp>
        <p:nvSpPr>
          <p:cNvPr id="10" name="Oval 9"/>
          <p:cNvSpPr/>
          <p:nvPr/>
        </p:nvSpPr>
        <p:spPr>
          <a:xfrm>
            <a:off x="1292066" y="270307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1" name="Oval 10"/>
          <p:cNvSpPr/>
          <p:nvPr/>
        </p:nvSpPr>
        <p:spPr>
          <a:xfrm>
            <a:off x="1681641" y="318313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2" name="Oval 11"/>
          <p:cNvSpPr/>
          <p:nvPr/>
        </p:nvSpPr>
        <p:spPr>
          <a:xfrm>
            <a:off x="1398314" y="434899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3" name="Oval 12"/>
          <p:cNvSpPr/>
          <p:nvPr/>
        </p:nvSpPr>
        <p:spPr>
          <a:xfrm>
            <a:off x="1894138" y="476047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4" name="Oval 13"/>
          <p:cNvSpPr/>
          <p:nvPr/>
        </p:nvSpPr>
        <p:spPr>
          <a:xfrm>
            <a:off x="3594106" y="273736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5" name="Oval 14"/>
          <p:cNvSpPr/>
          <p:nvPr/>
        </p:nvSpPr>
        <p:spPr>
          <a:xfrm>
            <a:off x="3842017" y="349174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6" name="Oval 15"/>
          <p:cNvSpPr/>
          <p:nvPr/>
        </p:nvSpPr>
        <p:spPr>
          <a:xfrm>
            <a:off x="3594106" y="452044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7" name="Oval 16"/>
          <p:cNvSpPr/>
          <p:nvPr/>
        </p:nvSpPr>
        <p:spPr>
          <a:xfrm>
            <a:off x="3169114" y="2360172"/>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18" name="Oval 17"/>
          <p:cNvSpPr/>
          <p:nvPr/>
        </p:nvSpPr>
        <p:spPr>
          <a:xfrm>
            <a:off x="3806601" y="4211831"/>
            <a:ext cx="89400" cy="89400"/>
          </a:xfrm>
          <a:prstGeom prst="ellipse">
            <a:avLst/>
          </a:prstGeom>
          <a:solidFill>
            <a:srgbClr val="7896B9"/>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cxnSp>
        <p:nvCxnSpPr>
          <p:cNvPr id="19" name="Connector 18"/>
          <p:cNvCxnSpPr/>
          <p:nvPr/>
        </p:nvCxnSpPr>
        <p:spPr>
          <a:xfrm flipH="1" flipV="1">
            <a:off x="0" y="0"/>
            <a:ext cx="0" cy="0"/>
          </a:xfrm>
          <a:prstGeom prst="line">
            <a:avLst/>
          </a:prstGeom>
          <a:ln w="15240">
            <a:solidFill>
              <a:srgbClr val="5A789B"/>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0" y="0"/>
            <a:ext cx="0" cy="0"/>
          </a:xfrm>
          <a:prstGeom prst="line">
            <a:avLst/>
          </a:prstGeom>
          <a:ln w="15240">
            <a:solidFill>
              <a:srgbClr val="5A789B"/>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0"/>
            <a:ext cx="0" cy="0"/>
          </a:xfrm>
          <a:prstGeom prst="line">
            <a:avLst/>
          </a:prstGeom>
          <a:ln w="15240">
            <a:solidFill>
              <a:srgbClr val="5A789B"/>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0" y="0"/>
            <a:ext cx="0" cy="0"/>
          </a:xfrm>
          <a:prstGeom prst="line">
            <a:avLst/>
          </a:prstGeom>
          <a:ln w="15240">
            <a:solidFill>
              <a:srgbClr val="5A789B"/>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0"/>
            <a:ext cx="0" cy="0"/>
          </a:xfrm>
          <a:prstGeom prst="line">
            <a:avLst/>
          </a:prstGeom>
          <a:ln w="15240">
            <a:solidFill>
              <a:srgbClr val="5A789B"/>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340793" y="3169378"/>
            <a:ext cx="116907" cy="116907"/>
          </a:xfrm>
          <a:prstGeom prst="ellipse">
            <a:avLst/>
          </a:prstGeom>
          <a:solidFill>
            <a:srgbClr val="2364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25" name="TextBox 24"/>
          <p:cNvSpPr txBox="1"/>
          <p:nvPr/>
        </p:nvSpPr>
        <p:spPr>
          <a:xfrm>
            <a:off x="2340105" y="3314700"/>
            <a:ext cx="358974" cy="228600"/>
          </a:xfrm>
          <a:prstGeom prst="rect">
            <a:avLst/>
          </a:prstGeom>
          <a:noFill/>
        </p:spPr>
        <p:txBody>
          <a:bodyPr wrap="square" lIns="36576" tIns="18288" rIns="36576" bIns="18288">
            <a:normAutofit/>
          </a:bodyPr>
          <a:lstStyle/>
          <a:p>
            <a:pPr algn="ctr">
              <a:lnSpc>
                <a:spcPct val="108000"/>
              </a:lnSpc>
              <a:defRPr sz="1250" b="1">
                <a:solidFill>
                  <a:srgbClr val="465A73"/>
                </a:solidFill>
              </a:defRPr>
            </a:pPr>
            <a:r>
              <a:rPr sz="1250" b="1">
                <a:solidFill>
                  <a:srgbClr val="465A73"/>
                </a:solidFill>
                <a:latin typeface="Times New Roman"/>
                <a:ea typeface="Meiryo"/>
                <a:cs typeface="Times New Roman"/>
              </a:rPr>
              <a:t>d1</a:t>
            </a:r>
          </a:p>
        </p:txBody>
      </p:sp>
      <p:sp>
        <p:nvSpPr>
          <p:cNvPr id="26" name="Oval 25"/>
          <p:cNvSpPr/>
          <p:nvPr/>
        </p:nvSpPr>
        <p:spPr>
          <a:xfrm>
            <a:off x="2907447" y="3169378"/>
            <a:ext cx="116907" cy="116907"/>
          </a:xfrm>
          <a:prstGeom prst="ellipse">
            <a:avLst/>
          </a:prstGeom>
          <a:solidFill>
            <a:srgbClr val="2364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27" name="TextBox 26"/>
          <p:cNvSpPr txBox="1"/>
          <p:nvPr/>
        </p:nvSpPr>
        <p:spPr>
          <a:xfrm>
            <a:off x="2741715" y="3314700"/>
            <a:ext cx="358974" cy="228600"/>
          </a:xfrm>
          <a:prstGeom prst="rect">
            <a:avLst/>
          </a:prstGeom>
          <a:noFill/>
        </p:spPr>
        <p:txBody>
          <a:bodyPr wrap="square" lIns="36576" tIns="18288" rIns="36576" bIns="18288">
            <a:normAutofit/>
          </a:bodyPr>
          <a:lstStyle/>
          <a:p>
            <a:pPr algn="ctr">
              <a:lnSpc>
                <a:spcPct val="108000"/>
              </a:lnSpc>
              <a:defRPr sz="1250" b="1">
                <a:solidFill>
                  <a:srgbClr val="465A73"/>
                </a:solidFill>
              </a:defRPr>
            </a:pPr>
            <a:r>
              <a:rPr sz="1250" b="1">
                <a:solidFill>
                  <a:srgbClr val="465A73"/>
                </a:solidFill>
                <a:latin typeface="Times New Roman"/>
                <a:ea typeface="Meiryo"/>
                <a:cs typeface="Times New Roman"/>
              </a:rPr>
              <a:t>d2</a:t>
            </a:r>
          </a:p>
        </p:txBody>
      </p:sp>
      <p:sp>
        <p:nvSpPr>
          <p:cNvPr id="28" name="Oval 27"/>
          <p:cNvSpPr/>
          <p:nvPr/>
        </p:nvSpPr>
        <p:spPr>
          <a:xfrm>
            <a:off x="3155361" y="3649438"/>
            <a:ext cx="116907" cy="116907"/>
          </a:xfrm>
          <a:prstGeom prst="ellipse">
            <a:avLst/>
          </a:prstGeom>
          <a:solidFill>
            <a:srgbClr val="2364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29" name="TextBox 28"/>
          <p:cNvSpPr txBox="1"/>
          <p:nvPr/>
        </p:nvSpPr>
        <p:spPr>
          <a:xfrm>
            <a:off x="2865671" y="3554730"/>
            <a:ext cx="303443" cy="228600"/>
          </a:xfrm>
          <a:prstGeom prst="rect">
            <a:avLst/>
          </a:prstGeom>
          <a:noFill/>
        </p:spPr>
        <p:txBody>
          <a:bodyPr wrap="square" lIns="36576" tIns="18288" rIns="36576" bIns="18288">
            <a:normAutofit/>
          </a:bodyPr>
          <a:lstStyle/>
          <a:p>
            <a:pPr algn="ctr">
              <a:lnSpc>
                <a:spcPct val="108000"/>
              </a:lnSpc>
              <a:defRPr sz="1250" b="1">
                <a:solidFill>
                  <a:srgbClr val="465A73"/>
                </a:solidFill>
              </a:defRPr>
            </a:pPr>
            <a:r>
              <a:rPr sz="1250" b="1">
                <a:solidFill>
                  <a:srgbClr val="465A73"/>
                </a:solidFill>
                <a:latin typeface="Times New Roman"/>
                <a:ea typeface="Meiryo"/>
                <a:cs typeface="Times New Roman"/>
              </a:rPr>
              <a:t>d3</a:t>
            </a:r>
          </a:p>
        </p:txBody>
      </p:sp>
      <p:sp>
        <p:nvSpPr>
          <p:cNvPr id="30" name="Oval 29"/>
          <p:cNvSpPr/>
          <p:nvPr/>
        </p:nvSpPr>
        <p:spPr>
          <a:xfrm>
            <a:off x="2269961" y="3992338"/>
            <a:ext cx="116907" cy="116907"/>
          </a:xfrm>
          <a:prstGeom prst="ellipse">
            <a:avLst/>
          </a:prstGeom>
          <a:solidFill>
            <a:srgbClr val="2364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31" name="TextBox 30"/>
          <p:cNvSpPr txBox="1"/>
          <p:nvPr/>
        </p:nvSpPr>
        <p:spPr>
          <a:xfrm>
            <a:off x="2148927" y="3753725"/>
            <a:ext cx="358974" cy="228600"/>
          </a:xfrm>
          <a:prstGeom prst="rect">
            <a:avLst/>
          </a:prstGeom>
          <a:noFill/>
        </p:spPr>
        <p:txBody>
          <a:bodyPr wrap="square" lIns="36576" tIns="18288" rIns="36576" bIns="18288">
            <a:normAutofit/>
          </a:bodyPr>
          <a:lstStyle/>
          <a:p>
            <a:pPr algn="ctr">
              <a:lnSpc>
                <a:spcPct val="108000"/>
              </a:lnSpc>
              <a:defRPr sz="1250" b="1">
                <a:solidFill>
                  <a:srgbClr val="465A73"/>
                </a:solidFill>
              </a:defRPr>
            </a:pPr>
            <a:r>
              <a:rPr sz="1250" b="1">
                <a:solidFill>
                  <a:srgbClr val="465A73"/>
                </a:solidFill>
                <a:latin typeface="Times New Roman"/>
                <a:ea typeface="Meiryo"/>
                <a:cs typeface="Times New Roman"/>
              </a:rPr>
              <a:t>d4</a:t>
            </a:r>
          </a:p>
        </p:txBody>
      </p:sp>
      <p:sp>
        <p:nvSpPr>
          <p:cNvPr id="32" name="Oval 31"/>
          <p:cNvSpPr/>
          <p:nvPr/>
        </p:nvSpPr>
        <p:spPr>
          <a:xfrm>
            <a:off x="2730367" y="4300948"/>
            <a:ext cx="116907" cy="116907"/>
          </a:xfrm>
          <a:prstGeom prst="ellipse">
            <a:avLst/>
          </a:prstGeom>
          <a:solidFill>
            <a:srgbClr val="2364A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33" name="TextBox 32"/>
          <p:cNvSpPr txBox="1"/>
          <p:nvPr/>
        </p:nvSpPr>
        <p:spPr>
          <a:xfrm>
            <a:off x="2585609" y="4450842"/>
            <a:ext cx="358974" cy="228600"/>
          </a:xfrm>
          <a:prstGeom prst="rect">
            <a:avLst/>
          </a:prstGeom>
          <a:noFill/>
        </p:spPr>
        <p:txBody>
          <a:bodyPr wrap="square" lIns="36576" tIns="18288" rIns="36576" bIns="18288">
            <a:normAutofit/>
          </a:bodyPr>
          <a:lstStyle/>
          <a:p>
            <a:pPr algn="ctr">
              <a:lnSpc>
                <a:spcPct val="108000"/>
              </a:lnSpc>
              <a:defRPr sz="1250" b="1">
                <a:solidFill>
                  <a:srgbClr val="465A73"/>
                </a:solidFill>
              </a:defRPr>
            </a:pPr>
            <a:r>
              <a:rPr sz="1250" b="1">
                <a:solidFill>
                  <a:srgbClr val="465A73"/>
                </a:solidFill>
                <a:latin typeface="Times New Roman"/>
                <a:ea typeface="Meiryo"/>
                <a:cs typeface="Times New Roman"/>
              </a:rPr>
              <a:t>d5</a:t>
            </a:r>
          </a:p>
        </p:txBody>
      </p:sp>
      <p:sp>
        <p:nvSpPr>
          <p:cNvPr id="34" name="Oval 33"/>
          <p:cNvSpPr/>
          <p:nvPr/>
        </p:nvSpPr>
        <p:spPr>
          <a:xfrm>
            <a:off x="2600051" y="3556790"/>
            <a:ext cx="165045" cy="165045"/>
          </a:xfrm>
          <a:prstGeom prst="ellipse">
            <a:avLst/>
          </a:prstGeom>
          <a:solidFill>
            <a:srgbClr val="D2463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40000" lnSpcReduction="20000"/>
          </a:bodyPr>
          <a:lstStyle/>
          <a:p>
            <a:pPr algn="ctr">
              <a:defRPr sz="1512"/>
            </a:pPr>
            <a:endParaRPr/>
          </a:p>
        </p:txBody>
      </p:sp>
      <p:sp>
        <p:nvSpPr>
          <p:cNvPr id="35" name="TextBox 34"/>
          <p:cNvSpPr txBox="1"/>
          <p:nvPr/>
        </p:nvSpPr>
        <p:spPr>
          <a:xfrm>
            <a:off x="2383259" y="4014215"/>
            <a:ext cx="640080" cy="219456"/>
          </a:xfrm>
          <a:prstGeom prst="rect">
            <a:avLst/>
          </a:prstGeom>
          <a:noFill/>
        </p:spPr>
        <p:txBody>
          <a:bodyPr wrap="square" lIns="36576" tIns="18288" rIns="36576" bIns="18288">
            <a:normAutofit fontScale="92500" lnSpcReduction="10000"/>
          </a:bodyPr>
          <a:lstStyle/>
          <a:p>
            <a:pPr algn="ctr">
              <a:lnSpc>
                <a:spcPct val="108000"/>
              </a:lnSpc>
              <a:defRPr sz="1320" b="1">
                <a:solidFill>
                  <a:srgbClr val="96372D"/>
                </a:solidFill>
              </a:defRPr>
            </a:pPr>
            <a:r>
              <a:rPr sz="1320" b="1">
                <a:solidFill>
                  <a:srgbClr val="96372D"/>
                </a:solidFill>
                <a:latin typeface="Times New Roman"/>
                <a:ea typeface="Meiryo"/>
                <a:cs typeface="Times New Roman"/>
              </a:rPr>
              <a:t>対象点</a:t>
            </a:r>
          </a:p>
        </p:txBody>
      </p:sp>
      <p:sp>
        <p:nvSpPr>
          <p:cNvPr id="36" name="Oval 35"/>
          <p:cNvSpPr/>
          <p:nvPr/>
        </p:nvSpPr>
        <p:spPr>
          <a:xfrm>
            <a:off x="335835" y="6048642"/>
            <a:ext cx="82523" cy="82523"/>
          </a:xfrm>
          <a:prstGeom prst="ellipse">
            <a:avLst/>
          </a:prstGeom>
          <a:solidFill>
            <a:srgbClr val="D2463C"/>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37" name="TextBox 36"/>
          <p:cNvSpPr txBox="1"/>
          <p:nvPr/>
        </p:nvSpPr>
        <p:spPr>
          <a:xfrm>
            <a:off x="466495" y="5998464"/>
            <a:ext cx="1065918" cy="256032"/>
          </a:xfrm>
          <a:prstGeom prst="rect">
            <a:avLst/>
          </a:prstGeom>
          <a:noFill/>
        </p:spPr>
        <p:txBody>
          <a:bodyPr wrap="square" lIns="36576" tIns="18288" rIns="36576" bIns="18288">
            <a:normAutofit fontScale="62500" lnSpcReduction="20000"/>
          </a:bodyPr>
          <a:lstStyle/>
          <a:p>
            <a:pPr>
              <a:lnSpc>
                <a:spcPct val="108000"/>
              </a:lnSpc>
              <a:defRPr sz="1600" b="0">
                <a:solidFill>
                  <a:srgbClr val="323C46"/>
                </a:solidFill>
              </a:defRPr>
            </a:pPr>
            <a:r>
              <a:rPr sz="1600" b="0">
                <a:solidFill>
                  <a:srgbClr val="323C46"/>
                </a:solidFill>
                <a:latin typeface="Times New Roman"/>
                <a:ea typeface="Meiryo"/>
                <a:cs typeface="Times New Roman"/>
              </a:rPr>
              <a:t>AD判定したい点</a:t>
            </a:r>
          </a:p>
        </p:txBody>
      </p:sp>
      <p:sp>
        <p:nvSpPr>
          <p:cNvPr id="38" name="Oval 37"/>
          <p:cNvSpPr/>
          <p:nvPr/>
        </p:nvSpPr>
        <p:spPr>
          <a:xfrm>
            <a:off x="1779981" y="6048642"/>
            <a:ext cx="82523" cy="82523"/>
          </a:xfrm>
          <a:prstGeom prst="ellipse">
            <a:avLst/>
          </a:prstGeom>
          <a:solidFill>
            <a:srgbClr val="2364AA"/>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39" name="TextBox 38"/>
          <p:cNvSpPr txBox="1"/>
          <p:nvPr/>
        </p:nvSpPr>
        <p:spPr>
          <a:xfrm>
            <a:off x="1910643" y="5998464"/>
            <a:ext cx="1065918" cy="256032"/>
          </a:xfrm>
          <a:prstGeom prst="rect">
            <a:avLst/>
          </a:prstGeom>
          <a:noFill/>
        </p:spPr>
        <p:txBody>
          <a:bodyPr wrap="square" lIns="36576" tIns="18288" rIns="36576" bIns="18288">
            <a:normAutofit fontScale="70000" lnSpcReduction="20000"/>
          </a:bodyPr>
          <a:lstStyle/>
          <a:p>
            <a:pPr>
              <a:lnSpc>
                <a:spcPct val="108000"/>
              </a:lnSpc>
              <a:defRPr sz="1600" b="0">
                <a:solidFill>
                  <a:srgbClr val="323C46"/>
                </a:solidFill>
              </a:defRPr>
            </a:pPr>
            <a:r>
              <a:rPr sz="1600" b="0">
                <a:solidFill>
                  <a:srgbClr val="323C46"/>
                </a:solidFill>
                <a:latin typeface="Times New Roman"/>
                <a:ea typeface="Meiryo"/>
                <a:cs typeface="Times New Roman"/>
              </a:rPr>
              <a:t>近い学習データ</a:t>
            </a:r>
          </a:p>
        </p:txBody>
      </p:sp>
      <p:sp>
        <p:nvSpPr>
          <p:cNvPr id="40" name="TextBox 39"/>
          <p:cNvSpPr txBox="1"/>
          <p:nvPr/>
        </p:nvSpPr>
        <p:spPr>
          <a:xfrm>
            <a:off x="4751183" y="1189353"/>
            <a:ext cx="3246120" cy="377190"/>
          </a:xfrm>
          <a:prstGeom prst="rect">
            <a:avLst/>
          </a:prstGeom>
          <a:noFill/>
        </p:spPr>
        <p:txBody>
          <a:bodyPr wrap="square" lIns="36576" tIns="18288" rIns="36576" bIns="18288">
            <a:normAutofit/>
          </a:bodyPr>
          <a:lstStyle/>
          <a:p>
            <a:pPr>
              <a:lnSpc>
                <a:spcPct val="108000"/>
              </a:lnSpc>
              <a:defRPr sz="2000" b="1">
                <a:solidFill>
                  <a:srgbClr val="1C487D"/>
                </a:solidFill>
              </a:defRPr>
            </a:pPr>
            <a:r>
              <a:rPr sz="2000" b="1">
                <a:latin typeface="Times New Roman"/>
                <a:ea typeface="Meiryo"/>
                <a:cs typeface="Times New Roman"/>
              </a:rPr>
              <a:t>手順</a:t>
            </a:r>
          </a:p>
        </p:txBody>
      </p:sp>
      <p:sp>
        <p:nvSpPr>
          <p:cNvPr id="41" name="TextBox 40"/>
          <p:cNvSpPr txBox="1"/>
          <p:nvPr/>
        </p:nvSpPr>
        <p:spPr>
          <a:xfrm>
            <a:off x="4741587" y="1586836"/>
            <a:ext cx="4080472" cy="1471621"/>
          </a:xfrm>
          <a:prstGeom prst="rect">
            <a:avLst/>
          </a:prstGeom>
          <a:noFill/>
        </p:spPr>
        <p:txBody>
          <a:bodyPr wrap="square" lIns="36576" tIns="18288" rIns="36576" bIns="18288">
            <a:normAutofit/>
          </a:bodyPr>
          <a:lstStyle/>
          <a:p>
            <a:pPr>
              <a:lnSpc>
                <a:spcPct val="108000"/>
              </a:lnSpc>
              <a:defRPr sz="1800" b="0">
                <a:solidFill>
                  <a:srgbClr val="2D3741"/>
                </a:solidFill>
              </a:defRPr>
            </a:pPr>
            <a:r>
              <a:rPr sz="2000" b="0">
                <a:solidFill>
                  <a:srgbClr val="2D3741"/>
                </a:solidFill>
                <a:latin typeface="Times New Roman"/>
                <a:ea typeface="Meiryo"/>
                <a:cs typeface="Times New Roman"/>
              </a:rPr>
              <a:t>1. 対象点を1つ選ぶ</a:t>
            </a:r>
          </a:p>
          <a:p>
            <a:pPr>
              <a:lnSpc>
                <a:spcPct val="108000"/>
              </a:lnSpc>
              <a:defRPr sz="1800" b="0">
                <a:solidFill>
                  <a:srgbClr val="2D3741"/>
                </a:solidFill>
              </a:defRPr>
            </a:pPr>
            <a:r>
              <a:rPr sz="2000" b="0">
                <a:solidFill>
                  <a:srgbClr val="2D3741"/>
                </a:solidFill>
                <a:latin typeface="Times New Roman"/>
                <a:ea typeface="Meiryo"/>
                <a:cs typeface="Times New Roman"/>
              </a:rPr>
              <a:t>2. 近い学習データを5点探す</a:t>
            </a:r>
          </a:p>
          <a:p>
            <a:pPr>
              <a:lnSpc>
                <a:spcPct val="108000"/>
              </a:lnSpc>
              <a:defRPr sz="1800" b="0">
                <a:solidFill>
                  <a:srgbClr val="2D3741"/>
                </a:solidFill>
              </a:defRPr>
            </a:pPr>
            <a:r>
              <a:rPr sz="2000" b="0">
                <a:solidFill>
                  <a:srgbClr val="2D3741"/>
                </a:solidFill>
                <a:latin typeface="Times New Roman"/>
                <a:ea typeface="Meiryo"/>
                <a:cs typeface="Times New Roman"/>
              </a:rPr>
              <a:t>3. 対象点から5点までの距離を測る</a:t>
            </a:r>
          </a:p>
          <a:p>
            <a:pPr>
              <a:lnSpc>
                <a:spcPct val="108000"/>
              </a:lnSpc>
              <a:defRPr sz="1800" b="0">
                <a:solidFill>
                  <a:srgbClr val="2D3741"/>
                </a:solidFill>
              </a:defRPr>
            </a:pPr>
            <a:r>
              <a:rPr sz="2000" b="0">
                <a:solidFill>
                  <a:srgbClr val="2D3741"/>
                </a:solidFill>
                <a:latin typeface="Times New Roman"/>
                <a:ea typeface="Meiryo"/>
                <a:cs typeface="Times New Roman"/>
              </a:rPr>
              <a:t>4. d1〜d5の平均を計算する</a:t>
            </a:r>
          </a:p>
        </p:txBody>
      </p:sp>
      <p:sp>
        <p:nvSpPr>
          <p:cNvPr id="42" name="Rectangle 41"/>
          <p:cNvSpPr/>
          <p:nvPr/>
        </p:nvSpPr>
        <p:spPr>
          <a:xfrm>
            <a:off x="4751183" y="3223171"/>
            <a:ext cx="4080473" cy="720090"/>
          </a:xfrm>
          <a:prstGeom prst="rect">
            <a:avLst/>
          </a:prstGeom>
          <a:solidFill>
            <a:srgbClr val="FFFFFF"/>
          </a:solidFill>
          <a:ln w="12700">
            <a:solidFill>
              <a:srgbClr val="8291A5"/>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600" b="1">
                <a:solidFill>
                  <a:srgbClr val="1C487D"/>
                </a:solidFill>
              </a:defRPr>
            </a:pPr>
            <a:r>
              <a:rPr b="1">
                <a:solidFill>
                  <a:srgbClr val="1C487D"/>
                </a:solidFill>
                <a:latin typeface="Times New Roman"/>
                <a:ea typeface="Meiryo"/>
                <a:cs typeface="Times New Roman"/>
              </a:rPr>
              <a:t>kNN平均距離 = mean(d1, d2, d3, d4, d5)</a:t>
            </a:r>
          </a:p>
        </p:txBody>
      </p:sp>
      <p:sp>
        <p:nvSpPr>
          <p:cNvPr id="43" name="TextBox 42"/>
          <p:cNvSpPr txBox="1"/>
          <p:nvPr/>
        </p:nvSpPr>
        <p:spPr>
          <a:xfrm>
            <a:off x="4757455" y="4259873"/>
            <a:ext cx="3291840" cy="342900"/>
          </a:xfrm>
          <a:prstGeom prst="rect">
            <a:avLst/>
          </a:prstGeom>
          <a:noFill/>
        </p:spPr>
        <p:txBody>
          <a:bodyPr wrap="square" lIns="36576" tIns="18288" rIns="36576" bIns="18288">
            <a:noAutofit/>
          </a:bodyPr>
          <a:lstStyle/>
          <a:p>
            <a:pPr>
              <a:lnSpc>
                <a:spcPct val="108000"/>
              </a:lnSpc>
              <a:defRPr sz="1750" b="1">
                <a:solidFill>
                  <a:srgbClr val="1C487D"/>
                </a:solidFill>
              </a:defRPr>
            </a:pPr>
            <a:r>
              <a:rPr sz="2000" b="1">
                <a:solidFill>
                  <a:srgbClr val="1C487D"/>
                </a:solidFill>
                <a:latin typeface="Times New Roman"/>
                <a:ea typeface="Meiryo"/>
                <a:cs typeface="Times New Roman"/>
              </a:rPr>
              <a:t>読み方</a:t>
            </a:r>
          </a:p>
        </p:txBody>
      </p:sp>
      <p:sp>
        <p:nvSpPr>
          <p:cNvPr id="44" name="TextBox 43"/>
          <p:cNvSpPr txBox="1"/>
          <p:nvPr/>
        </p:nvSpPr>
        <p:spPr>
          <a:xfrm>
            <a:off x="4741587" y="4609842"/>
            <a:ext cx="4298855" cy="1950134"/>
          </a:xfrm>
          <a:prstGeom prst="rect">
            <a:avLst/>
          </a:prstGeom>
          <a:noFill/>
        </p:spPr>
        <p:txBody>
          <a:bodyPr wrap="square" lIns="36576" tIns="18288" rIns="36576" bIns="18288">
            <a:noAutofit/>
          </a:bodyPr>
          <a:lstStyle/>
          <a:p>
            <a:pPr>
              <a:lnSpc>
                <a:spcPct val="108000"/>
              </a:lnSpc>
              <a:defRPr sz="1520" b="0">
                <a:solidFill>
                  <a:srgbClr val="2D3741"/>
                </a:solidFill>
              </a:defRPr>
            </a:pPr>
            <a:r>
              <a:rPr sz="2000" b="0">
                <a:solidFill>
                  <a:srgbClr val="2D3741"/>
                </a:solidFill>
                <a:latin typeface="Times New Roman"/>
                <a:ea typeface="Meiryo"/>
                <a:cs typeface="Times New Roman"/>
              </a:rPr>
              <a:t>小さい: 周囲に似た学習データが多い</a:t>
            </a:r>
          </a:p>
          <a:p>
            <a:pPr>
              <a:lnSpc>
                <a:spcPct val="108000"/>
              </a:lnSpc>
              <a:defRPr sz="1520" b="0">
                <a:solidFill>
                  <a:srgbClr val="2D3741"/>
                </a:solidFill>
              </a:defRPr>
            </a:pPr>
            <a:r>
              <a:rPr sz="2000" b="0">
                <a:solidFill>
                  <a:srgbClr val="2D3741"/>
                </a:solidFill>
                <a:latin typeface="Times New Roman"/>
                <a:ea typeface="Meiryo"/>
                <a:cs typeface="Times New Roman"/>
              </a:rPr>
              <a:t>大きい: 学習データから離れている</a:t>
            </a:r>
          </a:p>
          <a:p>
            <a:pPr>
              <a:lnSpc>
                <a:spcPct val="108000"/>
              </a:lnSpc>
              <a:defRPr sz="1520" b="0">
                <a:solidFill>
                  <a:srgbClr val="2D3741"/>
                </a:solidFill>
              </a:defRPr>
            </a:pPr>
            <a:endParaRPr sz="2000" b="0">
              <a:solidFill>
                <a:srgbClr val="2D3741"/>
              </a:solidFill>
              <a:latin typeface="Times New Roman"/>
              <a:ea typeface="Meiryo"/>
              <a:cs typeface="Times New Roman"/>
            </a:endParaRPr>
          </a:p>
          <a:p>
            <a:pPr>
              <a:lnSpc>
                <a:spcPct val="108000"/>
              </a:lnSpc>
              <a:defRPr sz="1520" b="0">
                <a:solidFill>
                  <a:srgbClr val="2D3741"/>
                </a:solidFill>
              </a:defRPr>
            </a:pPr>
            <a:r>
              <a:rPr sz="2000" b="0">
                <a:solidFill>
                  <a:srgbClr val="2D3741"/>
                </a:solidFill>
                <a:latin typeface="Times New Roman"/>
                <a:ea typeface="Meiryo"/>
                <a:cs typeface="Times New Roman"/>
              </a:rPr>
              <a:t>実際の計算は、標準化後の13次元</a:t>
            </a:r>
            <a:endParaRPr lang="en-US" sz="2000" b="0">
              <a:solidFill>
                <a:srgbClr val="2D3741"/>
              </a:solidFill>
              <a:latin typeface="Times New Roman"/>
              <a:ea typeface="Meiryo"/>
              <a:cs typeface="Times New Roman"/>
            </a:endParaRPr>
          </a:p>
          <a:p>
            <a:pPr>
              <a:lnSpc>
                <a:spcPct val="108000"/>
              </a:lnSpc>
              <a:defRPr sz="1520" b="0">
                <a:solidFill>
                  <a:srgbClr val="2D3741"/>
                </a:solidFill>
              </a:defRPr>
            </a:pPr>
            <a:r>
              <a:rPr sz="2000" b="0">
                <a:solidFill>
                  <a:srgbClr val="2D3741"/>
                </a:solidFill>
                <a:latin typeface="Times New Roman"/>
                <a:ea typeface="Meiryo"/>
                <a:cs typeface="Times New Roman"/>
              </a:rPr>
              <a:t>空間で行う。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AD の距離計算: kNN 平均距離</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4" name="TextBox 3"/>
          <p:cNvSpPr txBox="1"/>
          <p:nvPr/>
        </p:nvSpPr>
        <p:spPr>
          <a:xfrm>
            <a:off x="274320" y="1208151"/>
            <a:ext cx="8595360" cy="1268730"/>
          </a:xfrm>
          <a:prstGeom prst="rect">
            <a:avLst/>
          </a:prstGeom>
          <a:noFill/>
        </p:spPr>
        <p:txBody>
          <a:bodyPr wrap="square" lIns="36576" tIns="18288" rIns="36576" bIns="18288">
            <a:normAutofit/>
          </a:bodyPr>
          <a:lstStyle/>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対象点のまわりから、近い学習データを k 個探す</a:t>
            </a:r>
          </a:p>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今回は k = 5 なので、近い5点までの距離 d1〜d5 を使う</a:t>
            </a:r>
          </a:p>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5本の距離を平均した値を、その点の kNN 平均距離とする</a:t>
            </a:r>
          </a:p>
        </p:txBody>
      </p:sp>
      <p:sp>
        <p:nvSpPr>
          <p:cNvPr id="5" name="TextBox 4"/>
          <p:cNvSpPr txBox="1"/>
          <p:nvPr/>
        </p:nvSpPr>
        <p:spPr>
          <a:xfrm>
            <a:off x="640080" y="3137535"/>
            <a:ext cx="7863840" cy="582930"/>
          </a:xfrm>
          <a:prstGeom prst="rect">
            <a:avLst/>
          </a:prstGeom>
          <a:noFill/>
        </p:spPr>
        <p:txBody>
          <a:bodyPr wrap="square" lIns="36576" tIns="18288" rIns="36576" bIns="18288" anchor="t">
            <a:normAutofit/>
          </a:bodyPr>
          <a:lstStyle/>
          <a:p>
            <a:pPr algn="ctr">
              <a:lnSpc>
                <a:spcPct val="108000"/>
              </a:lnSpc>
              <a:defRPr sz="2600" b="1">
                <a:solidFill>
                  <a:srgbClr val="1C487D"/>
                </a:solidFill>
                <a:latin typeface="Yu Gothic"/>
              </a:defRPr>
            </a:pPr>
            <a:r>
              <a:rPr sz="2600" b="1">
                <a:solidFill>
                  <a:srgbClr val="1C487D"/>
                </a:solidFill>
                <a:latin typeface="Times New Roman"/>
                <a:ea typeface="Meiryo"/>
                <a:cs typeface="Times New Roman"/>
              </a:rPr>
              <a:t>kNN平均距離 = mean(d1, d2, d3, d4, d5)</a:t>
            </a:r>
          </a:p>
        </p:txBody>
      </p:sp>
      <p:sp>
        <p:nvSpPr>
          <p:cNvPr id="6" name="TextBox 5"/>
          <p:cNvSpPr txBox="1"/>
          <p:nvPr/>
        </p:nvSpPr>
        <p:spPr>
          <a:xfrm>
            <a:off x="411481" y="4501662"/>
            <a:ext cx="8321040" cy="1268730"/>
          </a:xfrm>
          <a:prstGeom prst="rect">
            <a:avLst/>
          </a:prstGeom>
          <a:noFill/>
        </p:spPr>
        <p:txBody>
          <a:bodyPr wrap="square" lIns="36576" tIns="18288" rIns="36576" bIns="18288">
            <a:noAutofit/>
          </a:bodyPr>
          <a:lstStyle/>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平均距離が小さい: 周囲に似た学習データが密にある</a:t>
            </a:r>
          </a:p>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平均距離が大きい: 学習データから離れて孤立している</a:t>
            </a:r>
          </a:p>
          <a:p>
            <a:pPr>
              <a:lnSpc>
                <a:spcPct val="108000"/>
              </a:lnSpc>
              <a:defRPr sz="2250" b="0">
                <a:solidFill>
                  <a:srgbClr val="282828"/>
                </a:solidFill>
                <a:latin typeface="Yu Gothic"/>
              </a:defRPr>
            </a:pPr>
            <a:r>
              <a:rPr sz="2400" b="0">
                <a:solidFill>
                  <a:srgbClr val="282828"/>
                </a:solidFill>
                <a:latin typeface="Times New Roman"/>
                <a:ea typeface="Meiryo"/>
                <a:cs typeface="Times New Roman"/>
              </a:rPr>
              <a:t>・ 距離は、標準化後の説明変数空間で Euclidean distance として計算する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AD しきい値の決め方</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4" name="TextBox 3"/>
          <p:cNvSpPr txBox="1"/>
          <p:nvPr/>
        </p:nvSpPr>
        <p:spPr>
          <a:xfrm>
            <a:off x="341889" y="1295986"/>
            <a:ext cx="4583237" cy="2613250"/>
          </a:xfrm>
          <a:prstGeom prst="rect">
            <a:avLst/>
          </a:prstGeom>
          <a:noFill/>
        </p:spPr>
        <p:txBody>
          <a:bodyPr wrap="square" lIns="36576" tIns="18288" rIns="36576" bIns="18288">
            <a:noAutofit/>
          </a:bodyPr>
          <a:lstStyle/>
          <a:p>
            <a:pPr>
              <a:defRPr sz="2100"/>
            </a:pPr>
            <a:r>
              <a:rPr sz="2400" b="0">
                <a:solidFill>
                  <a:srgbClr val="000000"/>
                </a:solidFill>
                <a:latin typeface="Times New Roman"/>
                <a:ea typeface="Meiryo"/>
                <a:cs typeface="Times New Roman"/>
              </a:rPr>
              <a:t>・ 距離空間: 標準化した説明</a:t>
            </a:r>
            <a:endParaRPr lang="en-US" sz="2400" b="0">
              <a:solidFill>
                <a:srgbClr val="000000"/>
              </a:solidFill>
              <a:latin typeface="Times New Roman"/>
              <a:ea typeface="Meiryo"/>
              <a:cs typeface="Times New Roman"/>
            </a:endParaRPr>
          </a:p>
          <a:p>
            <a:pPr>
              <a:defRPr sz="2100"/>
            </a:pPr>
            <a:r>
              <a:rPr sz="2400" b="0">
                <a:solidFill>
                  <a:srgbClr val="000000"/>
                </a:solidFill>
                <a:latin typeface="Times New Roman"/>
                <a:ea typeface="Meiryo"/>
                <a:cs typeface="Times New Roman"/>
              </a:rPr>
              <a:t>変数空間</a:t>
            </a:r>
          </a:p>
          <a:p>
            <a:pPr>
              <a:defRPr sz="2100"/>
            </a:pPr>
            <a:r>
              <a:rPr sz="2400" b="0">
                <a:solidFill>
                  <a:srgbClr val="000000"/>
                </a:solidFill>
                <a:latin typeface="Times New Roman"/>
                <a:ea typeface="Meiryo"/>
                <a:cs typeface="Times New Roman"/>
              </a:rPr>
              <a:t>・ 距離指標: Euclidean distance</a:t>
            </a:r>
          </a:p>
          <a:p>
            <a:pPr>
              <a:defRPr sz="2100"/>
            </a:pPr>
            <a:r>
              <a:rPr sz="2400" b="0">
                <a:solidFill>
                  <a:srgbClr val="000000"/>
                </a:solidFill>
                <a:latin typeface="Times New Roman"/>
                <a:ea typeface="Meiryo"/>
                <a:cs typeface="Times New Roman"/>
              </a:rPr>
              <a:t>・ k: 5</a:t>
            </a:r>
          </a:p>
          <a:p>
            <a:pPr>
              <a:defRPr sz="2100"/>
            </a:pPr>
            <a:r>
              <a:rPr sz="2400" b="0">
                <a:solidFill>
                  <a:srgbClr val="000000"/>
                </a:solidFill>
                <a:latin typeface="Times New Roman"/>
                <a:ea typeface="Meiryo"/>
                <a:cs typeface="Times New Roman"/>
              </a:rPr>
              <a:t>・ しきい値: 学習データ同士の</a:t>
            </a:r>
            <a:endParaRPr lang="en-US" sz="2400" b="0">
              <a:solidFill>
                <a:srgbClr val="000000"/>
              </a:solidFill>
              <a:latin typeface="Times New Roman"/>
              <a:ea typeface="Meiryo"/>
              <a:cs typeface="Times New Roman"/>
            </a:endParaRPr>
          </a:p>
          <a:p>
            <a:pPr>
              <a:defRPr sz="2100"/>
            </a:pPr>
            <a:r>
              <a:rPr sz="2400" b="0">
                <a:solidFill>
                  <a:srgbClr val="000000"/>
                </a:solidFill>
                <a:latin typeface="Times New Roman"/>
                <a:ea typeface="Meiryo"/>
                <a:cs typeface="Times New Roman"/>
              </a:rPr>
              <a:t> 5 近傍平均距離の 95 パーセン</a:t>
            </a:r>
            <a:endParaRPr lang="en-US" sz="2400" b="0">
              <a:solidFill>
                <a:srgbClr val="000000"/>
              </a:solidFill>
              <a:latin typeface="Times New Roman"/>
              <a:ea typeface="Meiryo"/>
              <a:cs typeface="Times New Roman"/>
            </a:endParaRPr>
          </a:p>
          <a:p>
            <a:pPr>
              <a:defRPr sz="2100"/>
            </a:pPr>
            <a:r>
              <a:rPr sz="2400" b="0">
                <a:solidFill>
                  <a:srgbClr val="000000"/>
                </a:solidFill>
                <a:latin typeface="Times New Roman"/>
                <a:ea typeface="Meiryo"/>
                <a:cs typeface="Times New Roman"/>
              </a:rPr>
              <a:t>タイル</a:t>
            </a:r>
          </a:p>
        </p:txBody>
      </p:sp>
      <p:sp>
        <p:nvSpPr>
          <p:cNvPr id="5" name="Rectangle 4"/>
          <p:cNvSpPr/>
          <p:nvPr/>
        </p:nvSpPr>
        <p:spPr>
          <a:xfrm>
            <a:off x="5042564" y="1131570"/>
            <a:ext cx="3931920" cy="294894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sz="1512"/>
            </a:pPr>
            <a:endParaRPr/>
          </a:p>
        </p:txBody>
      </p:sp>
      <p:sp>
        <p:nvSpPr>
          <p:cNvPr id="6" name="TextBox 5"/>
          <p:cNvSpPr txBox="1"/>
          <p:nvPr/>
        </p:nvSpPr>
        <p:spPr>
          <a:xfrm>
            <a:off x="5134004" y="1213866"/>
            <a:ext cx="3749040" cy="2777490"/>
          </a:xfrm>
          <a:prstGeom prst="rect">
            <a:avLst/>
          </a:prstGeom>
          <a:noFill/>
        </p:spPr>
        <p:txBody>
          <a:bodyPr wrap="square" lIns="50800" tIns="50800" rIns="50800" bIns="50800">
            <a:normAutofit/>
          </a:bodyPr>
          <a:lstStyle/>
          <a:p>
            <a:pPr>
              <a:spcAft>
                <a:spcPts val="600"/>
              </a:spcAft>
              <a:defRPr sz="1550"/>
            </a:pPr>
            <a:r>
              <a:rPr sz="1550" b="0">
                <a:solidFill>
                  <a:srgbClr val="000000"/>
                </a:solidFill>
                <a:latin typeface="Times New Roman"/>
                <a:ea typeface="Meiryo"/>
                <a:cs typeface="Times New Roman"/>
              </a:rPr>
              <a:t>nn = NearestNeighbors(n_neighbors=k + 1, metric='euclidean')
nn.fit(X_train_scaled)
train_distances, _ = nn.kneighbors(X_train_scaled)
train_mean = train_distances[:, 1:].mean(axis=1)
ad_threshold = np.percentile(train_mean, 95)</a:t>
            </a:r>
          </a:p>
        </p:txBody>
      </p:sp>
      <p:sp>
        <p:nvSpPr>
          <p:cNvPr id="7" name="TextBox 6"/>
          <p:cNvSpPr txBox="1"/>
          <p:nvPr/>
        </p:nvSpPr>
        <p:spPr>
          <a:xfrm>
            <a:off x="341889" y="4981194"/>
            <a:ext cx="8460222" cy="925830"/>
          </a:xfrm>
          <a:prstGeom prst="rect">
            <a:avLst/>
          </a:prstGeom>
          <a:noFill/>
        </p:spPr>
        <p:txBody>
          <a:bodyPr wrap="square" lIns="36576" tIns="18288" rIns="36576" bIns="18288" anchor="t">
            <a:noAutofit/>
          </a:bodyPr>
          <a:lstStyle/>
          <a:p>
            <a:pPr>
              <a:lnSpc>
                <a:spcPct val="108000"/>
              </a:lnSpc>
              <a:defRPr sz="1880" b="0">
                <a:solidFill>
                  <a:srgbClr val="2D3741"/>
                </a:solidFill>
                <a:latin typeface="Yu Gothic"/>
              </a:defRPr>
            </a:pPr>
            <a:r>
              <a:rPr sz="2400" b="0">
                <a:solidFill>
                  <a:srgbClr val="2D3741"/>
                </a:solidFill>
                <a:latin typeface="Times New Roman"/>
                <a:ea typeface="Meiryo"/>
                <a:cs typeface="Times New Roman"/>
              </a:rPr>
              <a:t>train を train から探すと、自分自身が距離 0 で 1 番目に返る。</a:t>
            </a:r>
          </a:p>
          <a:p>
            <a:pPr>
              <a:lnSpc>
                <a:spcPct val="108000"/>
              </a:lnSpc>
              <a:defRPr sz="1880" b="0">
                <a:solidFill>
                  <a:srgbClr val="2D3741"/>
                </a:solidFill>
                <a:latin typeface="Yu Gothic"/>
              </a:defRPr>
            </a:pPr>
            <a:r>
              <a:rPr sz="2400" b="0">
                <a:solidFill>
                  <a:srgbClr val="2D3741"/>
                </a:solidFill>
                <a:latin typeface="Times New Roman"/>
                <a:ea typeface="Meiryo"/>
                <a:cs typeface="Times New Roman"/>
              </a:rPr>
              <a:t>だから k + 1 個取り、距離 0 の列を除いてから 5 近傍平均を計算する。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74320"/>
            <a:ext cx="8321040" cy="502920"/>
          </a:xfrm>
          <a:prstGeom prst="rect">
            <a:avLst/>
          </a:prstGeom>
          <a:noFill/>
        </p:spPr>
        <p:txBody>
          <a:bodyPr wrap="square" lIns="36576" tIns="18288" rIns="36576" bIns="18288">
            <a:normAutofit/>
          </a:bodyPr>
          <a:lstStyle/>
          <a:p>
            <a:pPr>
              <a:lnSpc>
                <a:spcPct val="108000"/>
              </a:lnSpc>
              <a:defRPr sz="2800" b="1">
                <a:solidFill>
                  <a:srgbClr val="191919"/>
                </a:solidFill>
              </a:defRPr>
            </a:pPr>
            <a:r>
              <a:rPr sz="2800" b="1">
                <a:solidFill>
                  <a:srgbClr val="191919"/>
                </a:solidFill>
                <a:latin typeface="Times New Roman"/>
                <a:ea typeface="Meiryo"/>
                <a:cs typeface="Times New Roman"/>
              </a:rPr>
              <a:t>なぜ train は k+1、test は k 個なのか</a:t>
            </a:r>
          </a:p>
        </p:txBody>
      </p:sp>
      <p:sp>
        <p:nvSpPr>
          <p:cNvPr id="3" name="Rectangle 2"/>
          <p:cNvSpPr/>
          <p:nvPr/>
        </p:nvSpPr>
        <p:spPr>
          <a:xfrm>
            <a:off x="411480" y="932688"/>
            <a:ext cx="8321040" cy="18288"/>
          </a:xfrm>
          <a:prstGeom prst="rect">
            <a:avLst/>
          </a:prstGeom>
          <a:solidFill>
            <a:srgbClr val="787878"/>
          </a:solidFill>
          <a:ln w="1270">
            <a:solidFill>
              <a:srgbClr val="78787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549018" y="1188720"/>
            <a:ext cx="3885444" cy="320040"/>
          </a:xfrm>
          <a:prstGeom prst="rect">
            <a:avLst/>
          </a:prstGeom>
          <a:noFill/>
        </p:spPr>
        <p:txBody>
          <a:bodyPr wrap="square" lIns="36576" tIns="18288" rIns="36576" bIns="18288">
            <a:normAutofit fontScale="92500" lnSpcReduction="20000"/>
          </a:bodyPr>
          <a:lstStyle/>
          <a:p>
            <a:pPr algn="ctr">
              <a:lnSpc>
                <a:spcPct val="108000"/>
              </a:lnSpc>
              <a:defRPr sz="2000" b="1">
                <a:solidFill>
                  <a:srgbClr val="191919"/>
                </a:solidFill>
              </a:defRPr>
            </a:pPr>
            <a:r>
              <a:rPr sz="2000" b="1">
                <a:solidFill>
                  <a:srgbClr val="191919"/>
                </a:solidFill>
                <a:latin typeface="Times New Roman"/>
                <a:ea typeface="Meiryo"/>
                <a:cs typeface="Times New Roman"/>
              </a:rPr>
              <a:t>train同士で近傍を探す</a:t>
            </a:r>
          </a:p>
        </p:txBody>
      </p:sp>
      <p:sp>
        <p:nvSpPr>
          <p:cNvPr id="5" name="TextBox 4"/>
          <p:cNvSpPr txBox="1"/>
          <p:nvPr/>
        </p:nvSpPr>
        <p:spPr>
          <a:xfrm>
            <a:off x="4812691" y="1188720"/>
            <a:ext cx="3885444" cy="320040"/>
          </a:xfrm>
          <a:prstGeom prst="rect">
            <a:avLst/>
          </a:prstGeom>
          <a:noFill/>
        </p:spPr>
        <p:txBody>
          <a:bodyPr wrap="square" lIns="36576" tIns="18288" rIns="36576" bIns="18288">
            <a:normAutofit fontScale="92500" lnSpcReduction="20000"/>
          </a:bodyPr>
          <a:lstStyle/>
          <a:p>
            <a:pPr algn="ctr">
              <a:lnSpc>
                <a:spcPct val="108000"/>
              </a:lnSpc>
              <a:defRPr sz="2000" b="1">
                <a:solidFill>
                  <a:srgbClr val="191919"/>
                </a:solidFill>
              </a:defRPr>
            </a:pPr>
            <a:r>
              <a:rPr sz="2000" b="1">
                <a:solidFill>
                  <a:srgbClr val="191919"/>
                </a:solidFill>
                <a:latin typeface="Times New Roman"/>
                <a:ea typeface="Meiryo"/>
                <a:cs typeface="Times New Roman"/>
              </a:rPr>
              <a:t>testからtrainの近傍を探す</a:t>
            </a:r>
          </a:p>
        </p:txBody>
      </p:sp>
      <p:cxnSp>
        <p:nvCxnSpPr>
          <p:cNvPr id="6" name="Connector 5"/>
          <p:cNvCxnSpPr/>
          <p:nvPr/>
        </p:nvCxnSpPr>
        <p:spPr>
          <a:xfrm>
            <a:off x="4606384" y="1170432"/>
            <a:ext cx="1" cy="5138928"/>
          </a:xfrm>
          <a:prstGeom prst="line">
            <a:avLst/>
          </a:prstGeom>
          <a:ln w="12700">
            <a:solidFill>
              <a:srgbClr val="CDCDCD"/>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39273" y="1680210"/>
            <a:ext cx="1787992" cy="1783080"/>
          </a:xfrm>
          <a:prstGeom prst="rect">
            <a:avLst/>
          </a:prstGeom>
          <a:solidFill>
            <a:srgbClr val="FFFFFF"/>
          </a:solidFill>
          <a:ln w="1270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8" name="Oval 7"/>
          <p:cNvSpPr/>
          <p:nvPr/>
        </p:nvSpPr>
        <p:spPr>
          <a:xfrm>
            <a:off x="677616" y="2121767"/>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9" name="Oval 8"/>
          <p:cNvSpPr/>
          <p:nvPr/>
        </p:nvSpPr>
        <p:spPr>
          <a:xfrm>
            <a:off x="793148" y="2853562"/>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0" name="Oval 9"/>
          <p:cNvSpPr/>
          <p:nvPr/>
        </p:nvSpPr>
        <p:spPr>
          <a:xfrm>
            <a:off x="1688519" y="2149382"/>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1" name="Oval 10"/>
          <p:cNvSpPr/>
          <p:nvPr/>
        </p:nvSpPr>
        <p:spPr>
          <a:xfrm>
            <a:off x="1746286" y="2812139"/>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cxnSp>
        <p:nvCxnSpPr>
          <p:cNvPr id="12" name="Connector 11"/>
          <p:cNvCxnSpPr/>
          <p:nvPr/>
        </p:nvCxnSpPr>
        <p:spPr>
          <a:xfrm flipH="1" flipV="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69885" y="2248838"/>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8" name="Oval 17"/>
          <p:cNvSpPr/>
          <p:nvPr/>
        </p:nvSpPr>
        <p:spPr>
          <a:xfrm>
            <a:off x="1359803" y="2276454"/>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19" name="Oval 18"/>
          <p:cNvSpPr/>
          <p:nvPr/>
        </p:nvSpPr>
        <p:spPr>
          <a:xfrm>
            <a:off x="1504219" y="2552602"/>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0" name="Oval 19"/>
          <p:cNvSpPr/>
          <p:nvPr/>
        </p:nvSpPr>
        <p:spPr>
          <a:xfrm>
            <a:off x="1042091" y="2745906"/>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1" name="Oval 20"/>
          <p:cNvSpPr/>
          <p:nvPr/>
        </p:nvSpPr>
        <p:spPr>
          <a:xfrm>
            <a:off x="1273155" y="2911596"/>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2" name="Oval 21"/>
          <p:cNvSpPr/>
          <p:nvPr/>
        </p:nvSpPr>
        <p:spPr>
          <a:xfrm>
            <a:off x="1139055" y="2478804"/>
            <a:ext cx="130661" cy="130661"/>
          </a:xfrm>
          <a:prstGeom prst="ellipse">
            <a:avLst/>
          </a:prstGeom>
          <a:solidFill>
            <a:srgbClr val="B43C34"/>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3" name="TextBox 22"/>
          <p:cNvSpPr txBox="1"/>
          <p:nvPr/>
        </p:nvSpPr>
        <p:spPr>
          <a:xfrm>
            <a:off x="977448" y="2690439"/>
            <a:ext cx="749808" cy="256032"/>
          </a:xfrm>
          <a:prstGeom prst="rect">
            <a:avLst/>
          </a:prstGeom>
          <a:noFill/>
        </p:spPr>
        <p:txBody>
          <a:bodyPr wrap="square" lIns="36576" tIns="18288" rIns="36576" bIns="18288">
            <a:normAutofit lnSpcReduction="10000"/>
          </a:bodyPr>
          <a:lstStyle/>
          <a:p>
            <a:pPr algn="ctr">
              <a:lnSpc>
                <a:spcPct val="108000"/>
              </a:lnSpc>
              <a:defRPr sz="1420" b="1">
                <a:solidFill>
                  <a:srgbClr val="191919"/>
                </a:solidFill>
              </a:defRPr>
            </a:pPr>
            <a:r>
              <a:rPr sz="1420" b="1">
                <a:solidFill>
                  <a:srgbClr val="191919"/>
                </a:solidFill>
                <a:latin typeface="Times New Roman"/>
                <a:ea typeface="Meiryo"/>
                <a:cs typeface="Times New Roman"/>
              </a:rPr>
              <a:t>train点</a:t>
            </a:r>
          </a:p>
        </p:txBody>
      </p:sp>
      <p:sp>
        <p:nvSpPr>
          <p:cNvPr id="24" name="Rectangle 23"/>
          <p:cNvSpPr/>
          <p:nvPr/>
        </p:nvSpPr>
        <p:spPr>
          <a:xfrm>
            <a:off x="4950229" y="1691640"/>
            <a:ext cx="1787992" cy="1783080"/>
          </a:xfrm>
          <a:prstGeom prst="rect">
            <a:avLst/>
          </a:prstGeom>
          <a:solidFill>
            <a:srgbClr val="FFFFFF"/>
          </a:solidFill>
          <a:ln w="1270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25" name="Oval 24"/>
          <p:cNvSpPr/>
          <p:nvPr/>
        </p:nvSpPr>
        <p:spPr>
          <a:xfrm>
            <a:off x="5288573" y="2133197"/>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6" name="Oval 25"/>
          <p:cNvSpPr/>
          <p:nvPr/>
        </p:nvSpPr>
        <p:spPr>
          <a:xfrm>
            <a:off x="5404104" y="2864992"/>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7" name="Oval 26"/>
          <p:cNvSpPr/>
          <p:nvPr/>
        </p:nvSpPr>
        <p:spPr>
          <a:xfrm>
            <a:off x="6299476" y="2160812"/>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28" name="Oval 27"/>
          <p:cNvSpPr/>
          <p:nvPr/>
        </p:nvSpPr>
        <p:spPr>
          <a:xfrm>
            <a:off x="6357242" y="2823569"/>
            <a:ext cx="71518" cy="71518"/>
          </a:xfrm>
          <a:prstGeom prst="ellipse">
            <a:avLst/>
          </a:prstGeom>
          <a:solidFill>
            <a:srgbClr val="AAAAA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cxnSp>
        <p:nvCxnSpPr>
          <p:cNvPr id="29" name="Connector 28"/>
          <p:cNvCxnSpPr/>
          <p:nvPr/>
        </p:nvCxnSpPr>
        <p:spPr>
          <a:xfrm flipH="1" flipV="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0"/>
            <a:ext cx="0" cy="0"/>
          </a:xfrm>
          <a:prstGeom prst="line">
            <a:avLst/>
          </a:prstGeom>
          <a:ln w="11430">
            <a:solidFill>
              <a:srgbClr val="969696"/>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5580840" y="2260268"/>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35" name="Oval 34"/>
          <p:cNvSpPr/>
          <p:nvPr/>
        </p:nvSpPr>
        <p:spPr>
          <a:xfrm>
            <a:off x="5970760" y="2287884"/>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36" name="Oval 35"/>
          <p:cNvSpPr/>
          <p:nvPr/>
        </p:nvSpPr>
        <p:spPr>
          <a:xfrm>
            <a:off x="6115174" y="2564032"/>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37" name="Oval 36"/>
          <p:cNvSpPr/>
          <p:nvPr/>
        </p:nvSpPr>
        <p:spPr>
          <a:xfrm>
            <a:off x="5653048" y="2757336"/>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38" name="Oval 37"/>
          <p:cNvSpPr/>
          <p:nvPr/>
        </p:nvSpPr>
        <p:spPr>
          <a:xfrm>
            <a:off x="5884112" y="2923026"/>
            <a:ext cx="93525" cy="93525"/>
          </a:xfrm>
          <a:prstGeom prst="ellipse">
            <a:avLst/>
          </a:prstGeom>
          <a:solidFill>
            <a:srgbClr val="878787"/>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39" name="Oval 38"/>
          <p:cNvSpPr/>
          <p:nvPr/>
        </p:nvSpPr>
        <p:spPr>
          <a:xfrm>
            <a:off x="5750012" y="2490234"/>
            <a:ext cx="130661" cy="130661"/>
          </a:xfrm>
          <a:prstGeom prst="ellipse">
            <a:avLst/>
          </a:prstGeom>
          <a:solidFill>
            <a:srgbClr val="B43C34"/>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0" name="TextBox 39"/>
          <p:cNvSpPr txBox="1"/>
          <p:nvPr/>
        </p:nvSpPr>
        <p:spPr>
          <a:xfrm>
            <a:off x="5588405" y="2701869"/>
            <a:ext cx="749808" cy="256032"/>
          </a:xfrm>
          <a:prstGeom prst="rect">
            <a:avLst/>
          </a:prstGeom>
          <a:noFill/>
        </p:spPr>
        <p:txBody>
          <a:bodyPr wrap="square" lIns="36576" tIns="18288" rIns="36576" bIns="18288">
            <a:normAutofit lnSpcReduction="10000"/>
          </a:bodyPr>
          <a:lstStyle/>
          <a:p>
            <a:pPr algn="ctr">
              <a:lnSpc>
                <a:spcPct val="108000"/>
              </a:lnSpc>
              <a:defRPr sz="1420" b="1">
                <a:solidFill>
                  <a:srgbClr val="191919"/>
                </a:solidFill>
              </a:defRPr>
            </a:pPr>
            <a:r>
              <a:rPr sz="1420" b="1">
                <a:solidFill>
                  <a:srgbClr val="191919"/>
                </a:solidFill>
                <a:latin typeface="Times New Roman"/>
                <a:ea typeface="Meiryo"/>
                <a:cs typeface="Times New Roman"/>
              </a:rPr>
              <a:t>test点</a:t>
            </a:r>
          </a:p>
        </p:txBody>
      </p:sp>
      <p:sp>
        <p:nvSpPr>
          <p:cNvPr id="41" name="TextBox 40"/>
          <p:cNvSpPr txBox="1"/>
          <p:nvPr/>
        </p:nvSpPr>
        <p:spPr>
          <a:xfrm>
            <a:off x="2283952" y="1681312"/>
            <a:ext cx="2321054" cy="2041114"/>
          </a:xfrm>
          <a:prstGeom prst="rect">
            <a:avLst/>
          </a:prstGeom>
          <a:noFill/>
        </p:spPr>
        <p:txBody>
          <a:bodyPr wrap="square" lIns="36576" tIns="18288" rIns="36576" bIns="18288">
            <a:noAutofit/>
          </a:bodyPr>
          <a:lstStyle/>
          <a:p>
            <a:pPr>
              <a:lnSpc>
                <a:spcPct val="108000"/>
              </a:lnSpc>
              <a:defRPr sz="1450" b="0">
                <a:solidFill>
                  <a:srgbClr val="232323"/>
                </a:solidFill>
              </a:defRPr>
            </a:pPr>
            <a:r>
              <a:rPr sz="2000" b="0">
                <a:solidFill>
                  <a:srgbClr val="232323"/>
                </a:solidFill>
                <a:latin typeface="Times New Roman"/>
                <a:ea typeface="Meiryo"/>
                <a:cs typeface="Times New Roman"/>
              </a:rPr>
              <a:t>探索対象も train。</a:t>
            </a:r>
          </a:p>
          <a:p>
            <a:pPr>
              <a:lnSpc>
                <a:spcPct val="108000"/>
              </a:lnSpc>
              <a:defRPr sz="1450" b="0">
                <a:solidFill>
                  <a:srgbClr val="232323"/>
                </a:solidFill>
              </a:defRPr>
            </a:pPr>
            <a:r>
              <a:rPr sz="2000" b="0">
                <a:solidFill>
                  <a:srgbClr val="232323"/>
                </a:solidFill>
                <a:latin typeface="Times New Roman"/>
                <a:ea typeface="Meiryo"/>
                <a:cs typeface="Times New Roman"/>
              </a:rPr>
              <a:t>対象点自身が集合に含まれるため、</a:t>
            </a:r>
          </a:p>
          <a:p>
            <a:pPr>
              <a:lnSpc>
                <a:spcPct val="108000"/>
              </a:lnSpc>
              <a:defRPr sz="1450" b="0">
                <a:solidFill>
                  <a:srgbClr val="232323"/>
                </a:solidFill>
              </a:defRPr>
            </a:pPr>
            <a:r>
              <a:rPr sz="2000" b="0">
                <a:solidFill>
                  <a:srgbClr val="232323"/>
                </a:solidFill>
                <a:latin typeface="Times New Roman"/>
                <a:ea typeface="Meiryo"/>
                <a:cs typeface="Times New Roman"/>
              </a:rPr>
              <a:t>最初に距離0の</a:t>
            </a:r>
            <a:endParaRPr lang="en-US" sz="2000">
              <a:solidFill>
                <a:srgbClr val="232323"/>
              </a:solidFill>
              <a:latin typeface="Times New Roman"/>
              <a:ea typeface="Meiryo"/>
              <a:cs typeface="Times New Roman"/>
            </a:endParaRPr>
          </a:p>
          <a:p>
            <a:pPr>
              <a:lnSpc>
                <a:spcPct val="108000"/>
              </a:lnSpc>
              <a:defRPr sz="1450" b="0">
                <a:solidFill>
                  <a:srgbClr val="232323"/>
                </a:solidFill>
              </a:defRPr>
            </a:pPr>
            <a:r>
              <a:rPr sz="2000" b="0">
                <a:solidFill>
                  <a:srgbClr val="232323"/>
                </a:solidFill>
                <a:latin typeface="Times New Roman"/>
                <a:ea typeface="Meiryo"/>
                <a:cs typeface="Times New Roman"/>
              </a:rPr>
              <a:t>「自分自身」が</a:t>
            </a:r>
            <a:endParaRPr lang="en-US" sz="2000" b="0">
              <a:solidFill>
                <a:srgbClr val="232323"/>
              </a:solidFill>
              <a:latin typeface="Times New Roman"/>
              <a:ea typeface="Meiryo"/>
              <a:cs typeface="Times New Roman"/>
            </a:endParaRPr>
          </a:p>
          <a:p>
            <a:pPr>
              <a:lnSpc>
                <a:spcPct val="108000"/>
              </a:lnSpc>
              <a:defRPr sz="1450" b="0">
                <a:solidFill>
                  <a:srgbClr val="232323"/>
                </a:solidFill>
              </a:defRPr>
            </a:pPr>
            <a:r>
              <a:rPr sz="2000" b="0">
                <a:solidFill>
                  <a:srgbClr val="232323"/>
                </a:solidFill>
                <a:latin typeface="Times New Roman"/>
                <a:ea typeface="Meiryo"/>
                <a:cs typeface="Times New Roman"/>
              </a:rPr>
              <a:t>返る。</a:t>
            </a:r>
          </a:p>
        </p:txBody>
      </p:sp>
      <p:sp>
        <p:nvSpPr>
          <p:cNvPr id="42" name="TextBox 41"/>
          <p:cNvSpPr txBox="1"/>
          <p:nvPr/>
        </p:nvSpPr>
        <p:spPr>
          <a:xfrm>
            <a:off x="6857999" y="1680210"/>
            <a:ext cx="2285999" cy="1748790"/>
          </a:xfrm>
          <a:prstGeom prst="rect">
            <a:avLst/>
          </a:prstGeom>
          <a:noFill/>
        </p:spPr>
        <p:txBody>
          <a:bodyPr wrap="square" lIns="36576" tIns="18288" rIns="36576" bIns="18288">
            <a:noAutofit/>
          </a:bodyPr>
          <a:lstStyle/>
          <a:p>
            <a:pPr>
              <a:lnSpc>
                <a:spcPct val="108000"/>
              </a:lnSpc>
              <a:defRPr sz="1450" b="0">
                <a:solidFill>
                  <a:srgbClr val="232323"/>
                </a:solidFill>
              </a:defRPr>
            </a:pPr>
            <a:r>
              <a:rPr sz="2000" b="0">
                <a:solidFill>
                  <a:srgbClr val="232323"/>
                </a:solidFill>
                <a:latin typeface="Times New Roman"/>
                <a:ea typeface="Meiryo"/>
                <a:cs typeface="Times New Roman"/>
              </a:rPr>
              <a:t>探索対象は train。</a:t>
            </a:r>
          </a:p>
          <a:p>
            <a:pPr>
              <a:lnSpc>
                <a:spcPct val="108000"/>
              </a:lnSpc>
              <a:defRPr sz="1450" b="0">
                <a:solidFill>
                  <a:srgbClr val="232323"/>
                </a:solidFill>
              </a:defRPr>
            </a:pPr>
            <a:r>
              <a:rPr sz="2000" b="0">
                <a:solidFill>
                  <a:srgbClr val="232323"/>
                </a:solidFill>
                <a:latin typeface="Times New Roman"/>
                <a:ea typeface="Meiryo"/>
                <a:cs typeface="Times New Roman"/>
              </a:rPr>
              <a:t>test点は train 集合に含まれないため、</a:t>
            </a:r>
          </a:p>
          <a:p>
            <a:pPr>
              <a:lnSpc>
                <a:spcPct val="108000"/>
              </a:lnSpc>
              <a:defRPr sz="1450" b="0">
                <a:solidFill>
                  <a:srgbClr val="232323"/>
                </a:solidFill>
              </a:defRPr>
            </a:pPr>
            <a:r>
              <a:rPr sz="2000" b="0">
                <a:solidFill>
                  <a:srgbClr val="232323"/>
                </a:solidFill>
                <a:latin typeface="Times New Roman"/>
                <a:ea typeface="Meiryo"/>
                <a:cs typeface="Times New Roman"/>
              </a:rPr>
              <a:t>距離0の自分自身は返らない。</a:t>
            </a:r>
          </a:p>
        </p:txBody>
      </p:sp>
      <p:sp>
        <p:nvSpPr>
          <p:cNvPr id="43" name="TextBox 42"/>
          <p:cNvSpPr txBox="1"/>
          <p:nvPr/>
        </p:nvSpPr>
        <p:spPr>
          <a:xfrm>
            <a:off x="686556" y="3749039"/>
            <a:ext cx="1691640" cy="292608"/>
          </a:xfrm>
          <a:prstGeom prst="rect">
            <a:avLst/>
          </a:prstGeom>
          <a:noFill/>
        </p:spPr>
        <p:txBody>
          <a:bodyPr wrap="square" lIns="36576" tIns="18288" rIns="36576" bIns="18288">
            <a:normAutofit/>
          </a:bodyPr>
          <a:lstStyle/>
          <a:p>
            <a:pPr>
              <a:lnSpc>
                <a:spcPct val="108000"/>
              </a:lnSpc>
              <a:defRPr sz="1420" b="1">
                <a:solidFill>
                  <a:srgbClr val="191919"/>
                </a:solidFill>
              </a:defRPr>
            </a:pPr>
            <a:r>
              <a:rPr sz="1420" b="1">
                <a:solidFill>
                  <a:srgbClr val="191919"/>
                </a:solidFill>
                <a:latin typeface="Times New Roman"/>
                <a:ea typeface="Meiryo"/>
                <a:cs typeface="Times New Roman"/>
              </a:rPr>
              <a:t>返ってくる順番</a:t>
            </a:r>
          </a:p>
        </p:txBody>
      </p:sp>
      <p:sp>
        <p:nvSpPr>
          <p:cNvPr id="44" name="TextBox 43"/>
          <p:cNvSpPr txBox="1"/>
          <p:nvPr/>
        </p:nvSpPr>
        <p:spPr>
          <a:xfrm>
            <a:off x="4950229" y="3749039"/>
            <a:ext cx="1691640" cy="292608"/>
          </a:xfrm>
          <a:prstGeom prst="rect">
            <a:avLst/>
          </a:prstGeom>
          <a:noFill/>
        </p:spPr>
        <p:txBody>
          <a:bodyPr wrap="square" lIns="36576" tIns="18288" rIns="36576" bIns="18288">
            <a:normAutofit/>
          </a:bodyPr>
          <a:lstStyle/>
          <a:p>
            <a:pPr>
              <a:lnSpc>
                <a:spcPct val="108000"/>
              </a:lnSpc>
              <a:defRPr sz="1420" b="1">
                <a:solidFill>
                  <a:srgbClr val="191919"/>
                </a:solidFill>
              </a:defRPr>
            </a:pPr>
            <a:r>
              <a:rPr sz="1420" b="1">
                <a:solidFill>
                  <a:srgbClr val="191919"/>
                </a:solidFill>
                <a:latin typeface="Times New Roman"/>
                <a:ea typeface="Meiryo"/>
                <a:cs typeface="Times New Roman"/>
              </a:rPr>
              <a:t>返ってくる順番</a:t>
            </a:r>
          </a:p>
        </p:txBody>
      </p:sp>
      <p:sp>
        <p:nvSpPr>
          <p:cNvPr id="45" name="Rectangle 44"/>
          <p:cNvSpPr/>
          <p:nvPr/>
        </p:nvSpPr>
        <p:spPr>
          <a:xfrm>
            <a:off x="686556" y="4160520"/>
            <a:ext cx="343845" cy="384048"/>
          </a:xfrm>
          <a:prstGeom prst="rect">
            <a:avLst/>
          </a:prstGeom>
          <a:solidFill>
            <a:srgbClr val="F8E8E6"/>
          </a:solidFill>
          <a:ln w="11430">
            <a:solidFill>
              <a:srgbClr val="DCAAA5"/>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B43C34"/>
                </a:solidFill>
              </a:defRPr>
            </a:pPr>
            <a:r>
              <a:rPr sz="1800" b="1">
                <a:solidFill>
                  <a:srgbClr val="B43C34"/>
                </a:solidFill>
                <a:latin typeface="Times New Roman"/>
                <a:ea typeface="Meiryo"/>
                <a:cs typeface="Times New Roman"/>
              </a:rPr>
              <a:t>0</a:t>
            </a:r>
          </a:p>
        </p:txBody>
      </p:sp>
      <p:sp>
        <p:nvSpPr>
          <p:cNvPr id="46" name="Rectangle 45"/>
          <p:cNvSpPr/>
          <p:nvPr/>
        </p:nvSpPr>
        <p:spPr>
          <a:xfrm>
            <a:off x="1092292"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1</a:t>
            </a:r>
          </a:p>
        </p:txBody>
      </p:sp>
      <p:sp>
        <p:nvSpPr>
          <p:cNvPr id="47" name="Rectangle 46"/>
          <p:cNvSpPr/>
          <p:nvPr/>
        </p:nvSpPr>
        <p:spPr>
          <a:xfrm>
            <a:off x="1498029"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2</a:t>
            </a:r>
          </a:p>
        </p:txBody>
      </p:sp>
      <p:sp>
        <p:nvSpPr>
          <p:cNvPr id="48" name="Rectangle 47"/>
          <p:cNvSpPr/>
          <p:nvPr/>
        </p:nvSpPr>
        <p:spPr>
          <a:xfrm>
            <a:off x="1903766"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3</a:t>
            </a:r>
          </a:p>
        </p:txBody>
      </p:sp>
      <p:sp>
        <p:nvSpPr>
          <p:cNvPr id="49" name="Rectangle 48"/>
          <p:cNvSpPr/>
          <p:nvPr/>
        </p:nvSpPr>
        <p:spPr>
          <a:xfrm>
            <a:off x="2309502"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4</a:t>
            </a:r>
          </a:p>
        </p:txBody>
      </p:sp>
      <p:sp>
        <p:nvSpPr>
          <p:cNvPr id="50" name="Rectangle 49"/>
          <p:cNvSpPr/>
          <p:nvPr/>
        </p:nvSpPr>
        <p:spPr>
          <a:xfrm>
            <a:off x="2715239"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5</a:t>
            </a:r>
          </a:p>
        </p:txBody>
      </p:sp>
      <p:sp>
        <p:nvSpPr>
          <p:cNvPr id="51" name="Rectangle 50"/>
          <p:cNvSpPr/>
          <p:nvPr/>
        </p:nvSpPr>
        <p:spPr>
          <a:xfrm>
            <a:off x="4950229"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1</a:t>
            </a:r>
          </a:p>
        </p:txBody>
      </p:sp>
      <p:sp>
        <p:nvSpPr>
          <p:cNvPr id="52" name="Rectangle 51"/>
          <p:cNvSpPr/>
          <p:nvPr/>
        </p:nvSpPr>
        <p:spPr>
          <a:xfrm>
            <a:off x="5355966"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2</a:t>
            </a:r>
          </a:p>
        </p:txBody>
      </p:sp>
      <p:sp>
        <p:nvSpPr>
          <p:cNvPr id="53" name="Rectangle 52"/>
          <p:cNvSpPr/>
          <p:nvPr/>
        </p:nvSpPr>
        <p:spPr>
          <a:xfrm>
            <a:off x="5761702"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3</a:t>
            </a:r>
          </a:p>
        </p:txBody>
      </p:sp>
      <p:sp>
        <p:nvSpPr>
          <p:cNvPr id="54" name="Rectangle 53"/>
          <p:cNvSpPr/>
          <p:nvPr/>
        </p:nvSpPr>
        <p:spPr>
          <a:xfrm>
            <a:off x="6167439"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4</a:t>
            </a:r>
          </a:p>
        </p:txBody>
      </p:sp>
      <p:sp>
        <p:nvSpPr>
          <p:cNvPr id="55" name="Rectangle 54"/>
          <p:cNvSpPr/>
          <p:nvPr/>
        </p:nvSpPr>
        <p:spPr>
          <a:xfrm>
            <a:off x="6573176" y="4160520"/>
            <a:ext cx="343845" cy="384048"/>
          </a:xfrm>
          <a:prstGeom prst="rect">
            <a:avLst/>
          </a:prstGeom>
          <a:solidFill>
            <a:srgbClr val="EEEEEE"/>
          </a:solidFill>
          <a:ln w="11430">
            <a:solidFill>
              <a:srgbClr val="CDCDCD"/>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800" b="1">
                <a:solidFill>
                  <a:srgbClr val="191919"/>
                </a:solidFill>
              </a:defRPr>
            </a:pPr>
            <a:r>
              <a:rPr sz="1800" b="1">
                <a:solidFill>
                  <a:srgbClr val="191919"/>
                </a:solidFill>
                <a:latin typeface="Times New Roman"/>
                <a:ea typeface="Meiryo"/>
                <a:cs typeface="Times New Roman"/>
              </a:rPr>
              <a:t>5</a:t>
            </a:r>
          </a:p>
        </p:txBody>
      </p:sp>
      <p:sp>
        <p:nvSpPr>
          <p:cNvPr id="56" name="TextBox 55"/>
          <p:cNvSpPr txBox="1"/>
          <p:nvPr/>
        </p:nvSpPr>
        <p:spPr>
          <a:xfrm>
            <a:off x="549018" y="4617720"/>
            <a:ext cx="2075310" cy="438912"/>
          </a:xfrm>
          <a:prstGeom prst="rect">
            <a:avLst/>
          </a:prstGeom>
          <a:noFill/>
        </p:spPr>
        <p:txBody>
          <a:bodyPr wrap="square" lIns="36576" tIns="18288" rIns="36576" bIns="18288">
            <a:normAutofit/>
          </a:bodyPr>
          <a:lstStyle/>
          <a:p>
            <a:pPr>
              <a:lnSpc>
                <a:spcPct val="108000"/>
              </a:lnSpc>
              <a:defRPr sz="1400" b="1">
                <a:solidFill>
                  <a:srgbClr val="B43C34"/>
                </a:solidFill>
              </a:defRPr>
            </a:pPr>
            <a:r>
              <a:rPr sz="1400" b="1">
                <a:solidFill>
                  <a:srgbClr val="B43C34"/>
                </a:solidFill>
                <a:latin typeface="Times New Roman"/>
                <a:ea typeface="Meiryo"/>
                <a:cs typeface="Times New Roman"/>
              </a:rPr>
              <a:t>0 は自分自身なので除外</a:t>
            </a:r>
          </a:p>
        </p:txBody>
      </p:sp>
      <p:sp>
        <p:nvSpPr>
          <p:cNvPr id="57" name="TextBox 56"/>
          <p:cNvSpPr txBox="1"/>
          <p:nvPr/>
        </p:nvSpPr>
        <p:spPr>
          <a:xfrm>
            <a:off x="2788920" y="4617720"/>
            <a:ext cx="1691640" cy="320040"/>
          </a:xfrm>
          <a:prstGeom prst="rect">
            <a:avLst/>
          </a:prstGeom>
          <a:noFill/>
        </p:spPr>
        <p:txBody>
          <a:bodyPr wrap="square" lIns="36576" tIns="18288" rIns="36576" bIns="18288">
            <a:normAutofit/>
          </a:bodyPr>
          <a:lstStyle/>
          <a:p>
            <a:pPr>
              <a:lnSpc>
                <a:spcPct val="108000"/>
              </a:lnSpc>
              <a:defRPr sz="1400" b="1">
                <a:solidFill>
                  <a:srgbClr val="191919"/>
                </a:solidFill>
              </a:defRPr>
            </a:pPr>
            <a:r>
              <a:rPr sz="1400" b="1">
                <a:solidFill>
                  <a:srgbClr val="191919"/>
                </a:solidFill>
                <a:latin typeface="Times New Roman"/>
                <a:ea typeface="Meiryo"/>
                <a:cs typeface="Times New Roman"/>
              </a:rPr>
              <a:t>1〜5 の5点を使う</a:t>
            </a:r>
          </a:p>
        </p:txBody>
      </p:sp>
      <p:sp>
        <p:nvSpPr>
          <p:cNvPr id="58" name="TextBox 57"/>
          <p:cNvSpPr txBox="1"/>
          <p:nvPr/>
        </p:nvSpPr>
        <p:spPr>
          <a:xfrm>
            <a:off x="4946904" y="4617720"/>
            <a:ext cx="2514600" cy="320040"/>
          </a:xfrm>
          <a:prstGeom prst="rect">
            <a:avLst/>
          </a:prstGeom>
          <a:noFill/>
        </p:spPr>
        <p:txBody>
          <a:bodyPr wrap="square" lIns="36576" tIns="18288" rIns="36576" bIns="18288">
            <a:normAutofit/>
          </a:bodyPr>
          <a:lstStyle/>
          <a:p>
            <a:pPr>
              <a:lnSpc>
                <a:spcPct val="108000"/>
              </a:lnSpc>
              <a:defRPr sz="1400" b="1">
                <a:solidFill>
                  <a:srgbClr val="191919"/>
                </a:solidFill>
              </a:defRPr>
            </a:pPr>
            <a:r>
              <a:rPr sz="1400" b="1">
                <a:solidFill>
                  <a:srgbClr val="191919"/>
                </a:solidFill>
                <a:latin typeface="Times New Roman"/>
                <a:ea typeface="Meiryo"/>
                <a:cs typeface="Times New Roman"/>
              </a:rPr>
              <a:t>先頭5点をそのまま使う</a:t>
            </a:r>
          </a:p>
        </p:txBody>
      </p:sp>
      <p:sp>
        <p:nvSpPr>
          <p:cNvPr id="59" name="Rectangle 58"/>
          <p:cNvSpPr/>
          <p:nvPr/>
        </p:nvSpPr>
        <p:spPr>
          <a:xfrm>
            <a:off x="594360" y="5177790"/>
            <a:ext cx="3749040" cy="582930"/>
          </a:xfrm>
          <a:prstGeom prst="rect">
            <a:avLst/>
          </a:prstGeom>
          <a:solidFill>
            <a:srgbClr val="FFFFFF"/>
          </a:solidFill>
          <a:ln w="12700">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380" b="1">
                <a:solidFill>
                  <a:srgbClr val="191919"/>
                </a:solidFill>
              </a:defRPr>
            </a:pPr>
            <a:r>
              <a:rPr sz="1380" b="1">
                <a:solidFill>
                  <a:srgbClr val="191919"/>
                </a:solidFill>
                <a:latin typeface="Times New Roman"/>
                <a:ea typeface="Meiryo"/>
                <a:cs typeface="Times New Roman"/>
              </a:rPr>
              <a:t>train_distances[:, 1:]  # 0列目を除外</a:t>
            </a:r>
          </a:p>
        </p:txBody>
      </p:sp>
      <p:sp>
        <p:nvSpPr>
          <p:cNvPr id="60" name="Rectangle 59"/>
          <p:cNvSpPr/>
          <p:nvPr/>
        </p:nvSpPr>
        <p:spPr>
          <a:xfrm>
            <a:off x="4800600" y="5177790"/>
            <a:ext cx="3749040" cy="582930"/>
          </a:xfrm>
          <a:prstGeom prst="rect">
            <a:avLst/>
          </a:prstGeom>
          <a:solidFill>
            <a:srgbClr val="FFFFFF"/>
          </a:solidFill>
          <a:ln w="12700">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lnSpc>
                <a:spcPct val="108000"/>
              </a:lnSpc>
              <a:defRPr sz="1380" b="1">
                <a:solidFill>
                  <a:srgbClr val="191919"/>
                </a:solidFill>
              </a:defRPr>
            </a:pPr>
            <a:r>
              <a:rPr sz="1380" b="1">
                <a:solidFill>
                  <a:srgbClr val="191919"/>
                </a:solidFill>
                <a:latin typeface="Times New Roman"/>
                <a:ea typeface="Meiryo"/>
                <a:cs typeface="Times New Roman"/>
              </a:rPr>
              <a:t>test_distances[:, :k]  # 先頭k個を使う</a:t>
            </a:r>
          </a:p>
        </p:txBody>
      </p:sp>
      <p:sp>
        <p:nvSpPr>
          <p:cNvPr id="61" name="TextBox 60"/>
          <p:cNvSpPr txBox="1"/>
          <p:nvPr/>
        </p:nvSpPr>
        <p:spPr>
          <a:xfrm>
            <a:off x="377190" y="6353084"/>
            <a:ext cx="8389619" cy="377190"/>
          </a:xfrm>
          <a:prstGeom prst="rect">
            <a:avLst/>
          </a:prstGeom>
          <a:noFill/>
        </p:spPr>
        <p:txBody>
          <a:bodyPr wrap="square" lIns="36576" tIns="18288" rIns="36576" bIns="18288">
            <a:noAutofit/>
          </a:bodyPr>
          <a:lstStyle/>
          <a:p>
            <a:pPr algn="ctr">
              <a:lnSpc>
                <a:spcPct val="108000"/>
              </a:lnSpc>
              <a:defRPr sz="1380" b="1">
                <a:solidFill>
                  <a:srgbClr val="191919"/>
                </a:solidFill>
              </a:defRPr>
            </a:pPr>
            <a:r>
              <a:rPr sz="2000" b="1">
                <a:solidFill>
                  <a:srgbClr val="191919"/>
                </a:solidFill>
                <a:latin typeface="Times New Roman"/>
                <a:ea typeface="Meiryo"/>
                <a:cs typeface="Times New Roman"/>
              </a:rPr>
              <a:t>要点: 近傍探索の対象集合に「対象点自身」が含まれるかどうかが違う。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95 パーセンタイルの意味</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548640" y="1200150"/>
            <a:ext cx="7955280" cy="1748790"/>
          </a:xfrm>
          <a:prstGeom prst="rect">
            <a:avLst/>
          </a:prstGeom>
          <a:noFill/>
        </p:spPr>
        <p:txBody>
          <a:bodyPr wrap="square" lIns="36576" tIns="18288" rIns="36576" bIns="18288">
            <a:normAutofit/>
          </a:bodyPr>
          <a:lstStyle/>
          <a:p>
            <a:pPr>
              <a:spcAft>
                <a:spcPts val="800"/>
              </a:spcAft>
              <a:defRPr sz="2350"/>
            </a:pPr>
            <a:r>
              <a:rPr sz="2350" b="0">
                <a:solidFill>
                  <a:srgbClr val="000000"/>
                </a:solidFill>
                <a:latin typeface="Times New Roman"/>
                <a:ea typeface="Meiryo"/>
                <a:cs typeface="Times New Roman"/>
              </a:rPr>
              <a:t>・ 学習データの「典型的な密度」を基準にする</a:t>
            </a:r>
          </a:p>
          <a:p>
            <a:pPr>
              <a:spcAft>
                <a:spcPts val="800"/>
              </a:spcAft>
              <a:defRPr sz="2350"/>
            </a:pPr>
            <a:r>
              <a:rPr sz="2350" b="0">
                <a:solidFill>
                  <a:srgbClr val="000000"/>
                </a:solidFill>
                <a:latin typeface="Times New Roman"/>
                <a:ea typeface="Meiryo"/>
                <a:cs typeface="Times New Roman"/>
              </a:rPr>
              <a:t>・ 上位 5% の疎な距離を境界にする</a:t>
            </a:r>
          </a:p>
          <a:p>
            <a:pPr>
              <a:spcAft>
                <a:spcPts val="800"/>
              </a:spcAft>
              <a:defRPr sz="2350"/>
            </a:pPr>
            <a:r>
              <a:rPr sz="2350" b="0">
                <a:solidFill>
                  <a:srgbClr val="000000"/>
                </a:solidFill>
                <a:latin typeface="Times New Roman"/>
                <a:ea typeface="Meiryo"/>
                <a:cs typeface="Times New Roman"/>
              </a:rPr>
              <a:t>・ 最大値をしきい値にすると、外れ値に引っ張られやすい</a:t>
            </a:r>
          </a:p>
        </p:txBody>
      </p:sp>
      <p:sp>
        <p:nvSpPr>
          <p:cNvPr id="5" name="TextBox 4"/>
          <p:cNvSpPr txBox="1"/>
          <p:nvPr/>
        </p:nvSpPr>
        <p:spPr>
          <a:xfrm>
            <a:off x="548640" y="3360420"/>
            <a:ext cx="8046720" cy="617220"/>
          </a:xfrm>
          <a:prstGeom prst="rect">
            <a:avLst/>
          </a:prstGeom>
          <a:noFill/>
        </p:spPr>
        <p:txBody>
          <a:bodyPr wrap="square" lIns="36576" tIns="18288" rIns="36576" bIns="18288" anchor="t">
            <a:normAutofit/>
          </a:bodyPr>
          <a:lstStyle/>
          <a:p>
            <a:pPr algn="ctr">
              <a:spcAft>
                <a:spcPts val="600"/>
              </a:spcAft>
              <a:defRPr sz="2700"/>
            </a:pPr>
            <a:r>
              <a:rPr sz="2700" b="1">
                <a:solidFill>
                  <a:srgbClr val="000000"/>
                </a:solidFill>
                <a:latin typeface="Times New Roman"/>
                <a:ea typeface="Meiryo"/>
                <a:cs typeface="Times New Roman"/>
              </a:rPr>
              <a:t>train_mean の 95th percentile = AD threshold</a:t>
            </a:r>
          </a:p>
        </p:txBody>
      </p:sp>
      <p:sp>
        <p:nvSpPr>
          <p:cNvPr id="6" name="TextBox 5"/>
          <p:cNvSpPr txBox="1"/>
          <p:nvPr/>
        </p:nvSpPr>
        <p:spPr>
          <a:xfrm>
            <a:off x="594360" y="4560570"/>
            <a:ext cx="7863840" cy="1131570"/>
          </a:xfrm>
          <a:prstGeom prst="rect">
            <a:avLst/>
          </a:prstGeom>
          <a:noFill/>
        </p:spPr>
        <p:txBody>
          <a:bodyPr wrap="square" lIns="36576" tIns="18288" rIns="36576" bIns="18288">
            <a:normAutofit/>
          </a:bodyPr>
          <a:lstStyle/>
          <a:p>
            <a:pPr>
              <a:spcAft>
                <a:spcPts val="800"/>
              </a:spcAft>
              <a:defRPr sz="2300"/>
            </a:pPr>
            <a:r>
              <a:rPr sz="2300" b="0">
                <a:solidFill>
                  <a:srgbClr val="000000"/>
                </a:solidFill>
                <a:latin typeface="Times New Roman"/>
                <a:ea typeface="Meiryo"/>
                <a:cs typeface="Times New Roman"/>
              </a:rPr>
              <a:t>・ 90%, 95%, 99% などは目的に応じて調整する</a:t>
            </a:r>
          </a:p>
          <a:p>
            <a:pPr>
              <a:spcAft>
                <a:spcPts val="800"/>
              </a:spcAft>
              <a:defRPr sz="2300"/>
            </a:pPr>
            <a:r>
              <a:rPr sz="2300" b="0">
                <a:solidFill>
                  <a:srgbClr val="000000"/>
                </a:solidFill>
                <a:latin typeface="Times New Roman"/>
                <a:ea typeface="Meiryo"/>
                <a:cs typeface="Times New Roman"/>
              </a:rPr>
              <a:t>・ 厳しくすると AD 外が増え、緩くすると AD 外が減る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テストデータの AD 判定</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sz="1512"/>
            </a:pPr>
            <a:endParaRPr/>
          </a:p>
        </p:txBody>
      </p:sp>
      <p:sp>
        <p:nvSpPr>
          <p:cNvPr id="4" name="Rectangle 3"/>
          <p:cNvSpPr/>
          <p:nvPr/>
        </p:nvSpPr>
        <p:spPr>
          <a:xfrm>
            <a:off x="502920" y="1165860"/>
            <a:ext cx="4617720" cy="1783080"/>
          </a:xfrm>
          <a:prstGeom prst="rect">
            <a:avLst/>
          </a:prstGeom>
          <a:solidFill>
            <a:srgbClr val="EBEBEB"/>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sz="1512"/>
            </a:pPr>
            <a:endParaRPr/>
          </a:p>
        </p:txBody>
      </p:sp>
      <p:sp>
        <p:nvSpPr>
          <p:cNvPr id="5" name="TextBox 4"/>
          <p:cNvSpPr txBox="1"/>
          <p:nvPr/>
        </p:nvSpPr>
        <p:spPr>
          <a:xfrm>
            <a:off x="594360" y="1261872"/>
            <a:ext cx="4434840" cy="1611630"/>
          </a:xfrm>
          <a:prstGeom prst="rect">
            <a:avLst/>
          </a:prstGeom>
          <a:noFill/>
        </p:spPr>
        <p:txBody>
          <a:bodyPr wrap="square" lIns="50800" tIns="50800" rIns="50800" bIns="50800">
            <a:normAutofit/>
          </a:bodyPr>
          <a:lstStyle/>
          <a:p>
            <a:pPr>
              <a:spcAft>
                <a:spcPts val="600"/>
              </a:spcAft>
              <a:defRPr sz="1650"/>
            </a:pPr>
            <a:r>
              <a:rPr sz="1650" b="0">
                <a:solidFill>
                  <a:srgbClr val="000000"/>
                </a:solidFill>
                <a:latin typeface="Times New Roman"/>
                <a:ea typeface="Meiryo"/>
                <a:cs typeface="Times New Roman"/>
              </a:rPr>
              <a:t>test_distances, _ = nn.kneighbors(X_test_scaled)
test_mean = test_distances[:, :k].mean(axis=1)
is_in_ad = test_mean &lt;= ad_threshold</a:t>
            </a:r>
          </a:p>
        </p:txBody>
      </p:sp>
      <p:graphicFrame>
        <p:nvGraphicFramePr>
          <p:cNvPr id="6" name="Table 5"/>
          <p:cNvGraphicFramePr>
            <a:graphicFrameLocks noGrp="1"/>
          </p:cNvGraphicFramePr>
          <p:nvPr>
            <p:extLst>
              <p:ext uri="{D42A27DB-BD31-4B8C-83A1-F6EECF244321}">
                <p14:modId xmlns:p14="http://schemas.microsoft.com/office/powerpoint/2010/main" val="1857005067"/>
              </p:ext>
            </p:extLst>
          </p:nvPr>
        </p:nvGraphicFramePr>
        <p:xfrm>
          <a:off x="5349240" y="1165860"/>
          <a:ext cx="3507215" cy="1801368"/>
        </p:xfrm>
        <a:graphic>
          <a:graphicData uri="http://schemas.openxmlformats.org/drawingml/2006/table">
            <a:tbl>
              <a:tblPr firstRow="1" bandRow="1">
                <a:tableStyleId>{5C22544A-7EE6-4342-B048-85BDC9FD1C3A}</a:tableStyleId>
              </a:tblPr>
              <a:tblGrid>
                <a:gridCol w="2176893">
                  <a:extLst>
                    <a:ext uri="{9D8B030D-6E8A-4147-A177-3AD203B41FA5}">
                      <a16:colId xmlns:a16="http://schemas.microsoft.com/office/drawing/2014/main" val="20000"/>
                    </a:ext>
                  </a:extLst>
                </a:gridCol>
                <a:gridCol w="1330322">
                  <a:extLst>
                    <a:ext uri="{9D8B030D-6E8A-4147-A177-3AD203B41FA5}">
                      <a16:colId xmlns:a16="http://schemas.microsoft.com/office/drawing/2014/main" val="20001"/>
                    </a:ext>
                  </a:extLst>
                </a:gridCol>
              </a:tblGrid>
              <a:tr h="533400">
                <a:tc>
                  <a:txBody>
                    <a:bodyPr/>
                    <a:lstStyle/>
                    <a:p>
                      <a:pPr algn="ctr">
                        <a:defRPr sz="1900"/>
                      </a:pPr>
                      <a:r>
                        <a:rPr sz="1900" b="1">
                          <a:solidFill>
                            <a:srgbClr val="000000"/>
                          </a:solidFill>
                          <a:latin typeface="Times New Roman"/>
                          <a:ea typeface="Meiryo"/>
                          <a:cs typeface="Times New Roman"/>
                        </a:rPr>
                        <a:t>条件</a:t>
                      </a:r>
                    </a:p>
                  </a:txBody>
                  <a:tcPr marL="54864" marR="54864" marT="27432" marB="27432" anchor="ctr">
                    <a:solidFill>
                      <a:srgbClr val="D9D9D9"/>
                    </a:solidFill>
                  </a:tcPr>
                </a:tc>
                <a:tc>
                  <a:txBody>
                    <a:bodyPr/>
                    <a:lstStyle/>
                    <a:p>
                      <a:pPr algn="ctr">
                        <a:defRPr sz="1900"/>
                      </a:pPr>
                      <a:r>
                        <a:rPr sz="1900" b="1">
                          <a:solidFill>
                            <a:srgbClr val="000000"/>
                          </a:solidFill>
                          <a:latin typeface="Times New Roman"/>
                          <a:ea typeface="Meiryo"/>
                          <a:cs typeface="Times New Roman"/>
                        </a:rPr>
                        <a:t>判定</a:t>
                      </a:r>
                    </a:p>
                  </a:txBody>
                  <a:tcPr marL="54864" marR="54864" marT="27432" marB="27432" anchor="ctr">
                    <a:solidFill>
                      <a:srgbClr val="D9D9D9"/>
                    </a:solidFill>
                  </a:tcPr>
                </a:tc>
                <a:extLst>
                  <a:ext uri="{0D108BD9-81ED-4DB2-BD59-A6C34878D82A}">
                    <a16:rowId xmlns:a16="http://schemas.microsoft.com/office/drawing/2014/main" val="10000"/>
                  </a:ext>
                </a:extLst>
              </a:tr>
              <a:tr h="533400">
                <a:tc>
                  <a:txBody>
                    <a:bodyPr/>
                    <a:lstStyle/>
                    <a:p>
                      <a:pPr algn="ctr">
                        <a:defRPr sz="1900"/>
                      </a:pPr>
                      <a:r>
                        <a:rPr sz="1900" b="0">
                          <a:solidFill>
                            <a:srgbClr val="000000"/>
                          </a:solidFill>
                          <a:latin typeface="Times New Roman"/>
                          <a:ea typeface="Meiryo"/>
                          <a:cs typeface="Times New Roman"/>
                        </a:rPr>
                        <a:t>test_mean &lt;= threshold</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AD 内</a:t>
                      </a:r>
                    </a:p>
                  </a:txBody>
                  <a:tcPr marL="54864" marR="54864" marT="27432" marB="27432" anchor="ctr">
                    <a:solidFill>
                      <a:srgbClr val="FFFFFF"/>
                    </a:solidFill>
                  </a:tcPr>
                </a:tc>
                <a:extLst>
                  <a:ext uri="{0D108BD9-81ED-4DB2-BD59-A6C34878D82A}">
                    <a16:rowId xmlns:a16="http://schemas.microsoft.com/office/drawing/2014/main" val="10001"/>
                  </a:ext>
                </a:extLst>
              </a:tr>
              <a:tr h="533400">
                <a:tc>
                  <a:txBody>
                    <a:bodyPr/>
                    <a:lstStyle/>
                    <a:p>
                      <a:pPr algn="ctr">
                        <a:defRPr sz="1900"/>
                      </a:pPr>
                      <a:r>
                        <a:rPr sz="1900" b="0">
                          <a:solidFill>
                            <a:srgbClr val="000000"/>
                          </a:solidFill>
                          <a:latin typeface="Times New Roman"/>
                          <a:ea typeface="Meiryo"/>
                          <a:cs typeface="Times New Roman"/>
                        </a:rPr>
                        <a:t>test_mean &gt; threshold</a:t>
                      </a:r>
                    </a:p>
                  </a:txBody>
                  <a:tcPr marL="54864" marR="54864" marT="27432" marB="27432" anchor="ctr">
                    <a:solidFill>
                      <a:srgbClr val="FFFFFF"/>
                    </a:solidFill>
                  </a:tcPr>
                </a:tc>
                <a:tc>
                  <a:txBody>
                    <a:bodyPr/>
                    <a:lstStyle/>
                    <a:p>
                      <a:pPr algn="ctr">
                        <a:defRPr sz="1900"/>
                      </a:pPr>
                      <a:r>
                        <a:rPr sz="1900" b="0">
                          <a:solidFill>
                            <a:srgbClr val="000000"/>
                          </a:solidFill>
                          <a:latin typeface="Times New Roman"/>
                          <a:ea typeface="Meiryo"/>
                          <a:cs typeface="Times New Roman"/>
                        </a:rPr>
                        <a:t>AD 外</a:t>
                      </a:r>
                    </a:p>
                  </a:txBody>
                  <a:tcPr marL="54864" marR="54864"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502920" y="4011929"/>
            <a:ext cx="8229600" cy="1851660"/>
          </a:xfrm>
          <a:prstGeom prst="rect">
            <a:avLst/>
          </a:prstGeom>
          <a:noFill/>
        </p:spPr>
        <p:txBody>
          <a:bodyPr wrap="square" lIns="36576" tIns="18288" rIns="36576" bIns="18288">
            <a:normAutofit/>
          </a:bodyPr>
          <a:lstStyle/>
          <a:p>
            <a:pPr>
              <a:lnSpc>
                <a:spcPct val="108000"/>
              </a:lnSpc>
              <a:defRPr sz="2200" b="0">
                <a:solidFill>
                  <a:srgbClr val="282828"/>
                </a:solidFill>
                <a:latin typeface="Yu Gothic"/>
              </a:defRPr>
            </a:pPr>
            <a:r>
              <a:rPr sz="2200" b="0">
                <a:solidFill>
                  <a:srgbClr val="282828"/>
                </a:solidFill>
                <a:latin typeface="Times New Roman"/>
                <a:ea typeface="Meiryo"/>
                <a:cs typeface="Times New Roman"/>
              </a:rPr>
              <a:t>・ test 点は train 集合に含まれないので、自分自身への距離 0 は返らない</a:t>
            </a:r>
          </a:p>
          <a:p>
            <a:pPr>
              <a:lnSpc>
                <a:spcPct val="108000"/>
              </a:lnSpc>
              <a:defRPr sz="2200" b="0">
                <a:solidFill>
                  <a:srgbClr val="282828"/>
                </a:solidFill>
                <a:latin typeface="Yu Gothic"/>
              </a:defRPr>
            </a:pPr>
            <a:r>
              <a:rPr sz="2200" b="0">
                <a:solidFill>
                  <a:srgbClr val="282828"/>
                </a:solidFill>
                <a:latin typeface="Times New Roman"/>
                <a:ea typeface="Meiryo"/>
                <a:cs typeface="Times New Roman"/>
              </a:rPr>
              <a:t>・ 返ってきた先頭 k 個が、そのまま「近い k 個の学習データ」になる</a:t>
            </a:r>
          </a:p>
          <a:p>
            <a:pPr>
              <a:lnSpc>
                <a:spcPct val="108000"/>
              </a:lnSpc>
              <a:defRPr sz="2200" b="0">
                <a:solidFill>
                  <a:srgbClr val="282828"/>
                </a:solidFill>
                <a:latin typeface="Yu Gothic"/>
              </a:defRPr>
            </a:pPr>
            <a:r>
              <a:rPr sz="2200" b="0">
                <a:solidFill>
                  <a:srgbClr val="282828"/>
                </a:solidFill>
                <a:latin typeface="Times New Roman"/>
                <a:ea typeface="Meiryo"/>
                <a:cs typeface="Times New Roman"/>
              </a:rPr>
              <a:t>・ AD 判定は予測値 y_pred の正しさを直接見ていない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300"/>
            </a:pPr>
            <a:r>
              <a:rPr sz="3300" b="1">
                <a:solidFill>
                  <a:srgbClr val="000000"/>
                </a:solidFill>
                <a:latin typeface="Times New Roman"/>
                <a:ea typeface="Meiryo"/>
                <a:cs typeface="Times New Roman"/>
              </a:rPr>
              <a:t>このノートブックの AD 設定と結果</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2154420098"/>
              </p:ext>
            </p:extLst>
          </p:nvPr>
        </p:nvGraphicFramePr>
        <p:xfrm>
          <a:off x="548640" y="1152144"/>
          <a:ext cx="3094602" cy="2743200"/>
        </p:xfrm>
        <a:graphic>
          <a:graphicData uri="http://schemas.openxmlformats.org/drawingml/2006/table">
            <a:tbl>
              <a:tblPr firstRow="1" bandRow="1">
                <a:tableStyleId>{5C22544A-7EE6-4342-B048-85BDC9FD1C3A}</a:tableStyleId>
              </a:tblPr>
              <a:tblGrid>
                <a:gridCol w="1375379">
                  <a:extLst>
                    <a:ext uri="{9D8B030D-6E8A-4147-A177-3AD203B41FA5}">
                      <a16:colId xmlns:a16="http://schemas.microsoft.com/office/drawing/2014/main" val="20000"/>
                    </a:ext>
                  </a:extLst>
                </a:gridCol>
                <a:gridCol w="1719223">
                  <a:extLst>
                    <a:ext uri="{9D8B030D-6E8A-4147-A177-3AD203B41FA5}">
                      <a16:colId xmlns:a16="http://schemas.microsoft.com/office/drawing/2014/main" val="20001"/>
                    </a:ext>
                  </a:extLst>
                </a:gridCol>
              </a:tblGrid>
              <a:tr h="548640">
                <a:tc>
                  <a:txBody>
                    <a:bodyPr/>
                    <a:lstStyle/>
                    <a:p>
                      <a:pPr algn="ctr">
                        <a:defRPr sz="1930"/>
                      </a:pPr>
                      <a:r>
                        <a:rPr sz="1930" b="1">
                          <a:solidFill>
                            <a:srgbClr val="000000"/>
                          </a:solidFill>
                          <a:latin typeface="Times New Roman"/>
                          <a:ea typeface="Meiryo"/>
                          <a:cs typeface="Times New Roman"/>
                        </a:rPr>
                        <a:t>設定</a:t>
                      </a:r>
                    </a:p>
                  </a:txBody>
                  <a:tcPr marL="54864" marR="54864" marT="27432" marB="27432" anchor="ctr">
                    <a:solidFill>
                      <a:srgbClr val="D9D9D9"/>
                    </a:solidFill>
                  </a:tcPr>
                </a:tc>
                <a:tc>
                  <a:txBody>
                    <a:bodyPr/>
                    <a:lstStyle/>
                    <a:p>
                      <a:pPr algn="ctr">
                        <a:defRPr sz="1930"/>
                      </a:pPr>
                      <a:r>
                        <a:rPr sz="1930" b="1">
                          <a:solidFill>
                            <a:srgbClr val="000000"/>
                          </a:solidFill>
                          <a:latin typeface="Times New Roman"/>
                          <a:ea typeface="Meiryo"/>
                          <a:cs typeface="Times New Roman"/>
                        </a:rPr>
                        <a:t>値</a:t>
                      </a:r>
                    </a:p>
                  </a:txBody>
                  <a:tcPr marL="54864" marR="54864" marT="27432" marB="27432" anchor="ctr">
                    <a:solidFill>
                      <a:srgbClr val="D9D9D9"/>
                    </a:solidFill>
                  </a:tcPr>
                </a:tc>
                <a:extLst>
                  <a:ext uri="{0D108BD9-81ED-4DB2-BD59-A6C34878D82A}">
                    <a16:rowId xmlns:a16="http://schemas.microsoft.com/office/drawing/2014/main" val="10000"/>
                  </a:ext>
                </a:extLst>
              </a:tr>
              <a:tr h="548640">
                <a:tc>
                  <a:txBody>
                    <a:bodyPr/>
                    <a:lstStyle/>
                    <a:p>
                      <a:pPr algn="ctr">
                        <a:defRPr sz="1930"/>
                      </a:pPr>
                      <a:r>
                        <a:rPr sz="1930" b="0">
                          <a:solidFill>
                            <a:srgbClr val="000000"/>
                          </a:solidFill>
                          <a:latin typeface="Times New Roman"/>
                          <a:ea typeface="Meiryo"/>
                          <a:cs typeface="Times New Roman"/>
                        </a:rPr>
                        <a:t>k</a:t>
                      </a:r>
                    </a:p>
                  </a:txBody>
                  <a:tcPr marL="54864" marR="54864" marT="27432" marB="27432" anchor="ctr">
                    <a:solidFill>
                      <a:srgbClr val="FFFFFF"/>
                    </a:solidFill>
                  </a:tcPr>
                </a:tc>
                <a:tc>
                  <a:txBody>
                    <a:bodyPr/>
                    <a:lstStyle/>
                    <a:p>
                      <a:pPr algn="ctr">
                        <a:defRPr sz="1930"/>
                      </a:pPr>
                      <a:r>
                        <a:rPr sz="1930" b="0">
                          <a:solidFill>
                            <a:srgbClr val="000000"/>
                          </a:solidFill>
                          <a:latin typeface="Times New Roman"/>
                          <a:ea typeface="Meiryo"/>
                          <a:cs typeface="Times New Roman"/>
                        </a:rPr>
                        <a:t>5</a:t>
                      </a:r>
                    </a:p>
                  </a:txBody>
                  <a:tcPr marL="54864" marR="54864" marT="27432" marB="27432" anchor="ctr">
                    <a:solidFill>
                      <a:srgbClr val="FFFFFF"/>
                    </a:solidFill>
                  </a:tcPr>
                </a:tc>
                <a:extLst>
                  <a:ext uri="{0D108BD9-81ED-4DB2-BD59-A6C34878D82A}">
                    <a16:rowId xmlns:a16="http://schemas.microsoft.com/office/drawing/2014/main" val="10001"/>
                  </a:ext>
                </a:extLst>
              </a:tr>
              <a:tr h="548640">
                <a:tc>
                  <a:txBody>
                    <a:bodyPr/>
                    <a:lstStyle/>
                    <a:p>
                      <a:pPr algn="ctr">
                        <a:defRPr sz="1930"/>
                      </a:pPr>
                      <a:r>
                        <a:rPr sz="1930" b="0">
                          <a:solidFill>
                            <a:srgbClr val="000000"/>
                          </a:solidFill>
                          <a:latin typeface="Times New Roman"/>
                          <a:ea typeface="Meiryo"/>
                          <a:cs typeface="Times New Roman"/>
                        </a:rPr>
                        <a:t>距離指標</a:t>
                      </a:r>
                    </a:p>
                  </a:txBody>
                  <a:tcPr marL="54864" marR="54864" marT="27432" marB="27432" anchor="ctr">
                    <a:solidFill>
                      <a:srgbClr val="FFFFFF"/>
                    </a:solidFill>
                  </a:tcPr>
                </a:tc>
                <a:tc>
                  <a:txBody>
                    <a:bodyPr/>
                    <a:lstStyle/>
                    <a:p>
                      <a:pPr algn="ctr">
                        <a:defRPr sz="1930"/>
                      </a:pPr>
                      <a:r>
                        <a:rPr sz="1930" b="0">
                          <a:solidFill>
                            <a:srgbClr val="000000"/>
                          </a:solidFill>
                          <a:latin typeface="Times New Roman"/>
                          <a:ea typeface="Meiryo"/>
                          <a:cs typeface="Times New Roman"/>
                        </a:rPr>
                        <a:t>Euclidean</a:t>
                      </a:r>
                    </a:p>
                  </a:txBody>
                  <a:tcPr marL="54864" marR="54864" marT="27432" marB="27432" anchor="ctr">
                    <a:solidFill>
                      <a:srgbClr val="FFFFFF"/>
                    </a:solidFill>
                  </a:tcPr>
                </a:tc>
                <a:extLst>
                  <a:ext uri="{0D108BD9-81ED-4DB2-BD59-A6C34878D82A}">
                    <a16:rowId xmlns:a16="http://schemas.microsoft.com/office/drawing/2014/main" val="10002"/>
                  </a:ext>
                </a:extLst>
              </a:tr>
              <a:tr h="548640">
                <a:tc>
                  <a:txBody>
                    <a:bodyPr/>
                    <a:lstStyle/>
                    <a:p>
                      <a:pPr algn="ctr">
                        <a:defRPr sz="1930"/>
                      </a:pPr>
                      <a:r>
                        <a:rPr sz="1930" b="0">
                          <a:solidFill>
                            <a:srgbClr val="000000"/>
                          </a:solidFill>
                          <a:latin typeface="Times New Roman"/>
                          <a:ea typeface="Meiryo"/>
                          <a:cs typeface="Times New Roman"/>
                        </a:rPr>
                        <a:t>percentile</a:t>
                      </a:r>
                    </a:p>
                  </a:txBody>
                  <a:tcPr marL="54864" marR="54864" marT="27432" marB="27432" anchor="ctr">
                    <a:solidFill>
                      <a:srgbClr val="FFFFFF"/>
                    </a:solidFill>
                  </a:tcPr>
                </a:tc>
                <a:tc>
                  <a:txBody>
                    <a:bodyPr/>
                    <a:lstStyle/>
                    <a:p>
                      <a:pPr algn="ctr">
                        <a:defRPr sz="1930"/>
                      </a:pPr>
                      <a:r>
                        <a:rPr sz="1930" b="0">
                          <a:solidFill>
                            <a:srgbClr val="000000"/>
                          </a:solidFill>
                          <a:latin typeface="Times New Roman"/>
                          <a:ea typeface="Meiryo"/>
                          <a:cs typeface="Times New Roman"/>
                        </a:rPr>
                        <a:t>95%</a:t>
                      </a:r>
                    </a:p>
                  </a:txBody>
                  <a:tcPr marL="54864" marR="54864" marT="27432" marB="27432" anchor="ctr">
                    <a:solidFill>
                      <a:srgbClr val="FFFFFF"/>
                    </a:solidFill>
                  </a:tcPr>
                </a:tc>
                <a:extLst>
                  <a:ext uri="{0D108BD9-81ED-4DB2-BD59-A6C34878D82A}">
                    <a16:rowId xmlns:a16="http://schemas.microsoft.com/office/drawing/2014/main" val="10003"/>
                  </a:ext>
                </a:extLst>
              </a:tr>
              <a:tr h="548640">
                <a:tc>
                  <a:txBody>
                    <a:bodyPr/>
                    <a:lstStyle/>
                    <a:p>
                      <a:pPr algn="ctr">
                        <a:defRPr sz="1930"/>
                      </a:pPr>
                      <a:r>
                        <a:rPr sz="1930" b="0">
                          <a:solidFill>
                            <a:srgbClr val="000000"/>
                          </a:solidFill>
                          <a:latin typeface="Times New Roman"/>
                          <a:ea typeface="Meiryo"/>
                          <a:cs typeface="Times New Roman"/>
                        </a:rPr>
                        <a:t>threshold</a:t>
                      </a:r>
                    </a:p>
                  </a:txBody>
                  <a:tcPr marL="54864" marR="54864" marT="27432" marB="27432" anchor="ctr">
                    <a:solidFill>
                      <a:srgbClr val="FFFFFF"/>
                    </a:solidFill>
                  </a:tcPr>
                </a:tc>
                <a:tc>
                  <a:txBody>
                    <a:bodyPr/>
                    <a:lstStyle/>
                    <a:p>
                      <a:pPr algn="ctr">
                        <a:defRPr sz="1930"/>
                      </a:pPr>
                      <a:r>
                        <a:rPr sz="1930" b="0">
                          <a:solidFill>
                            <a:srgbClr val="000000"/>
                          </a:solidFill>
                          <a:latin typeface="Times New Roman"/>
                          <a:ea typeface="Meiryo"/>
                          <a:cs typeface="Times New Roman"/>
                        </a:rPr>
                        <a:t>2.435</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79291507"/>
              </p:ext>
            </p:extLst>
          </p:nvPr>
        </p:nvGraphicFramePr>
        <p:xfrm>
          <a:off x="4251960" y="1152144"/>
          <a:ext cx="3094601" cy="2194560"/>
        </p:xfrm>
        <a:graphic>
          <a:graphicData uri="http://schemas.openxmlformats.org/drawingml/2006/table">
            <a:tbl>
              <a:tblPr firstRow="1" bandRow="1">
                <a:tableStyleId>{5C22544A-7EE6-4342-B048-85BDC9FD1C3A}</a:tableStyleId>
              </a:tblPr>
              <a:tblGrid>
                <a:gridCol w="1444147">
                  <a:extLst>
                    <a:ext uri="{9D8B030D-6E8A-4147-A177-3AD203B41FA5}">
                      <a16:colId xmlns:a16="http://schemas.microsoft.com/office/drawing/2014/main" val="20000"/>
                    </a:ext>
                  </a:extLst>
                </a:gridCol>
                <a:gridCol w="1650454">
                  <a:extLst>
                    <a:ext uri="{9D8B030D-6E8A-4147-A177-3AD203B41FA5}">
                      <a16:colId xmlns:a16="http://schemas.microsoft.com/office/drawing/2014/main" val="20001"/>
                    </a:ext>
                  </a:extLst>
                </a:gridCol>
              </a:tblGrid>
              <a:tr h="548640">
                <a:tc>
                  <a:txBody>
                    <a:bodyPr/>
                    <a:lstStyle/>
                    <a:p>
                      <a:pPr algn="ctr">
                        <a:defRPr sz="2100"/>
                      </a:pPr>
                      <a:r>
                        <a:rPr sz="2100" b="1">
                          <a:solidFill>
                            <a:srgbClr val="000000"/>
                          </a:solidFill>
                          <a:latin typeface="Times New Roman"/>
                          <a:ea typeface="Meiryo"/>
                          <a:cs typeface="Times New Roman"/>
                        </a:rPr>
                        <a:t>判定</a:t>
                      </a:r>
                    </a:p>
                  </a:txBody>
                  <a:tcPr marL="54864" marR="54864" marT="27432" marB="27432" anchor="ctr">
                    <a:solidFill>
                      <a:srgbClr val="D9D9D9"/>
                    </a:solidFill>
                  </a:tcPr>
                </a:tc>
                <a:tc>
                  <a:txBody>
                    <a:bodyPr/>
                    <a:lstStyle/>
                    <a:p>
                      <a:pPr algn="ctr">
                        <a:defRPr sz="2100"/>
                      </a:pPr>
                      <a:r>
                        <a:rPr sz="2100" b="1">
                          <a:solidFill>
                            <a:srgbClr val="000000"/>
                          </a:solidFill>
                          <a:latin typeface="Times New Roman"/>
                          <a:ea typeface="Meiryo"/>
                          <a:cs typeface="Times New Roman"/>
                        </a:rPr>
                        <a:t>件数</a:t>
                      </a:r>
                    </a:p>
                  </a:txBody>
                  <a:tcPr marL="54864" marR="54864" marT="27432" marB="27432" anchor="ctr">
                    <a:solidFill>
                      <a:srgbClr val="D9D9D9"/>
                    </a:solidFill>
                  </a:tcPr>
                </a:tc>
                <a:extLst>
                  <a:ext uri="{0D108BD9-81ED-4DB2-BD59-A6C34878D82A}">
                    <a16:rowId xmlns:a16="http://schemas.microsoft.com/office/drawing/2014/main" val="10000"/>
                  </a:ext>
                </a:extLst>
              </a:tr>
              <a:tr h="548640">
                <a:tc>
                  <a:txBody>
                    <a:bodyPr/>
                    <a:lstStyle/>
                    <a:p>
                      <a:pPr algn="ctr">
                        <a:defRPr sz="2100"/>
                      </a:pPr>
                      <a:r>
                        <a:rPr sz="2100" b="0">
                          <a:solidFill>
                            <a:srgbClr val="000000"/>
                          </a:solidFill>
                          <a:latin typeface="Times New Roman"/>
                          <a:ea typeface="Meiryo"/>
                          <a:cs typeface="Times New Roman"/>
                        </a:rPr>
                        <a:t>AD 内</a:t>
                      </a:r>
                    </a:p>
                  </a:txBody>
                  <a:tcPr marL="54864" marR="54864" marT="27432" marB="27432" anchor="ctr">
                    <a:solidFill>
                      <a:srgbClr val="FFFFFF"/>
                    </a:solidFill>
                  </a:tcPr>
                </a:tc>
                <a:tc>
                  <a:txBody>
                    <a:bodyPr/>
                    <a:lstStyle/>
                    <a:p>
                      <a:pPr algn="ctr">
                        <a:defRPr sz="2100"/>
                      </a:pPr>
                      <a:r>
                        <a:rPr sz="2100" b="0">
                          <a:solidFill>
                            <a:srgbClr val="000000"/>
                          </a:solidFill>
                          <a:latin typeface="Times New Roman"/>
                          <a:ea typeface="Meiryo"/>
                          <a:cs typeface="Times New Roman"/>
                        </a:rPr>
                        <a:t>123</a:t>
                      </a:r>
                    </a:p>
                  </a:txBody>
                  <a:tcPr marL="54864" marR="54864" marT="27432" marB="27432" anchor="ctr">
                    <a:solidFill>
                      <a:srgbClr val="FFFFFF"/>
                    </a:solidFill>
                  </a:tcPr>
                </a:tc>
                <a:extLst>
                  <a:ext uri="{0D108BD9-81ED-4DB2-BD59-A6C34878D82A}">
                    <a16:rowId xmlns:a16="http://schemas.microsoft.com/office/drawing/2014/main" val="10001"/>
                  </a:ext>
                </a:extLst>
              </a:tr>
              <a:tr h="548640">
                <a:tc>
                  <a:txBody>
                    <a:bodyPr/>
                    <a:lstStyle/>
                    <a:p>
                      <a:pPr algn="ctr">
                        <a:defRPr sz="2100"/>
                      </a:pPr>
                      <a:r>
                        <a:rPr sz="2100" b="0">
                          <a:solidFill>
                            <a:srgbClr val="000000"/>
                          </a:solidFill>
                          <a:latin typeface="Times New Roman"/>
                          <a:ea typeface="Meiryo"/>
                          <a:cs typeface="Times New Roman"/>
                        </a:rPr>
                        <a:t>AD 外</a:t>
                      </a:r>
                    </a:p>
                  </a:txBody>
                  <a:tcPr marL="54864" marR="54864" marT="27432" marB="27432" anchor="ctr">
                    <a:solidFill>
                      <a:srgbClr val="FFFFFF"/>
                    </a:solidFill>
                  </a:tcPr>
                </a:tc>
                <a:tc>
                  <a:txBody>
                    <a:bodyPr/>
                    <a:lstStyle/>
                    <a:p>
                      <a:pPr algn="ctr">
                        <a:defRPr sz="2100"/>
                      </a:pPr>
                      <a:r>
                        <a:rPr sz="2100" b="0">
                          <a:solidFill>
                            <a:srgbClr val="000000"/>
                          </a:solidFill>
                          <a:latin typeface="Times New Roman"/>
                          <a:ea typeface="Meiryo"/>
                          <a:cs typeface="Times New Roman"/>
                        </a:rPr>
                        <a:t>4</a:t>
                      </a:r>
                    </a:p>
                  </a:txBody>
                  <a:tcPr marL="54864" marR="54864" marT="27432" marB="27432" anchor="ctr">
                    <a:solidFill>
                      <a:srgbClr val="FFFFFF"/>
                    </a:solidFill>
                  </a:tcPr>
                </a:tc>
                <a:extLst>
                  <a:ext uri="{0D108BD9-81ED-4DB2-BD59-A6C34878D82A}">
                    <a16:rowId xmlns:a16="http://schemas.microsoft.com/office/drawing/2014/main" val="10002"/>
                  </a:ext>
                </a:extLst>
              </a:tr>
              <a:tr h="548640">
                <a:tc>
                  <a:txBody>
                    <a:bodyPr/>
                    <a:lstStyle/>
                    <a:p>
                      <a:pPr algn="ctr">
                        <a:defRPr sz="2100"/>
                      </a:pPr>
                      <a:r>
                        <a:rPr sz="2100" b="0">
                          <a:solidFill>
                            <a:srgbClr val="000000"/>
                          </a:solidFill>
                          <a:latin typeface="Times New Roman"/>
                          <a:ea typeface="Meiryo"/>
                          <a:cs typeface="Times New Roman"/>
                        </a:rPr>
                        <a:t>test 全体</a:t>
                      </a:r>
                    </a:p>
                  </a:txBody>
                  <a:tcPr marL="54864" marR="54864" marT="27432" marB="27432" anchor="ctr">
                    <a:solidFill>
                      <a:srgbClr val="FFFFFF"/>
                    </a:solidFill>
                  </a:tcPr>
                </a:tc>
                <a:tc>
                  <a:txBody>
                    <a:bodyPr/>
                    <a:lstStyle/>
                    <a:p>
                      <a:pPr algn="ctr">
                        <a:defRPr sz="2100"/>
                      </a:pPr>
                      <a:r>
                        <a:rPr sz="2100" b="0">
                          <a:solidFill>
                            <a:srgbClr val="000000"/>
                          </a:solidFill>
                          <a:latin typeface="Times New Roman"/>
                          <a:ea typeface="Meiryo"/>
                          <a:cs typeface="Times New Roman"/>
                        </a:rPr>
                        <a:t>127</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94360" y="4560570"/>
            <a:ext cx="7955280" cy="994409"/>
          </a:xfrm>
          <a:prstGeom prst="rect">
            <a:avLst/>
          </a:prstGeom>
          <a:noFill/>
        </p:spPr>
        <p:txBody>
          <a:bodyPr wrap="square" lIns="36576" tIns="18288" rIns="36576" bIns="18288" anchor="t">
            <a:normAutofit/>
          </a:bodyPr>
          <a:lstStyle/>
          <a:p>
            <a:pPr algn="l">
              <a:spcAft>
                <a:spcPts val="600"/>
              </a:spcAft>
              <a:defRPr sz="2200"/>
            </a:pPr>
            <a:r>
              <a:rPr sz="2200" b="0">
                <a:solidFill>
                  <a:srgbClr val="000000"/>
                </a:solidFill>
                <a:latin typeface="Times New Roman"/>
                <a:ea typeface="Meiryo"/>
                <a:cs typeface="Times New Roman"/>
              </a:rPr>
              <a:t>今回の分割: テスト 127 件中 4 件が AD 外
少数でも、スクリーニングでは「要確認候補」として重要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250"/>
            </a:pPr>
            <a:r>
              <a:rPr sz="3250" b="1">
                <a:solidFill>
                  <a:srgbClr val="000000"/>
                </a:solidFill>
                <a:latin typeface="Times New Roman"/>
                <a:ea typeface="Meiryo"/>
                <a:cs typeface="Times New Roman"/>
              </a:rPr>
              <a:t>可視化1: 学習データの距離分布</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train_distance_hist.png"/>
          <p:cNvPicPr>
            <a:picLocks noChangeAspect="1"/>
          </p:cNvPicPr>
          <p:nvPr/>
        </p:nvPicPr>
        <p:blipFill>
          <a:blip r:embed="rId3"/>
          <a:stretch>
            <a:fillRect/>
          </a:stretch>
        </p:blipFill>
        <p:spPr>
          <a:xfrm>
            <a:off x="0" y="1834515"/>
            <a:ext cx="5577840" cy="3188970"/>
          </a:xfrm>
          <a:prstGeom prst="rect">
            <a:avLst/>
          </a:prstGeom>
        </p:spPr>
      </p:pic>
      <p:sp>
        <p:nvSpPr>
          <p:cNvPr id="5" name="TextBox 4"/>
          <p:cNvSpPr txBox="1"/>
          <p:nvPr/>
        </p:nvSpPr>
        <p:spPr>
          <a:xfrm>
            <a:off x="5671037" y="1729358"/>
            <a:ext cx="3358662" cy="3399283"/>
          </a:xfrm>
          <a:prstGeom prst="rect">
            <a:avLst/>
          </a:prstGeom>
          <a:noFill/>
        </p:spPr>
        <p:txBody>
          <a:bodyPr wrap="square" lIns="36576" tIns="18288" rIns="36576" bIns="18288">
            <a:noAutofit/>
          </a:bodyPr>
          <a:lstStyle/>
          <a:p>
            <a:pPr>
              <a:defRPr sz="2050"/>
            </a:pPr>
            <a:r>
              <a:rPr sz="2400" b="0">
                <a:solidFill>
                  <a:srgbClr val="000000"/>
                </a:solidFill>
                <a:latin typeface="Times New Roman"/>
                <a:ea typeface="Meiryo"/>
                <a:cs typeface="Times New Roman"/>
              </a:rPr>
              <a:t>・ 横軸: 学習データ各点の 5 近傍平均距離</a:t>
            </a:r>
          </a:p>
          <a:p>
            <a:pPr>
              <a:defRPr sz="2050"/>
            </a:pPr>
            <a:r>
              <a:rPr sz="2400" b="0">
                <a:solidFill>
                  <a:srgbClr val="000000"/>
                </a:solidFill>
                <a:latin typeface="Times New Roman"/>
                <a:ea typeface="Meiryo"/>
                <a:cs typeface="Times New Roman"/>
              </a:rPr>
              <a:t>・ 赤破線: AD しきい値</a:t>
            </a:r>
          </a:p>
          <a:p>
            <a:pPr>
              <a:defRPr sz="2050"/>
            </a:pPr>
            <a:r>
              <a:rPr sz="2400" b="0">
                <a:solidFill>
                  <a:srgbClr val="000000"/>
                </a:solidFill>
                <a:latin typeface="Times New Roman"/>
                <a:ea typeface="Meiryo"/>
                <a:cs typeface="Times New Roman"/>
              </a:rPr>
              <a:t>・ 右側ほど、学習</a:t>
            </a:r>
            <a:endParaRPr lang="en-US" sz="2400" b="0">
              <a:solidFill>
                <a:srgbClr val="000000"/>
              </a:solidFill>
              <a:latin typeface="Times New Roman"/>
              <a:ea typeface="Meiryo"/>
              <a:cs typeface="Times New Roman"/>
            </a:endParaRPr>
          </a:p>
          <a:p>
            <a:pPr>
              <a:defRPr sz="2050"/>
            </a:pPr>
            <a:r>
              <a:rPr sz="2400" b="0">
                <a:solidFill>
                  <a:srgbClr val="000000"/>
                </a:solidFill>
                <a:latin typeface="Times New Roman"/>
                <a:ea typeface="Meiryo"/>
                <a:cs typeface="Times New Roman"/>
              </a:rPr>
              <a:t>データの中でも周囲が疎な点</a:t>
            </a:r>
          </a:p>
          <a:p>
            <a:pPr>
              <a:defRPr sz="2050"/>
            </a:pPr>
            <a:r>
              <a:rPr sz="2400" b="0">
                <a:solidFill>
                  <a:srgbClr val="000000"/>
                </a:solidFill>
                <a:latin typeface="Times New Roman"/>
                <a:ea typeface="Meiryo"/>
                <a:cs typeface="Times New Roman"/>
              </a:rPr>
              <a:t>・ しきい値は test から作らず、train の分布</a:t>
            </a:r>
            <a:endParaRPr lang="en-US" sz="2400" b="0">
              <a:solidFill>
                <a:srgbClr val="000000"/>
              </a:solidFill>
              <a:latin typeface="Times New Roman"/>
              <a:ea typeface="Meiryo"/>
              <a:cs typeface="Times New Roman"/>
            </a:endParaRPr>
          </a:p>
          <a:p>
            <a:pPr>
              <a:defRPr sz="2050"/>
            </a:pPr>
            <a:r>
              <a:rPr sz="2400" b="0">
                <a:solidFill>
                  <a:srgbClr val="000000"/>
                </a:solidFill>
                <a:latin typeface="Times New Roman"/>
                <a:ea typeface="Meiryo"/>
                <a:cs typeface="Times New Roman"/>
              </a:rPr>
              <a:t>だけで決める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300"/>
            </a:pPr>
            <a:r>
              <a:rPr sz="3300" b="1">
                <a:solidFill>
                  <a:srgbClr val="000000"/>
                </a:solidFill>
                <a:latin typeface="Times New Roman"/>
                <a:ea typeface="Meiryo"/>
                <a:cs typeface="Times New Roman"/>
              </a:rPr>
              <a:t>可視化2: 距離と予測誤差</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error_vs_distance.png"/>
          <p:cNvPicPr>
            <a:picLocks noChangeAspect="1"/>
          </p:cNvPicPr>
          <p:nvPr/>
        </p:nvPicPr>
        <p:blipFill>
          <a:blip r:embed="rId3"/>
          <a:stretch>
            <a:fillRect/>
          </a:stretch>
        </p:blipFill>
        <p:spPr>
          <a:xfrm>
            <a:off x="0" y="1868805"/>
            <a:ext cx="5577840" cy="3120390"/>
          </a:xfrm>
          <a:prstGeom prst="rect">
            <a:avLst/>
          </a:prstGeom>
        </p:spPr>
      </p:pic>
      <p:sp>
        <p:nvSpPr>
          <p:cNvPr id="5" name="TextBox 4"/>
          <p:cNvSpPr txBox="1"/>
          <p:nvPr/>
        </p:nvSpPr>
        <p:spPr>
          <a:xfrm>
            <a:off x="5577840" y="1703070"/>
            <a:ext cx="3474720" cy="3451860"/>
          </a:xfrm>
          <a:prstGeom prst="rect">
            <a:avLst/>
          </a:prstGeom>
          <a:noFill/>
        </p:spPr>
        <p:txBody>
          <a:bodyPr wrap="square" lIns="36576" tIns="18288" rIns="36576" bIns="18288">
            <a:normAutofit lnSpcReduction="10000"/>
          </a:bodyPr>
          <a:lstStyle/>
          <a:p>
            <a:pPr>
              <a:spcAft>
                <a:spcPts val="800"/>
              </a:spcAft>
              <a:defRPr sz="2050"/>
            </a:pPr>
            <a:r>
              <a:rPr sz="2400" b="0">
                <a:solidFill>
                  <a:srgbClr val="000000"/>
                </a:solidFill>
                <a:latin typeface="Times New Roman"/>
                <a:ea typeface="Meiryo"/>
                <a:cs typeface="Times New Roman"/>
              </a:rPr>
              <a:t>・ 横軸: test の 5 近傍</a:t>
            </a:r>
            <a:endParaRPr lang="en-US" sz="2400" b="0">
              <a:solidFill>
                <a:srgbClr val="000000"/>
              </a:solidFill>
              <a:latin typeface="Times New Roman"/>
              <a:ea typeface="Meiryo"/>
              <a:cs typeface="Times New Roman"/>
            </a:endParaRPr>
          </a:p>
          <a:p>
            <a:pPr>
              <a:spcAft>
                <a:spcPts val="800"/>
              </a:spcAft>
              <a:defRPr sz="2050"/>
            </a:pPr>
            <a:r>
              <a:rPr sz="2400" b="0">
                <a:solidFill>
                  <a:srgbClr val="000000"/>
                </a:solidFill>
                <a:latin typeface="Times New Roman"/>
                <a:ea typeface="Meiryo"/>
                <a:cs typeface="Times New Roman"/>
              </a:rPr>
              <a:t>平均距離</a:t>
            </a:r>
          </a:p>
          <a:p>
            <a:pPr>
              <a:spcAft>
                <a:spcPts val="800"/>
              </a:spcAft>
              <a:defRPr sz="2050"/>
            </a:pPr>
            <a:r>
              <a:rPr sz="2400" b="0">
                <a:solidFill>
                  <a:srgbClr val="000000"/>
                </a:solidFill>
                <a:latin typeface="Times New Roman"/>
                <a:ea typeface="Meiryo"/>
                <a:cs typeface="Times New Roman"/>
              </a:rPr>
              <a:t>・ 縦軸: 絶対誤差</a:t>
            </a:r>
            <a:endParaRPr lang="en-US" sz="2400" b="0">
              <a:solidFill>
                <a:srgbClr val="000000"/>
              </a:solidFill>
              <a:latin typeface="Times New Roman"/>
              <a:ea typeface="Meiryo"/>
              <a:cs typeface="Times New Roman"/>
            </a:endParaRPr>
          </a:p>
          <a:p>
            <a:pPr>
              <a:spcAft>
                <a:spcPts val="800"/>
              </a:spcAft>
              <a:defRPr sz="2050"/>
            </a:pPr>
            <a:r>
              <a:rPr sz="2400" b="0">
                <a:solidFill>
                  <a:srgbClr val="000000"/>
                </a:solidFill>
                <a:latin typeface="Times New Roman"/>
                <a:ea typeface="Meiryo"/>
                <a:cs typeface="Times New Roman"/>
              </a:rPr>
              <a:t> |actual - predicted|</a:t>
            </a:r>
          </a:p>
          <a:p>
            <a:pPr>
              <a:spcAft>
                <a:spcPts val="800"/>
              </a:spcAft>
              <a:defRPr sz="2050"/>
            </a:pPr>
            <a:r>
              <a:rPr sz="2400" b="0">
                <a:solidFill>
                  <a:srgbClr val="000000"/>
                </a:solidFill>
                <a:latin typeface="Times New Roman"/>
                <a:ea typeface="Meiryo"/>
                <a:cs typeface="Times New Roman"/>
              </a:rPr>
              <a:t>・ 赤破線より右が AD 外</a:t>
            </a:r>
          </a:p>
          <a:p>
            <a:pPr>
              <a:spcAft>
                <a:spcPts val="800"/>
              </a:spcAft>
              <a:defRPr sz="2050"/>
            </a:pPr>
            <a:r>
              <a:rPr sz="2400" b="0">
                <a:solidFill>
                  <a:srgbClr val="000000"/>
                </a:solidFill>
                <a:latin typeface="Times New Roman"/>
                <a:ea typeface="Meiryo"/>
                <a:cs typeface="Times New Roman"/>
              </a:rPr>
              <a:t>・ AD 外では誤差が</a:t>
            </a:r>
            <a:endParaRPr lang="en-US" sz="2400" b="0">
              <a:solidFill>
                <a:srgbClr val="000000"/>
              </a:solidFill>
              <a:latin typeface="Times New Roman"/>
              <a:ea typeface="Meiryo"/>
              <a:cs typeface="Times New Roman"/>
            </a:endParaRPr>
          </a:p>
          <a:p>
            <a:pPr>
              <a:spcAft>
                <a:spcPts val="800"/>
              </a:spcAft>
              <a:defRPr sz="2050"/>
            </a:pPr>
            <a:r>
              <a:rPr sz="2400" b="0">
                <a:solidFill>
                  <a:srgbClr val="000000"/>
                </a:solidFill>
                <a:latin typeface="Times New Roman"/>
                <a:ea typeface="Meiryo"/>
                <a:cs typeface="Times New Roman"/>
              </a:rPr>
              <a:t>大きくなりやすい傾向を確認する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可視化3: 実測値と予測値</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actual_vs_pred_ad.png"/>
          <p:cNvPicPr>
            <a:picLocks noChangeAspect="1"/>
          </p:cNvPicPr>
          <p:nvPr/>
        </p:nvPicPr>
        <p:blipFill>
          <a:blip r:embed="rId3"/>
          <a:stretch>
            <a:fillRect/>
          </a:stretch>
        </p:blipFill>
        <p:spPr>
          <a:xfrm>
            <a:off x="304214" y="1371600"/>
            <a:ext cx="3931920" cy="4114800"/>
          </a:xfrm>
          <a:prstGeom prst="rect">
            <a:avLst/>
          </a:prstGeom>
        </p:spPr>
      </p:pic>
      <p:sp>
        <p:nvSpPr>
          <p:cNvPr id="5" name="TextBox 4"/>
          <p:cNvSpPr txBox="1"/>
          <p:nvPr/>
        </p:nvSpPr>
        <p:spPr>
          <a:xfrm>
            <a:off x="4976445" y="1525905"/>
            <a:ext cx="3931920" cy="3806190"/>
          </a:xfrm>
          <a:prstGeom prst="rect">
            <a:avLst/>
          </a:prstGeom>
          <a:noFill/>
        </p:spPr>
        <p:txBody>
          <a:bodyPr wrap="square" lIns="36576" tIns="18288" rIns="36576" bIns="18288">
            <a:normAutofit/>
          </a:bodyPr>
          <a:lstStyle/>
          <a:p>
            <a:pPr>
              <a:spcAft>
                <a:spcPts val="800"/>
              </a:spcAft>
              <a:defRPr sz="2150"/>
            </a:pPr>
            <a:r>
              <a:rPr sz="2400" b="0">
                <a:solidFill>
                  <a:srgbClr val="000000"/>
                </a:solidFill>
                <a:latin typeface="Times New Roman"/>
                <a:ea typeface="Meiryo"/>
                <a:cs typeface="Times New Roman"/>
              </a:rPr>
              <a:t>・ 点が対角線に近いほど</a:t>
            </a:r>
            <a:endParaRPr lang="en-US" sz="2400" b="0">
              <a:solidFill>
                <a:srgbClr val="000000"/>
              </a:solidFill>
              <a:latin typeface="Times New Roman"/>
              <a:ea typeface="Meiryo"/>
              <a:cs typeface="Times New Roman"/>
            </a:endParaRPr>
          </a:p>
          <a:p>
            <a:pPr>
              <a:spcAft>
                <a:spcPts val="800"/>
              </a:spcAft>
              <a:defRPr sz="2150"/>
            </a:pPr>
            <a:r>
              <a:rPr sz="2400" b="0">
                <a:solidFill>
                  <a:srgbClr val="000000"/>
                </a:solidFill>
                <a:latin typeface="Times New Roman"/>
                <a:ea typeface="Meiryo"/>
                <a:cs typeface="Times New Roman"/>
              </a:rPr>
              <a:t>予測が良い</a:t>
            </a:r>
          </a:p>
          <a:p>
            <a:pPr>
              <a:spcAft>
                <a:spcPts val="800"/>
              </a:spcAft>
              <a:defRPr sz="2150"/>
            </a:pPr>
            <a:r>
              <a:rPr sz="2400" b="0">
                <a:solidFill>
                  <a:srgbClr val="000000"/>
                </a:solidFill>
                <a:latin typeface="Times New Roman"/>
                <a:ea typeface="Meiryo"/>
                <a:cs typeface="Times New Roman"/>
              </a:rPr>
              <a:t>・ 色とマーカーで AD 内外を区別する</a:t>
            </a:r>
          </a:p>
          <a:p>
            <a:pPr>
              <a:spcAft>
                <a:spcPts val="800"/>
              </a:spcAft>
              <a:defRPr sz="2150"/>
            </a:pPr>
            <a:r>
              <a:rPr sz="2400" b="0">
                <a:solidFill>
                  <a:srgbClr val="000000"/>
                </a:solidFill>
                <a:latin typeface="Times New Roman"/>
                <a:ea typeface="Meiryo"/>
                <a:cs typeface="Times New Roman"/>
              </a:rPr>
              <a:t>・ AD 外の点は予測値の</a:t>
            </a:r>
            <a:endParaRPr lang="en-US" sz="2400" b="0">
              <a:solidFill>
                <a:srgbClr val="000000"/>
              </a:solidFill>
              <a:latin typeface="Times New Roman"/>
              <a:ea typeface="Meiryo"/>
              <a:cs typeface="Times New Roman"/>
            </a:endParaRPr>
          </a:p>
          <a:p>
            <a:pPr>
              <a:spcAft>
                <a:spcPts val="800"/>
              </a:spcAft>
              <a:defRPr sz="2150"/>
            </a:pPr>
            <a:r>
              <a:rPr sz="2400" b="0">
                <a:solidFill>
                  <a:srgbClr val="000000"/>
                </a:solidFill>
                <a:latin typeface="Times New Roman"/>
                <a:ea typeface="Meiryo"/>
                <a:cs typeface="Times New Roman"/>
              </a:rPr>
              <a:t>信頼性を低めに扱う</a:t>
            </a:r>
          </a:p>
          <a:p>
            <a:pPr>
              <a:spcAft>
                <a:spcPts val="800"/>
              </a:spcAft>
              <a:defRPr sz="2150"/>
            </a:pPr>
            <a:r>
              <a:rPr sz="2400" b="0">
                <a:solidFill>
                  <a:srgbClr val="000000"/>
                </a:solidFill>
                <a:latin typeface="Times New Roman"/>
                <a:ea typeface="Meiryo"/>
                <a:cs typeface="Times New Roman"/>
              </a:rPr>
              <a:t>・ 予測性能と入力空間での近さを同時に見る図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AD 内外で性能を比べる</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2872832433"/>
              </p:ext>
            </p:extLst>
          </p:nvPr>
        </p:nvGraphicFramePr>
        <p:xfrm>
          <a:off x="411479" y="1179576"/>
          <a:ext cx="8321041" cy="1417320"/>
        </p:xfrm>
        <a:graphic>
          <a:graphicData uri="http://schemas.openxmlformats.org/drawingml/2006/table">
            <a:tbl>
              <a:tblPr firstRow="1" bandRow="1">
                <a:tableStyleId>{5C22544A-7EE6-4342-B048-85BDC9FD1C3A}</a:tableStyleId>
              </a:tblPr>
              <a:tblGrid>
                <a:gridCol w="1085353">
                  <a:extLst>
                    <a:ext uri="{9D8B030D-6E8A-4147-A177-3AD203B41FA5}">
                      <a16:colId xmlns:a16="http://schemas.microsoft.com/office/drawing/2014/main" val="20000"/>
                    </a:ext>
                  </a:extLst>
                </a:gridCol>
                <a:gridCol w="1808922">
                  <a:extLst>
                    <a:ext uri="{9D8B030D-6E8A-4147-A177-3AD203B41FA5}">
                      <a16:colId xmlns:a16="http://schemas.microsoft.com/office/drawing/2014/main" val="20001"/>
                    </a:ext>
                  </a:extLst>
                </a:gridCol>
                <a:gridCol w="1808922">
                  <a:extLst>
                    <a:ext uri="{9D8B030D-6E8A-4147-A177-3AD203B41FA5}">
                      <a16:colId xmlns:a16="http://schemas.microsoft.com/office/drawing/2014/main" val="20002"/>
                    </a:ext>
                  </a:extLst>
                </a:gridCol>
                <a:gridCol w="1808922">
                  <a:extLst>
                    <a:ext uri="{9D8B030D-6E8A-4147-A177-3AD203B41FA5}">
                      <a16:colId xmlns:a16="http://schemas.microsoft.com/office/drawing/2014/main" val="20003"/>
                    </a:ext>
                  </a:extLst>
                </a:gridCol>
                <a:gridCol w="1808922">
                  <a:extLst>
                    <a:ext uri="{9D8B030D-6E8A-4147-A177-3AD203B41FA5}">
                      <a16:colId xmlns:a16="http://schemas.microsoft.com/office/drawing/2014/main" val="20004"/>
                    </a:ext>
                  </a:extLst>
                </a:gridCol>
              </a:tblGrid>
              <a:tr h="472440">
                <a:tc>
                  <a:txBody>
                    <a:bodyPr/>
                    <a:lstStyle/>
                    <a:p>
                      <a:pPr algn="ctr">
                        <a:defRPr sz="1850"/>
                      </a:pPr>
                      <a:r>
                        <a:rPr sz="2000" b="1">
                          <a:solidFill>
                            <a:srgbClr val="000000"/>
                          </a:solidFill>
                          <a:latin typeface="Times New Roman"/>
                          <a:ea typeface="Meiryo"/>
                          <a:cs typeface="Times New Roman"/>
                        </a:rPr>
                        <a:t>AD</a:t>
                      </a:r>
                    </a:p>
                  </a:txBody>
                  <a:tcPr marL="54864" marR="54864" marT="27432" marB="27432" anchor="ctr">
                    <a:solidFill>
                      <a:srgbClr val="D9D9D9"/>
                    </a:solidFill>
                  </a:tcPr>
                </a:tc>
                <a:tc>
                  <a:txBody>
                    <a:bodyPr/>
                    <a:lstStyle/>
                    <a:p>
                      <a:pPr algn="ctr">
                        <a:defRPr sz="1850"/>
                      </a:pPr>
                      <a:r>
                        <a:rPr sz="2000" b="1">
                          <a:solidFill>
                            <a:srgbClr val="000000"/>
                          </a:solidFill>
                          <a:latin typeface="Times New Roman"/>
                          <a:ea typeface="Meiryo"/>
                          <a:cs typeface="Times New Roman"/>
                        </a:rPr>
                        <a:t>n</a:t>
                      </a:r>
                    </a:p>
                  </a:txBody>
                  <a:tcPr marL="54864" marR="54864" marT="27432" marB="27432" anchor="ctr">
                    <a:solidFill>
                      <a:srgbClr val="D9D9D9"/>
                    </a:solidFill>
                  </a:tcPr>
                </a:tc>
                <a:tc>
                  <a:txBody>
                    <a:bodyPr/>
                    <a:lstStyle/>
                    <a:p>
                      <a:pPr algn="ctr">
                        <a:defRPr sz="1850"/>
                      </a:pPr>
                      <a:r>
                        <a:rPr sz="2000" b="1">
                          <a:solidFill>
                            <a:srgbClr val="000000"/>
                          </a:solidFill>
                          <a:latin typeface="Times New Roman"/>
                          <a:ea typeface="Meiryo"/>
                          <a:cs typeface="Times New Roman"/>
                        </a:rPr>
                        <a:t>MAE</a:t>
                      </a:r>
                    </a:p>
                  </a:txBody>
                  <a:tcPr marL="54864" marR="54864" marT="27432" marB="27432" anchor="ctr">
                    <a:solidFill>
                      <a:srgbClr val="D9D9D9"/>
                    </a:solidFill>
                  </a:tcPr>
                </a:tc>
                <a:tc>
                  <a:txBody>
                    <a:bodyPr/>
                    <a:lstStyle/>
                    <a:p>
                      <a:pPr algn="ctr">
                        <a:defRPr sz="1850"/>
                      </a:pPr>
                      <a:r>
                        <a:rPr sz="2000" b="1">
                          <a:solidFill>
                            <a:srgbClr val="000000"/>
                          </a:solidFill>
                          <a:latin typeface="Times New Roman"/>
                          <a:ea typeface="Meiryo"/>
                          <a:cs typeface="Times New Roman"/>
                        </a:rPr>
                        <a:t>RMSE</a:t>
                      </a:r>
                    </a:p>
                  </a:txBody>
                  <a:tcPr marL="54864" marR="54864" marT="27432" marB="27432" anchor="ctr">
                    <a:solidFill>
                      <a:srgbClr val="D9D9D9"/>
                    </a:solidFill>
                  </a:tcPr>
                </a:tc>
                <a:tc>
                  <a:txBody>
                    <a:bodyPr/>
                    <a:lstStyle/>
                    <a:p>
                      <a:pPr algn="ctr">
                        <a:defRPr sz="1850"/>
                      </a:pPr>
                      <a:r>
                        <a:rPr sz="2000" b="1">
                          <a:solidFill>
                            <a:srgbClr val="000000"/>
                          </a:solidFill>
                          <a:latin typeface="Times New Roman"/>
                          <a:ea typeface="Meiryo"/>
                          <a:cs typeface="Times New Roman"/>
                        </a:rPr>
                        <a:t>mean distance</a:t>
                      </a:r>
                    </a:p>
                  </a:txBody>
                  <a:tcPr marL="54864" marR="54864" marT="27432" marB="27432" anchor="ctr">
                    <a:solidFill>
                      <a:srgbClr val="D9D9D9"/>
                    </a:solidFill>
                  </a:tcPr>
                </a:tc>
                <a:extLst>
                  <a:ext uri="{0D108BD9-81ED-4DB2-BD59-A6C34878D82A}">
                    <a16:rowId xmlns:a16="http://schemas.microsoft.com/office/drawing/2014/main" val="10000"/>
                  </a:ext>
                </a:extLst>
              </a:tr>
              <a:tr h="472440">
                <a:tc>
                  <a:txBody>
                    <a:bodyPr/>
                    <a:lstStyle/>
                    <a:p>
                      <a:pPr algn="ctr">
                        <a:defRPr sz="1850"/>
                      </a:pPr>
                      <a:r>
                        <a:rPr sz="2000" b="0">
                          <a:solidFill>
                            <a:srgbClr val="000000"/>
                          </a:solidFill>
                          <a:latin typeface="Times New Roman"/>
                          <a:ea typeface="Meiryo"/>
                          <a:cs typeface="Times New Roman"/>
                        </a:rPr>
                        <a:t>inside</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123</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1.976</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2.927</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1.088</a:t>
                      </a:r>
                    </a:p>
                  </a:txBody>
                  <a:tcPr marL="54864" marR="54864" marT="27432" marB="27432" anchor="ctr">
                    <a:solidFill>
                      <a:srgbClr val="FFFFFF"/>
                    </a:solidFill>
                  </a:tcPr>
                </a:tc>
                <a:extLst>
                  <a:ext uri="{0D108BD9-81ED-4DB2-BD59-A6C34878D82A}">
                    <a16:rowId xmlns:a16="http://schemas.microsoft.com/office/drawing/2014/main" val="10001"/>
                  </a:ext>
                </a:extLst>
              </a:tr>
              <a:tr h="472440">
                <a:tc>
                  <a:txBody>
                    <a:bodyPr/>
                    <a:lstStyle/>
                    <a:p>
                      <a:pPr algn="ctr">
                        <a:defRPr sz="1850"/>
                      </a:pPr>
                      <a:r>
                        <a:rPr sz="2000" b="0">
                          <a:solidFill>
                            <a:srgbClr val="000000"/>
                          </a:solidFill>
                          <a:latin typeface="Times New Roman"/>
                          <a:ea typeface="Meiryo"/>
                          <a:cs typeface="Times New Roman"/>
                        </a:rPr>
                        <a:t>outside</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4</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3.626</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4.565</a:t>
                      </a:r>
                    </a:p>
                  </a:txBody>
                  <a:tcPr marL="54864" marR="54864" marT="27432" marB="27432" anchor="ctr">
                    <a:solidFill>
                      <a:srgbClr val="FFFFFF"/>
                    </a:solidFill>
                  </a:tcPr>
                </a:tc>
                <a:tc>
                  <a:txBody>
                    <a:bodyPr/>
                    <a:lstStyle/>
                    <a:p>
                      <a:pPr algn="ctr">
                        <a:defRPr sz="1850"/>
                      </a:pPr>
                      <a:r>
                        <a:rPr sz="2000" b="0">
                          <a:solidFill>
                            <a:srgbClr val="000000"/>
                          </a:solidFill>
                          <a:latin typeface="Times New Roman"/>
                          <a:ea typeface="Meiryo"/>
                          <a:cs typeface="Times New Roman"/>
                        </a:rPr>
                        <a:t>3.479</a:t>
                      </a:r>
                    </a:p>
                  </a:txBody>
                  <a:tcPr marL="54864" marR="54864"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40080" y="3120390"/>
            <a:ext cx="3474720" cy="548640"/>
          </a:xfrm>
          <a:prstGeom prst="rect">
            <a:avLst/>
          </a:prstGeom>
          <a:noFill/>
        </p:spPr>
        <p:txBody>
          <a:bodyPr wrap="square" lIns="36576" tIns="18288" rIns="36576" bIns="18288" anchor="t">
            <a:normAutofit/>
          </a:bodyPr>
          <a:lstStyle/>
          <a:p>
            <a:pPr algn="l">
              <a:spcAft>
                <a:spcPts val="600"/>
              </a:spcAft>
              <a:defRPr sz="2700"/>
            </a:pPr>
            <a:r>
              <a:rPr sz="2700" b="1">
                <a:solidFill>
                  <a:srgbClr val="000000"/>
                </a:solidFill>
                <a:latin typeface="Times New Roman"/>
                <a:ea typeface="Meiryo"/>
                <a:cs typeface="Times New Roman"/>
              </a:rPr>
              <a:t>inside MAE = 1.976</a:t>
            </a:r>
          </a:p>
        </p:txBody>
      </p:sp>
      <p:sp>
        <p:nvSpPr>
          <p:cNvPr id="6" name="TextBox 5"/>
          <p:cNvSpPr txBox="1"/>
          <p:nvPr/>
        </p:nvSpPr>
        <p:spPr>
          <a:xfrm>
            <a:off x="4434840" y="3120390"/>
            <a:ext cx="3566160" cy="548640"/>
          </a:xfrm>
          <a:prstGeom prst="rect">
            <a:avLst/>
          </a:prstGeom>
          <a:noFill/>
        </p:spPr>
        <p:txBody>
          <a:bodyPr wrap="square" lIns="36576" tIns="18288" rIns="36576" bIns="18288" anchor="t">
            <a:normAutofit/>
          </a:bodyPr>
          <a:lstStyle/>
          <a:p>
            <a:pPr algn="l">
              <a:spcAft>
                <a:spcPts val="600"/>
              </a:spcAft>
              <a:defRPr sz="2700"/>
            </a:pPr>
            <a:r>
              <a:rPr sz="2700" b="1">
                <a:solidFill>
                  <a:srgbClr val="000000"/>
                </a:solidFill>
                <a:latin typeface="Times New Roman"/>
                <a:ea typeface="Meiryo"/>
                <a:cs typeface="Times New Roman"/>
              </a:rPr>
              <a:t>outside MAE = 3.626</a:t>
            </a:r>
          </a:p>
        </p:txBody>
      </p:sp>
      <p:sp>
        <p:nvSpPr>
          <p:cNvPr id="7" name="TextBox 6"/>
          <p:cNvSpPr txBox="1"/>
          <p:nvPr/>
        </p:nvSpPr>
        <p:spPr>
          <a:xfrm>
            <a:off x="468630" y="4192524"/>
            <a:ext cx="8206740" cy="2267712"/>
          </a:xfrm>
          <a:prstGeom prst="rect">
            <a:avLst/>
          </a:prstGeom>
          <a:noFill/>
        </p:spPr>
        <p:txBody>
          <a:bodyPr wrap="square" lIns="36576" tIns="18288" rIns="36576" bIns="18288">
            <a:noAutofit/>
          </a:bodyPr>
          <a:lstStyle/>
          <a:p>
            <a:pPr>
              <a:spcAft>
                <a:spcPts val="800"/>
              </a:spcAft>
              <a:defRPr sz="2050"/>
            </a:pPr>
            <a:r>
              <a:rPr sz="2400" b="0">
                <a:solidFill>
                  <a:srgbClr val="000000"/>
                </a:solidFill>
                <a:latin typeface="Times New Roman"/>
                <a:ea typeface="Meiryo"/>
                <a:cs typeface="Times New Roman"/>
              </a:rPr>
              <a:t>・ 今回の分割では AD 外の平均誤差が AD 内より大きい</a:t>
            </a:r>
          </a:p>
          <a:p>
            <a:pPr>
              <a:spcAft>
                <a:spcPts val="800"/>
              </a:spcAft>
              <a:defRPr sz="2050"/>
            </a:pPr>
            <a:r>
              <a:rPr sz="2400" b="0">
                <a:solidFill>
                  <a:srgbClr val="000000"/>
                </a:solidFill>
                <a:latin typeface="Times New Roman"/>
                <a:ea typeface="Meiryo"/>
                <a:cs typeface="Times New Roman"/>
              </a:rPr>
              <a:t>・ outside は 4 件だけなので、統計的に強い結論ではなく</a:t>
            </a:r>
            <a:endParaRPr lang="en-US" sz="2400" b="0">
              <a:solidFill>
                <a:srgbClr val="000000"/>
              </a:solidFill>
              <a:latin typeface="Times New Roman"/>
              <a:ea typeface="Meiryo"/>
              <a:cs typeface="Times New Roman"/>
            </a:endParaRPr>
          </a:p>
          <a:p>
            <a:pPr>
              <a:spcAft>
                <a:spcPts val="800"/>
              </a:spcAft>
              <a:defRPr sz="2050"/>
            </a:pPr>
            <a:r>
              <a:rPr sz="2400" b="0">
                <a:solidFill>
                  <a:srgbClr val="000000"/>
                </a:solidFill>
                <a:latin typeface="Times New Roman"/>
                <a:ea typeface="Meiryo"/>
                <a:cs typeface="Times New Roman"/>
              </a:rPr>
              <a:t>可視化による確認として扱う</a:t>
            </a:r>
          </a:p>
          <a:p>
            <a:pPr>
              <a:spcAft>
                <a:spcPts val="800"/>
              </a:spcAft>
              <a:defRPr sz="2050"/>
            </a:pPr>
            <a:r>
              <a:rPr sz="2400" b="0">
                <a:solidFill>
                  <a:srgbClr val="000000"/>
                </a:solidFill>
                <a:latin typeface="Times New Roman"/>
                <a:ea typeface="Meiryo"/>
                <a:cs typeface="Times New Roman"/>
              </a:rPr>
              <a:t>・ AD 判定は、予測値を採用するか追加検証するかの判断材料になる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AD 外サンプルの確認</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graphicFrame>
        <p:nvGraphicFramePr>
          <p:cNvPr id="4" name="Table 3"/>
          <p:cNvGraphicFramePr>
            <a:graphicFrameLocks noGrp="1"/>
          </p:cNvGraphicFramePr>
          <p:nvPr>
            <p:extLst>
              <p:ext uri="{D42A27DB-BD31-4B8C-83A1-F6EECF244321}">
                <p14:modId xmlns:p14="http://schemas.microsoft.com/office/powerpoint/2010/main" val="2953475184"/>
              </p:ext>
            </p:extLst>
          </p:nvPr>
        </p:nvGraphicFramePr>
        <p:xfrm>
          <a:off x="411480" y="1110996"/>
          <a:ext cx="8321040" cy="224028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706880">
                  <a:extLst>
                    <a:ext uri="{9D8B030D-6E8A-4147-A177-3AD203B41FA5}">
                      <a16:colId xmlns:a16="http://schemas.microsoft.com/office/drawing/2014/main" val="20003"/>
                    </a:ext>
                  </a:extLst>
                </a:gridCol>
                <a:gridCol w="1706880">
                  <a:extLst>
                    <a:ext uri="{9D8B030D-6E8A-4147-A177-3AD203B41FA5}">
                      <a16:colId xmlns:a16="http://schemas.microsoft.com/office/drawing/2014/main" val="20004"/>
                    </a:ext>
                  </a:extLst>
                </a:gridCol>
              </a:tblGrid>
              <a:tr h="448056">
                <a:tc>
                  <a:txBody>
                    <a:bodyPr/>
                    <a:lstStyle/>
                    <a:p>
                      <a:pPr algn="ctr">
                        <a:defRPr sz="1630"/>
                      </a:pPr>
                      <a:r>
                        <a:rPr sz="2000" b="1">
                          <a:solidFill>
                            <a:srgbClr val="000000"/>
                          </a:solidFill>
                          <a:latin typeface="Times New Roman"/>
                          <a:ea typeface="Meiryo"/>
                          <a:cs typeface="Times New Roman"/>
                        </a:rPr>
                        <a:t>sample</a:t>
                      </a:r>
                    </a:p>
                  </a:txBody>
                  <a:tcPr marL="54864" marR="54864" marT="27432" marB="27432" anchor="ctr">
                    <a:solidFill>
                      <a:srgbClr val="D9D9D9"/>
                    </a:solidFill>
                  </a:tcPr>
                </a:tc>
                <a:tc>
                  <a:txBody>
                    <a:bodyPr/>
                    <a:lstStyle/>
                    <a:p>
                      <a:pPr algn="ctr">
                        <a:defRPr sz="1630"/>
                      </a:pPr>
                      <a:r>
                        <a:rPr sz="2000" b="1">
                          <a:solidFill>
                            <a:srgbClr val="000000"/>
                          </a:solidFill>
                          <a:latin typeface="Times New Roman"/>
                          <a:ea typeface="Meiryo"/>
                          <a:cs typeface="Times New Roman"/>
                        </a:rPr>
                        <a:t>actual</a:t>
                      </a:r>
                    </a:p>
                  </a:txBody>
                  <a:tcPr marL="54864" marR="54864" marT="27432" marB="27432" anchor="ctr">
                    <a:solidFill>
                      <a:srgbClr val="D9D9D9"/>
                    </a:solidFill>
                  </a:tcPr>
                </a:tc>
                <a:tc>
                  <a:txBody>
                    <a:bodyPr/>
                    <a:lstStyle/>
                    <a:p>
                      <a:pPr algn="ctr">
                        <a:defRPr sz="1630"/>
                      </a:pPr>
                      <a:r>
                        <a:rPr sz="2000" b="1">
                          <a:solidFill>
                            <a:srgbClr val="000000"/>
                          </a:solidFill>
                          <a:latin typeface="Times New Roman"/>
                          <a:ea typeface="Meiryo"/>
                          <a:cs typeface="Times New Roman"/>
                        </a:rPr>
                        <a:t>pred</a:t>
                      </a:r>
                    </a:p>
                  </a:txBody>
                  <a:tcPr marL="54864" marR="54864" marT="27432" marB="27432" anchor="ctr">
                    <a:solidFill>
                      <a:srgbClr val="D9D9D9"/>
                    </a:solidFill>
                  </a:tcPr>
                </a:tc>
                <a:tc>
                  <a:txBody>
                    <a:bodyPr/>
                    <a:lstStyle/>
                    <a:p>
                      <a:pPr algn="ctr">
                        <a:defRPr sz="1630"/>
                      </a:pPr>
                      <a:r>
                        <a:rPr sz="2000" b="1">
                          <a:solidFill>
                            <a:srgbClr val="000000"/>
                          </a:solidFill>
                          <a:latin typeface="Times New Roman"/>
                          <a:ea typeface="Meiryo"/>
                          <a:cs typeface="Times New Roman"/>
                        </a:rPr>
                        <a:t>abs_error</a:t>
                      </a:r>
                    </a:p>
                  </a:txBody>
                  <a:tcPr marL="54864" marR="54864" marT="27432" marB="27432" anchor="ctr">
                    <a:solidFill>
                      <a:srgbClr val="D9D9D9"/>
                    </a:solidFill>
                  </a:tcPr>
                </a:tc>
                <a:tc>
                  <a:txBody>
                    <a:bodyPr/>
                    <a:lstStyle/>
                    <a:p>
                      <a:pPr algn="ctr">
                        <a:defRPr sz="1630"/>
                      </a:pPr>
                      <a:r>
                        <a:rPr sz="2000" b="1">
                          <a:solidFill>
                            <a:srgbClr val="000000"/>
                          </a:solidFill>
                          <a:latin typeface="Times New Roman"/>
                          <a:ea typeface="Meiryo"/>
                          <a:cs typeface="Times New Roman"/>
                        </a:rPr>
                        <a:t>distance</a:t>
                      </a:r>
                    </a:p>
                  </a:txBody>
                  <a:tcPr marL="54864" marR="54864" marT="27432" marB="27432" anchor="ctr">
                    <a:solidFill>
                      <a:srgbClr val="D9D9D9"/>
                    </a:solidFill>
                  </a:tcPr>
                </a:tc>
                <a:extLst>
                  <a:ext uri="{0D108BD9-81ED-4DB2-BD59-A6C34878D82A}">
                    <a16:rowId xmlns:a16="http://schemas.microsoft.com/office/drawing/2014/main" val="10000"/>
                  </a:ext>
                </a:extLst>
              </a:tr>
              <a:tr h="448056">
                <a:tc>
                  <a:txBody>
                    <a:bodyPr/>
                    <a:lstStyle/>
                    <a:p>
                      <a:pPr algn="ctr">
                        <a:defRPr sz="1630"/>
                      </a:pPr>
                      <a:r>
                        <a:rPr sz="2000" b="0">
                          <a:solidFill>
                            <a:srgbClr val="000000"/>
                          </a:solidFill>
                          <a:latin typeface="Times New Roman"/>
                          <a:ea typeface="Meiryo"/>
                          <a:cs typeface="Times New Roman"/>
                        </a:rPr>
                        <a:t>sample_419</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8.8</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6.575</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2.225</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4.468</a:t>
                      </a:r>
                    </a:p>
                  </a:txBody>
                  <a:tcPr marL="54864" marR="54864" marT="27432" marB="27432" anchor="ctr">
                    <a:solidFill>
                      <a:srgbClr val="FFFFFF"/>
                    </a:solidFill>
                  </a:tcPr>
                </a:tc>
                <a:extLst>
                  <a:ext uri="{0D108BD9-81ED-4DB2-BD59-A6C34878D82A}">
                    <a16:rowId xmlns:a16="http://schemas.microsoft.com/office/drawing/2014/main" val="10001"/>
                  </a:ext>
                </a:extLst>
              </a:tr>
              <a:tr h="448056">
                <a:tc>
                  <a:txBody>
                    <a:bodyPr/>
                    <a:lstStyle/>
                    <a:p>
                      <a:pPr algn="ctr">
                        <a:defRPr sz="1630"/>
                      </a:pPr>
                      <a:r>
                        <a:rPr sz="2000" b="0">
                          <a:solidFill>
                            <a:srgbClr val="000000"/>
                          </a:solidFill>
                          <a:latin typeface="Times New Roman"/>
                          <a:ea typeface="Meiryo"/>
                          <a:cs typeface="Times New Roman"/>
                        </a:rPr>
                        <a:t>sample_415</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7.0</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7.372</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0.372</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3.924</a:t>
                      </a:r>
                    </a:p>
                  </a:txBody>
                  <a:tcPr marL="54864" marR="54864" marT="27432" marB="27432" anchor="ctr">
                    <a:solidFill>
                      <a:srgbClr val="FFFFFF"/>
                    </a:solidFill>
                  </a:tcPr>
                </a:tc>
                <a:extLst>
                  <a:ext uri="{0D108BD9-81ED-4DB2-BD59-A6C34878D82A}">
                    <a16:rowId xmlns:a16="http://schemas.microsoft.com/office/drawing/2014/main" val="10002"/>
                  </a:ext>
                </a:extLst>
              </a:tr>
              <a:tr h="448056">
                <a:tc>
                  <a:txBody>
                    <a:bodyPr/>
                    <a:lstStyle/>
                    <a:p>
                      <a:pPr algn="ctr">
                        <a:defRPr sz="1630"/>
                      </a:pPr>
                      <a:r>
                        <a:rPr sz="2000" b="0">
                          <a:solidFill>
                            <a:srgbClr val="000000"/>
                          </a:solidFill>
                          <a:latin typeface="Times New Roman"/>
                          <a:ea typeface="Meiryo"/>
                          <a:cs typeface="Times New Roman"/>
                        </a:rPr>
                        <a:t>sample_366</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27.5</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23.467</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4.033</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2.767</a:t>
                      </a:r>
                    </a:p>
                  </a:txBody>
                  <a:tcPr marL="54864" marR="54864" marT="27432" marB="27432" anchor="ctr">
                    <a:solidFill>
                      <a:srgbClr val="FFFFFF"/>
                    </a:solidFill>
                  </a:tcPr>
                </a:tc>
                <a:extLst>
                  <a:ext uri="{0D108BD9-81ED-4DB2-BD59-A6C34878D82A}">
                    <a16:rowId xmlns:a16="http://schemas.microsoft.com/office/drawing/2014/main" val="10003"/>
                  </a:ext>
                </a:extLst>
              </a:tr>
              <a:tr h="448056">
                <a:tc>
                  <a:txBody>
                    <a:bodyPr/>
                    <a:lstStyle/>
                    <a:p>
                      <a:pPr algn="ctr">
                        <a:defRPr sz="1630"/>
                      </a:pPr>
                      <a:r>
                        <a:rPr sz="2000" b="0">
                          <a:solidFill>
                            <a:srgbClr val="000000"/>
                          </a:solidFill>
                          <a:latin typeface="Times New Roman"/>
                          <a:ea typeface="Meiryo"/>
                          <a:cs typeface="Times New Roman"/>
                        </a:rPr>
                        <a:t>sample_413</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17.9</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10.027</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7.873</a:t>
                      </a:r>
                    </a:p>
                  </a:txBody>
                  <a:tcPr marL="54864" marR="54864" marT="27432" marB="27432" anchor="ctr">
                    <a:solidFill>
                      <a:srgbClr val="FFFFFF"/>
                    </a:solidFill>
                  </a:tcPr>
                </a:tc>
                <a:tc>
                  <a:txBody>
                    <a:bodyPr/>
                    <a:lstStyle/>
                    <a:p>
                      <a:pPr algn="ctr">
                        <a:defRPr sz="1630"/>
                      </a:pPr>
                      <a:r>
                        <a:rPr sz="2000" b="0">
                          <a:solidFill>
                            <a:srgbClr val="000000"/>
                          </a:solidFill>
                          <a:latin typeface="Times New Roman"/>
                          <a:ea typeface="Meiryo"/>
                          <a:cs typeface="Times New Roman"/>
                        </a:rPr>
                        <a:t>2.757</a:t>
                      </a:r>
                    </a:p>
                  </a:txBody>
                  <a:tcPr marL="54864" marR="54864"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11480" y="3806190"/>
            <a:ext cx="8321040" cy="2297430"/>
          </a:xfrm>
          <a:prstGeom prst="rect">
            <a:avLst/>
          </a:prstGeom>
          <a:noFill/>
        </p:spPr>
        <p:txBody>
          <a:bodyPr wrap="square" lIns="36576" tIns="18288" rIns="36576" bIns="18288">
            <a:normAutofit/>
          </a:bodyPr>
          <a:lstStyle/>
          <a:p>
            <a:pPr>
              <a:spcAft>
                <a:spcPts val="800"/>
              </a:spcAft>
              <a:defRPr sz="1720"/>
            </a:pPr>
            <a:r>
              <a:rPr sz="2400" b="0">
                <a:solidFill>
                  <a:srgbClr val="000000"/>
                </a:solidFill>
                <a:latin typeface="Times New Roman"/>
                <a:ea typeface="Meiryo"/>
                <a:cs typeface="Times New Roman"/>
              </a:rPr>
              <a:t>・ 距離が大きい順に並べると、どのテスト点が学習データから離れているか分かる</a:t>
            </a:r>
          </a:p>
          <a:p>
            <a:pPr>
              <a:spcAft>
                <a:spcPts val="800"/>
              </a:spcAft>
              <a:defRPr sz="1720"/>
            </a:pPr>
            <a:r>
              <a:rPr sz="2400" b="0">
                <a:solidFill>
                  <a:srgbClr val="000000"/>
                </a:solidFill>
                <a:latin typeface="Times New Roman"/>
                <a:ea typeface="Meiryo"/>
                <a:cs typeface="Times New Roman"/>
              </a:rPr>
              <a:t>・ sample_413 は AD 外かつ誤差も大きいので、予測信頼性に注意する例として説明しやすい</a:t>
            </a:r>
          </a:p>
          <a:p>
            <a:pPr>
              <a:spcAft>
                <a:spcPts val="800"/>
              </a:spcAft>
              <a:defRPr sz="1720"/>
            </a:pPr>
            <a:r>
              <a:rPr sz="2400" b="0">
                <a:solidFill>
                  <a:srgbClr val="000000"/>
                </a:solidFill>
                <a:latin typeface="Times New Roman"/>
                <a:ea typeface="Meiryo"/>
                <a:cs typeface="Times New Roman"/>
              </a:rPr>
              <a:t>・ sample_415 のように AD 外でも誤差が小さい点はある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2次元で見た直感（PCA）</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pic>
        <p:nvPicPr>
          <p:cNvPr id="4" name="Picture 3" descr="pca_ad_view.png"/>
          <p:cNvPicPr>
            <a:picLocks noChangeAspect="1"/>
          </p:cNvPicPr>
          <p:nvPr/>
        </p:nvPicPr>
        <p:blipFill>
          <a:blip r:embed="rId3"/>
          <a:stretch>
            <a:fillRect/>
          </a:stretch>
        </p:blipFill>
        <p:spPr>
          <a:xfrm>
            <a:off x="140677" y="1663065"/>
            <a:ext cx="5486400" cy="3531870"/>
          </a:xfrm>
          <a:prstGeom prst="rect">
            <a:avLst/>
          </a:prstGeom>
        </p:spPr>
      </p:pic>
      <p:sp>
        <p:nvSpPr>
          <p:cNvPr id="5" name="TextBox 4"/>
          <p:cNvSpPr txBox="1"/>
          <p:nvPr/>
        </p:nvSpPr>
        <p:spPr>
          <a:xfrm>
            <a:off x="5723792" y="1544281"/>
            <a:ext cx="3420208" cy="3769438"/>
          </a:xfrm>
          <a:prstGeom prst="rect">
            <a:avLst/>
          </a:prstGeom>
          <a:noFill/>
        </p:spPr>
        <p:txBody>
          <a:bodyPr wrap="square" lIns="36576" tIns="18288" rIns="36576" bIns="18288">
            <a:noAutofit/>
          </a:bodyPr>
          <a:lstStyle/>
          <a:p>
            <a:pPr>
              <a:defRPr sz="2000"/>
            </a:pPr>
            <a:r>
              <a:rPr sz="2400" b="0">
                <a:solidFill>
                  <a:srgbClr val="000000"/>
                </a:solidFill>
                <a:latin typeface="Times New Roman"/>
                <a:ea typeface="Meiryo"/>
                <a:cs typeface="Times New Roman"/>
              </a:rPr>
              <a:t>・ 直感把握のため、</a:t>
            </a:r>
            <a:endParaRPr lang="en-US" sz="2400" b="0">
              <a:solidFill>
                <a:srgbClr val="000000"/>
              </a:solidFill>
              <a:latin typeface="Times New Roman"/>
              <a:ea typeface="Meiryo"/>
              <a:cs typeface="Times New Roman"/>
            </a:endParaRPr>
          </a:p>
          <a:p>
            <a:pPr>
              <a:defRPr sz="2000"/>
            </a:pPr>
            <a:r>
              <a:rPr sz="2400" b="0">
                <a:solidFill>
                  <a:srgbClr val="000000"/>
                </a:solidFill>
                <a:latin typeface="Times New Roman"/>
                <a:ea typeface="Meiryo"/>
                <a:cs typeface="Times New Roman"/>
              </a:rPr>
              <a:t>13 次元の標準化空間</a:t>
            </a:r>
            <a:endParaRPr lang="en-US" sz="2400" b="0">
              <a:solidFill>
                <a:srgbClr val="000000"/>
              </a:solidFill>
              <a:latin typeface="Times New Roman"/>
              <a:ea typeface="Meiryo"/>
              <a:cs typeface="Times New Roman"/>
            </a:endParaRPr>
          </a:p>
          <a:p>
            <a:pPr>
              <a:defRPr sz="2000"/>
            </a:pPr>
            <a:r>
              <a:rPr sz="2400" b="0">
                <a:solidFill>
                  <a:srgbClr val="000000"/>
                </a:solidFill>
                <a:latin typeface="Times New Roman"/>
                <a:ea typeface="Meiryo"/>
                <a:cs typeface="Times New Roman"/>
              </a:rPr>
              <a:t>を PCA で 2 次元に圧縮</a:t>
            </a:r>
          </a:p>
          <a:p>
            <a:pPr>
              <a:defRPr sz="2000"/>
            </a:pPr>
            <a:r>
              <a:rPr sz="2400" b="0">
                <a:solidFill>
                  <a:srgbClr val="000000"/>
                </a:solidFill>
                <a:latin typeface="Times New Roman"/>
                <a:ea typeface="Meiryo"/>
                <a:cs typeface="Times New Roman"/>
              </a:rPr>
              <a:t>・ AD 判定そのものは、PCA 後ではなく13 次元の距離で行っている</a:t>
            </a:r>
          </a:p>
          <a:p>
            <a:pPr>
              <a:defRPr sz="2000"/>
            </a:pPr>
            <a:r>
              <a:rPr sz="2400" b="0">
                <a:solidFill>
                  <a:srgbClr val="000000"/>
                </a:solidFill>
                <a:latin typeface="Times New Roman"/>
                <a:ea typeface="Meiryo"/>
                <a:cs typeface="Times New Roman"/>
              </a:rPr>
              <a:t>・ 2 次元図は直感を</a:t>
            </a:r>
            <a:endParaRPr lang="en-US" sz="2400" b="0">
              <a:solidFill>
                <a:srgbClr val="000000"/>
              </a:solidFill>
              <a:latin typeface="Times New Roman"/>
              <a:ea typeface="Meiryo"/>
              <a:cs typeface="Times New Roman"/>
            </a:endParaRPr>
          </a:p>
          <a:p>
            <a:pPr>
              <a:defRPr sz="2000"/>
            </a:pPr>
            <a:r>
              <a:rPr sz="2400" b="0">
                <a:solidFill>
                  <a:srgbClr val="000000"/>
                </a:solidFill>
                <a:latin typeface="Times New Roman"/>
                <a:ea typeface="Meiryo"/>
                <a:cs typeface="Times New Roman"/>
              </a:rPr>
              <a:t>助けるが、距離関係が完全に保存されるわけではない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AD を使うときの限界</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548640" y="1200150"/>
            <a:ext cx="7955280" cy="1954529"/>
          </a:xfrm>
          <a:prstGeom prst="rect">
            <a:avLst/>
          </a:prstGeom>
          <a:noFill/>
        </p:spPr>
        <p:txBody>
          <a:bodyPr wrap="square" lIns="36576" tIns="18288" rIns="36576" bIns="18288">
            <a:normAutofit/>
          </a:bodyPr>
          <a:lstStyle/>
          <a:p>
            <a:pPr>
              <a:spcAft>
                <a:spcPts val="800"/>
              </a:spcAft>
              <a:defRPr sz="2350"/>
            </a:pPr>
            <a:r>
              <a:rPr sz="2400" b="0">
                <a:solidFill>
                  <a:srgbClr val="000000"/>
                </a:solidFill>
                <a:latin typeface="Times New Roman"/>
                <a:ea typeface="Meiryo"/>
                <a:cs typeface="Times New Roman"/>
              </a:rPr>
              <a:t>・ AD 内でも予測が外れることはある</a:t>
            </a:r>
          </a:p>
          <a:p>
            <a:pPr>
              <a:spcAft>
                <a:spcPts val="800"/>
              </a:spcAft>
              <a:defRPr sz="2350"/>
            </a:pPr>
            <a:r>
              <a:rPr sz="2400" b="0">
                <a:solidFill>
                  <a:srgbClr val="000000"/>
                </a:solidFill>
                <a:latin typeface="Times New Roman"/>
                <a:ea typeface="Meiryo"/>
                <a:cs typeface="Times New Roman"/>
              </a:rPr>
              <a:t>・ AD 外でも偶然当たることはある</a:t>
            </a:r>
          </a:p>
          <a:p>
            <a:pPr>
              <a:spcAft>
                <a:spcPts val="800"/>
              </a:spcAft>
              <a:defRPr sz="2350"/>
            </a:pPr>
            <a:r>
              <a:rPr sz="2400" b="0">
                <a:solidFill>
                  <a:srgbClr val="000000"/>
                </a:solidFill>
                <a:latin typeface="Times New Roman"/>
                <a:ea typeface="Meiryo"/>
                <a:cs typeface="Times New Roman"/>
              </a:rPr>
              <a:t>・ 距離・k・percentile の選び方に依存する</a:t>
            </a:r>
          </a:p>
          <a:p>
            <a:pPr>
              <a:spcAft>
                <a:spcPts val="800"/>
              </a:spcAft>
              <a:defRPr sz="2350"/>
            </a:pPr>
            <a:r>
              <a:rPr sz="2400" b="0">
                <a:solidFill>
                  <a:srgbClr val="000000"/>
                </a:solidFill>
                <a:latin typeface="Times New Roman"/>
                <a:ea typeface="Meiryo"/>
                <a:cs typeface="Times New Roman"/>
              </a:rPr>
              <a:t>・ 特徴量設計が悪いと AD も悪くなる</a:t>
            </a:r>
          </a:p>
        </p:txBody>
      </p:sp>
      <p:sp>
        <p:nvSpPr>
          <p:cNvPr id="5" name="Rectangle 4"/>
          <p:cNvSpPr/>
          <p:nvPr/>
        </p:nvSpPr>
        <p:spPr>
          <a:xfrm>
            <a:off x="548640" y="3669030"/>
            <a:ext cx="8046720" cy="2237994"/>
          </a:xfrm>
          <a:prstGeom prst="rect">
            <a:avLst/>
          </a:prstGeom>
          <a:solidFill>
            <a:srgbClr val="FFFFFF"/>
          </a:solidFill>
          <a:ln>
            <a:solidFill>
              <a:srgbClr val="96969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a:bodyPr>
          <a:lstStyle/>
          <a:p>
            <a:pPr algn="ctr">
              <a:defRPr/>
            </a:pPr>
            <a:endParaRPr/>
          </a:p>
        </p:txBody>
      </p:sp>
      <p:sp>
        <p:nvSpPr>
          <p:cNvPr id="6" name="TextBox 5"/>
          <p:cNvSpPr txBox="1"/>
          <p:nvPr/>
        </p:nvSpPr>
        <p:spPr>
          <a:xfrm>
            <a:off x="621792" y="3736731"/>
            <a:ext cx="7863840" cy="2039816"/>
          </a:xfrm>
          <a:prstGeom prst="rect">
            <a:avLst/>
          </a:prstGeom>
          <a:noFill/>
        </p:spPr>
        <p:txBody>
          <a:bodyPr wrap="square" lIns="36576" tIns="18288" rIns="36576" bIns="18288">
            <a:noAutofit/>
          </a:bodyPr>
          <a:lstStyle/>
          <a:p>
            <a:pPr>
              <a:spcAft>
                <a:spcPts val="800"/>
              </a:spcAft>
              <a:defRPr sz="2200"/>
            </a:pPr>
            <a:r>
              <a:rPr sz="2400" b="1">
                <a:solidFill>
                  <a:srgbClr val="000000"/>
                </a:solidFill>
                <a:latin typeface="Times New Roman"/>
                <a:ea typeface="Meiryo"/>
                <a:cs typeface="Times New Roman"/>
              </a:rPr>
              <a:t>それでも AD が有用な理由</a:t>
            </a:r>
          </a:p>
          <a:p>
            <a:pPr>
              <a:spcAft>
                <a:spcPts val="800"/>
              </a:spcAft>
              <a:defRPr sz="2200"/>
            </a:pPr>
            <a:r>
              <a:rPr sz="2400" b="0">
                <a:solidFill>
                  <a:srgbClr val="000000"/>
                </a:solidFill>
                <a:latin typeface="Times New Roman"/>
                <a:ea typeface="Meiryo"/>
                <a:cs typeface="Times New Roman"/>
              </a:rPr>
              <a:t>予測値だけを出すより、「この予測は学習データに近い入力か？」を同時に示せる</a:t>
            </a:r>
          </a:p>
          <a:p>
            <a:pPr>
              <a:spcAft>
                <a:spcPts val="800"/>
              </a:spcAft>
              <a:defRPr sz="2200"/>
            </a:pPr>
            <a:r>
              <a:rPr sz="2400" b="0">
                <a:solidFill>
                  <a:srgbClr val="000000"/>
                </a:solidFill>
                <a:latin typeface="Times New Roman"/>
                <a:ea typeface="Meiryo"/>
                <a:cs typeface="Times New Roman"/>
              </a:rPr>
              <a:t>実験コストが高い材料探索では、追加検証すべき候補を選ぶ補助線になる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11480" y="320040"/>
            <a:ext cx="8321040" cy="566928"/>
          </a:xfrm>
          <a:prstGeom prst="rect">
            <a:avLst/>
          </a:prstGeom>
          <a:noFill/>
        </p:spPr>
        <p:txBody>
          <a:bodyPr wrap="square" lIns="36576" tIns="18288" rIns="36576" bIns="18288" anchor="t">
            <a:normAutofit/>
          </a:bodyPr>
          <a:lstStyle/>
          <a:p>
            <a:pPr algn="l">
              <a:spcAft>
                <a:spcPts val="600"/>
              </a:spcAft>
              <a:defRPr sz="3400"/>
            </a:pPr>
            <a:r>
              <a:rPr sz="3400" b="1">
                <a:solidFill>
                  <a:srgbClr val="000000"/>
                </a:solidFill>
                <a:latin typeface="Times New Roman"/>
                <a:ea typeface="Meiryo"/>
                <a:cs typeface="Times New Roman"/>
              </a:rPr>
              <a:t>まとめ</a:t>
            </a:r>
          </a:p>
        </p:txBody>
      </p:sp>
      <p:sp>
        <p:nvSpPr>
          <p:cNvPr id="3" name="Rectangle 2"/>
          <p:cNvSpPr/>
          <p:nvPr/>
        </p:nvSpPr>
        <p:spPr>
          <a:xfrm>
            <a:off x="411480" y="950976"/>
            <a:ext cx="8321040" cy="18288"/>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normAutofit fontScale="25000" lnSpcReduction="20000"/>
          </a:bodyPr>
          <a:lstStyle/>
          <a:p>
            <a:pPr algn="ctr">
              <a:defRPr/>
            </a:pPr>
            <a:endParaRPr/>
          </a:p>
        </p:txBody>
      </p:sp>
      <p:sp>
        <p:nvSpPr>
          <p:cNvPr id="4" name="TextBox 3"/>
          <p:cNvSpPr txBox="1"/>
          <p:nvPr/>
        </p:nvSpPr>
        <p:spPr>
          <a:xfrm>
            <a:off x="411480" y="1218438"/>
            <a:ext cx="8321040" cy="2420874"/>
          </a:xfrm>
          <a:prstGeom prst="rect">
            <a:avLst/>
          </a:prstGeom>
          <a:noFill/>
        </p:spPr>
        <p:txBody>
          <a:bodyPr wrap="square" lIns="36576" tIns="18288" rIns="36576" bIns="18288">
            <a:normAutofit/>
          </a:bodyPr>
          <a:lstStyle/>
          <a:p>
            <a:pPr>
              <a:spcAft>
                <a:spcPts val="800"/>
              </a:spcAft>
              <a:defRPr sz="2300"/>
            </a:pPr>
            <a:r>
              <a:rPr sz="2400" b="0">
                <a:solidFill>
                  <a:srgbClr val="000000"/>
                </a:solidFill>
                <a:latin typeface="Times New Roman"/>
                <a:ea typeface="Meiryo"/>
                <a:cs typeface="Times New Roman"/>
              </a:rPr>
              <a:t>・ AD は、モデルが相対的に信頼しやすい入力範囲を表す</a:t>
            </a:r>
          </a:p>
          <a:p>
            <a:pPr>
              <a:spcAft>
                <a:spcPts val="800"/>
              </a:spcAft>
              <a:defRPr sz="2300"/>
            </a:pPr>
            <a:r>
              <a:rPr sz="2400" b="0">
                <a:solidFill>
                  <a:srgbClr val="000000"/>
                </a:solidFill>
                <a:latin typeface="Times New Roman"/>
                <a:ea typeface="Meiryo"/>
                <a:cs typeface="Times New Roman"/>
              </a:rPr>
              <a:t>・ 今回は標準化した説明変数空間で kNN 平均距離を使った</a:t>
            </a:r>
          </a:p>
          <a:p>
            <a:pPr>
              <a:spcAft>
                <a:spcPts val="800"/>
              </a:spcAft>
              <a:defRPr sz="2300"/>
            </a:pPr>
            <a:r>
              <a:rPr sz="2400" b="0">
                <a:solidFill>
                  <a:srgbClr val="000000"/>
                </a:solidFill>
                <a:latin typeface="Times New Roman"/>
                <a:ea typeface="Meiryo"/>
                <a:cs typeface="Times New Roman"/>
              </a:rPr>
              <a:t>・ train の距離分布から 95 パーセンタイルをしきい値にした</a:t>
            </a:r>
          </a:p>
          <a:p>
            <a:pPr>
              <a:spcAft>
                <a:spcPts val="800"/>
              </a:spcAft>
              <a:defRPr sz="2300"/>
            </a:pPr>
            <a:r>
              <a:rPr sz="2400" b="0">
                <a:solidFill>
                  <a:srgbClr val="000000"/>
                </a:solidFill>
                <a:latin typeface="Times New Roman"/>
                <a:ea typeface="Meiryo"/>
                <a:cs typeface="Times New Roman"/>
              </a:rPr>
              <a:t>・ test では 123 件が AD 内、4 件が AD 外になった</a:t>
            </a:r>
          </a:p>
          <a:p>
            <a:pPr>
              <a:spcAft>
                <a:spcPts val="800"/>
              </a:spcAft>
              <a:defRPr sz="2300"/>
            </a:pPr>
            <a:r>
              <a:rPr sz="2400" b="0">
                <a:solidFill>
                  <a:srgbClr val="000000"/>
                </a:solidFill>
                <a:latin typeface="Times New Roman"/>
                <a:ea typeface="Meiryo"/>
                <a:cs typeface="Times New Roman"/>
              </a:rPr>
              <a:t>・ AD 外は「予測値を疑って確認する候補」として扱う</a:t>
            </a:r>
          </a:p>
        </p:txBody>
      </p:sp>
      <p:sp>
        <p:nvSpPr>
          <p:cNvPr id="5" name="TextBox 4"/>
          <p:cNvSpPr txBox="1"/>
          <p:nvPr/>
        </p:nvSpPr>
        <p:spPr>
          <a:xfrm>
            <a:off x="411480" y="5118354"/>
            <a:ext cx="8521505" cy="788670"/>
          </a:xfrm>
          <a:prstGeom prst="rect">
            <a:avLst/>
          </a:prstGeom>
          <a:noFill/>
        </p:spPr>
        <p:txBody>
          <a:bodyPr wrap="square" lIns="36576" tIns="18288" rIns="36576" bIns="18288" anchor="t">
            <a:normAutofit/>
          </a:bodyPr>
          <a:lstStyle/>
          <a:p>
            <a:pPr algn="l">
              <a:spcAft>
                <a:spcPts val="600"/>
              </a:spcAft>
              <a:defRPr sz="2150"/>
            </a:pPr>
            <a:r>
              <a:rPr sz="2400" b="0">
                <a:solidFill>
                  <a:srgbClr val="000000"/>
                </a:solidFill>
                <a:latin typeface="Times New Roman"/>
                <a:ea typeface="Meiryo"/>
                <a:cs typeface="Times New Roman"/>
              </a:rPr>
              <a:t>AD = 「予測値」だけでなく「その予測を使ってよい範囲か」を一緒に見る考え方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TotalTime>
  <Words>4212</Words>
  <Application>Microsoft Macintosh PowerPoint</Application>
  <PresentationFormat>画面に合わせる (4:3)</PresentationFormat>
  <Paragraphs>422</Paragraphs>
  <Slides>28</Slides>
  <Notes>28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28</vt:i4>
      </vt:variant>
    </vt:vector>
  </HeadingPairs>
  <TitlesOfParts>
    <vt:vector size="33" baseType="lpstr">
      <vt:lpstr>游ゴシック</vt:lpstr>
      <vt:lpstr>Arial</vt:lpstr>
      <vt:lpstr>Calibri</vt:lpstr>
      <vt:lpstr>Times New Roman</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Fukumoto Riku</cp:lastModifiedBy>
  <cp:revision>16</cp:revision>
  <dcterms:created xsi:type="dcterms:W3CDTF">2013-01-27T09:14:16Z</dcterms:created>
  <dcterms:modified xsi:type="dcterms:W3CDTF">2026-07-07T07:50:19Z</dcterms:modified>
  <cp:category/>
</cp:coreProperties>
</file>