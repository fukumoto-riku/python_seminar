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8" r:id="rId6"/>
    <p:sldId id="269" r:id="rId7"/>
    <p:sldId id="270" r:id="rId8"/>
    <p:sldId id="271" r:id="rId9"/>
    <p:sldId id="272" r:id="rId10"/>
    <p:sldId id="273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22"/>
    <p:restoredTop sz="94680"/>
  </p:normalViewPr>
  <p:slideViewPr>
    <p:cSldViewPr snapToGrid="0" snapToObjects="1">
      <p:cViewPr varScale="1">
        <p:scale>
          <a:sx n="145" d="100"/>
          <a:sy n="145" d="100"/>
        </p:scale>
        <p:origin x="189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1"/>
          </p:nvPr>
        </p:nvSpPr>
        <p:spPr>
          <a:xfrm>
            <a:off x="685800" y="685800"/>
            <a:ext cx="5486400" cy="4114800"/>
          </a:xfrm>
          <a:prstGeom prst="rect">
            <a:avLst/>
          </a:prstGeom>
        </p:spPr>
      </p:sp>
      <p:sp>
        <p:nvSpPr>
          <p:cNvPr id="3" name="Notes Placeholder"/>
          <p:cNvSpPr>
            <a:spLocks noGrp="1"/>
          </p:cNvSpPr>
          <p:nvPr>
            <p:ph type="body" idx="2"/>
          </p:nvPr>
        </p:nvSpPr>
        <p:spPr>
          <a:xfrm>
            <a:off x="685800" y="5334000"/>
            <a:ext cx="5486400" cy="3048000"/>
          </a:xfrm>
          <a:prstGeom prst="rect">
            <a:avLst/>
          </a:prstGeom>
        </p:spPr>
        <p:txBody>
          <a:bodyPr/>
          <a:lstStyle/>
          <a:p>
            <a:endParaRPr lang="ja-JP" sz="1200"/>
          </a:p>
        </p:txBody>
      </p:sp>
      <p:sp>
        <p:nvSpPr>
          <p:cNvPr id="4" name="Header Placeholder"/>
          <p:cNvSpPr>
            <a:spLocks noGrp="1"/>
          </p:cNvSpPr>
          <p:nvPr>
            <p:ph type="hdr" sz="quarter" idx="3"/>
          </p:nvPr>
        </p:nvSpPr>
        <p:spPr>
          <a:xfrm>
            <a:off x="685800" y="274638"/>
            <a:ext cx="297180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Date Placeholder"/>
          <p:cNvSpPr>
            <a:spLocks noGrp="1"/>
          </p:cNvSpPr>
          <p:nvPr>
            <p:ph type="dt" sz="quarter" idx="4"/>
          </p:nvPr>
        </p:nvSpPr>
        <p:spPr>
          <a:xfrm>
            <a:off x="3886200" y="274638"/>
            <a:ext cx="228600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5"/>
          </p:nvPr>
        </p:nvSpPr>
        <p:spPr>
          <a:xfrm>
            <a:off x="685800" y="8585200"/>
            <a:ext cx="297180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6"/>
          </p:nvPr>
        </p:nvSpPr>
        <p:spPr>
          <a:xfrm>
            <a:off x="3886200" y="8585200"/>
            <a:ext cx="228600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lang="ja-JP" sz="1200">
        <a:latin typeface="+mn-lt"/>
        <a:ea typeface="+mn-ea"/>
        <a:cs typeface="+mn-cs"/>
      </a:defRPr>
    </a:lvl1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960120"/>
            <a:ext cx="78638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44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AD判定手法の比較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786384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Supplement: method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71800"/>
            <a:ext cx="786384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4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Boston Housing で6種類のAD手法を比べる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36592"/>
            <a:ext cx="786384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2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Python Seminar 第7回 補足資料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285232"/>
            <a:ext cx="78638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2026-07-07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34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この補足資料の位置づけ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4800600" cy="23317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本編では kNN 平均距離による AD 判定を使った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この補足では、同じデータ・同じ予測値に対して AD 手法だけを変える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AD外件数、誤差、一致度、PCA上での見え方を比較する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0" y="1188720"/>
            <a:ext cx="1234440" cy="960120"/>
          </a:xfrm>
          <a:prstGeom prst="rect">
            <a:avLst/>
          </a:prstGeom>
          <a:solidFill>
            <a:srgbClr val="FFFFFF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788152" y="1261872"/>
            <a:ext cx="1088136" cy="21945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4F81BD"/>
                </a:solidFill>
                <a:latin typeface="Times New Roman"/>
                <a:ea typeface="メイリオ"/>
                <a:cs typeface="Times New Roman"/>
              </a:rPr>
              <a:t>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88152" y="1527048"/>
            <a:ext cx="1088136" cy="566928"/>
          </a:xfrm>
          <a:prstGeom prst="rect">
            <a:avLst/>
          </a:prstGeom>
          <a:noFill/>
        </p:spPr>
        <p:txBody>
          <a:bodyPr wrap="square" lIns="9144" tIns="9144" rIns="9144" bIns="9144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7178040" y="1188720"/>
            <a:ext cx="1234440" cy="960120"/>
          </a:xfrm>
          <a:prstGeom prst="rect">
            <a:avLst/>
          </a:prstGeom>
          <a:solidFill>
            <a:srgbClr val="FFFFFF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251192" y="1261872"/>
            <a:ext cx="1088136" cy="21945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56965C"/>
                </a:solidFill>
                <a:latin typeface="Times New Roman"/>
                <a:ea typeface="メイリオ"/>
                <a:cs typeface="Times New Roman"/>
              </a:rPr>
              <a:t>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51192" y="1527048"/>
            <a:ext cx="1088136" cy="566928"/>
          </a:xfrm>
          <a:prstGeom prst="rect">
            <a:avLst/>
          </a:prstGeom>
          <a:noFill/>
        </p:spPr>
        <p:txBody>
          <a:bodyPr wrap="square" lIns="9144" tIns="9144" rIns="9144" bIns="9144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127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15000" y="2423160"/>
            <a:ext cx="2697480" cy="960120"/>
          </a:xfrm>
          <a:prstGeom prst="rect">
            <a:avLst/>
          </a:prstGeom>
          <a:solidFill>
            <a:srgbClr val="FFFFFF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788152" y="2496312"/>
            <a:ext cx="2551176" cy="21945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E67E22"/>
                </a:solidFill>
                <a:latin typeface="Times New Roman"/>
                <a:ea typeface="メイリオ"/>
                <a:cs typeface="Times New Roman"/>
              </a:rPr>
              <a:t>prediction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88152" y="2761488"/>
            <a:ext cx="2551176" cy="566928"/>
          </a:xfrm>
          <a:prstGeom prst="rect">
            <a:avLst/>
          </a:prstGeom>
          <a:noFill/>
        </p:spPr>
        <p:txBody>
          <a:bodyPr wrap="square" lIns="9144" tIns="9144" rIns="9144" bIns="9144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Gradient Boosting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15000" y="3657600"/>
            <a:ext cx="2697480" cy="960120"/>
          </a:xfrm>
          <a:prstGeom prst="rect">
            <a:avLst/>
          </a:prstGeom>
          <a:solidFill>
            <a:srgbClr val="FFFFFF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788152" y="3730752"/>
            <a:ext cx="2551176" cy="21945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4F81BD"/>
                </a:solidFill>
                <a:latin typeface="Times New Roman"/>
                <a:ea typeface="メイリオ"/>
                <a:cs typeface="Times New Roman"/>
              </a:rPr>
              <a:t>RMSE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88152" y="3995928"/>
            <a:ext cx="2551176" cy="566928"/>
          </a:xfrm>
          <a:prstGeom prst="rect">
            <a:avLst/>
          </a:prstGeom>
          <a:noFill/>
        </p:spPr>
        <p:txBody>
          <a:bodyPr wrap="square" lIns="9144" tIns="9144" rIns="9144" bIns="9144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2.993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" y="5330952"/>
            <a:ext cx="8577071" cy="361061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比較したいのは「モデルの良し悪し」ではなく「ADの境界の引き方」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73952"/>
            <a:ext cx="8229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969696"/>
                </a:solidFill>
                <a:latin typeface="Times New Roman"/>
                <a:ea typeface="メイリオ"/>
                <a:cs typeface="Times New Roman"/>
              </a:rPr>
              <a:t>対応: notebook 0-1章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34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手法比較の処理フロー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2057400" cy="1078992"/>
          </a:xfrm>
          <a:prstGeom prst="rect">
            <a:avLst/>
          </a:prstGeom>
          <a:solidFill>
            <a:srgbClr val="FFFFFF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389888"/>
            <a:ext cx="1874519" cy="274320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1. 分割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755648"/>
            <a:ext cx="1874519" cy="475488"/>
          </a:xfrm>
          <a:prstGeom prst="rect">
            <a:avLst/>
          </a:prstGeom>
          <a:noFill/>
        </p:spPr>
        <p:txBody>
          <a:bodyPr wrap="square" lIns="9144" tIns="9144" rIns="9144" bIns="9144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Boston data</a:t>
            </a:r>
          </a:p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train / test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60320" y="1837943"/>
            <a:ext cx="731520" cy="0"/>
          </a:xfrm>
          <a:prstGeom prst="line">
            <a:avLst/>
          </a:prstGeom>
          <a:ln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291840" y="1298448"/>
            <a:ext cx="2057400" cy="1078992"/>
          </a:xfrm>
          <a:prstGeom prst="rect">
            <a:avLst/>
          </a:prstGeom>
          <a:solidFill>
            <a:srgbClr val="FFFFFF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83280" y="1389888"/>
            <a:ext cx="1874519" cy="274320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2. 標準化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755648"/>
            <a:ext cx="1874519" cy="475488"/>
          </a:xfrm>
          <a:prstGeom prst="rect">
            <a:avLst/>
          </a:prstGeom>
          <a:noFill/>
        </p:spPr>
        <p:txBody>
          <a:bodyPr wrap="square" lIns="9144" tIns="9144" rIns="9144" bIns="9144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fit は train のみ</a:t>
            </a:r>
          </a:p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test は transform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49240" y="1837943"/>
            <a:ext cx="731520" cy="0"/>
          </a:xfrm>
          <a:prstGeom prst="line">
            <a:avLst/>
          </a:prstGeom>
          <a:ln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6080760" y="1298448"/>
            <a:ext cx="2057400" cy="1078992"/>
          </a:xfrm>
          <a:prstGeom prst="rect">
            <a:avLst/>
          </a:prstGeom>
          <a:solidFill>
            <a:srgbClr val="FFFFFF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1389888"/>
            <a:ext cx="1874519" cy="274320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3. 予測値を固定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755648"/>
            <a:ext cx="1874519" cy="475488"/>
          </a:xfrm>
          <a:prstGeom prst="rect">
            <a:avLst/>
          </a:prstGeom>
          <a:noFill/>
        </p:spPr>
        <p:txBody>
          <a:bodyPr wrap="square" lIns="9144" tIns="9144" rIns="9144" bIns="9144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Gradient Boosting</a:t>
            </a:r>
          </a:p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y_pred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93008"/>
            <a:ext cx="2057400" cy="1078992"/>
          </a:xfrm>
          <a:prstGeom prst="rect">
            <a:avLst/>
          </a:prstGeom>
          <a:solidFill>
            <a:srgbClr val="FFFFFF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3584448"/>
            <a:ext cx="1874519" cy="274320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4. ADスコア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950208"/>
            <a:ext cx="1874519" cy="475488"/>
          </a:xfrm>
          <a:prstGeom prst="rect">
            <a:avLst/>
          </a:prstGeom>
          <a:noFill/>
        </p:spPr>
        <p:txBody>
          <a:bodyPr wrap="square" lIns="9144" tIns="9144" rIns="9144" bIns="9144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6手法で</a:t>
            </a:r>
          </a:p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異常度を計算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560320" y="4032504"/>
            <a:ext cx="731520" cy="0"/>
          </a:xfrm>
          <a:prstGeom prst="line">
            <a:avLst/>
          </a:prstGeom>
          <a:ln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291840" y="3493008"/>
            <a:ext cx="2057400" cy="1078992"/>
          </a:xfrm>
          <a:prstGeom prst="rect">
            <a:avLst/>
          </a:prstGeom>
          <a:solidFill>
            <a:srgbClr val="FFFFFF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383280" y="3584448"/>
            <a:ext cx="1874519" cy="274320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5. しきい値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950208"/>
            <a:ext cx="1874519" cy="475488"/>
          </a:xfrm>
          <a:prstGeom prst="rect">
            <a:avLst/>
          </a:prstGeom>
          <a:noFill/>
        </p:spPr>
        <p:txBody>
          <a:bodyPr wrap="square" lIns="9144" tIns="9144" rIns="9144" bIns="9144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train score の</a:t>
            </a:r>
          </a:p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95 percentile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349240" y="4032504"/>
            <a:ext cx="731520" cy="0"/>
          </a:xfrm>
          <a:prstGeom prst="line">
            <a:avLst/>
          </a:prstGeom>
          <a:ln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080760" y="3493008"/>
            <a:ext cx="2057400" cy="1078992"/>
          </a:xfrm>
          <a:prstGeom prst="rect">
            <a:avLst/>
          </a:prstGeom>
          <a:solidFill>
            <a:srgbClr val="FFFFFF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172200" y="3584448"/>
            <a:ext cx="1874519" cy="274320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6. 比較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950208"/>
            <a:ext cx="1874519" cy="475488"/>
          </a:xfrm>
          <a:prstGeom prst="rect">
            <a:avLst/>
          </a:prstGeom>
          <a:noFill/>
        </p:spPr>
        <p:txBody>
          <a:bodyPr wrap="square" lIns="9144" tIns="9144" rIns="9144" bIns="9144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件数・誤差</a:t>
            </a:r>
          </a:p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一致度・可視化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3321" y="5588365"/>
            <a:ext cx="8397357" cy="344710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手法間の違いを比較するため、データ分割・標準化・予測値は固定する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73952"/>
            <a:ext cx="8229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969696"/>
                </a:solidFill>
                <a:latin typeface="Times New Roman"/>
                <a:ea typeface="メイリオ"/>
                <a:cs typeface="Times New Roman"/>
              </a:rPr>
              <a:t>対応: notebook 2-5章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34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比較する6種類のAD判定手法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337421"/>
              </p:ext>
            </p:extLst>
          </p:nvPr>
        </p:nvGraphicFramePr>
        <p:xfrm>
          <a:off x="411480" y="1170432"/>
          <a:ext cx="8321040" cy="2788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87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19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00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8417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手法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型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見ているもの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8417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kNN mean distance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局所距離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近いk点までの平均距離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8417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Mahalanobis distance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大域距離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共分散を考慮した中心からの距離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8417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PCA reconstruction error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投影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主成分で再構成できない度合い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8417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One-Class SVM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境界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非線形境界の外側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8417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Isolation Forest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木 / 異常検知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孤立しやすさ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8417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Local Outlier Factor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局所密度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周辺より密度が低い度合い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4462272"/>
            <a:ext cx="7909560" cy="10515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すべて「スコアが大きいほど AD 外に近い」形にそろえる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距離・投影・境界・密度・木ベースで、見ている外れ方が違う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1つの手法だけを正解にせず、何に敏感な手法かを意識して読む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229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969696"/>
                </a:solidFill>
                <a:latin typeface="Times New Roman"/>
                <a:ea typeface="メイリオ"/>
                <a:cs typeface="Times New Roman"/>
              </a:rPr>
              <a:t>対応: notebook 4章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8321040" cy="56692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3000" b="1">
                <a:solidFill>
                  <a:srgbClr val="000000"/>
                </a:solidFill>
                <a:ea typeface="Meiryo"/>
                <a:cs typeface="Times New Roman"/>
              </a:rPr>
              <a:t>手法1: kNN mean distance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8321040" cy="2286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3063240" cy="4334256"/>
          </a:xfrm>
          <a:prstGeom prst="rect">
            <a:avLst/>
          </a:prstGeom>
          <a:solidFill>
            <a:srgbClr val="FFFFFF"/>
          </a:solidFill>
          <a:ln w="1016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1307592"/>
            <a:ext cx="2743200" cy="25603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800" b="1">
                <a:solidFill>
                  <a:srgbClr val="505050"/>
                </a:solidFill>
                <a:ea typeface="Meiryo"/>
                <a:cs typeface="Times New Roman"/>
              </a:rPr>
              <a:t>近い5点までの平均距離</a:t>
            </a:r>
          </a:p>
        </p:txBody>
      </p:sp>
      <p:cxnSp>
        <p:nvCxnSpPr>
          <p:cNvPr id="6" name="Connector 5"/>
          <p:cNvCxnSpPr/>
          <p:nvPr/>
        </p:nvCxnSpPr>
        <p:spPr>
          <a:xfrm flipH="1" flipV="1">
            <a:off x="1179576" y="2148839"/>
            <a:ext cx="1499616" cy="1325881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481328" y="1911095"/>
            <a:ext cx="1197864" cy="1563625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1819656" y="2258568"/>
            <a:ext cx="859536" cy="1216152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 flipV="1">
            <a:off x="1389888" y="2606039"/>
            <a:ext cx="1289304" cy="868681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2002536" y="2624327"/>
            <a:ext cx="676656" cy="850393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1115568" y="2084831"/>
            <a:ext cx="128016" cy="128016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417320" y="1847088"/>
            <a:ext cx="128016" cy="128016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755648" y="2194560"/>
            <a:ext cx="128016" cy="128016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325880" y="2542032"/>
            <a:ext cx="128016" cy="128016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938528" y="2560320"/>
            <a:ext cx="128016" cy="128016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664208" y="2816352"/>
            <a:ext cx="128016" cy="128016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05840" y="2907792"/>
            <a:ext cx="128016" cy="128016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2606040" y="3401568"/>
            <a:ext cx="164592" cy="164592"/>
          </a:xfrm>
          <a:prstGeom prst="ellipse">
            <a:avLst/>
          </a:prstGeom>
          <a:solidFill>
            <a:srgbClr val="C00000"/>
          </a:solidFill>
          <a:ln w="1016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459736" y="3602736"/>
            <a:ext cx="50292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800" b="0">
                <a:solidFill>
                  <a:srgbClr val="C00000"/>
                </a:solidFill>
                <a:ea typeface="Meiryo"/>
                <a:cs typeface="Times New Roman"/>
              </a:rPr>
              <a:t>test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2064" y="4475988"/>
            <a:ext cx="3054096" cy="502920"/>
          </a:xfrm>
          <a:prstGeom prst="rect">
            <a:avLst/>
          </a:prstGeom>
          <a:solidFill>
            <a:srgbClr val="E2EBF7"/>
          </a:solidFill>
          <a:ln w="1016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38328" y="4543050"/>
            <a:ext cx="3401568" cy="31393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800" b="1">
                <a:solidFill>
                  <a:srgbClr val="2F5597"/>
                </a:solidFill>
                <a:ea typeface="Meiryo"/>
                <a:cs typeface="Times New Roman"/>
              </a:rPr>
              <a:t>score = mean(distance to 5-NN)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39310" y="1155948"/>
            <a:ext cx="5367705" cy="1989597"/>
          </a:xfrm>
          <a:prstGeom prst="rect">
            <a:avLst/>
          </a:prstGeom>
          <a:solidFill>
            <a:srgbClr val="E2EBF7"/>
          </a:solidFill>
          <a:ln w="1016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739896" y="1164717"/>
            <a:ext cx="4608576" cy="23774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1">
                <a:solidFill>
                  <a:srgbClr val="2F5597"/>
                </a:solidFill>
                <a:ea typeface="Meiryo"/>
                <a:cs typeface="Times New Roman"/>
              </a:rPr>
              <a:t>判定方法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9311" y="1438278"/>
            <a:ext cx="5358735" cy="1698927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・標準化後の説明変数空間で、近い5点までの</a:t>
            </a:r>
            <a:endParaRPr lang="en-US" sz="1800" b="0">
              <a:solidFill>
                <a:srgbClr val="000000"/>
              </a:solidFill>
              <a:ea typeface="Meiryo"/>
              <a:cs typeface="Times New Roman"/>
            </a:endParaRP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ユークリッド距離を平均する</a:t>
            </a: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・trainでは自分自身への距離0を除き、testでは学習データへの距離だけを見る</a:t>
            </a: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・trainスコアの95パーセンタイルを超えたtest点</a:t>
            </a:r>
            <a:endParaRPr lang="en-US" sz="1800" b="0">
              <a:solidFill>
                <a:srgbClr val="000000"/>
              </a:solidFill>
              <a:ea typeface="Meiryo"/>
              <a:cs typeface="Times New Roman"/>
            </a:endParaRP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をAD外にする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39311" y="3178308"/>
            <a:ext cx="5358735" cy="1453896"/>
          </a:xfrm>
          <a:prstGeom prst="rect">
            <a:avLst/>
          </a:prstGeom>
          <a:solidFill>
            <a:srgbClr val="FFFFFF"/>
          </a:solidFill>
          <a:ln w="1016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730752" y="3215837"/>
            <a:ext cx="4608576" cy="23774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1">
                <a:solidFill>
                  <a:srgbClr val="2F5597"/>
                </a:solidFill>
                <a:ea typeface="Meiryo"/>
                <a:cs typeface="Times New Roman"/>
              </a:rPr>
              <a:t>特徴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48281" y="3497797"/>
            <a:ext cx="5358735" cy="1144929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・分布形状を仮定せず、局所的にデータが疎な領域を拾える</a:t>
            </a: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・「近い学習データがあるか」という直感に近く、説明しやすい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48280" y="4721358"/>
            <a:ext cx="5358736" cy="1187573"/>
          </a:xfrm>
          <a:prstGeom prst="rect">
            <a:avLst/>
          </a:prstGeom>
          <a:solidFill>
            <a:srgbClr val="FFFFFF"/>
          </a:solidFill>
          <a:ln w="1016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730752" y="4725930"/>
            <a:ext cx="4608576" cy="23774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1">
                <a:solidFill>
                  <a:srgbClr val="2F5597"/>
                </a:solidFill>
                <a:ea typeface="Meiryo"/>
                <a:cs typeface="Times New Roman"/>
              </a:rPr>
              <a:t>注意点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48280" y="5029950"/>
            <a:ext cx="5358736" cy="86793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・近傍数k、距離尺度、標準化の影響を強く受ける</a:t>
            </a: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・高次元では距離の差が小さくなり、判定が鈍く</a:t>
            </a:r>
            <a:endParaRPr lang="en-US" sz="1800" b="0">
              <a:solidFill>
                <a:srgbClr val="000000"/>
              </a:solidFill>
              <a:ea typeface="Meiryo"/>
              <a:cs typeface="Times New Roman"/>
            </a:endParaRP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なることがある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" y="5969514"/>
            <a:ext cx="80467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8368" y="6033522"/>
            <a:ext cx="7754112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1">
                <a:solidFill>
                  <a:srgbClr val="000000"/>
                </a:solidFill>
                <a:ea typeface="Meiryo"/>
                <a:cs typeface="Times New Roman"/>
              </a:rPr>
              <a:t>見る外れ方: 近くに学習データが少ない点をAD外候補にする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73952"/>
            <a:ext cx="8229600" cy="228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0">
                <a:solidFill>
                  <a:srgbClr val="969696"/>
                </a:solidFill>
                <a:ea typeface="Meiryo"/>
                <a:cs typeface="Times New Roman"/>
              </a:rPr>
              <a:t>対応: notebook 4章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8321040" cy="56692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3000" b="1">
                <a:solidFill>
                  <a:srgbClr val="000000"/>
                </a:solidFill>
                <a:ea typeface="Meiryo"/>
                <a:cs typeface="Times New Roman"/>
              </a:rPr>
              <a:t>手法2: Mahalanobis distance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8321040" cy="2286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3063240" cy="4334256"/>
          </a:xfrm>
          <a:prstGeom prst="rect">
            <a:avLst/>
          </a:prstGeom>
          <a:solidFill>
            <a:srgbClr val="FFFFFF"/>
          </a:solidFill>
          <a:ln w="1016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1307592"/>
            <a:ext cx="2816352" cy="31393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800" b="1">
                <a:solidFill>
                  <a:srgbClr val="505050"/>
                </a:solidFill>
                <a:ea typeface="Meiryo"/>
                <a:cs typeface="Times New Roman"/>
              </a:rPr>
              <a:t>共分散で補正した中心距離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1993392"/>
            <a:ext cx="2148840" cy="960120"/>
          </a:xfrm>
          <a:prstGeom prst="ellipse">
            <a:avLst/>
          </a:prstGeom>
          <a:noFill/>
          <a:ln w="12700"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658368" y="1719072"/>
            <a:ext cx="2606040" cy="1508760"/>
          </a:xfrm>
          <a:prstGeom prst="ellipse">
            <a:avLst/>
          </a:prstGeom>
          <a:noFill/>
          <a:ln w="12700"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75488" y="1435608"/>
            <a:ext cx="2971800" cy="2057400"/>
          </a:xfrm>
          <a:prstGeom prst="ellipse">
            <a:avLst/>
          </a:prstGeom>
          <a:noFill/>
          <a:ln w="12700">
            <a:solidFill>
              <a:srgbClr val="548235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883664" y="2395728"/>
            <a:ext cx="146304" cy="146304"/>
          </a:xfrm>
          <a:prstGeom prst="ellipse">
            <a:avLst/>
          </a:prstGeom>
          <a:solidFill>
            <a:srgbClr val="548235"/>
          </a:solidFill>
          <a:ln w="10160"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93165" y="2586234"/>
            <a:ext cx="719211" cy="31393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800" b="0">
                <a:solidFill>
                  <a:srgbClr val="548235"/>
                </a:solidFill>
                <a:ea typeface="Meiryo"/>
                <a:cs typeface="Times New Roman"/>
              </a:rPr>
              <a:t>center</a:t>
            </a:r>
          </a:p>
        </p:txBody>
      </p:sp>
      <p:sp>
        <p:nvSpPr>
          <p:cNvPr id="11" name="Oval 10"/>
          <p:cNvSpPr/>
          <p:nvPr/>
        </p:nvSpPr>
        <p:spPr>
          <a:xfrm>
            <a:off x="2852928" y="1572768"/>
            <a:ext cx="164592" cy="164592"/>
          </a:xfrm>
          <a:prstGeom prst="ellipse">
            <a:avLst/>
          </a:prstGeom>
          <a:solidFill>
            <a:srgbClr val="C00000"/>
          </a:solidFill>
          <a:ln w="1016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27732" y="1735842"/>
            <a:ext cx="1014984" cy="31393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800" b="0">
                <a:solidFill>
                  <a:srgbClr val="C00000"/>
                </a:solidFill>
                <a:ea typeface="Meiryo"/>
                <a:cs typeface="Times New Roman"/>
              </a:rPr>
              <a:t>high score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2880360"/>
            <a:ext cx="137160" cy="137160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" y="4279392"/>
            <a:ext cx="2651760" cy="43891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800" b="0">
                <a:solidFill>
                  <a:srgbClr val="505050"/>
                </a:solidFill>
                <a:ea typeface="Meiryo"/>
                <a:cs typeface="Times New Roman"/>
              </a:rPr>
              <a:t>ばらつき方向は</a:t>
            </a:r>
          </a:p>
          <a:p>
            <a:pPr algn="ctr"/>
            <a:r>
              <a:rPr sz="1800" b="0">
                <a:solidFill>
                  <a:srgbClr val="505050"/>
                </a:solidFill>
                <a:ea typeface="Meiryo"/>
                <a:cs typeface="Times New Roman"/>
              </a:rPr>
              <a:t>距離が相対的に小さい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12465" y="1170432"/>
            <a:ext cx="5343610" cy="2116086"/>
          </a:xfrm>
          <a:prstGeom prst="rect">
            <a:avLst/>
          </a:prstGeom>
          <a:solidFill>
            <a:srgbClr val="E2EFDA"/>
          </a:solidFill>
          <a:ln w="1016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803904" y="1234440"/>
            <a:ext cx="4608576" cy="23774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1">
                <a:solidFill>
                  <a:srgbClr val="548235"/>
                </a:solidFill>
                <a:ea typeface="Meiryo"/>
                <a:cs typeface="Times New Roman"/>
              </a:rPr>
              <a:t>判定方法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21609" y="1608165"/>
            <a:ext cx="5334466" cy="1698927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・学習データの中心からの距離を、共分散の逆行列で補正して計算する</a:t>
            </a: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・相関して大きくばらつく方向は、単純な</a:t>
            </a:r>
            <a:endParaRPr lang="en-US" sz="1800" b="0">
              <a:solidFill>
                <a:srgbClr val="000000"/>
              </a:solidFill>
              <a:ea typeface="Meiryo"/>
              <a:cs typeface="Times New Roman"/>
            </a:endParaRP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ユークリッド距離ほど重く見ない</a:t>
            </a: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・このNotebookではLedoitWolfで共分散を安定化</a:t>
            </a:r>
            <a:endParaRPr lang="en-US" sz="1800" b="0">
              <a:solidFill>
                <a:srgbClr val="000000"/>
              </a:solidFill>
              <a:ea typeface="Meiryo"/>
              <a:cs typeface="Times New Roman"/>
            </a:endParaRP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し、二乗距離を異常度にする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15981" y="3360420"/>
            <a:ext cx="5340095" cy="1250338"/>
          </a:xfrm>
          <a:prstGeom prst="rect">
            <a:avLst/>
          </a:prstGeom>
          <a:solidFill>
            <a:srgbClr val="FFFFFF"/>
          </a:solidFill>
          <a:ln w="1016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803904" y="3440841"/>
            <a:ext cx="4608576" cy="23774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1">
                <a:solidFill>
                  <a:srgbClr val="548235"/>
                </a:solidFill>
                <a:ea typeface="Meiryo"/>
                <a:cs typeface="Times New Roman"/>
              </a:rPr>
              <a:t>特徴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15980" y="3752487"/>
            <a:ext cx="5340095" cy="86793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・単峰で楕円形に近い分布なら、中心からの離れ</a:t>
            </a:r>
            <a:endParaRPr lang="en-US" sz="1800" b="0">
              <a:solidFill>
                <a:srgbClr val="000000"/>
              </a:solidFill>
              <a:ea typeface="Meiryo"/>
              <a:cs typeface="Times New Roman"/>
            </a:endParaRP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具合を自然に読める</a:t>
            </a: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・特徴量同士の相関を考慮できる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15981" y="4713732"/>
            <a:ext cx="5340095" cy="1184148"/>
          </a:xfrm>
          <a:prstGeom prst="rect">
            <a:avLst/>
          </a:prstGeom>
          <a:solidFill>
            <a:srgbClr val="FFFFFF"/>
          </a:solidFill>
          <a:ln w="1016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803904" y="4740414"/>
            <a:ext cx="4608576" cy="23774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1">
                <a:solidFill>
                  <a:srgbClr val="548235"/>
                </a:solidFill>
                <a:ea typeface="Meiryo"/>
                <a:cs typeface="Times New Roman"/>
              </a:rPr>
              <a:t>注意点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15981" y="5052060"/>
            <a:ext cx="5340096" cy="86793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・非線形・多峰性の分布や局所的な孤立点には弱い</a:t>
            </a: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・中心と共分散の推定が崩れると、距離の意味も</a:t>
            </a:r>
            <a:endParaRPr lang="en-US" sz="1800" b="0">
              <a:solidFill>
                <a:srgbClr val="000000"/>
              </a:solidFill>
              <a:ea typeface="Meiryo"/>
              <a:cs typeface="Times New Roman"/>
            </a:endParaRP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崩れる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6649" y="5993892"/>
            <a:ext cx="80467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92953" y="6057900"/>
            <a:ext cx="7754112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1">
                <a:solidFill>
                  <a:srgbClr val="000000"/>
                </a:solidFill>
                <a:ea typeface="Meiryo"/>
                <a:cs typeface="Times New Roman"/>
              </a:rPr>
              <a:t>見る外れ方: 全体分布の中心と共分散から見て遠い点を拾う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73952"/>
            <a:ext cx="8229600" cy="228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0">
                <a:solidFill>
                  <a:srgbClr val="969696"/>
                </a:solidFill>
                <a:ea typeface="Meiryo"/>
                <a:cs typeface="Times New Roman"/>
              </a:rPr>
              <a:t>対応: notebook 4章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8321040" cy="56692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3000" b="1">
                <a:solidFill>
                  <a:srgbClr val="000000"/>
                </a:solidFill>
                <a:ea typeface="Meiryo"/>
                <a:cs typeface="Times New Roman"/>
              </a:rPr>
              <a:t>手法3: PCA reconstruction error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8321040" cy="2286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3063240" cy="4334256"/>
          </a:xfrm>
          <a:prstGeom prst="rect">
            <a:avLst/>
          </a:prstGeom>
          <a:solidFill>
            <a:srgbClr val="FFFFFF"/>
          </a:solidFill>
          <a:ln w="1016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1307592"/>
            <a:ext cx="2743200" cy="25603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800" b="1">
                <a:solidFill>
                  <a:srgbClr val="505050"/>
                </a:solidFill>
                <a:ea typeface="Meiryo"/>
                <a:cs typeface="Times New Roman"/>
              </a:rPr>
              <a:t>主成分で表せない残差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822960" y="1874519"/>
            <a:ext cx="2103120" cy="2011681"/>
          </a:xfrm>
          <a:prstGeom prst="line">
            <a:avLst/>
          </a:prstGeom>
          <a:ln w="2286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604420" y="1689658"/>
            <a:ext cx="1243584" cy="31393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800" b="0">
                <a:solidFill>
                  <a:srgbClr val="7030A0"/>
                </a:solidFill>
                <a:ea typeface="Meiryo"/>
                <a:cs typeface="Times New Roman"/>
              </a:rPr>
              <a:t>主成分方向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3657600"/>
            <a:ext cx="118872" cy="118872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234440" y="3273552"/>
            <a:ext cx="118872" cy="118872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572768" y="2990088"/>
            <a:ext cx="118872" cy="118872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847088" y="2724912"/>
            <a:ext cx="118872" cy="118872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2176272" y="2423160"/>
            <a:ext cx="118872" cy="118872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487168" y="2112264"/>
            <a:ext cx="118872" cy="118872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993392" y="3675887"/>
            <a:ext cx="164592" cy="164592"/>
          </a:xfrm>
          <a:prstGeom prst="ellipse">
            <a:avLst/>
          </a:prstGeom>
          <a:solidFill>
            <a:srgbClr val="C00000"/>
          </a:solidFill>
          <a:ln w="1016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" name="Connector 14"/>
          <p:cNvCxnSpPr/>
          <p:nvPr/>
        </p:nvCxnSpPr>
        <p:spPr>
          <a:xfrm flipV="1">
            <a:off x="2066543" y="3310128"/>
            <a:ext cx="402337" cy="438911"/>
          </a:xfrm>
          <a:prstGeom prst="line">
            <a:avLst/>
          </a:prstGeom>
          <a:ln w="19050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767254" y="3840480"/>
            <a:ext cx="1433146" cy="590931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800" b="0">
                <a:solidFill>
                  <a:srgbClr val="C00000"/>
                </a:solidFill>
                <a:ea typeface="Meiryo"/>
                <a:cs typeface="Times New Roman"/>
              </a:rPr>
              <a:t>reconstruction</a:t>
            </a:r>
          </a:p>
          <a:p>
            <a:pPr algn="ctr"/>
            <a:r>
              <a:rPr sz="1800" b="0">
                <a:solidFill>
                  <a:srgbClr val="C00000"/>
                </a:solidFill>
                <a:ea typeface="Meiryo"/>
                <a:cs typeface="Times New Roman"/>
              </a:rPr>
              <a:t>error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590288"/>
            <a:ext cx="2560320" cy="40233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800" b="0">
                <a:solidFill>
                  <a:srgbClr val="505050"/>
                </a:solidFill>
                <a:ea typeface="Meiryo"/>
                <a:cs typeface="Times New Roman"/>
              </a:rPr>
              <a:t>圧縮 → 復元で</a:t>
            </a:r>
          </a:p>
          <a:p>
            <a:pPr algn="ctr"/>
            <a:r>
              <a:rPr sz="1800" b="0">
                <a:solidFill>
                  <a:srgbClr val="505050"/>
                </a:solidFill>
                <a:ea typeface="Meiryo"/>
                <a:cs typeface="Times New Roman"/>
              </a:rPr>
              <a:t>戻せない量を見る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03904" y="1170431"/>
            <a:ext cx="4828032" cy="2080261"/>
          </a:xfrm>
          <a:prstGeom prst="rect">
            <a:avLst/>
          </a:prstGeom>
          <a:solidFill>
            <a:srgbClr val="EDE7F6"/>
          </a:solidFill>
          <a:ln w="1016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913631" y="1225825"/>
            <a:ext cx="4608576" cy="23774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1">
                <a:solidFill>
                  <a:srgbClr val="7030A0"/>
                </a:solidFill>
                <a:ea typeface="Meiryo"/>
                <a:cs typeface="Times New Roman"/>
              </a:rPr>
              <a:t>判定方法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3903" y="1557294"/>
            <a:ext cx="4828032" cy="1698927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・学習データでPCAを学習し、分散95%を説明する主成分へ圧縮する</a:t>
            </a: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・主成分空間から元の13次元へ復元し、復元前後の平均二乗誤差を異常度にする</a:t>
            </a: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・再構成誤差が大きい点を、主成分で表せ</a:t>
            </a:r>
            <a:endParaRPr lang="en-US" sz="1800" b="0">
              <a:solidFill>
                <a:srgbClr val="000000"/>
              </a:solidFill>
              <a:ea typeface="Meiryo"/>
              <a:cs typeface="Times New Roman"/>
            </a:endParaRP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ないAD外候補と見る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3904" y="3310128"/>
            <a:ext cx="4828032" cy="1177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913631" y="3366047"/>
            <a:ext cx="4608576" cy="23774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1">
                <a:solidFill>
                  <a:srgbClr val="7030A0"/>
                </a:solidFill>
                <a:ea typeface="Meiryo"/>
                <a:cs typeface="Times New Roman"/>
              </a:rPr>
              <a:t>特徴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13631" y="3631574"/>
            <a:ext cx="4681728" cy="86793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・低次元構造から外れた点に敏感</a:t>
            </a: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・中心から遠くても主成分方向に沿う点は、外れにくい場合がある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03904" y="4590288"/>
            <a:ext cx="4828032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913632" y="4645132"/>
            <a:ext cx="4608576" cy="23774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1">
                <a:solidFill>
                  <a:srgbClr val="7030A0"/>
                </a:solidFill>
                <a:ea typeface="Meiryo"/>
                <a:cs typeface="Times New Roman"/>
              </a:rPr>
              <a:t>注意点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4907470"/>
            <a:ext cx="4681728" cy="590931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・何個の主成分を残すかで判定が変わる</a:t>
            </a: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・非線形な構造は線形PCAでは表しにくい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5705856"/>
            <a:ext cx="80467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13232" y="5769864"/>
            <a:ext cx="7754112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1">
                <a:solidFill>
                  <a:srgbClr val="000000"/>
                </a:solidFill>
                <a:ea typeface="Meiryo"/>
                <a:cs typeface="Times New Roman"/>
              </a:rPr>
              <a:t>見る外れ方: 主成分で再構成しにくい方向へ外れた点を拾う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73952"/>
            <a:ext cx="8229600" cy="228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0">
                <a:solidFill>
                  <a:srgbClr val="969696"/>
                </a:solidFill>
                <a:ea typeface="Meiryo"/>
                <a:cs typeface="Times New Roman"/>
              </a:rPr>
              <a:t>対応: notebook 4章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8321040" cy="56692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3000" b="1">
                <a:solidFill>
                  <a:srgbClr val="000000"/>
                </a:solidFill>
                <a:ea typeface="Meiryo"/>
                <a:cs typeface="Times New Roman"/>
              </a:rPr>
              <a:t>手法4: One-Class SVM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8321040" cy="2286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3063240" cy="4334256"/>
          </a:xfrm>
          <a:prstGeom prst="rect">
            <a:avLst/>
          </a:prstGeom>
          <a:solidFill>
            <a:srgbClr val="FFFFFF"/>
          </a:solidFill>
          <a:ln w="1016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1307592"/>
            <a:ext cx="2743200" cy="25603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800" b="1">
                <a:solidFill>
                  <a:srgbClr val="505050"/>
                </a:solidFill>
                <a:ea typeface="Meiryo"/>
                <a:cs typeface="Times New Roman"/>
              </a:rPr>
              <a:t>正常領域を囲む境界</a:t>
            </a:r>
          </a:p>
        </p:txBody>
      </p:sp>
      <p:sp>
        <p:nvSpPr>
          <p:cNvPr id="6" name="Oval 5"/>
          <p:cNvSpPr/>
          <p:nvPr/>
        </p:nvSpPr>
        <p:spPr>
          <a:xfrm>
            <a:off x="841248" y="1874519"/>
            <a:ext cx="2331720" cy="2148840"/>
          </a:xfrm>
          <a:prstGeom prst="ellipse">
            <a:avLst/>
          </a:prstGeom>
          <a:noFill/>
          <a:ln w="21590">
            <a:solidFill>
              <a:srgbClr val="C55A11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280160" y="2514600"/>
            <a:ext cx="118872" cy="118872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627632" y="2176272"/>
            <a:ext cx="118872" cy="118872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029968" y="2578608"/>
            <a:ext cx="118872" cy="118872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2331720" y="2999232"/>
            <a:ext cx="118872" cy="118872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600200" y="3154680"/>
            <a:ext cx="118872" cy="118872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2148840" y="3456432"/>
            <a:ext cx="118872" cy="118872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234440" y="3246120"/>
            <a:ext cx="118872" cy="118872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2999232" y="4041648"/>
            <a:ext cx="164592" cy="164592"/>
          </a:xfrm>
          <a:prstGeom prst="ellipse">
            <a:avLst/>
          </a:prstGeom>
          <a:solidFill>
            <a:srgbClr val="C00000"/>
          </a:solidFill>
          <a:ln w="1016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60904" y="4270248"/>
            <a:ext cx="786384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800" b="0">
                <a:solidFill>
                  <a:srgbClr val="C00000"/>
                </a:solidFill>
                <a:ea typeface="Meiryo"/>
                <a:cs typeface="Times New Roman"/>
              </a:rPr>
              <a:t>outside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581144"/>
            <a:ext cx="2697480" cy="40233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800" b="0">
                <a:solidFill>
                  <a:srgbClr val="505050"/>
                </a:solidFill>
                <a:ea typeface="Meiryo"/>
                <a:cs typeface="Times New Roman"/>
              </a:rPr>
              <a:t>RBF kernel で</a:t>
            </a:r>
          </a:p>
          <a:p>
            <a:pPr algn="ctr"/>
            <a:r>
              <a:rPr sz="1800" b="0">
                <a:solidFill>
                  <a:srgbClr val="505050"/>
                </a:solidFill>
                <a:ea typeface="Meiryo"/>
                <a:cs typeface="Times New Roman"/>
              </a:rPr>
              <a:t>非線形な囲いを作る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21608" y="1038251"/>
            <a:ext cx="5330952" cy="2006515"/>
          </a:xfrm>
          <a:prstGeom prst="rect">
            <a:avLst/>
          </a:prstGeom>
          <a:solidFill>
            <a:srgbClr val="FCE4D6"/>
          </a:solidFill>
          <a:ln w="1016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861230" y="1066947"/>
            <a:ext cx="4608576" cy="23774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1">
                <a:solidFill>
                  <a:srgbClr val="C55A11"/>
                </a:solidFill>
                <a:ea typeface="Meiryo"/>
                <a:cs typeface="Times New Roman"/>
              </a:rPr>
              <a:t>判定方法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14926" y="1368699"/>
            <a:ext cx="5330952" cy="1698927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・学習データだけを使って「正常領域」を囲む境界を学習する</a:t>
            </a: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・このNotebookではRBFカーネル、gamma="scale"、nu=0.05を使う</a:t>
            </a: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・score_samplesは大きいほど正常寄りなので、符号を反転して異常度にそろえる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14926" y="3124765"/>
            <a:ext cx="5330952" cy="933687"/>
          </a:xfrm>
          <a:prstGeom prst="rect">
            <a:avLst/>
          </a:prstGeom>
          <a:solidFill>
            <a:srgbClr val="FFFFFF"/>
          </a:solidFill>
          <a:ln w="1016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858768" y="3159066"/>
            <a:ext cx="4608576" cy="23774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1">
                <a:solidFill>
                  <a:srgbClr val="C55A11"/>
                </a:solidFill>
                <a:ea typeface="Meiryo"/>
                <a:cs typeface="Times New Roman"/>
              </a:rPr>
              <a:t>特徴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14926" y="3423099"/>
            <a:ext cx="5330952" cy="590931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・非線形な境界を作れるため、単純な楕円より柔軟</a:t>
            </a: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・境界の内側/外側という形でADを説明しやすい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21608" y="4123944"/>
            <a:ext cx="5324270" cy="1458468"/>
          </a:xfrm>
          <a:prstGeom prst="rect">
            <a:avLst/>
          </a:prstGeom>
          <a:solidFill>
            <a:srgbClr val="FFFFFF"/>
          </a:solidFill>
          <a:ln w="1016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858768" y="4176341"/>
            <a:ext cx="4608576" cy="23774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1">
                <a:solidFill>
                  <a:srgbClr val="C55A11"/>
                </a:solidFill>
                <a:ea typeface="Meiryo"/>
                <a:cs typeface="Times New Roman"/>
              </a:rPr>
              <a:t>注意点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21608" y="4437483"/>
            <a:ext cx="5330952" cy="1144929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・nuとgammaに敏感で、少し変えるだけでAD外数や境界が変わる</a:t>
            </a: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・データ量や次元数によっては計算・調整が</a:t>
            </a:r>
            <a:endParaRPr lang="en-US" sz="1800" b="0">
              <a:solidFill>
                <a:srgbClr val="000000"/>
              </a:solidFill>
              <a:ea typeface="Meiryo"/>
              <a:cs typeface="Times New Roman"/>
            </a:endParaRP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重くなる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5705856"/>
            <a:ext cx="80467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55A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13232" y="5769864"/>
            <a:ext cx="7754112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1">
                <a:solidFill>
                  <a:srgbClr val="000000"/>
                </a:solidFill>
                <a:ea typeface="Meiryo"/>
                <a:cs typeface="Times New Roman"/>
              </a:rPr>
              <a:t>見る外れ方: 学習データで作った正常境界の外側に出る点を拾う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8229600" cy="228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0">
                <a:solidFill>
                  <a:srgbClr val="969696"/>
                </a:solidFill>
                <a:ea typeface="Meiryo"/>
                <a:cs typeface="Times New Roman"/>
              </a:rPr>
              <a:t>対応: notebook 4章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8321040" cy="56692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3000" b="1">
                <a:solidFill>
                  <a:srgbClr val="000000"/>
                </a:solidFill>
                <a:ea typeface="Meiryo"/>
                <a:cs typeface="Times New Roman"/>
              </a:rPr>
              <a:t>手法5: Isolation Forest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8321040" cy="2286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3063240" cy="4334256"/>
          </a:xfrm>
          <a:prstGeom prst="rect">
            <a:avLst/>
          </a:prstGeom>
          <a:solidFill>
            <a:srgbClr val="FFFFFF"/>
          </a:solidFill>
          <a:ln w="1016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1307592"/>
            <a:ext cx="2743200" cy="25603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800" b="1">
                <a:solidFill>
                  <a:srgbClr val="505050"/>
                </a:solidFill>
                <a:ea typeface="Meiryo"/>
                <a:cs typeface="Times New Roman"/>
              </a:rPr>
              <a:t>少ない分割で孤立する点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1810512"/>
            <a:ext cx="2468880" cy="2514600"/>
          </a:xfrm>
          <a:prstGeom prst="rect">
            <a:avLst/>
          </a:prstGeom>
          <a:noFill/>
          <a:ln w="1016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1261872" y="1810512"/>
            <a:ext cx="0" cy="2514600"/>
          </a:xfrm>
          <a:prstGeom prst="line">
            <a:avLst/>
          </a:prstGeom>
          <a:ln w="11430">
            <a:solidFill>
              <a:srgbClr val="0080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359152" y="1810512"/>
            <a:ext cx="0" cy="2514600"/>
          </a:xfrm>
          <a:prstGeom prst="line">
            <a:avLst/>
          </a:prstGeom>
          <a:ln w="11430">
            <a:solidFill>
              <a:srgbClr val="0080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807208" y="1810512"/>
            <a:ext cx="0" cy="2514600"/>
          </a:xfrm>
          <a:prstGeom prst="line">
            <a:avLst/>
          </a:prstGeom>
          <a:ln w="11430">
            <a:solidFill>
              <a:srgbClr val="0080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4672" y="2359152"/>
            <a:ext cx="2468880" cy="0"/>
          </a:xfrm>
          <a:prstGeom prst="line">
            <a:avLst/>
          </a:prstGeom>
          <a:ln w="11430">
            <a:solidFill>
              <a:srgbClr val="0080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4672" y="3310128"/>
            <a:ext cx="2468880" cy="0"/>
          </a:xfrm>
          <a:prstGeom prst="line">
            <a:avLst/>
          </a:prstGeom>
          <a:ln w="11430">
            <a:solidFill>
              <a:srgbClr val="0080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04672" y="3840480"/>
            <a:ext cx="2468880" cy="0"/>
          </a:xfrm>
          <a:prstGeom prst="line">
            <a:avLst/>
          </a:prstGeom>
          <a:ln w="11430">
            <a:solidFill>
              <a:srgbClr val="0080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932688" y="2011680"/>
            <a:ext cx="109728" cy="109728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78992" y="2212848"/>
            <a:ext cx="109728" cy="109728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24128" y="2578608"/>
            <a:ext cx="109728" cy="109728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444752" y="2761488"/>
            <a:ext cx="109728" cy="109728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664208" y="3090672"/>
            <a:ext cx="109728" cy="109728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938528" y="2468880"/>
            <a:ext cx="109728" cy="109728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157984" y="2788920"/>
            <a:ext cx="109728" cy="109728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2944368" y="4005072"/>
            <a:ext cx="164592" cy="164592"/>
          </a:xfrm>
          <a:prstGeom prst="ellipse">
            <a:avLst/>
          </a:prstGeom>
          <a:solidFill>
            <a:srgbClr val="C00000"/>
          </a:solidFill>
          <a:ln w="1016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670048" y="4315968"/>
            <a:ext cx="68580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800" b="0">
                <a:solidFill>
                  <a:srgbClr val="C00000"/>
                </a:solidFill>
                <a:ea typeface="Meiryo"/>
                <a:cs typeface="Times New Roman"/>
              </a:rPr>
              <a:t>isolate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" y="4590288"/>
            <a:ext cx="2724912" cy="40233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800" b="0">
                <a:solidFill>
                  <a:srgbClr val="505050"/>
                </a:solidFill>
                <a:ea typeface="Meiryo"/>
                <a:cs typeface="Times New Roman"/>
              </a:rPr>
              <a:t>孤立までの分割数が</a:t>
            </a:r>
          </a:p>
          <a:p>
            <a:pPr algn="ctr"/>
            <a:r>
              <a:rPr sz="1800" b="0">
                <a:solidFill>
                  <a:srgbClr val="505050"/>
                </a:solidFill>
                <a:ea typeface="Meiryo"/>
                <a:cs typeface="Times New Roman"/>
              </a:rPr>
              <a:t>少ないほど異常度が高い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12815" y="1020322"/>
            <a:ext cx="5367526" cy="2004985"/>
          </a:xfrm>
          <a:prstGeom prst="rect">
            <a:avLst/>
          </a:prstGeom>
          <a:solidFill>
            <a:srgbClr val="DAEEF3"/>
          </a:solidFill>
          <a:ln w="1016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758184" y="1050406"/>
            <a:ext cx="4608576" cy="23774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1">
                <a:solidFill>
                  <a:srgbClr val="008080"/>
                </a:solidFill>
                <a:ea typeface="Meiryo"/>
                <a:cs typeface="Times New Roman"/>
              </a:rPr>
              <a:t>判定方法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3669" y="1324098"/>
            <a:ext cx="5376672" cy="1698927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・特徴量をランダムに分割する木を多数作り、点がどれだけ早く孤立するかを見る</a:t>
            </a: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・少ない分割で孤立する点ほど、他の点と違うと</a:t>
            </a:r>
            <a:endParaRPr lang="en-US" sz="1800" b="0">
              <a:solidFill>
                <a:srgbClr val="000000"/>
              </a:solidFill>
              <a:ea typeface="Meiryo"/>
              <a:cs typeface="Times New Roman"/>
            </a:endParaRP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みなす</a:t>
            </a: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・このNotebookでは300本の木とcontamination=0.05を使う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03319" y="3084693"/>
            <a:ext cx="5377021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758184" y="3084693"/>
            <a:ext cx="4608576" cy="23774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1">
                <a:solidFill>
                  <a:srgbClr val="008080"/>
                </a:solidFill>
                <a:ea typeface="Meiryo"/>
                <a:cs typeface="Times New Roman"/>
              </a:rPr>
              <a:t>特徴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3668" y="3310769"/>
            <a:ext cx="5376672" cy="86793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・距離や共分散を直接仮定せず、外れ値検出器</a:t>
            </a:r>
            <a:endParaRPr lang="en-US" sz="1800" b="0">
              <a:solidFill>
                <a:srgbClr val="000000"/>
              </a:solidFill>
              <a:ea typeface="Meiryo"/>
              <a:cs typeface="Times New Roman"/>
            </a:endParaRP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として手早く使える</a:t>
            </a: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・大きめのデータでも比較的扱いやすい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703319" y="4239135"/>
            <a:ext cx="5376672" cy="1406981"/>
          </a:xfrm>
          <a:prstGeom prst="rect">
            <a:avLst/>
          </a:prstGeom>
          <a:solidFill>
            <a:srgbClr val="FFFFFF"/>
          </a:solidFill>
          <a:ln w="1016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758184" y="4248429"/>
            <a:ext cx="4608576" cy="23774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1">
                <a:solidFill>
                  <a:srgbClr val="008080"/>
                </a:solidFill>
                <a:ea typeface="Meiryo"/>
                <a:cs typeface="Times New Roman"/>
              </a:rPr>
              <a:t>注意点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03319" y="4501187"/>
            <a:ext cx="5385817" cy="1144929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・ランダム分割に基づくため、random_stateや木の本数の影響を受ける</a:t>
            </a: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・軸に沿った分割なので、細い相関構造の解釈は</a:t>
            </a:r>
            <a:endParaRPr lang="en-US" sz="1800" b="0">
              <a:solidFill>
                <a:srgbClr val="000000"/>
              </a:solidFill>
              <a:ea typeface="Meiryo"/>
              <a:cs typeface="Times New Roman"/>
            </a:endParaRP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得意ではない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705856"/>
            <a:ext cx="80467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13232" y="5769864"/>
            <a:ext cx="7754112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1">
                <a:solidFill>
                  <a:srgbClr val="000000"/>
                </a:solidFill>
                <a:ea typeface="Meiryo"/>
                <a:cs typeface="Times New Roman"/>
              </a:rPr>
              <a:t>見る外れ方: ランダム分割で早く孤立する点をAD外候補にする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73952"/>
            <a:ext cx="8229600" cy="228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0">
                <a:solidFill>
                  <a:srgbClr val="969696"/>
                </a:solidFill>
                <a:ea typeface="Meiryo"/>
                <a:cs typeface="Times New Roman"/>
              </a:rPr>
              <a:t>対応: notebook 4章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8321040" cy="56692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3000" b="1">
                <a:solidFill>
                  <a:srgbClr val="000000"/>
                </a:solidFill>
                <a:ea typeface="Meiryo"/>
                <a:cs typeface="Times New Roman"/>
              </a:rPr>
              <a:t>手法6: Local Outlier Factor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8321040" cy="2286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3063240" cy="4482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1307592"/>
            <a:ext cx="2743200" cy="25603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800" b="1">
                <a:solidFill>
                  <a:srgbClr val="505050"/>
                </a:solidFill>
                <a:ea typeface="Meiryo"/>
                <a:cs typeface="Times New Roman"/>
              </a:rPr>
              <a:t>周辺密度との差を見る</a:t>
            </a:r>
          </a:p>
        </p:txBody>
      </p:sp>
      <p:sp>
        <p:nvSpPr>
          <p:cNvPr id="6" name="Oval 5"/>
          <p:cNvSpPr/>
          <p:nvPr/>
        </p:nvSpPr>
        <p:spPr>
          <a:xfrm>
            <a:off x="1005840" y="2194560"/>
            <a:ext cx="109728" cy="109728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88720" y="2029968"/>
            <a:ext cx="109728" cy="109728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335024" y="2286000"/>
            <a:ext cx="109728" cy="109728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15568" y="2487168"/>
            <a:ext cx="109728" cy="109728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444752" y="2578608"/>
            <a:ext cx="109728" cy="109728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572768" y="2176272"/>
            <a:ext cx="109728" cy="109728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2395728" y="3547872"/>
            <a:ext cx="164592" cy="164592"/>
          </a:xfrm>
          <a:prstGeom prst="ellipse">
            <a:avLst/>
          </a:prstGeom>
          <a:solidFill>
            <a:srgbClr val="C00000"/>
          </a:solidFill>
          <a:ln w="1016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847088" y="2999232"/>
            <a:ext cx="1234440" cy="1234440"/>
          </a:xfrm>
          <a:prstGeom prst="ellipse">
            <a:avLst/>
          </a:prstGeom>
          <a:noFill/>
          <a:ln w="1270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938528" y="2926080"/>
            <a:ext cx="109728" cy="109728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2697480" y="2944368"/>
            <a:ext cx="109728" cy="109728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2852928" y="3794760"/>
            <a:ext cx="109728" cy="109728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2011680" y="4005072"/>
            <a:ext cx="109728" cy="109728"/>
          </a:xfrm>
          <a:prstGeom prst="ellipse">
            <a:avLst/>
          </a:prstGeom>
          <a:solidFill>
            <a:srgbClr val="AFAFAF"/>
          </a:solidFill>
          <a:ln w="63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809280" y="4267390"/>
            <a:ext cx="1341003" cy="590931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800" b="0">
                <a:solidFill>
                  <a:srgbClr val="C00000"/>
                </a:solidFill>
                <a:ea typeface="Meiryo"/>
                <a:cs typeface="Times New Roman"/>
              </a:rPr>
              <a:t>local density</a:t>
            </a:r>
          </a:p>
          <a:p>
            <a:pPr algn="ctr"/>
            <a:r>
              <a:rPr sz="1800" b="0">
                <a:solidFill>
                  <a:srgbClr val="C00000"/>
                </a:solidFill>
                <a:ea typeface="Meiryo"/>
                <a:cs typeface="Times New Roman"/>
              </a:rPr>
              <a:t>が低い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" y="4940046"/>
            <a:ext cx="3063240" cy="590931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800" b="0">
                <a:solidFill>
                  <a:srgbClr val="505050"/>
                </a:solidFill>
                <a:ea typeface="Meiryo"/>
                <a:cs typeface="Times New Roman"/>
              </a:rPr>
              <a:t>周辺より薄い場所にある点を</a:t>
            </a:r>
          </a:p>
          <a:p>
            <a:pPr algn="ctr"/>
            <a:r>
              <a:rPr sz="1800" b="0">
                <a:solidFill>
                  <a:srgbClr val="505050"/>
                </a:solidFill>
                <a:ea typeface="Meiryo"/>
                <a:cs typeface="Times New Roman"/>
              </a:rPr>
              <a:t>局所外れとして扱う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03903" y="1046988"/>
            <a:ext cx="5212077" cy="1650765"/>
          </a:xfrm>
          <a:prstGeom prst="rect">
            <a:avLst/>
          </a:prstGeom>
          <a:solidFill>
            <a:srgbClr val="F2DCDB"/>
          </a:solidFill>
          <a:ln w="1016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858768" y="1051560"/>
            <a:ext cx="4608576" cy="23774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1">
                <a:solidFill>
                  <a:srgbClr val="C00000"/>
                </a:solidFill>
                <a:ea typeface="Meiryo"/>
                <a:cs typeface="Times New Roman"/>
              </a:rPr>
              <a:t>判定方法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899" y="1291063"/>
            <a:ext cx="5212077" cy="142192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・点の周辺密度を近傍点の周辺密度と比較する</a:t>
            </a: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・近傍より密度が低い場所にある点ほどLOFが</a:t>
            </a:r>
            <a:endParaRPr lang="en-US" sz="1800" b="0">
              <a:solidFill>
                <a:srgbClr val="000000"/>
              </a:solidFill>
              <a:ea typeface="Meiryo"/>
              <a:cs typeface="Times New Roman"/>
            </a:endParaRP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大きくなる</a:t>
            </a: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・このNotebookではn_neighbors=20、novelty=Trueでtest点を判定する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03900" y="2780049"/>
            <a:ext cx="5212081" cy="1396684"/>
          </a:xfrm>
          <a:prstGeom prst="rect">
            <a:avLst/>
          </a:prstGeom>
          <a:solidFill>
            <a:srgbClr val="FFFFFF"/>
          </a:solidFill>
          <a:ln w="1016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859471" y="2786634"/>
            <a:ext cx="4608576" cy="23774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1">
                <a:solidFill>
                  <a:srgbClr val="C00000"/>
                </a:solidFill>
                <a:ea typeface="Meiryo"/>
                <a:cs typeface="Times New Roman"/>
              </a:rPr>
              <a:t>特徴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03899" y="3035019"/>
            <a:ext cx="5212082" cy="1144929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・全体ではなく局所密度を見るため、密度が場所ごとに違うデータに使いやすい</a:t>
            </a: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・孤立した点だけでなく、周辺に比べて薄い点を拾える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03903" y="4233671"/>
            <a:ext cx="5212079" cy="1419521"/>
          </a:xfrm>
          <a:prstGeom prst="rect">
            <a:avLst/>
          </a:prstGeom>
          <a:solidFill>
            <a:srgbClr val="FFFFFF"/>
          </a:solidFill>
          <a:ln w="1016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858768" y="4251688"/>
            <a:ext cx="4608576" cy="23774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1">
                <a:solidFill>
                  <a:srgbClr val="C00000"/>
                </a:solidFill>
                <a:ea typeface="Meiryo"/>
                <a:cs typeface="Times New Roman"/>
              </a:rPr>
              <a:t>注意点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03904" y="4508264"/>
            <a:ext cx="5212080" cy="1144929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・近傍数に敏感で、小さすぎても大きすぎても</a:t>
            </a:r>
            <a:endParaRPr lang="en-US" sz="1800" b="0">
              <a:solidFill>
                <a:srgbClr val="000000"/>
              </a:solidFill>
              <a:ea typeface="Meiryo"/>
              <a:cs typeface="Times New Roman"/>
            </a:endParaRP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局所性の読み方が変わる</a:t>
            </a: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・novelty判定では、学習時と新規点判定時の</a:t>
            </a:r>
            <a:endParaRPr lang="en-US" sz="1800" b="0">
              <a:solidFill>
                <a:srgbClr val="000000"/>
              </a:solidFill>
              <a:ea typeface="Meiryo"/>
              <a:cs typeface="Times New Roman"/>
            </a:endParaRPr>
          </a:p>
          <a:p>
            <a:r>
              <a:rPr sz="1800" b="0">
                <a:solidFill>
                  <a:srgbClr val="000000"/>
                </a:solidFill>
                <a:ea typeface="Meiryo"/>
                <a:cs typeface="Times New Roman"/>
              </a:rPr>
              <a:t>使い方を分ける必要がある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5705856"/>
            <a:ext cx="80467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13232" y="5769864"/>
            <a:ext cx="7754112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1">
                <a:solidFill>
                  <a:srgbClr val="000000"/>
                </a:solidFill>
                <a:ea typeface="Meiryo"/>
                <a:cs typeface="Times New Roman"/>
              </a:rPr>
              <a:t>見る外れ方: 周辺の点より局所密度が低い点をAD外候補にする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73952"/>
            <a:ext cx="8229600" cy="228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800" b="0">
                <a:solidFill>
                  <a:srgbClr val="969696"/>
                </a:solidFill>
                <a:ea typeface="Meiryo"/>
                <a:cs typeface="Times New Roman"/>
              </a:rPr>
              <a:t>対応: notebook 4章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8321040" cy="658368"/>
          </a:xfrm>
          <a:prstGeom prst="rect">
            <a:avLst/>
          </a:prstGeom>
          <a:noFill/>
        </p:spPr>
        <p:txBody>
          <a:bodyPr wrap="square" lIns="27432" tIns="18288" rIns="27432" bIns="18288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2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しきい値ルールをそろえる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8321040" cy="228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4480560" cy="1298448"/>
          </a:xfrm>
          <a:prstGeom prst="rect">
            <a:avLst/>
          </a:prstGeom>
          <a:solidFill>
            <a:srgbClr val="F2F2F2"/>
          </a:solidFill>
          <a:ln>
            <a:solidFill>
              <a:srgbClr val="D7D7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train_score = ad_method.score(X_train_scaled)</a:t>
            </a:r>
          </a:p>
          <a:p>
            <a:pPr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test_score  = ad_method.score(X_test_scaled)</a:t>
            </a:r>
          </a:p>
          <a:p>
            <a:pPr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threshold = np.percentile(train_score, 95)</a:t>
            </a:r>
          </a:p>
          <a:p>
            <a:pPr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AD = np.where(test_score &lt;= threshold, 'inside', 'outside')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99538" y="1170432"/>
            <a:ext cx="3789485" cy="1325880"/>
          </a:xfrm>
          <a:prstGeom prst="rect">
            <a:avLst/>
          </a:prstGeom>
          <a:noFill/>
        </p:spPr>
        <p:txBody>
          <a:bodyPr wrap="square" lIns="27432" tIns="18288" rIns="27432" bIns="18288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・しきい値は test ではなく train から決める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・95%基準でも、スコア尺度は手法ごとに異なる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・outside n は完全にはそろわない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9735542"/>
              </p:ext>
            </p:extLst>
          </p:nvPr>
        </p:nvGraphicFramePr>
        <p:xfrm>
          <a:off x="502920" y="2834640"/>
          <a:ext cx="8183880" cy="267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method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type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95%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threshold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kNN mean distance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distance / local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2.435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Mahalanobis distance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distance / global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27.551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PCA recon. error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projection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0.132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One-Class SVM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boundary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-1.617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Isolation Forest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tree / anomaly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0.535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Local Outlier Factor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density / local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1.533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5715000"/>
            <a:ext cx="7863840" cy="411480"/>
          </a:xfrm>
          <a:prstGeom prst="rect">
            <a:avLst/>
          </a:prstGeom>
          <a:noFill/>
        </p:spPr>
        <p:txBody>
          <a:bodyPr wrap="square" lIns="27432" tIns="18288" rIns="27432" bIns="18288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絶対値ではなく、各手法の中で「上位5%っぽい外れ方」を見る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8229600" cy="256032"/>
          </a:xfrm>
          <a:prstGeom prst="rect">
            <a:avLst/>
          </a:prstGeom>
          <a:noFill/>
        </p:spPr>
        <p:txBody>
          <a:bodyPr wrap="square" lIns="27432" tIns="18288" rIns="27432" bIns="18288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A5A5A5"/>
                </a:solidFill>
                <a:latin typeface="Times New Roman"/>
                <a:ea typeface="メイリオ"/>
                <a:cs typeface="Times New Roman"/>
              </a:rPr>
              <a:t>対応: notebook 4章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34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予測モデルは固定しておく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115568"/>
            <a:ext cx="4297680" cy="2971800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cell7_model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82970"/>
            <a:ext cx="4297680" cy="26369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02351" y="1234440"/>
            <a:ext cx="3716333" cy="1717393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Hold-Out RMSE が最小の Gradient Boosting をAD解析に使う</a:t>
            </a:r>
          </a:p>
          <a:p>
            <a:pPr algn="l"/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以降の誤差比較は、すべてこの同じ予測値に対して行う</a:t>
            </a:r>
          </a:p>
          <a:p>
            <a:pPr algn="l"/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AD手法比較で、モデル差が</a:t>
            </a:r>
            <a:endParaRPr lang="en-US" sz="1800" b="0">
              <a:solidFill>
                <a:srgbClr val="000000"/>
              </a:solidFill>
              <a:latin typeface="Times New Roman"/>
              <a:ea typeface="メイリオ"/>
              <a:cs typeface="Times New Roman"/>
            </a:endParaRPr>
          </a:p>
          <a:p>
            <a:pPr algn="l"/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混ざらないようにする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" y="5012239"/>
            <a:ext cx="8476488" cy="611321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この補足資料では「どのモデルが良いか」ではなく「どの入力をAD外と見るか」を比較する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8229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969696"/>
                </a:solidFill>
                <a:latin typeface="Times New Roman"/>
                <a:ea typeface="メイリオ"/>
                <a:cs typeface="Times New Roman"/>
              </a:rPr>
              <a:t>対応: notebook 3章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8321040" cy="658368"/>
          </a:xfrm>
          <a:prstGeom prst="rect">
            <a:avLst/>
          </a:prstGeom>
          <a:noFill/>
        </p:spPr>
        <p:txBody>
          <a:bodyPr wrap="square" lIns="27432" tIns="18288" rIns="27432" bIns="18288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2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AD外件数とAD外誤差を比較する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8321040" cy="228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70432"/>
            <a:ext cx="5120640" cy="2148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06440" y="1234440"/>
            <a:ext cx="3038622" cy="2011680"/>
          </a:xfrm>
          <a:prstGeom prst="rect">
            <a:avLst/>
          </a:prstGeom>
          <a:noFill/>
        </p:spPr>
        <p:txBody>
          <a:bodyPr wrap="square" lIns="27432" tIns="18288" rIns="27432" bIns="18288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・kNN と Isolation Forest はAD外4件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・One-Class SVM は12件をAD外にする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・AD外件数が少ないほど1点の影響が大きい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1256129"/>
              </p:ext>
            </p:extLst>
          </p:nvPr>
        </p:nvGraphicFramePr>
        <p:xfrm>
          <a:off x="502920" y="3703320"/>
          <a:ext cx="8138160" cy="2450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method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AD外n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AD内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MAE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AD外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MAE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AD外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RMSE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Isolation Forest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4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2.007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2.660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4.096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kNN mean dist.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4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1.976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3.626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4.565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LOF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6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2.015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2.291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2.564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Mahalanobis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7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1.954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3.288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4.157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PCA recon. err.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7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1.987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2.722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3.137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One-Class SVM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12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1.908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3.174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4.069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73952"/>
            <a:ext cx="8229600" cy="256032"/>
          </a:xfrm>
          <a:prstGeom prst="rect">
            <a:avLst/>
          </a:prstGeom>
          <a:noFill/>
        </p:spPr>
        <p:txBody>
          <a:bodyPr wrap="square" lIns="27432" tIns="18288" rIns="27432" bIns="18288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A5A5A5"/>
                </a:solidFill>
                <a:latin typeface="Times New Roman"/>
                <a:ea typeface="メイリオ"/>
                <a:cs typeface="Times New Roman"/>
              </a:rPr>
              <a:t>対応: notebook 5章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8321040" cy="658368"/>
          </a:xfrm>
          <a:prstGeom prst="rect">
            <a:avLst/>
          </a:prstGeom>
          <a:noFill/>
        </p:spPr>
        <p:txBody>
          <a:bodyPr wrap="square" lIns="27432" tIns="18288" rIns="27432" bIns="18288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2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判定が割れたサンプルを見る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8321040" cy="228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3235291"/>
              </p:ext>
            </p:extLst>
          </p:nvPr>
        </p:nvGraphicFramePr>
        <p:xfrm>
          <a:off x="411480" y="1143000"/>
          <a:ext cx="832104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sample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abs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error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AD外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手法数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AD外にした手法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sample_366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4.033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5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kNN, Mahalanobis, PCA recon., OCSVM, LOF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sample_419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2.225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5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kNN, Mahalanobis, OCSVM, IForest, LOF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sample_415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0.372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5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kNN, Mahalanobis, OCSVM, IForest, LOF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sample_413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7.873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4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kNN, Mahalanobis, OCSVM, LOF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sample_490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5.347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Mahalanobis, PCA recon.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sample_492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2.997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Mahalanobis, PCA recon.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sample_210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1.944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One-Class SVM, LOF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sample_356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0.168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Mahalanobis, IForest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4590288"/>
            <a:ext cx="2834640" cy="1325880"/>
          </a:xfrm>
          <a:prstGeom prst="rect">
            <a:avLst/>
          </a:prstGeom>
          <a:noFill/>
        </p:spPr>
        <p:txBody>
          <a:bodyPr wrap="square" lIns="27432" tIns="18288" rIns="27432" bIns="18288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AD外手法数の分布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0手法: 106件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1手法: 13件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2手法以上: 8件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（2:4件, 4:1件, 5:3件）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3320" y="4773168"/>
            <a:ext cx="5029200" cy="1234440"/>
          </a:xfrm>
          <a:prstGeom prst="rect">
            <a:avLst/>
          </a:prstGeom>
          <a:noFill/>
        </p:spPr>
        <p:txBody>
          <a:bodyPr wrap="square" lIns="27432" tIns="18288" rIns="27432" bIns="18288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・複数手法でAD外になる点は特に注意して読む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・1手法だけのAD外は、その手法の仮定に依存しやすい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・106件はどの手法でもAD内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8229600" cy="256032"/>
          </a:xfrm>
          <a:prstGeom prst="rect">
            <a:avLst/>
          </a:prstGeom>
          <a:noFill/>
        </p:spPr>
        <p:txBody>
          <a:bodyPr wrap="square" lIns="27432" tIns="18288" rIns="27432" bIns="18288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A5A5A5"/>
                </a:solidFill>
                <a:latin typeface="Times New Roman"/>
                <a:ea typeface="メイリオ"/>
                <a:cs typeface="Times New Roman"/>
              </a:rPr>
              <a:t>対応: notebook 6章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34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AD外集合の一致度を見る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4617720" cy="3520440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cell16_overlap_jac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23" y="1097280"/>
            <a:ext cx="4255874" cy="3520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349240" y="1188720"/>
            <a:ext cx="3495822" cy="2571601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重なり数は「同じサンプルをAD外にした数」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Jaccard係数は、AD外集合の</a:t>
            </a:r>
            <a:endParaRPr lang="en-US" sz="1800" b="0">
              <a:solidFill>
                <a:srgbClr val="000000"/>
              </a:solidFill>
              <a:latin typeface="Times New Roman"/>
              <a:ea typeface="メイリオ"/>
              <a:cs typeface="Times New Roman"/>
            </a:endParaRP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類似度を0から1で表す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kNN と Mahalanobis は、kNNのAD外4件をすべて共有している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PCA再構成誤差は他手法と</a:t>
            </a:r>
            <a:endParaRPr lang="en-US" sz="1800" b="0">
              <a:solidFill>
                <a:srgbClr val="000000"/>
              </a:solidFill>
              <a:latin typeface="Times New Roman"/>
              <a:ea typeface="メイリオ"/>
              <a:cs typeface="Times New Roman"/>
            </a:endParaRP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違う点を拾いやすい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72944" y="5760720"/>
            <a:ext cx="5998112" cy="33060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一致しないこと自体が、手法ごとの仮定の違いを示す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8229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969696"/>
                </a:solidFill>
                <a:latin typeface="Times New Roman"/>
                <a:ea typeface="メイリオ"/>
                <a:cs typeface="Times New Roman"/>
              </a:rPr>
              <a:t>対応: notebook 7章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34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PCA平面でAD外点を見比べる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1408" y="1339424"/>
            <a:ext cx="5456538" cy="3766796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  <a:p>
            <a:pPr algn="ctr"/>
            <a:endParaRPr lang="en-US"/>
          </a:p>
          <a:p>
            <a:pPr algn="ctr"/>
            <a:endParaRPr lang="en-US"/>
          </a:p>
          <a:p>
            <a:pPr algn="ctr"/>
            <a:endParaRPr lang="en-US"/>
          </a:p>
          <a:p>
            <a:pPr algn="ctr"/>
            <a:endParaRPr lang="en-US"/>
          </a:p>
          <a:p>
            <a:pPr algn="ctr"/>
            <a:endParaRPr lang="en-US"/>
          </a:p>
          <a:p>
            <a:pPr algn="ctr"/>
            <a:endParaRPr lang="en-US"/>
          </a:p>
          <a:p>
            <a:pPr algn="ctr"/>
            <a:endParaRPr lang="en-US"/>
          </a:p>
          <a:p>
            <a:pPr algn="ctr"/>
            <a:endParaRPr lang="en-US"/>
          </a:p>
          <a:p>
            <a:pPr algn="ctr"/>
            <a:endParaRPr lang="en-US"/>
          </a:p>
          <a:p>
            <a:pPr algn="ctr"/>
            <a:endParaRPr/>
          </a:p>
        </p:txBody>
      </p:sp>
      <p:pic>
        <p:nvPicPr>
          <p:cNvPr id="5" name="Picture 4" descr="cell18_pca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06" y="1657680"/>
            <a:ext cx="5346572" cy="31019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44663" y="1627200"/>
            <a:ext cx="3288322" cy="2221121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AD判定は元の13次元標準化空間で行う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PCA 2次元図は直感把握の</a:t>
            </a:r>
            <a:endParaRPr lang="en-US" sz="1800" b="0">
              <a:solidFill>
                <a:srgbClr val="000000"/>
              </a:solidFill>
              <a:latin typeface="Times New Roman"/>
              <a:ea typeface="メイリオ"/>
              <a:cs typeface="Times New Roman"/>
            </a:endParaRP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ための補助図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中心から遠い点、局所的に孤立した点、主成分で表せない点は別物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42220" y="5681150"/>
            <a:ext cx="5259559" cy="33060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2次元で近く見えても、元空間で近いとは限らない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8229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969696"/>
                </a:solidFill>
                <a:latin typeface="Times New Roman"/>
                <a:ea typeface="メイリオ"/>
                <a:cs typeface="Times New Roman"/>
              </a:rPr>
              <a:t>対応: notebook 8章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34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ADスコアと予測誤差の関係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5166360" cy="3886200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cell20_score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43641"/>
            <a:ext cx="5166360" cy="35569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33050" y="1124549"/>
            <a:ext cx="2674620" cy="281949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横軸は各手法の異常度スコア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赤い破線より右側がAD外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スコアが高いほど必ず誤差が大きい、とは</a:t>
            </a:r>
            <a:endParaRPr lang="en-US">
              <a:solidFill>
                <a:srgbClr val="000000"/>
              </a:solidFill>
              <a:latin typeface="Times New Roman"/>
              <a:ea typeface="メイリオ"/>
              <a:cs typeface="Times New Roman"/>
            </a:endParaRP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限らない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 誤差が大きいAD内点も確認する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8892" y="5907024"/>
            <a:ext cx="7526215" cy="33060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ADは「外れそうな入力」を見る補助指標であり、誤差そのものではない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8229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0">
                <a:solidFill>
                  <a:srgbClr val="969696"/>
                </a:solidFill>
                <a:latin typeface="Times New Roman"/>
                <a:ea typeface="メイリオ"/>
                <a:cs typeface="Times New Roman"/>
              </a:rPr>
              <a:t>対応: notebook 9章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8321040" cy="658368"/>
          </a:xfrm>
          <a:prstGeom prst="rect">
            <a:avLst/>
          </a:prstGeom>
          <a:noFill/>
        </p:spPr>
        <p:txBody>
          <a:bodyPr wrap="square" lIns="27432" tIns="18288" rIns="27432" bIns="18288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2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演習で確認すること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8321040" cy="228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1078992"/>
            <a:ext cx="8046720" cy="301752"/>
          </a:xfrm>
          <a:prstGeom prst="rect">
            <a:avLst/>
          </a:prstGeom>
          <a:noFill/>
        </p:spPr>
        <p:txBody>
          <a:bodyPr wrap="square" lIns="27432" tIns="18288" rIns="27432" bIns="18288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AD_PERCENTILE = 95 の基準結果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7608830"/>
              </p:ext>
            </p:extLst>
          </p:nvPr>
        </p:nvGraphicFramePr>
        <p:xfrm>
          <a:off x="502920" y="1417320"/>
          <a:ext cx="8183880" cy="267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method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AD外n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AD内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MAE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AD外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MAE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AD外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RMSE</a:t>
                      </a:r>
                    </a:p>
                  </a:txBody>
                  <a:tcPr marL="27432" marR="27432" marT="18288" marB="18288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Isolation Forest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4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2.007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2.660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4.096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Local Outlier Factor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6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2.015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2.291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2.564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Mahalanobis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7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1.954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3.288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4.157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One-Class SVM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12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1.908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3.174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4.069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PCA recon. err.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7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1.987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2.722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3.137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kNN mean dist.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4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1.976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3.626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  <a:ea typeface="メイリオ"/>
                          <a:cs typeface="Times New Roman"/>
                        </a:rPr>
                        <a:t>4.565</a:t>
                      </a:r>
                    </a:p>
                  </a:txBody>
                  <a:tcPr marL="27432" marR="27432" marT="18288" marB="18288"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407408"/>
            <a:ext cx="7955279" cy="960120"/>
          </a:xfrm>
          <a:prstGeom prst="rect">
            <a:avLst/>
          </a:prstGeom>
          <a:noFill/>
        </p:spPr>
        <p:txBody>
          <a:bodyPr wrap="square" lIns="27432" tIns="18288" rIns="27432" bIns="18288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・AD_PERCENTILE を90にするとAD外が増え、99にすると減る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・kNN と LOF は近傍数 K_NEIGHBORS の影響を受ける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・件数が少ないAD外平均誤差は不安定になりやすい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441" y="5623560"/>
            <a:ext cx="7703117" cy="594360"/>
          </a:xfrm>
          <a:prstGeom prst="rect">
            <a:avLst/>
          </a:prstGeom>
          <a:noFill/>
        </p:spPr>
        <p:txBody>
          <a:bodyPr wrap="square" lIns="27432" tIns="18288" rIns="27432" bIns="18288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000000"/>
                </a:solidFill>
                <a:latin typeface="Times New Roman"/>
                <a:ea typeface="メイリオ"/>
                <a:cs typeface="Times New Roman"/>
              </a:rPr>
              <a:t>まとめ: 手法ごとに別の「外れ方」を見る。複数手法の一致/不一致から、予測値を慎重に扱う点を見つける。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8229600" cy="256032"/>
          </a:xfrm>
          <a:prstGeom prst="rect">
            <a:avLst/>
          </a:prstGeom>
          <a:noFill/>
        </p:spPr>
        <p:txBody>
          <a:bodyPr wrap="square" lIns="27432" tIns="18288" rIns="27432" bIns="18288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A5A5A5"/>
                </a:solidFill>
                <a:latin typeface="Times New Roman"/>
                <a:ea typeface="メイリオ"/>
                <a:cs typeface="Times New Roman"/>
              </a:rPr>
              <a:t>対応: notebook Exercises / まとめ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337</TotalTime>
  <Words>1246</Words>
  <Application>Microsoft Macintosh PowerPoint</Application>
  <PresentationFormat>画面に合わせる (4:3)</PresentationFormat>
  <Paragraphs>394</Paragraphs>
  <Slides>18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4" baseType="lpstr">
      <vt:lpstr>Meiryo</vt:lpstr>
      <vt:lpstr>游ゴシック</vt:lpstr>
      <vt:lpstr>Arial</vt:lpstr>
      <vt:lpstr>Calibri</vt:lpstr>
      <vt:lpstr>Times New Roman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Fukumoto Riku</cp:lastModifiedBy>
  <cp:revision>22</cp:revision>
  <dcterms:created xsi:type="dcterms:W3CDTF">2013-01-27T09:14:16Z</dcterms:created>
  <dcterms:modified xsi:type="dcterms:W3CDTF">2026-07-06T08:16:18Z</dcterms:modified>
  <cp:category/>
</cp:coreProperties>
</file>