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2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22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1"/>
          </p:nvPr>
        </p:nvSpPr>
        <p:spPr>
          <a:xfrm>
            <a:off x="685800" y="685800"/>
            <a:ext cx="5486400" cy="4114800"/>
          </a:xfrm>
          <a:prstGeom prst="rect">
            <a:avLst/>
          </a:prstGeom>
        </p:spPr>
      </p:sp>
      <p:sp>
        <p:nvSpPr>
          <p:cNvPr id="3" name="Notes Placeholder"/>
          <p:cNvSpPr>
            <a:spLocks noGrp="1"/>
          </p:cNvSpPr>
          <p:nvPr>
            <p:ph type="body" idx="2"/>
          </p:nvPr>
        </p:nvSpPr>
        <p:spPr>
          <a:xfrm>
            <a:off x="685800" y="5334000"/>
            <a:ext cx="5486400" cy="3048000"/>
          </a:xfrm>
          <a:prstGeom prst="rect">
            <a:avLst/>
          </a:prstGeom>
        </p:spPr>
        <p:txBody>
          <a:bodyPr/>
          <a:lstStyle/>
          <a:p>
            <a:endParaRPr lang="ja-JP" sz="1200"/>
          </a:p>
        </p:txBody>
      </p:sp>
      <p:sp>
        <p:nvSpPr>
          <p:cNvPr id="4" name="Header Placeholder"/>
          <p:cNvSpPr>
            <a:spLocks noGrp="1"/>
          </p:cNvSpPr>
          <p:nvPr>
            <p:ph type="hdr" sz="quarter" idx="3"/>
          </p:nvPr>
        </p:nvSpPr>
        <p:spPr>
          <a:xfrm>
            <a:off x="685800" y="274638"/>
            <a:ext cx="29718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Date Placeholder"/>
          <p:cNvSpPr>
            <a:spLocks noGrp="1"/>
          </p:cNvSpPr>
          <p:nvPr>
            <p:ph type="dt" sz="quarter" idx="4"/>
          </p:nvPr>
        </p:nvSpPr>
        <p:spPr>
          <a:xfrm>
            <a:off x="3886200" y="274638"/>
            <a:ext cx="22860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5"/>
          </p:nvPr>
        </p:nvSpPr>
        <p:spPr>
          <a:xfrm>
            <a:off x="685800" y="8585200"/>
            <a:ext cx="29718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6"/>
          </p:nvPr>
        </p:nvSpPr>
        <p:spPr>
          <a:xfrm>
            <a:off x="3886200" y="8585200"/>
            <a:ext cx="22860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lang="ja-JP" sz="1200"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960120"/>
            <a:ext cx="7863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4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AD判定を使った全モデル比較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7863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Supplement: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7863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4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Boston Housing の AD 内外性能を読み解く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36592"/>
            <a:ext cx="7863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Python Seminar 第7回 補足資料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85232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2026-07-07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この補足資料の位置づけ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877" y="1325880"/>
            <a:ext cx="5376247" cy="221996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本編では、RMSE最小モデルを選び、</a:t>
            </a:r>
            <a:endParaRPr lang="en-US" sz="21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その予測結果に AD ラベルを付けて確認した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この補足では、同じ AD 判定をすべてのモデルの予測結果に付ける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見るポイントは「全体で良いモデル」が「AD外でも良い」とは限らない点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32588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42432" y="139903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4F81BD"/>
                </a:solidFill>
                <a:latin typeface="Times New Roman"/>
                <a:ea typeface="メイリオ"/>
                <a:cs typeface="Times New Roman"/>
              </a:rPr>
              <a:t>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42432" y="166420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114032" y="132588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87184" y="139903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56965C"/>
                </a:solidFill>
                <a:latin typeface="Times New Roman"/>
                <a:ea typeface="メイリオ"/>
                <a:cs typeface="Times New Roman"/>
              </a:rP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7184" y="166420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256032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42432" y="263347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4F81BD"/>
                </a:solidFill>
                <a:latin typeface="Times New Roman"/>
                <a:ea typeface="メイリオ"/>
                <a:cs typeface="Times New Roman"/>
              </a:rPr>
              <a:t>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42432" y="289864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4032" y="256032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87184" y="263347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C00000"/>
                </a:solidFill>
                <a:latin typeface="Times New Roman"/>
                <a:ea typeface="メイリオ"/>
                <a:cs typeface="Times New Roman"/>
              </a:rPr>
              <a:t>outside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4" y="289864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8794" y="4572000"/>
            <a:ext cx="5466411" cy="110318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 は「モデルが何を予測したか」ではなく「入力が学習データにどれだけ近いか」</a:t>
            </a:r>
            <a:endParaRPr lang="en-US" sz="2100" b="1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から決まる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0-1章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全モデル比較の処理フロー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1. 分割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Boston data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train / test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865376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91840" y="132588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41732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2. 標準化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83080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fit は train のみ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test は transform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49240" y="1865376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080760" y="132588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3. AD判定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783080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kNN平均距離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95 percentile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2044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61188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4. 全モデル学習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39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同じ train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同じ test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4059936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291840" y="352044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361188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5. tidy化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977639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1行 = model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× sample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49240" y="4059936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80760" y="3520440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72200" y="3611880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6. AD内外比較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77639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MAE / RMSE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順位・個別点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0092" y="5440680"/>
            <a:ext cx="7123815" cy="71006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AD判定は1回だけ作り、そのラベルを各モデルの予測表に結合して比較する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2-6章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ADラベルは全モデルで共通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4297680" cy="2258568"/>
          </a:xfrm>
          <a:prstGeom prst="rect">
            <a:avLst/>
          </a:prstGeom>
          <a:solidFill>
            <a:srgbClr val="F5F5F5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1225296"/>
            <a:ext cx="4151376" cy="1764791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nn = NearestNeighbors(n_neighbors=K + 1)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nn.fit(X_train_scaled)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threshold = percentile(train_mean, 95)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test_mean = mean_distance_to_train(X_test_scaled)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 = np.where(test_mean &lt;= threshold, 'inside', 'outside')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188720"/>
            <a:ext cx="3429000" cy="187451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距離計算に使うのは標準化後の説明変数だけ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目的変数 MEDV や予測誤差は AD 判定に使わない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回帰モデルを変えても inside / outside は変わらない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511899"/>
              </p:ext>
            </p:extLst>
          </p:nvPr>
        </p:nvGraphicFramePr>
        <p:xfrm>
          <a:off x="658368" y="3730752"/>
          <a:ext cx="38861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5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3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0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0662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kNN距離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outside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3.924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outside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outside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2.757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outside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74920" y="3730752"/>
            <a:ext cx="150876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48072" y="3803904"/>
            <a:ext cx="136245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E67E22"/>
                </a:solidFill>
                <a:latin typeface="Times New Roman"/>
                <a:ea typeface="メイリオ"/>
                <a:cs typeface="Times New Roman"/>
              </a:rPr>
              <a:t>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8072" y="4069080"/>
            <a:ext cx="136245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2.435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3730752"/>
            <a:ext cx="150876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76872" y="3803904"/>
            <a:ext cx="136245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C00000"/>
                </a:solidFill>
                <a:latin typeface="Times New Roman"/>
                <a:ea typeface="メイリオ"/>
                <a:cs typeface="Times New Roman"/>
              </a:rPr>
              <a:t>AD外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6872" y="4069080"/>
            <a:ext cx="136245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4 / 127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5001768"/>
            <a:ext cx="356616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AD外は少数なので、平均値だけで結論を強く言い切らない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3章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Hold-Out 全体性能の比較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3840480" cy="32004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RMSE上位モデル（略記）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36592" y="1078992"/>
            <a:ext cx="3840480" cy="32004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線形系・基準モデル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473529"/>
              </p:ext>
            </p:extLst>
          </p:nvPr>
        </p:nvGraphicFramePr>
        <p:xfrm>
          <a:off x="502920" y="1444752"/>
          <a:ext cx="3977640" cy="2587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model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R2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Grad Boost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2.99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Random Forest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2.18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Hist GB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2.10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Extra Trees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3.45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Decision Tree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3.71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SVR (RBF)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2.13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3.76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0.80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392602"/>
              </p:ext>
            </p:extLst>
          </p:nvPr>
        </p:nvGraphicFramePr>
        <p:xfrm>
          <a:off x="4663440" y="1444752"/>
          <a:ext cx="39776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model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R2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Linear Reg.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3.06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4.70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0.68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Ridge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3.06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4.70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0.68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Lasso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3.05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4.70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0.68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Elastic Net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3.05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4.71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0.68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Dummy mean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6.22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8.50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-0.03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407408"/>
            <a:ext cx="7955279" cy="105156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・全体RMSEでは Gradient Boosting が最小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・線形モデル群は全体RMSEがほぼ同じ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・Dummy は最低限の比較基準として扱う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8005" y="283464"/>
            <a:ext cx="883884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予測結果を「モデル × サンプル」の表にする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1115568"/>
            <a:ext cx="4526280" cy="1920240"/>
          </a:xfrm>
          <a:prstGeom prst="rect">
            <a:avLst/>
          </a:prstGeom>
          <a:solidFill>
            <a:srgbClr val="F5F5F5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1170432"/>
            <a:ext cx="4379976" cy="1810512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 fontScale="85000" lnSpcReduction="20000"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for model_name, y_pred in model_predictions.items():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residual = y_test - y_pred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one_model = DataFrame({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    'model': model_name,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    'sample_id': y_test.index,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    'abs_error': abs(residual),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    'AD': ad_info['AD'],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9784" y="1115568"/>
            <a:ext cx="3886200" cy="16484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13モデル × 127テスト点 = 1651行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同じサンプルに対する誤差を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モデル横断で比較できる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groupby で AD内外の平均誤差を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計算しやすい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703320"/>
            <a:ext cx="7818120" cy="1115568"/>
          </a:xfrm>
          <a:prstGeom prst="rect">
            <a:avLst/>
          </a:prstGeom>
          <a:solidFill>
            <a:srgbClr val="F5F5F5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7671816" cy="1005840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model_ad_comparison = (all_model_results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.groupby(['model', 'AD'])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   .agg(MAE=('abs_error', 'mean'), RMSE=('residual', rmse_from_residual)))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8783" y="5192363"/>
            <a:ext cx="6597290" cy="611321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ポイント: ADラベルを予測表に付けることで、モデルの違いを「AD外で誤差が増えるか」として読める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5-6章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AD内外で性能を分けて見る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29768" y="1115568"/>
            <a:ext cx="8284464" cy="297180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15_model_ad_bar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245491"/>
            <a:ext cx="8284464" cy="2711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425696"/>
            <a:ext cx="8046720" cy="99873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全体RMSEの順位と、AD外RMSEの順位は一致しない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線形モデルはAD外4点で誤差が大きく、outside RMSE が約14まで上がる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Decision Tree のAD外RMSEは小さいが、AD外が4点だけなので過信しない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7章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順位の変化: 全体最良がAD外最良とは限らない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755593"/>
              </p:ext>
            </p:extLst>
          </p:nvPr>
        </p:nvGraphicFramePr>
        <p:xfrm>
          <a:off x="502920" y="1234440"/>
          <a:ext cx="53492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model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全体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AD内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Decision Tree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2.097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Extra Trees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3.358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AdaBoost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3.818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Random Forest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3.859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Hist GB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4.361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Grad Boost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4.565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5.365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SVR (RBF)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6.620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53328" y="1234440"/>
            <a:ext cx="2792960" cy="274320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・Gradient Boosting は全体1位だが、AD外RMSEでは6位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・Decision Tree はAD外4点では1位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・AD外だけの順位は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「追加確認の観点」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として読む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790956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判断の順番: 全体性能を見る → AD内外で崩れ方を見る → AD外サンプルを確認する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10章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kNN平均距離と誤差の関係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29768" y="1069848"/>
            <a:ext cx="4983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17_distance_error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181572"/>
            <a:ext cx="4983480" cy="4211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23559" y="1170432"/>
            <a:ext cx="3318421" cy="227241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横軸はAD判定に使った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 kNN 平均距離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赤い破線より右が AD 外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同じAD外点でも、誤差の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大きさはモデルによって異なる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距離が大きいほど必ず誤差が大きい、とは読まない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59" y="4608576"/>
            <a:ext cx="3201463" cy="9289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ADは誤差そのものではなく、誤差が大きくなりやすい入力を見つける補助線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8章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実測値と予測値をAD内外で見る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29768" y="1069848"/>
            <a:ext cx="4983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19_actual_pred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182919"/>
            <a:ext cx="4983480" cy="42086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23559" y="1170432"/>
            <a:ext cx="3339687" cy="259724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対角線に近いほど予測が良い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AD外点は全モデルで同じ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サンプル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モデルごとに、AD外点が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どちら側へ外れるかを確認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できる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線形モデルでは一部AD外点が大きく外れている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4608576"/>
            <a:ext cx="3108960" cy="9289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AD外を色分けすると、全体指標では隠れる「危ない点」が見える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9章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AD外4サンプルを個別に確認する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56906"/>
              </p:ext>
            </p:extLst>
          </p:nvPr>
        </p:nvGraphicFramePr>
        <p:xfrm>
          <a:off x="411480" y="1170432"/>
          <a:ext cx="8321040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距離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平均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誤差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最小誤差モデル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最大誤差モデル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4.468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4.140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Random Forest (0.163)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Dummy mean (14.108)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3.924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7.183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Hist GB (0.356)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Dummy mean (15.908)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sample_366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2.767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6.224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SVR (RBF) (0.519)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Elastic Net (14.770)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2.757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10.109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Decision Tree (2.800)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Elastic Net (18.690)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069080"/>
            <a:ext cx="7909560" cy="105156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・sample_413 は複数モデルで大きく外れている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・sample_419 は距離が最大でも、モデルによって誤差が小さい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・AD外候補は「捨てる」前に追加検証する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94960"/>
            <a:ext cx="7909560" cy="43891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材料スクリーニングでも、AD外候補は「追加検証が必要」と扱う。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11-12章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しきい値を変える演習で確認すること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8046720" cy="30175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AD_PERCENTILE = 90 の例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262507"/>
              </p:ext>
            </p:extLst>
          </p:nvPr>
        </p:nvGraphicFramePr>
        <p:xfrm>
          <a:off x="411480" y="1371600"/>
          <a:ext cx="8321042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8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2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6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62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81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model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AD外n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AD内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MAE差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Decision Tree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3.756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2.591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-0.354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Extra Trees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3.472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2.874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0.068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Random Forest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3.360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3.344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0.425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AdaBoost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4.027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3.445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0.386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Hist GB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3.359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3.703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0.454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Grad Boost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2.951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3.735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0.537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4.492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4.401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0.381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SVR (RBF)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3.648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5.481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2.250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7909560" cy="84124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・95%ではAD外4件、90%では6件に増える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・AD外RMSEはサンプル数と選ばれた点に依存する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・K_NEIGHBORS も変えて、点が安定するか確認する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52160"/>
            <a:ext cx="7522748" cy="50292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まとめ: ADラベルは入力空間から決まる。</a:t>
            </a:r>
            <a:endParaRPr lang="en-US" sz="1800" b="1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全体性能だけでなく、AD外の誤差増加と個別サンプルをセットで読む。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Exercises / まとめ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936</Words>
  <Application>Microsoft Macintosh PowerPoint</Application>
  <PresentationFormat>画面に合わせる (4:3)</PresentationFormat>
  <Paragraphs>316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Arial</vt:lpstr>
      <vt:lpstr>Calibri</vt:lpstr>
      <vt:lpstr>Times New Roman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Fukumoto Riku</cp:lastModifiedBy>
  <cp:revision>17</cp:revision>
  <dcterms:created xsi:type="dcterms:W3CDTF">2013-01-27T09:14:16Z</dcterms:created>
  <dcterms:modified xsi:type="dcterms:W3CDTF">2026-07-06T08:51:01Z</dcterms:modified>
  <cp:category/>
</cp:coreProperties>
</file>