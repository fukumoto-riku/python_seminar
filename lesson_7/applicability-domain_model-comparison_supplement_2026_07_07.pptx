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0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07"/>
    <p:restoredTop sz="94680"/>
  </p:normalViewPr>
  <p:slideViewPr>
    <p:cSldViewPr snapToGrid="0" snapToObjects="1">
      <p:cViewPr varScale="1">
        <p:scale>
          <a:sx n="145" d="100"/>
          <a:sy n="145" d="100"/>
        </p:scale>
        <p:origin x="1832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"/>
          <p:cNvSpPr>
            <a:spLocks noGrp="1" noRot="1" noChangeAspect="1"/>
          </p:cNvSpPr>
          <p:nvPr>
            <p:ph type="sldImg" idx="1"/>
          </p:nvPr>
        </p:nvSpPr>
        <p:spPr>
          <a:xfrm>
            <a:off x="685800" y="685800"/>
            <a:ext cx="5486400" cy="4114800"/>
          </a:xfrm>
          <a:prstGeom prst="rect">
            <a:avLst/>
          </a:prstGeom>
        </p:spPr>
      </p:sp>
      <p:sp>
        <p:nvSpPr>
          <p:cNvPr id="3" name="Notes Placeholder"/>
          <p:cNvSpPr>
            <a:spLocks noGrp="1"/>
          </p:cNvSpPr>
          <p:nvPr>
            <p:ph type="body" idx="2"/>
          </p:nvPr>
        </p:nvSpPr>
        <p:spPr>
          <a:xfrm>
            <a:off x="685800" y="5334000"/>
            <a:ext cx="5486400" cy="3048000"/>
          </a:xfrm>
          <a:prstGeom prst="rect">
            <a:avLst/>
          </a:prstGeom>
        </p:spPr>
        <p:txBody>
          <a:bodyPr/>
          <a:lstStyle/>
          <a:p>
            <a:endParaRPr lang="ja-JP" sz="1200"/>
          </a:p>
        </p:txBody>
      </p:sp>
      <p:sp>
        <p:nvSpPr>
          <p:cNvPr id="4" name="Header Placeholder"/>
          <p:cNvSpPr>
            <a:spLocks noGrp="1"/>
          </p:cNvSpPr>
          <p:nvPr>
            <p:ph type="hdr" sz="quarter" idx="3"/>
          </p:nvPr>
        </p:nvSpPr>
        <p:spPr>
          <a:xfrm>
            <a:off x="685800" y="274638"/>
            <a:ext cx="297180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Date Placeholder"/>
          <p:cNvSpPr>
            <a:spLocks noGrp="1"/>
          </p:cNvSpPr>
          <p:nvPr>
            <p:ph type="dt" sz="quarter" idx="4"/>
          </p:nvPr>
        </p:nvSpPr>
        <p:spPr>
          <a:xfrm>
            <a:off x="3886200" y="274638"/>
            <a:ext cx="228600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5"/>
          </p:nvPr>
        </p:nvSpPr>
        <p:spPr>
          <a:xfrm>
            <a:off x="685800" y="8585200"/>
            <a:ext cx="297180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6"/>
          </p:nvPr>
        </p:nvSpPr>
        <p:spPr>
          <a:xfrm>
            <a:off x="3886200" y="8585200"/>
            <a:ext cx="2286000" cy="4572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>
      <a:defRPr lang="ja-JP" sz="1200">
        <a:latin typeface="+mn-lt"/>
        <a:ea typeface="+mn-ea"/>
        <a:cs typeface="+mn-cs"/>
      </a:defRPr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60120"/>
            <a:ext cx="7863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42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AD判定を使った全モデル比較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74519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Supplement: model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71800"/>
            <a:ext cx="7863840" cy="4389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4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Boston Housing の AD 内外性能を読み解く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736592"/>
            <a:ext cx="7863840" cy="3474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2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Python Seminar 第7回 補足資料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285232"/>
            <a:ext cx="78638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0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2026-07-07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この補足資料の位置づけ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4709160" cy="2743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1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本編では、RMSE最小モデルを選び、その予測結果に AD ラベルを付けて確認した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1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この補足では、同じ AD 判定をすべてのモデルの予測結果に付ける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21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見るポイントは「全体で良いモデル」が「AD外でも良い」とは限らない点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0" y="1325880"/>
            <a:ext cx="12344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42432" y="1399032"/>
            <a:ext cx="1088136" cy="21945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4F81BD"/>
                </a:solidFill>
                <a:latin typeface="Times New Roman"/>
                <a:ea typeface="メイリオ"/>
                <a:cs typeface="Times New Roman"/>
              </a:rPr>
              <a:t>models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42432" y="1664208"/>
            <a:ext cx="1088136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13</a:t>
            </a:r>
          </a:p>
        </p:txBody>
      </p:sp>
      <p:sp>
        <p:nvSpPr>
          <p:cNvPr id="8" name="Rectangle 7"/>
          <p:cNvSpPr/>
          <p:nvPr/>
        </p:nvSpPr>
        <p:spPr>
          <a:xfrm>
            <a:off x="7114032" y="1325880"/>
            <a:ext cx="12344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87184" y="1399032"/>
            <a:ext cx="1088136" cy="21945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56965C"/>
                </a:solidFill>
                <a:latin typeface="Times New Roman"/>
                <a:ea typeface="メイリオ"/>
                <a:cs typeface="Times New Roman"/>
              </a:rPr>
              <a:t>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87184" y="1664208"/>
            <a:ext cx="1088136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127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0" y="2560320"/>
            <a:ext cx="12344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42432" y="2633472"/>
            <a:ext cx="1088136" cy="21945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4F81BD"/>
                </a:solidFill>
                <a:latin typeface="Times New Roman"/>
                <a:ea typeface="メイリオ"/>
                <a:cs typeface="Times New Roman"/>
              </a:rPr>
              <a:t>inside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42432" y="2898648"/>
            <a:ext cx="1088136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123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14032" y="2560320"/>
            <a:ext cx="1234440" cy="96012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87184" y="2633472"/>
            <a:ext cx="1088136" cy="21945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  <a:latin typeface="Times New Roman"/>
                <a:ea typeface="メイリオ"/>
                <a:cs typeface="Times New Roman"/>
              </a:rPr>
              <a:t>outside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87184" y="2898648"/>
            <a:ext cx="1088136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754880"/>
            <a:ext cx="8046720" cy="50292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 は「モデルが何を予測したか」ではなく「入力が学習データにどれだけ近いか」から決まる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969696"/>
                </a:solidFill>
                <a:latin typeface="Times New Roman"/>
                <a:ea typeface="メイリオ"/>
                <a:cs typeface="Times New Roman"/>
              </a:rPr>
              <a:t>対応: notebook 0-1章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全モデル比較の処理フロー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1325880"/>
            <a:ext cx="20574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17320"/>
            <a:ext cx="1874519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1. 分割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783080"/>
            <a:ext cx="1874519" cy="47548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Boston data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train / test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560320" y="1865376"/>
            <a:ext cx="73152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291840" y="1325880"/>
            <a:ext cx="20574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417320"/>
            <a:ext cx="1874519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2. 標準化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783080"/>
            <a:ext cx="1874519" cy="47548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fit は train のみ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test は transform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349240" y="1865376"/>
            <a:ext cx="73152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080760" y="1325880"/>
            <a:ext cx="20574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417320"/>
            <a:ext cx="1874519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3. AD判定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783080"/>
            <a:ext cx="1874519" cy="47548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kNN平均距離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95 percentile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520440"/>
            <a:ext cx="20574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3611880"/>
            <a:ext cx="1874519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4. 全モデル学習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3977639"/>
            <a:ext cx="1874519" cy="47548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同じ train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同じ test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560320" y="4059936"/>
            <a:ext cx="73152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291840" y="3520440"/>
            <a:ext cx="20574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3611880"/>
            <a:ext cx="1874519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5. tidy化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3977639"/>
            <a:ext cx="1874519" cy="47548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1行 = model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× sample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349240" y="4059936"/>
            <a:ext cx="731520" cy="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6080760" y="3520440"/>
            <a:ext cx="2057400" cy="1078992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3611880"/>
            <a:ext cx="1874519" cy="27432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6. AD内外比較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72200" y="3977639"/>
            <a:ext cx="1874519" cy="475488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MAE / RMSE</a:t>
            </a:r>
          </a:p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順位・個別点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5596128"/>
            <a:ext cx="7863840" cy="438912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1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AD判定は1回だけ作り、そのラベルを各モデルの予測表に結合して比較する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969696"/>
                </a:solidFill>
                <a:latin typeface="Times New Roman"/>
                <a:ea typeface="メイリオ"/>
                <a:cs typeface="Times New Roman"/>
              </a:rPr>
              <a:t>対応: notebook 2-6章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ADラベルは全モデルで共通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1170432"/>
            <a:ext cx="4297680" cy="1874519"/>
          </a:xfrm>
          <a:prstGeom prst="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225296"/>
            <a:ext cx="4151376" cy="1764791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nn = NearestNeighbors(n_neighbors=K + 1)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nn.fit(X_train_scaled)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threshold = percentile(train_mean, 95)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test_mean = mean_distance_to_train(X_test_scaled)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 = np.where(test_mean &lt;= threshold, 'inside', 'outside')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74920" y="1188720"/>
            <a:ext cx="3429000" cy="1874519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距離計算に使うのは標準化後の説明変数だけ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目的変数 MEDV や予測誤差は AD 判定に使わない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回帰モデルを変えても inside / outside は変わらない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58368" y="3730752"/>
          <a:ext cx="3886198" cy="13533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5514"/>
                <a:gridCol w="1110342"/>
                <a:gridCol w="1110342"/>
              </a:tblGrid>
              <a:tr h="270662"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kNN距離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 lIns="27432" rIns="27432" tIns="18288" bIns="18288"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270662">
                <a:tc>
                  <a:txBody>
                    <a:bodyPr wrap="square" lIns="27432" rIns="27432" tIns="18288" bIns="18288">
                      <a:norm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sample_419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4.468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outside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662">
                <a:tc>
                  <a:txBody>
                    <a:bodyPr wrap="square" lIns="27432" rIns="27432" tIns="18288" bIns="18288">
                      <a:norm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sample_415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 lIns="27432" rIns="27432" tIns="18288" bIns="18288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3.924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 lIns="27432" rIns="27432" tIns="18288" bIns="18288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outside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  <a:tr h="270662">
                <a:tc>
                  <a:txBody>
                    <a:bodyPr wrap="square" lIns="27432" rIns="27432" tIns="18288" bIns="18288">
                      <a:norm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sample_366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outside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662">
                <a:tc>
                  <a:txBody>
                    <a:bodyPr wrap="square" lIns="27432" rIns="27432" tIns="18288" bIns="18288">
                      <a:norm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sample_413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 lIns="27432" rIns="27432" tIns="18288" bIns="18288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2.757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  <a:tc>
                  <a:txBody>
                    <a:bodyPr wrap="square" lIns="27432" rIns="27432" tIns="18288" bIns="18288">
                      <a:norm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outside</a:t>
                      </a:r>
                    </a:p>
                  </a:txBody>
                  <a:tcPr>
                    <a:solidFill>
                      <a:srgbClr val="F8F8F8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74920" y="3730752"/>
            <a:ext cx="15087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8072" y="3803904"/>
            <a:ext cx="1362456" cy="21945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E67E22"/>
                </a:solidFill>
                <a:latin typeface="Times New Roman"/>
                <a:ea typeface="メイリオ"/>
                <a:cs typeface="Times New Roman"/>
              </a:rPr>
              <a:t>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148072" y="4069080"/>
            <a:ext cx="1362456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2.435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03720" y="3730752"/>
            <a:ext cx="15087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96969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3803904"/>
            <a:ext cx="1362456" cy="219456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C00000"/>
                </a:solidFill>
                <a:latin typeface="Times New Roman"/>
                <a:ea typeface="メイリオ"/>
                <a:cs typeface="Times New Roman"/>
              </a:rPr>
              <a:t>AD外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6872" y="4069080"/>
            <a:ext cx="1362456" cy="566928"/>
          </a:xfrm>
          <a:prstGeom prst="rect">
            <a:avLst/>
          </a:prstGeom>
          <a:noFill/>
        </p:spPr>
        <p:txBody>
          <a:bodyPr wrap="square" anchor="ctr" lIns="9144" rIns="9144" tIns="9144" bIns="9144">
            <a:norm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2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4 / 127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5001768"/>
            <a:ext cx="3566160" cy="566928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AD外は少数なので、平均値だけで結論を強く言い切らない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969696"/>
                </a:solidFill>
                <a:latin typeface="Times New Roman"/>
                <a:ea typeface="メイリオ"/>
                <a:cs typeface="Times New Roman"/>
              </a:rPr>
              <a:t>対応: notebook 3章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321040" cy="658368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Hold-Out 全体性能の比較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078992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RMSE上位モデル（略記）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36592" y="1078992"/>
            <a:ext cx="3840480" cy="320040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線形系・基準モデル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44752"/>
          <a:ext cx="3977640" cy="25877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685800"/>
                <a:gridCol w="731520"/>
                <a:gridCol w="594360"/>
              </a:tblGrid>
              <a:tr h="502920"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model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MAE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RMSE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R2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Grad Boost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2.03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2.99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0.87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Random Forest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2.18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3.36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0.84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Hist GB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2.10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3.38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0.84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Extra Trees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2.01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3.45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0.83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Decision Tree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2.72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3.71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0.80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SVR (RBF)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2.13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3.76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0.80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663440" y="1444752"/>
          <a:ext cx="397764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685800"/>
                <a:gridCol w="731520"/>
                <a:gridCol w="594360"/>
              </a:tblGrid>
              <a:tr h="502920"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model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MAE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RMSE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R2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Linear Reg.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3.06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4.70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0.68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Ridge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3.06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4.70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0.68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Lasso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3.05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4.70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0.68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Elastic Net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3.05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4.71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0.68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Dummy mean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6.22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8.50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-0.03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58368" y="4407408"/>
            <a:ext cx="7955279" cy="1051560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・全体RMSEでは Gradient Boosting が最小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・線形モデル群は全体RMSEがほぼ同じ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・Dummy は最低限の比較基準として扱う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73952"/>
            <a:ext cx="8229600" cy="256032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A5A5A5"/>
                </a:solidFill>
                <a:latin typeface="Times New Roman"/>
                <a:ea typeface="メイリオ"/>
                <a:cs typeface="Times New Roman"/>
              </a:rPr>
              <a:t>対応: notebook 4章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予測結果を「モデル × サンプル」の表にする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30352" y="1115568"/>
            <a:ext cx="4526280" cy="1920240"/>
          </a:xfrm>
          <a:prstGeom prst="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3504" y="1170432"/>
            <a:ext cx="4379976" cy="1810512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for model_name, y_pred in model_predictions.items():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    residual = y_test - y_pred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    one_model = DataFrame({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        'model': model_name,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        'sample_id': y_test.index,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        'abs_error': abs(residual),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        'AD': ad_info['AD'],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    })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257800" y="1207008"/>
            <a:ext cx="3246120" cy="18288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13モデル × 127テスト点 = 1651行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同じサンプルに対する誤差をモデル横断で比較できる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groupby で AD内外の平均誤差を計算しやすい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" y="3703320"/>
            <a:ext cx="7818120" cy="1115568"/>
          </a:xfrm>
          <a:prstGeom prst="rect">
            <a:avLst/>
          </a:prstGeom>
          <a:solidFill>
            <a:srgbClr val="F5F5F5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758184"/>
            <a:ext cx="7671816" cy="1005840"/>
          </a:xfrm>
          <a:prstGeom prst="rect">
            <a:avLst/>
          </a:prstGeom>
          <a:noFill/>
        </p:spPr>
        <p:txBody>
          <a:bodyPr wrap="square" anchor="t" lIns="9144" rIns="9144" tIns="9144" bIns="9144">
            <a:norm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model_ad_comparison = (all_model_results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    .groupby(['model', 'AD'])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    .agg(MAE=('abs_error', 'mean'), RMSE=('residual', rmse_from_residual)))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5193792"/>
            <a:ext cx="7635240" cy="411480"/>
          </a:xfrm>
          <a:prstGeom prst="rect">
            <a:avLst/>
          </a:prstGeom>
          <a:noFill/>
        </p:spPr>
        <p:txBody>
          <a:bodyPr wrap="square" anchor="t" lIns="9144" rIns="9144" tIns="9144" bIns="9144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ポイント: ADラベルを予測表に付けることで、モデルの違いを「AD外で誤差が増えるか」として読める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969696"/>
                </a:solidFill>
                <a:latin typeface="Times New Roman"/>
                <a:ea typeface="メイリオ"/>
                <a:cs typeface="Times New Roman"/>
              </a:rPr>
              <a:t>対応: notebook 5-6章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AD内外で性能を分けて見る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9768" y="1115568"/>
            <a:ext cx="8284464" cy="297180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ell15_model_ad_bar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245491"/>
            <a:ext cx="8284464" cy="27119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4425696"/>
            <a:ext cx="7818120" cy="10515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全体RMSEの順位と、AD外RMSEの順位は一致しない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線形モデルはAD外4点で誤差が大きく、outside RMSE が約14まで上がる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Decision Tree のAD外RMSEは小さいが、AD外が4点だけなので過信しない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969696"/>
                </a:solidFill>
                <a:latin typeface="Times New Roman"/>
                <a:ea typeface="メイリオ"/>
                <a:cs typeface="Times New Roman"/>
              </a:rPr>
              <a:t>対応: notebook 7章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321040" cy="658368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0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順位の変化: 全体最良がAD外最良とは限らない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5349240" cy="3163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640080"/>
                <a:gridCol w="640080"/>
                <a:gridCol w="640080"/>
                <a:gridCol w="1280160"/>
              </a:tblGrid>
              <a:tr h="530352"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model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全体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AD内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AD外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AD外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RMSE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</a:tr>
              <a:tr h="329184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Decision Tree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2.097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Extra Trees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3.358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</a:tr>
              <a:tr h="329184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AdaBoost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3.818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Random Forest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3.859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</a:tr>
              <a:tr h="329184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Hist GB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4.361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Grad Boost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1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1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6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4.565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</a:tr>
              <a:tr h="329184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kNN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12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5.365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SVR (RBF)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6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5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8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6.620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53328" y="1234440"/>
            <a:ext cx="2560320" cy="2743200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・Gradient Boosting は全体1位だが、AD外RMSEでは6位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・Decision Tree はAD外4点では1位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・AD外だけの順位は「追加確認の観点」として読む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892040"/>
            <a:ext cx="7909560" cy="658368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判断の順番: 全体性能を見る → AD内外で崩れ方を見る → AD外サンプルを確認する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8229600" cy="256032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A5A5A5"/>
                </a:solidFill>
                <a:latin typeface="Times New Roman"/>
                <a:ea typeface="メイリオ"/>
                <a:cs typeface="Times New Roman"/>
              </a:rPr>
              <a:t>対応: notebook 10章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kNN平均距離と誤差の関係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9768" y="1069848"/>
            <a:ext cx="498348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ell17_distance_error_fac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181572"/>
            <a:ext cx="4983480" cy="42113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170432"/>
            <a:ext cx="2880360" cy="30632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横軸はAD判定に使った kNN 平均距離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赤い破線より右が AD 外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同じAD外点でも、誤差の大きさはモデルによって異なる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距離が大きいほど必ず誤差が大きい、とは読まない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4608576"/>
            <a:ext cx="28803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ADは誤差そのものではなく、誤差が大きくなりやすい入力を見つける補助線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969696"/>
                </a:solidFill>
                <a:latin typeface="Times New Roman"/>
                <a:ea typeface="メイリオ"/>
                <a:cs typeface="Times New Roman"/>
              </a:rPr>
              <a:t>対応: notebook 8章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20040"/>
            <a:ext cx="8321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34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実測値と予測値をAD内外で見る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50976"/>
            <a:ext cx="8321040" cy="18288"/>
          </a:xfrm>
          <a:prstGeom prst="rect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29768" y="1069848"/>
            <a:ext cx="498348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CDC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ell19_actual_pred_fac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768" y="1182919"/>
            <a:ext cx="4983480" cy="420869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623560" y="1170432"/>
            <a:ext cx="2880360" cy="30632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対角線に近いほど予測が良い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AD外点は全モデルで同じサンプル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モデルごとに、AD外点がどちら側へ外れるかを確認できる</a:t>
            </a:r>
          </a:p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 線形モデルでは一部AD外点が大きく外れている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23560" y="4608576"/>
            <a:ext cx="2880360" cy="640080"/>
          </a:xfrm>
          <a:prstGeom prst="rect">
            <a:avLst/>
          </a:prstGeom>
          <a:noFill/>
        </p:spPr>
        <p:txBody>
          <a:bodyPr wrap="square" anchor="t" lIns="18288" rIns="18288" tIns="18288" bIns="18288">
            <a:spAutoFit/>
          </a:bodyPr>
          <a:lstStyle/>
          <a:p>
            <a:pPr algn="ctr">
              <a:lnSpc>
                <a:spcPct val="108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AD外を色分けすると、全体指標では隠れる「危ない点」が見える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200"/>
              </a:spcAft>
            </a:pPr>
            <a:r>
              <a:rPr sz="1800" b="0">
                <a:solidFill>
                  <a:srgbClr val="969696"/>
                </a:solidFill>
                <a:latin typeface="Times New Roman"/>
                <a:ea typeface="メイリオ"/>
                <a:cs typeface="Times New Roman"/>
              </a:rPr>
              <a:t>対応: notebook 9章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321040" cy="658368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2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AD外4サンプルを個別に確認する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170432"/>
          <a:ext cx="83210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960120"/>
                <a:gridCol w="1005840"/>
                <a:gridCol w="2514600"/>
                <a:gridCol w="2514600"/>
              </a:tblGrid>
              <a:tr h="548640"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kNN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距離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平均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誤差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最小誤差モデル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最大誤差モデル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</a:tr>
              <a:tr h="502920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sample_419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4.468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4.140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Random Forest (0.163)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Dummy mean (14.108)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sample_415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3.924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7.183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Hist GB (0.356)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Dummy mean (15.908)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</a:tr>
              <a:tr h="502920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sample_366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2.767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6.224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SVR (RBF) (0.519)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Elastic Net (14.770)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sample_413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2.757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10.109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Decision Tree (2.800)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Elastic Net (18.690)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58368" y="4069080"/>
            <a:ext cx="7909560" cy="1051560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・sample_413 は複数モデルで大きく外れている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・sample_419 は距離が最大でも、モデルによって誤差が小さい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・AD外候補は「捨てる」前に追加検証する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394960"/>
            <a:ext cx="7909560" cy="438912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材料スクリーニングでも、AD外候補は「追加検証が必要」と扱う。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73952"/>
            <a:ext cx="8229600" cy="256032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A5A5A5"/>
                </a:solidFill>
                <a:latin typeface="Times New Roman"/>
                <a:ea typeface="メイリオ"/>
                <a:cs typeface="Times New Roman"/>
              </a:rPr>
              <a:t>対応: notebook 11-12章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92608"/>
            <a:ext cx="8321040" cy="658368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31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しきい値を変える演習で確認すること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60120"/>
            <a:ext cx="8321040" cy="2286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60704"/>
            <a:ext cx="8046720" cy="301752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20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AD_PERCENTILE = 90 の例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71600"/>
          <a:ext cx="7315200" cy="334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0280"/>
                <a:gridCol w="960120"/>
                <a:gridCol w="1508760"/>
                <a:gridCol w="1508760"/>
                <a:gridCol w="1097280"/>
              </a:tblGrid>
              <a:tr h="566928"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model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AD外n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AD内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RMSE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AD外</a:t>
                      </a:r>
                    </a:p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RMSE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FFFFFF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MAE差</a:t>
                      </a:r>
                    </a:p>
                  </a:txBody>
                  <a:tcPr marL="27432" marR="27432" marT="18288" marB="18288">
                    <a:solidFill>
                      <a:srgbClr val="000000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Decision Tree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3.756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2.591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-0.354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Extra Trees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6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3.472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2.874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0.068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Random Forest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3.360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3.344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0.425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AdaBoost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6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4.027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3.445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0.386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Hist GB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3.359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3.703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0.454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Grad Boost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6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2.951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3.735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0.537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kNN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6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4.492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4.401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0.381</a:t>
                      </a:r>
                    </a:p>
                  </a:txBody>
                  <a:tcPr marL="27432" marR="27432" marT="18288" marB="18288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 lIns="27432" rIns="27432" tIns="18288" bIns="18288" anchor="ctr"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1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SVR (RBF)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6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3.648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5.481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  <a:tc>
                  <a:txBody>
                    <a:bodyPr wrap="square" lIns="27432" rIns="27432" tIns="18288" bIns="18288" anchor="ctr"/>
                    <a:lstStyle/>
                    <a:p>
                      <a:pPr algn="ctr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800" b="0">
                          <a:solidFill>
                            <a:srgbClr val="000000"/>
                          </a:solidFill>
                          <a:latin typeface="Times New Roman"/>
                          <a:ea typeface="メイリオ"/>
                          <a:cs typeface="Times New Roman"/>
                        </a:rPr>
                        <a:t>2.250</a:t>
                      </a:r>
                    </a:p>
                  </a:txBody>
                  <a:tcPr marL="27432" marR="27432" marT="18288" marB="18288">
                    <a:solidFill>
                      <a:srgbClr val="F4F4F4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58368" y="4892040"/>
            <a:ext cx="7909560" cy="841248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・95%ではAD外4件、90%では6件に増える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・AD外RMSEはサンプル数と選ばれた点に依存する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・K_NEIGHBORS も変えて、点が安定するか確認する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806440"/>
            <a:ext cx="7909560" cy="502920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1">
                <a:solidFill>
                  <a:srgbClr val="000000"/>
                </a:solidFill>
                <a:latin typeface="Times New Roman"/>
                <a:ea typeface="メイリオ"/>
                <a:cs typeface="Times New Roman"/>
              </a:rPr>
              <a:t>まとめ: ADラベルは入力空間から決まる。全体性能だけでなく、AD外の誤差増加と個別サンプルをセットで読む。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73952"/>
            <a:ext cx="8229600" cy="256032"/>
          </a:xfrm>
          <a:prstGeom prst="rect">
            <a:avLst/>
          </a:prstGeom>
          <a:noFill/>
        </p:spPr>
        <p:txBody>
          <a:bodyPr wrap="square" lIns="27432" rIns="27432" tIns="18288" bIns="18288"/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800" b="0">
                <a:solidFill>
                  <a:srgbClr val="A5A5A5"/>
                </a:solidFill>
                <a:latin typeface="Times New Roman"/>
                <a:ea typeface="メイリオ"/>
                <a:cs typeface="Times New Roman"/>
              </a:rPr>
              <a:t>対応: notebook Exercises / まとめ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276</TotalTime>
  <Words>4212</Words>
  <Application>Microsoft Macintosh PowerPoint</Application>
  <PresentationFormat>画面に合わせる (4:3)</PresentationFormat>
  <Paragraphs>422</Paragraphs>
  <Slides>28</Slides>
  <Notes>28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28</vt:i4>
      </vt:variant>
    </vt:vector>
  </HeadingPairs>
  <TitlesOfParts>
    <vt:vector size="33" baseType="lpstr">
      <vt:lpstr>游ゴシック</vt:lpstr>
      <vt:lpstr>Arial</vt:lpstr>
      <vt:lpstr>Calibri</vt:lpstr>
      <vt:lpstr>Times New Roman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Fukumoto Riku</cp:lastModifiedBy>
  <cp:revision>16</cp:revision>
  <dcterms:created xsi:type="dcterms:W3CDTF">2013-01-27T09:14:16Z</dcterms:created>
  <dcterms:modified xsi:type="dcterms:W3CDTF">2026-07-06T03:37:16Z</dcterms:modified>
  <cp:category/>
</cp:coreProperties>
</file>