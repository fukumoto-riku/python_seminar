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91"/>
  </p:normalViewPr>
  <p:slideViewPr>
    <p:cSldViewPr snapToGrid="0">
      <p:cViewPr varScale="1">
        <p:scale>
          <a:sx n="122" d="100"/>
          <a:sy n="122" d="100"/>
        </p:scale>
        <p:origin x="13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088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5782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984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089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122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1286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987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1855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0392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6474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680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5EA97-27E9-FA45-8E26-456B4D2A181C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7BA8E-A7D0-FD49-957F-1AAD96D0EC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9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BC335-B0D3-4285-FA4C-43978914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B77D8F6-A4CA-681A-7F1D-29CC3C7EBE61}"/>
              </a:ext>
            </a:extLst>
          </p:cNvPr>
          <p:cNvSpPr txBox="1"/>
          <p:nvPr/>
        </p:nvSpPr>
        <p:spPr>
          <a:xfrm>
            <a:off x="113260" y="61324"/>
            <a:ext cx="6123792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第五回 </a:t>
            </a:r>
            <a:r>
              <a:rPr kumimoji="1" lang="en-US" altLang="ja-JP" sz="3200" b="1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Python</a:t>
            </a:r>
            <a:r>
              <a:rPr kumimoji="1" lang="ja-JP" altLang="en-US" sz="32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セミナーの内容</a:t>
            </a:r>
            <a:r>
              <a:rPr kumimoji="1" lang="en-US" altLang="ja-JP" sz="3200" b="1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</a:p>
          <a:p>
            <a:r>
              <a:rPr kumimoji="1" lang="en-US" altLang="ja-JP" sz="2000" b="1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M2</a:t>
            </a:r>
            <a:r>
              <a:rPr kumimoji="1" lang="ja-JP" altLang="en-US" sz="20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担当</a:t>
            </a:r>
            <a:r>
              <a:rPr kumimoji="1" lang="en-US" altLang="ja-JP" sz="2000" b="1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: </a:t>
            </a:r>
            <a:r>
              <a:rPr kumimoji="1" lang="ja-JP" altLang="en-US" sz="20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岩﨑</a:t>
            </a:r>
            <a:r>
              <a:rPr kumimoji="1" lang="en-US" altLang="ja-JP" sz="2000" b="1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,</a:t>
            </a:r>
            <a:r>
              <a:rPr kumimoji="1" lang="ja-JP" altLang="en-US" sz="20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林</a:t>
            </a:r>
            <a:r>
              <a:rPr kumimoji="1" lang="en-US" altLang="ja-JP" sz="2000" b="1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/ M1</a:t>
            </a:r>
            <a:r>
              <a:rPr kumimoji="1" lang="ja-JP" altLang="en-US" sz="20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担当 </a:t>
            </a:r>
            <a:r>
              <a:rPr kumimoji="1" lang="en-US" altLang="ja-JP" sz="2000" b="1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: </a:t>
            </a:r>
            <a:r>
              <a:rPr kumimoji="1" lang="ja-JP" altLang="en-US" sz="2000" b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和真</a:t>
            </a:r>
            <a:endParaRPr kumimoji="1" lang="en-US" altLang="ja-JP" sz="2000" b="1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B463181-CB2B-3DD2-24FE-F2835F55424D}"/>
              </a:ext>
            </a:extLst>
          </p:cNvPr>
          <p:cNvSpPr txBox="1"/>
          <p:nvPr/>
        </p:nvSpPr>
        <p:spPr>
          <a:xfrm>
            <a:off x="243114" y="3934123"/>
            <a:ext cx="86761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lang="en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</a:t>
            </a:r>
            <a:r>
              <a:rPr lang="en" altLang="ja-JP" dirty="0" err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kNN</a:t>
            </a:r>
            <a:r>
              <a:rPr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</a:t>
            </a:r>
            <a:r>
              <a:rPr lang="en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Random Forest</a:t>
            </a:r>
            <a:r>
              <a:rPr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を用いてクラス分類モデルを構築してください。</a:t>
            </a:r>
            <a:endParaRPr lang="en-US" altLang="ja-JP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その際、デフォルト設定とハイパーパラメータチューニング後の結果を比較してください。</a:t>
            </a:r>
            <a:endParaRPr lang="en-US" altLang="ja-JP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※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基本的には</a:t>
            </a:r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Hold-Out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検証で大丈夫です。余裕のある人は</a:t>
            </a:r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CV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を組んでみてください。</a:t>
            </a:r>
            <a:endParaRPr kumimoji="1" lang="en-US" altLang="ja-JP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r>
              <a:rPr lang="ja-JP" altLang="en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lang="en" altLang="ja-JP" dirty="0" err="1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kNN</a:t>
            </a:r>
            <a:r>
              <a:rPr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</a:t>
            </a:r>
            <a:r>
              <a:rPr lang="en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Random Forest</a:t>
            </a:r>
            <a:r>
              <a:rPr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について，モデルの原理，特徴，および主要なハイパーパラメータが予測性能に与える影響を調べてきてください。</a:t>
            </a:r>
          </a:p>
          <a:p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・クラス分類の評価指標</a:t>
            </a:r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混同行列・</a:t>
            </a:r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Accuracy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Precision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Recall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F1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・</a:t>
            </a:r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ROC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曲線・</a:t>
            </a:r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PR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曲線</a:t>
            </a:r>
            <a:r>
              <a:rPr kumimoji="1" lang="en-US" altLang="ja-JP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 </a:t>
            </a:r>
            <a:r>
              <a:rPr kumimoji="1" lang="ja-JP" altLang="en-US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を調べてきてください。</a:t>
            </a:r>
            <a:endParaRPr kumimoji="1" lang="en-US" altLang="ja-JP" dirty="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F166806-E0F9-1FAA-E483-766DC23FAFB8}"/>
              </a:ext>
            </a:extLst>
          </p:cNvPr>
          <p:cNvSpPr txBox="1"/>
          <p:nvPr/>
        </p:nvSpPr>
        <p:spPr>
          <a:xfrm>
            <a:off x="720229" y="6519446"/>
            <a:ext cx="85106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データセットの出典</a:t>
            </a:r>
            <a:r>
              <a:rPr kumimoji="1" lang="en-US" altLang="ja-JP" sz="16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: https://www.kaggle.com/datasets/saurabh00007/diabetescsv</a:t>
            </a:r>
            <a:endParaRPr kumimoji="1" lang="ja-JP" altLang="en-US" sz="16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9B8285C-E500-042A-3291-8E45066AC586}"/>
              </a:ext>
            </a:extLst>
          </p:cNvPr>
          <p:cNvSpPr txBox="1"/>
          <p:nvPr/>
        </p:nvSpPr>
        <p:spPr>
          <a:xfrm>
            <a:off x="113260" y="968362"/>
            <a:ext cx="8537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•</a:t>
            </a:r>
            <a:r>
              <a:rPr kumimoji="1" lang="ja-JP" altLang="en-US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分類とは</a:t>
            </a:r>
            <a:endParaRPr kumimoji="1" lang="en-US" altLang="ja-JP" sz="2200" dirty="0">
              <a:latin typeface="Hiragino Maru Gothic Pro W4" panose="020F0400000000000000" pitchFamily="34" charset="-128"/>
              <a:ea typeface="Hiragino Maru Gothic Pro W4" panose="020F0400000000000000" pitchFamily="34" charset="-128"/>
              <a:cs typeface="Noto Serif Myanmar" panose="02020502060505020204" pitchFamily="18" charset="0"/>
            </a:endParaRPr>
          </a:p>
          <a:p>
            <a:r>
              <a:rPr kumimoji="1" lang="en-US" altLang="ja-JP" sz="2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•</a:t>
            </a:r>
            <a:r>
              <a:rPr kumimoji="1" lang="en-US" altLang="ja-JP" sz="2200" dirty="0" err="1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kNN</a:t>
            </a:r>
            <a:r>
              <a:rPr kumimoji="1" lang="ja-JP" altLang="en-US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と</a:t>
            </a:r>
            <a:r>
              <a:rPr kumimoji="1" lang="en-US" altLang="ja-JP" sz="2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Random Forest</a:t>
            </a:r>
            <a:r>
              <a:rPr kumimoji="1" lang="ja-JP" altLang="en-US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の原理と特徴</a:t>
            </a:r>
            <a:endParaRPr kumimoji="1" lang="en-US" altLang="ja-JP" sz="2200" dirty="0">
              <a:latin typeface="Hiragino Maru Gothic Pro W4" panose="020F0400000000000000" pitchFamily="34" charset="-128"/>
              <a:ea typeface="Hiragino Maru Gothic Pro W4" panose="020F0400000000000000" pitchFamily="34" charset="-128"/>
              <a:cs typeface="Noto Serif Myanmar" panose="02020502060505020204" pitchFamily="18" charset="0"/>
            </a:endParaRPr>
          </a:p>
          <a:p>
            <a:r>
              <a:rPr kumimoji="1" lang="en-US" altLang="ja-JP" sz="2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•</a:t>
            </a:r>
            <a:r>
              <a:rPr lang="ja-JP" altLang="en-US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分類モデルの評価指標（混同行列、</a:t>
            </a:r>
            <a:r>
              <a:rPr lang="en" altLang="ja-JP" sz="2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Accuracy</a:t>
            </a:r>
            <a:r>
              <a:rPr lang="ja-JP" altLang="en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、</a:t>
            </a:r>
            <a:r>
              <a:rPr lang="en" altLang="ja-JP" sz="2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Precision</a:t>
            </a:r>
            <a:r>
              <a:rPr lang="ja-JP" altLang="en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、</a:t>
            </a:r>
            <a:r>
              <a:rPr lang="en" altLang="ja-JP" sz="2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Recall</a:t>
            </a:r>
            <a:r>
              <a:rPr lang="ja-JP" altLang="en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、</a:t>
            </a:r>
            <a:r>
              <a:rPr lang="en" altLang="ja-JP" sz="2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F1</a:t>
            </a:r>
            <a:r>
              <a:rPr lang="ja-JP" altLang="en-US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値</a:t>
            </a:r>
            <a:r>
              <a:rPr lang="ja-JP" altLang="en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、</a:t>
            </a:r>
            <a:r>
              <a:rPr lang="en" altLang="ja-JP" sz="2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ROC</a:t>
            </a:r>
            <a:r>
              <a:rPr lang="ja-JP" altLang="en-US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曲線</a:t>
            </a:r>
            <a:r>
              <a:rPr lang="ja-JP" altLang="en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、</a:t>
            </a:r>
            <a:r>
              <a:rPr lang="en" altLang="ja-JP" sz="2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PR</a:t>
            </a:r>
            <a:r>
              <a:rPr lang="ja-JP" altLang="en-US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曲線</a:t>
            </a:r>
            <a:r>
              <a:rPr lang="ja-JP" altLang="en" sz="2200">
                <a:latin typeface="Hiragino Maru Gothic Pro W4" panose="020F0400000000000000" pitchFamily="34" charset="-128"/>
                <a:ea typeface="Hiragino Maru Gothic Pro W4" panose="020F0400000000000000" pitchFamily="34" charset="-128"/>
                <a:cs typeface="Noto Serif Myanmar" panose="02020502060505020204" pitchFamily="18" charset="0"/>
              </a:rPr>
              <a:t>）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F413C8-03A1-3969-1F99-A0C567C20090}"/>
              </a:ext>
            </a:extLst>
          </p:cNvPr>
          <p:cNvSpPr txBox="1"/>
          <p:nvPr/>
        </p:nvSpPr>
        <p:spPr>
          <a:xfrm>
            <a:off x="113260" y="3494118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課題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0E9613E8-A6C9-57BB-E04F-3ECE5A8D4306}"/>
              </a:ext>
            </a:extLst>
          </p:cNvPr>
          <p:cNvGrpSpPr/>
          <p:nvPr/>
        </p:nvGrpSpPr>
        <p:grpSpPr>
          <a:xfrm>
            <a:off x="243114" y="2374545"/>
            <a:ext cx="4939747" cy="1106749"/>
            <a:chOff x="219019" y="2463260"/>
            <a:chExt cx="4939747" cy="1106749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6721DFA7-A3D1-D0C9-FFBF-9A035F285EB3}"/>
                </a:ext>
              </a:extLst>
            </p:cNvPr>
            <p:cNvSpPr txBox="1"/>
            <p:nvPr/>
          </p:nvSpPr>
          <p:spPr>
            <a:xfrm>
              <a:off x="288236" y="2516451"/>
              <a:ext cx="480131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M2</a:t>
              </a:r>
              <a:r>
                <a:rPr kumimoji="1" lang="ja-JP" altLang="en-US" sz="20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が説明する内容</a:t>
              </a:r>
              <a:endParaRPr kumimoji="1"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endParaRPr>
            </a:p>
            <a:p>
              <a:r>
                <a:rPr kumimoji="1" lang="ja-JP" altLang="en-US" sz="20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・分類と回帰の違い</a:t>
              </a:r>
              <a:endParaRPr kumimoji="1"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endParaRPr>
            </a:p>
            <a:p>
              <a:r>
                <a:rPr kumimoji="1" lang="ja-JP" altLang="en-US" sz="2000"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・分類問題によく使われるモデルの紹介</a:t>
              </a:r>
              <a:endParaRPr kumimoji="1" lang="en-US" altLang="ja-JP" sz="20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endParaRPr>
            </a:p>
          </p:txBody>
        </p:sp>
        <p:sp>
          <p:nvSpPr>
            <p:cNvPr id="7" name="大かっこ 6">
              <a:extLst>
                <a:ext uri="{FF2B5EF4-FFF2-40B4-BE49-F238E27FC236}">
                  <a16:creationId xmlns:a16="http://schemas.microsoft.com/office/drawing/2014/main" id="{2EB0DE02-E848-700E-A880-FC80001A816F}"/>
                </a:ext>
              </a:extLst>
            </p:cNvPr>
            <p:cNvSpPr/>
            <p:nvPr/>
          </p:nvSpPr>
          <p:spPr>
            <a:xfrm>
              <a:off x="219019" y="2463260"/>
              <a:ext cx="4939747" cy="1106749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2740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</TotalTime>
  <Words>200</Words>
  <Application>Microsoft Macintosh PowerPoint</Application>
  <PresentationFormat>画面に合わせる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Hiragino Maru Gothic Pro W4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Iwasaki Nanami</dc:creator>
  <cp:lastModifiedBy>Iwasaki Nanami</cp:lastModifiedBy>
  <cp:revision>3</cp:revision>
  <dcterms:created xsi:type="dcterms:W3CDTF">2026-06-17T03:07:59Z</dcterms:created>
  <dcterms:modified xsi:type="dcterms:W3CDTF">2026-06-17T06:55:47Z</dcterms:modified>
</cp:coreProperties>
</file>