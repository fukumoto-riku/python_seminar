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6"/>
  </p:notesMasterIdLst>
  <p:sldIdLst>
    <p:sldId id="257" r:id="rId2"/>
    <p:sldId id="267" r:id="rId3"/>
    <p:sldId id="259" r:id="rId4"/>
    <p:sldId id="260" r:id="rId5"/>
    <p:sldId id="258" r:id="rId6"/>
    <p:sldId id="269" r:id="rId7"/>
    <p:sldId id="268" r:id="rId8"/>
    <p:sldId id="270" r:id="rId9"/>
    <p:sldId id="261" r:id="rId10"/>
    <p:sldId id="271" r:id="rId11"/>
    <p:sldId id="262" r:id="rId12"/>
    <p:sldId id="263" r:id="rId13"/>
    <p:sldId id="264" r:id="rId14"/>
    <p:sldId id="265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EBEB"/>
    <a:srgbClr val="E1E1E1"/>
    <a:srgbClr val="D7D7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4B1156A-380E-4F78-BDF5-A606A8083BF9}" styleName="中間スタイル 4 - アクセント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中間スタイル 4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837"/>
    <p:restoredTop sz="64134"/>
  </p:normalViewPr>
  <p:slideViewPr>
    <p:cSldViewPr snapToGrid="0">
      <p:cViewPr varScale="1">
        <p:scale>
          <a:sx n="70" d="100"/>
          <a:sy n="70" d="100"/>
        </p:scale>
        <p:origin x="3240" y="192"/>
      </p:cViewPr>
      <p:guideLst/>
    </p:cSldViewPr>
  </p:slideViewPr>
  <p:notesTextViewPr>
    <p:cViewPr>
      <p:scale>
        <a:sx n="114" d="100"/>
        <a:sy n="114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D58E37-1E7E-5946-9A0B-6F17A5198187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E4570A-FD47-4F40-9474-0793D79225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91197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がんばりましょう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4570A-FD47-4F40-9474-0793D79225E4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50180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>
                <a:solidFill>
                  <a:srgbClr val="C00000"/>
                </a:solidFill>
              </a:rPr>
              <a:t>SVR</a:t>
            </a:r>
            <a:r>
              <a:rPr kumimoji="1" lang="ja-JP" altLang="en-US">
                <a:solidFill>
                  <a:srgbClr val="C00000"/>
                </a:solidFill>
              </a:rPr>
              <a:t>だけではない</a:t>
            </a:r>
            <a:endParaRPr kumimoji="1" lang="en-US" altLang="ja-JP" dirty="0">
              <a:solidFill>
                <a:srgbClr val="C00000"/>
              </a:solidFill>
            </a:endParaRPr>
          </a:p>
          <a:p>
            <a:r>
              <a:rPr kumimoji="1" lang="ja-JP" altLang="en-US">
                <a:solidFill>
                  <a:srgbClr val="C00000"/>
                </a:solidFill>
              </a:rPr>
              <a:t>メインはランダムフォレスト　あとは</a:t>
            </a:r>
            <a:r>
              <a:rPr kumimoji="1" lang="en-US" altLang="ja-JP" dirty="0" err="1">
                <a:solidFill>
                  <a:srgbClr val="C00000"/>
                </a:solidFill>
              </a:rPr>
              <a:t>XGBoost</a:t>
            </a:r>
            <a:r>
              <a:rPr kumimoji="1" lang="ja-JP" altLang="en-US">
                <a:solidFill>
                  <a:srgbClr val="C00000"/>
                </a:solidFill>
              </a:rPr>
              <a:t>っていう勾配ブースティング決定木の手法がよく使われている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4570A-FD47-4F40-9474-0793D79225E4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4430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ja-JP" sz="12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4570A-FD47-4F40-9474-0793D79225E4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8237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4570A-FD47-4F40-9474-0793D79225E4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48060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/>
              <a:t>非線形データが複雑になればなるほど、写像に必要な次元数が指数関数的に増大する</a:t>
            </a:r>
            <a:endParaRPr kumimoji="1" lang="en-US" altLang="ja-JP" dirty="0"/>
          </a:p>
          <a:p>
            <a:r>
              <a:rPr kumimoji="1" lang="en-US" altLang="ja-JP" dirty="0"/>
              <a:t>【</a:t>
            </a:r>
            <a:r>
              <a:rPr kumimoji="1" lang="ja-JP" altLang="en-US"/>
              <a:t>本来の流れ</a:t>
            </a:r>
            <a:r>
              <a:rPr kumimoji="1" lang="en-US" altLang="ja-JP" dirty="0"/>
              <a:t>】</a:t>
            </a:r>
            <a:r>
              <a:rPr kumimoji="1" lang="ja-JP" altLang="en-US"/>
              <a:t>←非線形データに線形</a:t>
            </a:r>
            <a:r>
              <a:rPr kumimoji="1" lang="en-US" altLang="ja-JP" dirty="0"/>
              <a:t>SVR</a:t>
            </a:r>
            <a:r>
              <a:rPr kumimoji="1" lang="ja-JP" altLang="en-US"/>
              <a:t>を適用するための流れ</a:t>
            </a:r>
            <a:endParaRPr kumimoji="1" lang="en-US" altLang="ja-JP" dirty="0"/>
          </a:p>
          <a:p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4570A-FD47-4F40-9474-0793D79225E4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78948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 err="1"/>
              <a:t>γ</a:t>
            </a:r>
            <a:r>
              <a:rPr kumimoji="1" lang="en-US" altLang="ja-JP" dirty="0"/>
              <a:t>, γ</a:t>
            </a:r>
            <a:r>
              <a:rPr kumimoji="1" lang="en-US" altLang="ja-JP" baseline="-25000" dirty="0"/>
              <a:t>1</a:t>
            </a:r>
            <a:r>
              <a:rPr kumimoji="1" lang="en-US" altLang="ja-JP" dirty="0"/>
              <a:t>, γ</a:t>
            </a:r>
            <a:r>
              <a:rPr kumimoji="1" lang="en-US" altLang="ja-JP" baseline="-25000" dirty="0"/>
              <a:t>2</a:t>
            </a:r>
            <a:r>
              <a:rPr kumimoji="1" lang="ja-JP" altLang="en-US"/>
              <a:t>：ハイパーパラメータ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/>
              <a:t>ガウスカーネルが汎用性たかい</a:t>
            </a:r>
            <a:endParaRPr kumimoji="1" lang="en-US" altLang="ja-JP" dirty="0"/>
          </a:p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4570A-FD47-4F40-9474-0793D79225E4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59406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ノイズに強い・・・</a:t>
            </a:r>
            <a:r>
              <a:rPr kumimoji="1" lang="en-US" altLang="ja-JP" dirty="0" err="1"/>
              <a:t>ε</a:t>
            </a:r>
            <a:r>
              <a:rPr kumimoji="1" lang="en-US" altLang="ja-JP" dirty="0"/>
              <a:t>-</a:t>
            </a:r>
            <a:r>
              <a:rPr kumimoji="1" lang="ja-JP" altLang="en-US"/>
              <a:t>チューブ</a:t>
            </a:r>
            <a:endParaRPr kumimoji="1" lang="en-US" altLang="ja-JP" dirty="0"/>
          </a:p>
          <a:p>
            <a:r>
              <a:rPr kumimoji="1" lang="ja-JP" altLang="en-US"/>
              <a:t>過学習しにくい・・・</a:t>
            </a:r>
            <a:r>
              <a:rPr kumimoji="1" lang="en-US" altLang="ja-JP" dirty="0" err="1"/>
              <a:t>ε</a:t>
            </a:r>
            <a:r>
              <a:rPr kumimoji="1" lang="ja-JP" altLang="en-US"/>
              <a:t>ーチューブ、正則化</a:t>
            </a:r>
            <a:endParaRPr kumimoji="1" lang="en-US" altLang="ja-JP" dirty="0"/>
          </a:p>
          <a:p>
            <a:r>
              <a:rPr kumimoji="1" lang="ja-JP" altLang="en-US"/>
              <a:t>非線形データに対応可能・・・カーネル関数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/>
              <a:t>大規模データに弱い・・・カーネル行列の計算</a:t>
            </a:r>
            <a:endParaRPr kumimoji="1" lang="en-US" altLang="ja-JP" dirty="0"/>
          </a:p>
          <a:p>
            <a:r>
              <a:rPr kumimoji="1" lang="ja-JP" altLang="en-US"/>
              <a:t>パラメータ調整が難しい・・・</a:t>
            </a:r>
            <a:r>
              <a:rPr kumimoji="1" lang="en-US" altLang="ja-JP" dirty="0"/>
              <a:t>C(</a:t>
            </a:r>
            <a:r>
              <a:rPr kumimoji="1" lang="ja-JP" altLang="en-US"/>
              <a:t>正則化定数</a:t>
            </a:r>
            <a:r>
              <a:rPr kumimoji="1" lang="en-US" altLang="ja-JP" dirty="0"/>
              <a:t>)</a:t>
            </a:r>
            <a:r>
              <a:rPr kumimoji="1" lang="ja-JP" altLang="en-US"/>
              <a:t>、</a:t>
            </a:r>
            <a:r>
              <a:rPr kumimoji="1" lang="en-US" altLang="ja-JP" dirty="0" err="1"/>
              <a:t>ε</a:t>
            </a:r>
            <a:r>
              <a:rPr kumimoji="1" lang="en-US" altLang="ja-JP" dirty="0"/>
              <a:t>(</a:t>
            </a:r>
            <a:r>
              <a:rPr kumimoji="1" lang="en-US" altLang="ja-JP" dirty="0" err="1"/>
              <a:t>ε</a:t>
            </a:r>
            <a:r>
              <a:rPr kumimoji="1" lang="en-US" altLang="ja-JP" dirty="0"/>
              <a:t>-</a:t>
            </a:r>
            <a:r>
              <a:rPr kumimoji="1" lang="ja-JP" altLang="en-US"/>
              <a:t>チューブの幅</a:t>
            </a:r>
            <a:r>
              <a:rPr kumimoji="1" lang="en-US" altLang="ja-JP" dirty="0"/>
              <a:t>)</a:t>
            </a:r>
            <a:r>
              <a:rPr kumimoji="1" lang="ja-JP" altLang="en-US"/>
              <a:t>、</a:t>
            </a:r>
            <a:r>
              <a:rPr kumimoji="1" lang="en-US" altLang="ja-JP" dirty="0" err="1"/>
              <a:t>γ</a:t>
            </a:r>
            <a:r>
              <a:rPr kumimoji="1" lang="en-US" altLang="ja-JP" dirty="0"/>
              <a:t>(</a:t>
            </a:r>
            <a:r>
              <a:rPr kumimoji="1" lang="ja-JP" altLang="en-US"/>
              <a:t>ガウスカーネルの幅</a:t>
            </a:r>
            <a:r>
              <a:rPr kumimoji="1" lang="en-US" altLang="ja-JP" dirty="0"/>
              <a:t>)</a:t>
            </a:r>
            <a:r>
              <a:rPr kumimoji="1" lang="ja-JP" altLang="en-US"/>
              <a:t>の最適な組合せが難しい</a:t>
            </a:r>
            <a:endParaRPr kumimoji="1" lang="en-US" altLang="ja-JP" dirty="0"/>
          </a:p>
          <a:p>
            <a:r>
              <a:rPr kumimoji="1" lang="ja-JP" altLang="en-US"/>
              <a:t>解釈性が低い・・・カーネル関数による高次元空間での計算（どの非線形変換が効いてるか分からない、本当は写像するのに</a:t>
            </a:r>
            <a:r>
              <a:rPr kumimoji="1" lang="en-US" altLang="ja-JP" dirty="0"/>
              <a:t>SVR</a:t>
            </a:r>
            <a:r>
              <a:rPr kumimoji="1" lang="ja-JP" altLang="en-US"/>
              <a:t>はしてないから）</a:t>
            </a:r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4570A-FD47-4F40-9474-0793D79225E4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16246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 err="1"/>
              <a:t>ε</a:t>
            </a:r>
            <a:r>
              <a:rPr kumimoji="1" lang="en-US" altLang="ja-JP" dirty="0"/>
              <a:t>-</a:t>
            </a:r>
            <a:r>
              <a:rPr kumimoji="1" lang="ja-JP" altLang="en-US"/>
              <a:t>チューブ＝誤差許容範囲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en-US" altLang="ja-JP" dirty="0"/>
              <a:t>w : </a:t>
            </a:r>
            <a:r>
              <a:rPr kumimoji="1" lang="ja-JP" altLang="en-US"/>
              <a:t>各変数の重みベクトル</a:t>
            </a:r>
            <a:endParaRPr kumimoji="1" lang="en-US" altLang="ja-JP" dirty="0"/>
          </a:p>
          <a:p>
            <a:r>
              <a:rPr kumimoji="1" lang="en-US" altLang="ja-JP" dirty="0"/>
              <a:t>b : </a:t>
            </a:r>
            <a:r>
              <a:rPr kumimoji="1" lang="ja-JP" altLang="en-US"/>
              <a:t>バイアス項</a:t>
            </a:r>
            <a:endParaRPr kumimoji="1" lang="en-US" altLang="ja-JP" dirty="0"/>
          </a:p>
          <a:p>
            <a:r>
              <a:rPr kumimoji="1" lang="en-US" altLang="ja-JP" dirty="0" err="1"/>
              <a:t>ξ</a:t>
            </a:r>
            <a:r>
              <a:rPr kumimoji="1" lang="en-US" altLang="ja-JP" baseline="-25000" dirty="0" err="1"/>
              <a:t>i</a:t>
            </a:r>
            <a:r>
              <a:rPr kumimoji="1" lang="en-US" altLang="ja-JP" baseline="30000" dirty="0"/>
              <a:t>+</a:t>
            </a:r>
            <a:r>
              <a:rPr kumimoji="1" lang="en-US" altLang="ja-JP" dirty="0"/>
              <a:t>, </a:t>
            </a:r>
            <a:r>
              <a:rPr kumimoji="1" lang="en-US" altLang="ja-JP" dirty="0" err="1"/>
              <a:t>ξ</a:t>
            </a:r>
            <a:r>
              <a:rPr kumimoji="1" lang="en-US" altLang="ja-JP" baseline="-25000" dirty="0" err="1"/>
              <a:t>i</a:t>
            </a:r>
            <a:r>
              <a:rPr kumimoji="1" lang="en-US" altLang="ja-JP" baseline="30000" dirty="0"/>
              <a:t>-</a:t>
            </a:r>
            <a:r>
              <a:rPr kumimoji="1" lang="en-US" altLang="ja-JP" baseline="0" dirty="0"/>
              <a:t> : </a:t>
            </a:r>
            <a:r>
              <a:rPr kumimoji="1" lang="ja-JP" altLang="en-US" baseline="0"/>
              <a:t>スラック変数（許容誤差を超える部分を表す）</a:t>
            </a:r>
            <a:endParaRPr kumimoji="1" lang="en-US" altLang="ja-JP" baseline="0" dirty="0"/>
          </a:p>
          <a:p>
            <a:r>
              <a:rPr kumimoji="1" lang="en-US" altLang="ja-JP" baseline="0" dirty="0"/>
              <a:t>C : </a:t>
            </a:r>
            <a:r>
              <a:rPr kumimoji="1" lang="ja-JP" altLang="en-US" baseline="0"/>
              <a:t>正則化パラメータ（変数の重みと許容誤差のトレードオフを調整）</a:t>
            </a:r>
            <a:endParaRPr kumimoji="1" lang="en-US" altLang="ja-JP" baseline="30000" dirty="0"/>
          </a:p>
          <a:p>
            <a:endParaRPr kumimoji="1" lang="en-US" altLang="ja-JP" dirty="0"/>
          </a:p>
          <a:p>
            <a:r>
              <a:rPr kumimoji="1" lang="ja-JP" altLang="en-US"/>
              <a:t>参考：</a:t>
            </a:r>
            <a:r>
              <a:rPr kumimoji="1" lang="en" altLang="ja-JP" dirty="0"/>
              <a:t>https://</a:t>
            </a:r>
            <a:r>
              <a:rPr kumimoji="1" lang="en" altLang="ja-JP" dirty="0" err="1"/>
              <a:t>boritaso-blog.com</a:t>
            </a:r>
            <a:r>
              <a:rPr kumimoji="1" lang="en" altLang="ja-JP" dirty="0"/>
              <a:t>/</a:t>
            </a:r>
            <a:r>
              <a:rPr kumimoji="1" lang="en" altLang="ja-JP" dirty="0" err="1"/>
              <a:t>svr</a:t>
            </a:r>
            <a:r>
              <a:rPr kumimoji="1" lang="en" altLang="ja-JP" dirty="0"/>
              <a:t>/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4570A-FD47-4F40-9474-0793D79225E4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25465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参考：</a:t>
            </a:r>
            <a:r>
              <a:rPr kumimoji="1" lang="en" altLang="ja-JP" dirty="0"/>
              <a:t>https://</a:t>
            </a:r>
            <a:r>
              <a:rPr kumimoji="1" lang="en" altLang="ja-JP" dirty="0" err="1"/>
              <a:t>aiacademy.jp</a:t>
            </a:r>
            <a:r>
              <a:rPr kumimoji="1" lang="en" altLang="ja-JP" dirty="0"/>
              <a:t>/media/?p=263#i-2</a:t>
            </a:r>
          </a:p>
          <a:p>
            <a:endParaRPr kumimoji="1" lang="en" altLang="ja-JP" dirty="0"/>
          </a:p>
          <a:p>
            <a:r>
              <a:rPr kumimoji="1" lang="ja-JP" altLang="en-US"/>
              <a:t>分け方がうまくいっていないとデータリークにつながる（</a:t>
            </a:r>
            <a:r>
              <a:rPr kumimoji="1" lang="en-US" altLang="ja-JP" dirty="0"/>
              <a:t>MI</a:t>
            </a:r>
            <a:r>
              <a:rPr kumimoji="1" lang="ja-JP" altLang="en-US"/>
              <a:t>実践ハンドブック</a:t>
            </a:r>
            <a:r>
              <a:rPr kumimoji="1" lang="en-US" altLang="ja-JP" dirty="0"/>
              <a:t>P69</a:t>
            </a:r>
            <a:r>
              <a:rPr kumimoji="1" lang="ja-JP" altLang="en-US"/>
              <a:t>くらい）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4570A-FD47-4F40-9474-0793D79225E4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24448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参考：</a:t>
            </a:r>
            <a:r>
              <a:rPr kumimoji="1" lang="en" altLang="ja-JP" dirty="0"/>
              <a:t>https://since2020.jp/media/machine-learning-data-leakage/</a:t>
            </a:r>
          </a:p>
          <a:p>
            <a:endParaRPr kumimoji="1" lang="en" altLang="ja-JP" dirty="0"/>
          </a:p>
          <a:p>
            <a:r>
              <a:rPr kumimoji="1" lang="en" altLang="ja-JP" dirty="0"/>
              <a:t>MI</a:t>
            </a:r>
            <a:r>
              <a:rPr kumimoji="1" lang="ja-JP" altLang="en-US"/>
              <a:t>で起こりうるリークは</a:t>
            </a:r>
            <a:r>
              <a:rPr kumimoji="1" lang="en-US" altLang="ja-JP" dirty="0"/>
              <a:t>2</a:t>
            </a:r>
            <a:r>
              <a:rPr kumimoji="1" lang="ja-JP" altLang="en-US"/>
              <a:t>つある</a:t>
            </a:r>
            <a:endParaRPr kumimoji="1" lang="en-US" altLang="ja-JP" dirty="0"/>
          </a:p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4570A-FD47-4F40-9474-0793D79225E4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70000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参考：</a:t>
            </a:r>
            <a:r>
              <a:rPr kumimoji="1" lang="en" altLang="ja-JP" dirty="0"/>
              <a:t>https://</a:t>
            </a:r>
            <a:r>
              <a:rPr kumimoji="1" lang="en" altLang="ja-JP" dirty="0" err="1"/>
              <a:t>syp.vn</a:t>
            </a:r>
            <a:r>
              <a:rPr kumimoji="1" lang="en" altLang="ja-JP" dirty="0"/>
              <a:t>/</a:t>
            </a:r>
            <a:r>
              <a:rPr kumimoji="1" lang="en" altLang="ja-JP" dirty="0" err="1"/>
              <a:t>jp</a:t>
            </a:r>
            <a:r>
              <a:rPr kumimoji="1" lang="en" altLang="ja-JP" dirty="0"/>
              <a:t>/article/ml-reproducibility-playbook</a:t>
            </a:r>
          </a:p>
          <a:p>
            <a:r>
              <a:rPr kumimoji="1" lang="ja-JP" altLang="en-US"/>
              <a:t>参考：</a:t>
            </a:r>
            <a:r>
              <a:rPr kumimoji="1" lang="en" altLang="ja-JP" dirty="0"/>
              <a:t>https://</a:t>
            </a:r>
            <a:r>
              <a:rPr kumimoji="1" lang="en" altLang="ja-JP" dirty="0" err="1"/>
              <a:t>umarketing.co.jp</a:t>
            </a:r>
            <a:r>
              <a:rPr kumimoji="1" lang="en" altLang="ja-JP" dirty="0"/>
              <a:t>/ai-glossary/seed/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4570A-FD47-4F40-9474-0793D79225E4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69785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参考：</a:t>
            </a:r>
            <a:r>
              <a:rPr kumimoji="1" lang="en" altLang="ja-JP" dirty="0"/>
              <a:t>https://</a:t>
            </a:r>
            <a:r>
              <a:rPr kumimoji="1" lang="en" altLang="ja-JP" dirty="0" err="1"/>
              <a:t>www.ibm.com</a:t>
            </a:r>
            <a:r>
              <a:rPr kumimoji="1" lang="en" altLang="ja-JP" dirty="0"/>
              <a:t>/</a:t>
            </a:r>
            <a:r>
              <a:rPr kumimoji="1" lang="en" altLang="ja-JP" dirty="0" err="1"/>
              <a:t>jp</a:t>
            </a:r>
            <a:r>
              <a:rPr kumimoji="1" lang="en" altLang="ja-JP" dirty="0"/>
              <a:t>-ja/think/topics/feature-engineering</a:t>
            </a:r>
          </a:p>
          <a:p>
            <a:endParaRPr kumimoji="1" lang="en-US" altLang="ja-JP" dirty="0"/>
          </a:p>
          <a:p>
            <a:r>
              <a:rPr kumimoji="1" lang="ja-JP" altLang="en-US"/>
              <a:t>補足：課題の二乗三乗が特徴量エンジニアリングの一種　←これは「特徴量変換」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4570A-FD47-4F40-9474-0793D79225E4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66975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6FB89-5BF5-F84C-A934-6A27CEE6C399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FE9FF-9ACE-0248-8726-8CC79D0109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799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6FB89-5BF5-F84C-A934-6A27CEE6C399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FE9FF-9ACE-0248-8726-8CC79D0109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1682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6FB89-5BF5-F84C-A934-6A27CEE6C399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FE9FF-9ACE-0248-8726-8CC79D0109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8206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6FB89-5BF5-F84C-A934-6A27CEE6C399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FE9FF-9ACE-0248-8726-8CC79D0109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1537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6FB89-5BF5-F84C-A934-6A27CEE6C399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FE9FF-9ACE-0248-8726-8CC79D0109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24211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6FB89-5BF5-F84C-A934-6A27CEE6C399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FE9FF-9ACE-0248-8726-8CC79D0109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92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6FB89-5BF5-F84C-A934-6A27CEE6C399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FE9FF-9ACE-0248-8726-8CC79D0109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055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6FB89-5BF5-F84C-A934-6A27CEE6C399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FE9FF-9ACE-0248-8726-8CC79D0109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5046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6FB89-5BF5-F84C-A934-6A27CEE6C399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FE9FF-9ACE-0248-8726-8CC79D0109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7742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6FB89-5BF5-F84C-A934-6A27CEE6C399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FE9FF-9ACE-0248-8726-8CC79D0109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4648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6FB89-5BF5-F84C-A934-6A27CEE6C399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FE9FF-9ACE-0248-8726-8CC79D0109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9606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B6FB89-5BF5-F84C-A934-6A27CEE6C399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7FE9FF-9ACE-0248-8726-8CC79D0109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0502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6E91E2-626C-E315-0D38-0ED5B55560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u="sng" dirty="0">
                <a:solidFill>
                  <a:schemeClr val="accent1"/>
                </a:solidFill>
                <a:uFill>
                  <a:solidFill>
                    <a:schemeClr val="bg1"/>
                  </a:solidFill>
                </a:u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Python</a:t>
            </a:r>
            <a:r>
              <a:rPr kumimoji="1" lang="ja-JP" altLang="en-US" u="sng">
                <a:solidFill>
                  <a:schemeClr val="accent1"/>
                </a:solidFill>
                <a:uFill>
                  <a:solidFill>
                    <a:schemeClr val="bg1"/>
                  </a:solidFill>
                </a:u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セミナー</a:t>
            </a:r>
            <a:br>
              <a:rPr kumimoji="1" lang="en-US" altLang="ja-JP" u="sng" dirty="0">
                <a:solidFill>
                  <a:schemeClr val="accent1"/>
                </a:solidFill>
                <a:uFill>
                  <a:solidFill>
                    <a:schemeClr val="bg1"/>
                  </a:solidFill>
                </a:u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</a:br>
            <a:r>
              <a:rPr kumimoji="1" lang="ja-JP" altLang="en-US" u="sng">
                <a:solidFill>
                  <a:schemeClr val="accent1"/>
                </a:solidFill>
                <a:uFill>
                  <a:solidFill>
                    <a:schemeClr val="bg1"/>
                  </a:solidFill>
                </a:u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第</a:t>
            </a:r>
            <a:r>
              <a:rPr kumimoji="1" lang="en-US" altLang="ja-JP" u="sng" dirty="0">
                <a:solidFill>
                  <a:schemeClr val="accent1"/>
                </a:solidFill>
                <a:uFill>
                  <a:solidFill>
                    <a:schemeClr val="bg1"/>
                  </a:solidFill>
                </a:u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4</a:t>
            </a:r>
            <a:r>
              <a:rPr kumimoji="1" lang="ja-JP" altLang="en-US" u="sng">
                <a:solidFill>
                  <a:schemeClr val="accent1"/>
                </a:solidFill>
                <a:uFill>
                  <a:solidFill>
                    <a:schemeClr val="bg1"/>
                  </a:solidFill>
                </a:u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回　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E41B61C-BB57-D109-E539-9F44881FB5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en-US" altLang="ja-JP" dirty="0">
              <a:solidFill>
                <a:schemeClr val="accent1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r>
              <a:rPr kumimoji="1" lang="ja-JP" altLang="en-US">
                <a:solidFill>
                  <a:schemeClr val="accent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角田　紗奈</a:t>
            </a:r>
          </a:p>
        </p:txBody>
      </p:sp>
    </p:spTree>
    <p:extLst>
      <p:ext uri="{BB962C8B-B14F-4D97-AF65-F5344CB8AC3E}">
        <p14:creationId xmlns:p14="http://schemas.microsoft.com/office/powerpoint/2010/main" val="5521875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D98A81-D82C-080B-E258-8748B8E01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327B8B-A285-E50F-E09C-EDA8AB18C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72000"/>
          </a:xfrm>
          <a:solidFill>
            <a:schemeClr val="accent1"/>
          </a:solidFill>
          <a:ln>
            <a:noFill/>
          </a:ln>
        </p:spPr>
        <p:txBody>
          <a:bodyPr anchor="ctr"/>
          <a:lstStyle/>
          <a:p>
            <a:r>
              <a:rPr lang="ja-JP" altLang="en-US">
                <a:solidFill>
                  <a:schemeClr val="bg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今回の概要</a:t>
            </a:r>
            <a:endParaRPr kumimoji="1" lang="ja-JP" altLang="en-US">
              <a:solidFill>
                <a:schemeClr val="bg1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36B3C9C-5251-C3F6-072E-F31A5F6C7687}"/>
              </a:ext>
            </a:extLst>
          </p:cNvPr>
          <p:cNvSpPr txBox="1"/>
          <p:nvPr/>
        </p:nvSpPr>
        <p:spPr>
          <a:xfrm>
            <a:off x="617034" y="1389980"/>
            <a:ext cx="6172200" cy="5093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kumimoji="1" lang="ja-JP" altLang="en-US" sz="28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◆</a:t>
            </a:r>
            <a:r>
              <a:rPr kumimoji="1" lang="en-US" altLang="ja-JP" sz="28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 </a:t>
            </a:r>
            <a:r>
              <a:rPr kumimoji="1" lang="ja-JP" altLang="en-US" sz="28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非線形</a:t>
            </a:r>
            <a:endParaRPr kumimoji="1" lang="en-US" altLang="ja-JP" sz="28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>
              <a:spcAft>
                <a:spcPts val="600"/>
              </a:spcAft>
            </a:pPr>
            <a:r>
              <a:rPr kumimoji="1" lang="ja-JP" altLang="en-US" sz="28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◆</a:t>
            </a:r>
            <a:r>
              <a:rPr kumimoji="1" lang="en-US" altLang="ja-JP" sz="28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 </a:t>
            </a:r>
            <a:r>
              <a:rPr kumimoji="1" lang="ja-JP" altLang="en-US" sz="28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非線形回帰モデル</a:t>
            </a:r>
            <a:endParaRPr kumimoji="1" lang="en-US" altLang="ja-JP" sz="28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>
              <a:spcAft>
                <a:spcPts val="600"/>
              </a:spcAft>
            </a:pPr>
            <a:r>
              <a:rPr kumimoji="1" lang="ja-JP" altLang="en-US" sz="28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◆</a:t>
            </a:r>
            <a:r>
              <a:rPr kumimoji="1" lang="en-US" altLang="ja-JP" sz="28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 SVR</a:t>
            </a:r>
            <a:r>
              <a:rPr kumimoji="1" lang="ja-JP" altLang="en-US" sz="28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の原理と特徴</a:t>
            </a:r>
            <a:endParaRPr kumimoji="1" lang="en-US" altLang="ja-JP" sz="28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>
              <a:spcAft>
                <a:spcPts val="600"/>
              </a:spcAft>
            </a:pPr>
            <a:r>
              <a:rPr kumimoji="1" lang="ja-JP" altLang="en-US" sz="28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　　・カーネル関数</a:t>
            </a:r>
            <a:endParaRPr kumimoji="1" lang="en-US" altLang="ja-JP" sz="28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>
              <a:spcAft>
                <a:spcPts val="600"/>
              </a:spcAft>
            </a:pPr>
            <a:r>
              <a:rPr kumimoji="1" lang="ja-JP" altLang="en-US" sz="28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　　・</a:t>
            </a:r>
            <a:r>
              <a:rPr kumimoji="1" lang="en-US" altLang="ja-JP" sz="2800" dirty="0" err="1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ε</a:t>
            </a:r>
            <a:r>
              <a:rPr kumimoji="1" lang="en-US" altLang="ja-JP" sz="28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-</a:t>
            </a:r>
            <a:r>
              <a:rPr kumimoji="1" lang="ja-JP" altLang="en-US" sz="28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チューブ</a:t>
            </a:r>
            <a:endParaRPr kumimoji="1" lang="en-US" altLang="ja-JP" sz="28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>
              <a:spcAft>
                <a:spcPts val="600"/>
              </a:spcAft>
            </a:pPr>
            <a:r>
              <a:rPr kumimoji="1" lang="ja-JP" altLang="en-US" sz="28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◆</a:t>
            </a:r>
            <a:r>
              <a:rPr kumimoji="1" lang="en-US" altLang="ja-JP" sz="28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 </a:t>
            </a:r>
            <a:r>
              <a:rPr kumimoji="1" lang="ja-JP" altLang="en-US" sz="28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用語説明</a:t>
            </a:r>
            <a:endParaRPr kumimoji="1" lang="en-US" altLang="ja-JP" sz="28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>
              <a:spcAft>
                <a:spcPts val="600"/>
              </a:spcAft>
            </a:pPr>
            <a:r>
              <a:rPr kumimoji="1" lang="ja-JP" altLang="en-US" sz="28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　　・クロスバリデーション</a:t>
            </a:r>
            <a:endParaRPr kumimoji="1" lang="en-US" altLang="ja-JP" sz="28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>
              <a:spcAft>
                <a:spcPts val="600"/>
              </a:spcAft>
            </a:pPr>
            <a:r>
              <a:rPr kumimoji="1" lang="ja-JP" altLang="en-US" sz="28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　　・データリーク</a:t>
            </a:r>
            <a:endParaRPr kumimoji="1" lang="en-US" altLang="ja-JP" sz="28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>
              <a:spcAft>
                <a:spcPts val="600"/>
              </a:spcAft>
            </a:pPr>
            <a:r>
              <a:rPr kumimoji="1" lang="ja-JP" altLang="en-US" sz="28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　　・再現性（</a:t>
            </a:r>
            <a:r>
              <a:rPr kumimoji="1" lang="en-US" altLang="ja-JP" sz="28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seed</a:t>
            </a:r>
            <a:r>
              <a:rPr kumimoji="1" lang="ja-JP" altLang="en-US" sz="28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）</a:t>
            </a:r>
            <a:endParaRPr kumimoji="1" lang="en-US" altLang="ja-JP" sz="28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>
              <a:spcAft>
                <a:spcPts val="600"/>
              </a:spcAft>
            </a:pPr>
            <a:r>
              <a:rPr kumimoji="1" lang="ja-JP" altLang="en-US" sz="28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　　・特徴量エンジニアリング</a:t>
            </a:r>
            <a:endParaRPr kumimoji="1" lang="en-US" altLang="ja-JP" sz="28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73648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CE07E8-B2CA-6F4C-8D8A-4020AB505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AF9DFF2-0210-3120-AD57-BACBF821D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72000"/>
          </a:xfrm>
          <a:solidFill>
            <a:schemeClr val="accent1"/>
          </a:solidFill>
          <a:ln>
            <a:noFill/>
          </a:ln>
        </p:spPr>
        <p:txBody>
          <a:bodyPr anchor="ctr"/>
          <a:lstStyle/>
          <a:p>
            <a:r>
              <a:rPr lang="ja-JP" altLang="en-US">
                <a:solidFill>
                  <a:schemeClr val="bg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非線形</a:t>
            </a:r>
            <a:endParaRPr kumimoji="1" lang="ja-JP" altLang="en-US">
              <a:solidFill>
                <a:schemeClr val="bg1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22A3D7D-4DD0-1CD6-4F09-2773F1F2525A}"/>
              </a:ext>
            </a:extLst>
          </p:cNvPr>
          <p:cNvSpPr txBox="1"/>
          <p:nvPr/>
        </p:nvSpPr>
        <p:spPr>
          <a:xfrm>
            <a:off x="278184" y="1260765"/>
            <a:ext cx="8657997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kumimoji="1" lang="ja-JP" altLang="en-US" sz="28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◆線形の復習</a:t>
            </a:r>
            <a:endParaRPr kumimoji="1" lang="en-US" altLang="ja-JP" sz="28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>
              <a:spcAft>
                <a:spcPts val="600"/>
              </a:spcAft>
            </a:pP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　　説明変数（</a:t>
            </a:r>
            <a:r>
              <a:rPr kumimoji="1" lang="en-US" altLang="ja-JP" sz="24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x</a:t>
            </a: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）と目的変数（</a:t>
            </a:r>
            <a:r>
              <a:rPr kumimoji="1" lang="en-US" altLang="ja-JP" sz="24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y</a:t>
            </a: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）が</a:t>
            </a:r>
            <a:endParaRPr kumimoji="1" lang="en-US" altLang="ja-JP" sz="24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>
              <a:spcAft>
                <a:spcPts val="600"/>
              </a:spcAft>
            </a:pP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　　比例関係にあること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4608E49E-13A4-1D59-6813-29C494501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5725" y="1034514"/>
            <a:ext cx="3628245" cy="2398331"/>
          </a:xfrm>
          <a:prstGeom prst="rect">
            <a:avLst/>
          </a:prstGeom>
          <a:ln>
            <a:noFill/>
          </a:ln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EA6B3CD-C714-394A-7304-12851D33E6D9}"/>
              </a:ext>
            </a:extLst>
          </p:cNvPr>
          <p:cNvSpPr txBox="1"/>
          <p:nvPr/>
        </p:nvSpPr>
        <p:spPr>
          <a:xfrm>
            <a:off x="278183" y="4779930"/>
            <a:ext cx="8657997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kumimoji="1" lang="ja-JP" altLang="en-US" sz="28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◆非線形</a:t>
            </a:r>
            <a:endParaRPr kumimoji="1" lang="en-US" altLang="ja-JP" sz="28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>
              <a:spcAft>
                <a:spcPts val="600"/>
              </a:spcAft>
            </a:pP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　　直線では表現できない複雑な関係</a:t>
            </a:r>
            <a:endParaRPr kumimoji="1" lang="en-US" altLang="ja-JP" sz="24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>
              <a:spcAft>
                <a:spcPts val="600"/>
              </a:spcAft>
            </a:pP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　　</a:t>
            </a:r>
            <a:r>
              <a:rPr kumimoji="1" lang="en-US" altLang="ja-JP" sz="24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【</a:t>
            </a: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例</a:t>
            </a:r>
            <a:r>
              <a:rPr kumimoji="1" lang="en-US" altLang="ja-JP" sz="24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】</a:t>
            </a: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株価、気温</a:t>
            </a:r>
            <a:endParaRPr kumimoji="1" lang="en-US" altLang="ja-JP" sz="24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  <p:sp>
        <p:nvSpPr>
          <p:cNvPr id="6" name="下矢印 5">
            <a:extLst>
              <a:ext uri="{FF2B5EF4-FFF2-40B4-BE49-F238E27FC236}">
                <a16:creationId xmlns:a16="http://schemas.microsoft.com/office/drawing/2014/main" id="{005B91E8-7FB6-2D8F-D887-3E1E8FDD5D49}"/>
              </a:ext>
            </a:extLst>
          </p:cNvPr>
          <p:cNvSpPr/>
          <p:nvPr/>
        </p:nvSpPr>
        <p:spPr>
          <a:xfrm>
            <a:off x="1149928" y="2902789"/>
            <a:ext cx="285659" cy="151681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角丸四角形 6">
            <a:extLst>
              <a:ext uri="{FF2B5EF4-FFF2-40B4-BE49-F238E27FC236}">
                <a16:creationId xmlns:a16="http://schemas.microsoft.com/office/drawing/2014/main" id="{5BAA2281-1D35-4578-3970-9A7494AD4090}"/>
              </a:ext>
            </a:extLst>
          </p:cNvPr>
          <p:cNvSpPr/>
          <p:nvPr/>
        </p:nvSpPr>
        <p:spPr>
          <a:xfrm>
            <a:off x="1725438" y="3078432"/>
            <a:ext cx="3165218" cy="1114600"/>
          </a:xfrm>
          <a:prstGeom prst="roundRect">
            <a:avLst/>
          </a:prstGeom>
          <a:solidFill>
            <a:srgbClr val="EBEBEB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0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世の中には、変数の間に</a:t>
            </a:r>
            <a:endParaRPr kumimoji="1" lang="en-US" altLang="ja-JP" sz="2000" dirty="0">
              <a:solidFill>
                <a:schemeClr val="tx1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algn="ctr"/>
            <a:r>
              <a:rPr kumimoji="1" lang="ja-JP" altLang="en-US" sz="20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線形関係が成り立たない場合が存在する</a:t>
            </a:r>
          </a:p>
        </p:txBody>
      </p:sp>
      <p:pic>
        <p:nvPicPr>
          <p:cNvPr id="1026" name="Picture 2" descr="１日の中での気温の変化には、どんなパターンがある？ | 気温データ・グラフ表示システム">
            <a:extLst>
              <a:ext uri="{FF2B5EF4-FFF2-40B4-BE49-F238E27FC236}">
                <a16:creationId xmlns:a16="http://schemas.microsoft.com/office/drawing/2014/main" id="{48F35191-3FDF-3C1E-9DFB-EA2D48D27B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5725" y="3986287"/>
            <a:ext cx="3722457" cy="2791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01C15BD-09F0-5D50-420F-0BAE85958674}"/>
              </a:ext>
            </a:extLst>
          </p:cNvPr>
          <p:cNvSpPr txBox="1"/>
          <p:nvPr/>
        </p:nvSpPr>
        <p:spPr>
          <a:xfrm>
            <a:off x="6051135" y="3500903"/>
            <a:ext cx="27348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【</a:t>
            </a:r>
            <a:r>
              <a:rPr kumimoji="1" lang="ja-JP" altLang="en-US" sz="12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引用</a:t>
            </a:r>
            <a:r>
              <a:rPr kumimoji="1" lang="en-US" altLang="ja-JP" sz="12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】</a:t>
            </a:r>
            <a:r>
              <a:rPr kumimoji="1" lang="ja-JP" altLang="en-US" sz="12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宇津原さん</a:t>
            </a:r>
            <a:endParaRPr kumimoji="1" lang="ja-JP" altLang="en-US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E590F6F-86C7-6B88-E798-0DC230FCE350}"/>
              </a:ext>
            </a:extLst>
          </p:cNvPr>
          <p:cNvSpPr txBox="1"/>
          <p:nvPr/>
        </p:nvSpPr>
        <p:spPr>
          <a:xfrm>
            <a:off x="5940795" y="6639630"/>
            <a:ext cx="37224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【</a:t>
            </a:r>
            <a:r>
              <a:rPr kumimoji="1" lang="ja-JP" altLang="en-US" sz="12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引用</a:t>
            </a:r>
            <a:r>
              <a:rPr kumimoji="1" lang="en-US" altLang="ja-JP" sz="12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】https://</a:t>
            </a:r>
            <a:r>
              <a:rPr kumimoji="1" lang="en-US" altLang="ja-JP" sz="1200" dirty="0" err="1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kion.trendy.co.jp</a:t>
            </a:r>
            <a:r>
              <a:rPr kumimoji="1" lang="en-US" altLang="ja-JP" sz="12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/?p=308</a:t>
            </a:r>
            <a:endParaRPr kumimoji="1" lang="ja-JP" altLang="en-US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98474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E2CC55-86FA-E6AF-E6D2-9E2A8595A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DDBEEC-0555-1426-91E2-FC9F527BE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72000"/>
          </a:xfrm>
          <a:solidFill>
            <a:schemeClr val="accent1"/>
          </a:solidFill>
          <a:ln>
            <a:noFill/>
          </a:ln>
        </p:spPr>
        <p:txBody>
          <a:bodyPr anchor="ctr"/>
          <a:lstStyle/>
          <a:p>
            <a:r>
              <a:rPr lang="ja-JP" altLang="en-US">
                <a:solidFill>
                  <a:schemeClr val="bg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非線形回帰モデル</a:t>
            </a:r>
            <a:endParaRPr kumimoji="1" lang="ja-JP" altLang="en-US">
              <a:solidFill>
                <a:schemeClr val="bg1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B6A2423-0B6A-5CF2-36A2-4FBFC3E7C65E}"/>
              </a:ext>
            </a:extLst>
          </p:cNvPr>
          <p:cNvSpPr txBox="1"/>
          <p:nvPr/>
        </p:nvSpPr>
        <p:spPr>
          <a:xfrm>
            <a:off x="139092" y="1273828"/>
            <a:ext cx="8865815" cy="275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kumimoji="1" lang="ja-JP" altLang="en-US" sz="28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◆非線形回帰モデルとは</a:t>
            </a:r>
            <a:endParaRPr kumimoji="1" lang="en-US" altLang="ja-JP" sz="28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>
              <a:spcAft>
                <a:spcPts val="600"/>
              </a:spcAft>
            </a:pP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　　変数の関係を直線ではなく、曲線などの複雑な関数で</a:t>
            </a:r>
            <a:endParaRPr kumimoji="1" lang="en-US" altLang="ja-JP" sz="24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>
              <a:spcAft>
                <a:spcPts val="600"/>
              </a:spcAft>
            </a:pP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　　表す統計モデルのこと。</a:t>
            </a:r>
            <a:endParaRPr kumimoji="1" lang="en-US" altLang="ja-JP" sz="24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>
              <a:spcAft>
                <a:spcPts val="600"/>
              </a:spcAft>
            </a:pPr>
            <a:endParaRPr kumimoji="1" lang="en-US" altLang="ja-JP" sz="24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>
              <a:spcAft>
                <a:spcPts val="600"/>
              </a:spcAft>
            </a:pP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　　複雑な非線形データにも柔軟に対応できることから、</a:t>
            </a:r>
            <a:endParaRPr kumimoji="1" lang="en-US" altLang="ja-JP" sz="24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>
              <a:spcAft>
                <a:spcPts val="600"/>
              </a:spcAft>
            </a:pP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　　</a:t>
            </a:r>
            <a:r>
              <a:rPr kumimoji="1" lang="en-US" altLang="ja-JP" sz="2400" dirty="0">
                <a:solidFill>
                  <a:srgbClr val="C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SVR</a:t>
            </a:r>
            <a:r>
              <a:rPr kumimoji="1" lang="ja-JP" altLang="en-US" sz="2400">
                <a:solidFill>
                  <a:srgbClr val="C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（サポートベクター回帰）</a:t>
            </a: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は代表的な非線形回帰モデルの</a:t>
            </a:r>
            <a:r>
              <a:rPr kumimoji="1" lang="en-US" altLang="ja-JP" sz="24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1</a:t>
            </a: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つ。</a:t>
            </a:r>
            <a:endParaRPr kumimoji="1" lang="ja-JP" altLang="en-US" sz="200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63260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CB3825-4444-4C8E-9E92-882DDF2B4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72000"/>
          </a:xfrm>
          <a:solidFill>
            <a:schemeClr val="accent1"/>
          </a:solidFill>
          <a:ln>
            <a:noFill/>
          </a:ln>
        </p:spPr>
        <p:txBody>
          <a:bodyPr anchor="ctr"/>
          <a:lstStyle/>
          <a:p>
            <a:r>
              <a:rPr kumimoji="1" lang="en-US" altLang="ja-JP" dirty="0">
                <a:solidFill>
                  <a:schemeClr val="bg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SVR</a:t>
            </a:r>
            <a:r>
              <a:rPr lang="ja-JP" altLang="en-US">
                <a:solidFill>
                  <a:schemeClr val="bg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とは</a:t>
            </a:r>
            <a:r>
              <a:rPr kumimoji="1" lang="ja-JP" altLang="en-US">
                <a:solidFill>
                  <a:schemeClr val="bg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（非線形）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402E39E-D3A9-C269-A8AE-D81D57BB8B0C}"/>
              </a:ext>
            </a:extLst>
          </p:cNvPr>
          <p:cNvSpPr txBox="1"/>
          <p:nvPr/>
        </p:nvSpPr>
        <p:spPr>
          <a:xfrm>
            <a:off x="278185" y="1260765"/>
            <a:ext cx="8741124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kumimoji="1" lang="ja-JP" altLang="en-US" sz="28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◆</a:t>
            </a:r>
            <a:r>
              <a:rPr kumimoji="1" lang="en-US" altLang="ja-JP" sz="28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SVR</a:t>
            </a:r>
            <a:r>
              <a:rPr kumimoji="1" lang="ja-JP" altLang="en-US" sz="28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とは・・・</a:t>
            </a:r>
            <a:endParaRPr kumimoji="1" lang="en-US" altLang="ja-JP" sz="28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>
              <a:spcAft>
                <a:spcPts val="600"/>
              </a:spcAft>
            </a:pP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　　サポートベクターマシン（</a:t>
            </a:r>
            <a:r>
              <a:rPr kumimoji="1" lang="en-US" altLang="ja-JP" sz="24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SVM</a:t>
            </a: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）を回帰分析に応用した手法。</a:t>
            </a:r>
            <a:endParaRPr kumimoji="1" lang="en-US" altLang="ja-JP" sz="24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>
              <a:spcAft>
                <a:spcPts val="600"/>
              </a:spcAft>
            </a:pP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　　線形回帰モデルだが、非線形回帰にも拡張が可能。</a:t>
            </a:r>
            <a:endParaRPr kumimoji="1" lang="en-US" altLang="ja-JP" sz="24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>
              <a:spcAft>
                <a:spcPts val="600"/>
              </a:spcAft>
            </a:pP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　　</a:t>
            </a:r>
            <a:endParaRPr kumimoji="1" lang="en-US" altLang="ja-JP" sz="28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>
              <a:spcAft>
                <a:spcPts val="600"/>
              </a:spcAft>
            </a:pPr>
            <a:r>
              <a:rPr kumimoji="1" lang="ja-JP" altLang="en-US" sz="28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◆非線形回帰に拡張するには・・・</a:t>
            </a:r>
            <a:endParaRPr kumimoji="1" lang="en-US" altLang="ja-JP" sz="28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>
              <a:spcAft>
                <a:spcPts val="600"/>
              </a:spcAft>
            </a:pP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　　</a:t>
            </a:r>
            <a:r>
              <a:rPr kumimoji="1" lang="ja-JP" altLang="en-US" sz="2400" u="sng">
                <a:uFill>
                  <a:solidFill>
                    <a:schemeClr val="bg1"/>
                  </a:solidFill>
                </a:u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データを高次元空間に写像して「高次元では線形に見える」</a:t>
            </a:r>
            <a:endParaRPr kumimoji="1" lang="en-US" altLang="ja-JP" sz="2400" u="sng" dirty="0">
              <a:uFill>
                <a:solidFill>
                  <a:schemeClr val="bg1"/>
                </a:solidFill>
              </a:u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>
              <a:spcAft>
                <a:spcPts val="600"/>
              </a:spcAft>
            </a:pPr>
            <a:r>
              <a:rPr kumimoji="1" lang="ja-JP" altLang="en-US" sz="2400">
                <a:uFill>
                  <a:solidFill>
                    <a:schemeClr val="bg1"/>
                  </a:solidFill>
                </a:u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　　</a:t>
            </a:r>
            <a:r>
              <a:rPr kumimoji="1" lang="ja-JP" altLang="en-US" sz="2400" u="sng">
                <a:uFill>
                  <a:solidFill>
                    <a:schemeClr val="bg1"/>
                  </a:solidFill>
                </a:u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状態にする</a:t>
            </a: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必要がある。</a:t>
            </a:r>
            <a:endParaRPr kumimoji="1" lang="en-US" altLang="ja-JP" sz="24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>
              <a:spcAft>
                <a:spcPts val="600"/>
              </a:spcAft>
            </a:pPr>
            <a:endParaRPr kumimoji="1" lang="en-US" altLang="ja-JP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>
              <a:spcAft>
                <a:spcPts val="600"/>
              </a:spcAft>
            </a:pP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　　</a:t>
            </a:r>
            <a:endParaRPr kumimoji="1" lang="en-US" altLang="ja-JP" sz="24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>
              <a:spcAft>
                <a:spcPts val="600"/>
              </a:spcAft>
            </a:pPr>
            <a:endParaRPr kumimoji="1" lang="en-US" altLang="ja-JP" sz="24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algn="ctr">
              <a:spcAft>
                <a:spcPts val="600"/>
              </a:spcAft>
            </a:pP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　　　</a:t>
            </a:r>
            <a:r>
              <a:rPr kumimoji="1" lang="ja-JP" altLang="en-US" sz="2400">
                <a:solidFill>
                  <a:srgbClr val="C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　　　　　　　　</a:t>
            </a:r>
          </a:p>
        </p:txBody>
      </p:sp>
    </p:spTree>
    <p:extLst>
      <p:ext uri="{BB962C8B-B14F-4D97-AF65-F5344CB8AC3E}">
        <p14:creationId xmlns:p14="http://schemas.microsoft.com/office/powerpoint/2010/main" val="1642268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861F5F-908F-EC8B-38AB-7CD7C76D0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2A6A2B-D305-8FB2-2335-BE788E483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72000"/>
          </a:xfrm>
          <a:solidFill>
            <a:schemeClr val="accent1"/>
          </a:solidFill>
          <a:ln>
            <a:noFill/>
          </a:ln>
        </p:spPr>
        <p:txBody>
          <a:bodyPr anchor="ctr"/>
          <a:lstStyle/>
          <a:p>
            <a:r>
              <a:rPr lang="ja-JP" altLang="en-US">
                <a:solidFill>
                  <a:schemeClr val="bg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「高次元空間への写像」って？</a:t>
            </a:r>
            <a:endParaRPr kumimoji="1" lang="ja-JP" altLang="en-US">
              <a:solidFill>
                <a:schemeClr val="bg1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644A1EE-D68A-47A5-3034-1E9A515D16C7}"/>
              </a:ext>
            </a:extLst>
          </p:cNvPr>
          <p:cNvSpPr txBox="1"/>
          <p:nvPr/>
        </p:nvSpPr>
        <p:spPr>
          <a:xfrm>
            <a:off x="138700" y="1103736"/>
            <a:ext cx="9005300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写像</a:t>
            </a:r>
            <a:r>
              <a:rPr kumimoji="1" lang="en-US" altLang="ja-JP" sz="24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 </a:t>
            </a: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　　：</a:t>
            </a:r>
            <a:r>
              <a:rPr kumimoji="1" lang="en-US" altLang="ja-JP" sz="24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 </a:t>
            </a: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データの見方を変える操作　（例：横軸を「</a:t>
            </a:r>
            <a:r>
              <a:rPr kumimoji="1" lang="en-US" altLang="ja-JP" sz="24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x </a:t>
            </a: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→</a:t>
            </a:r>
            <a:r>
              <a:rPr kumimoji="1" lang="en-US" altLang="ja-JP" sz="24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 x</a:t>
            </a:r>
            <a:r>
              <a:rPr kumimoji="1" lang="en-US" altLang="ja-JP" sz="2400" baseline="300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2</a:t>
            </a: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」に変換）</a:t>
            </a:r>
            <a:endParaRPr kumimoji="1" lang="en-US" altLang="ja-JP" sz="24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>
              <a:spcAft>
                <a:spcPts val="600"/>
              </a:spcAft>
            </a:pP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高次元</a:t>
            </a:r>
            <a:r>
              <a:rPr kumimoji="1" lang="en-US" altLang="ja-JP" sz="24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 </a:t>
            </a: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：</a:t>
            </a:r>
            <a:r>
              <a:rPr kumimoji="1" lang="en-US" altLang="ja-JP" sz="24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 </a:t>
            </a: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軸（変数）の数が増えた状態のもの</a:t>
            </a:r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D158550B-0266-2075-F684-AFC81A35DA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4153162"/>
              </p:ext>
            </p:extLst>
          </p:nvPr>
        </p:nvGraphicFramePr>
        <p:xfrm>
          <a:off x="138699" y="5736719"/>
          <a:ext cx="3968352" cy="7416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96044">
                  <a:extLst>
                    <a:ext uri="{9D8B030D-6E8A-4147-A177-3AD203B41FA5}">
                      <a16:colId xmlns:a16="http://schemas.microsoft.com/office/drawing/2014/main" val="2008506357"/>
                    </a:ext>
                  </a:extLst>
                </a:gridCol>
                <a:gridCol w="496044">
                  <a:extLst>
                    <a:ext uri="{9D8B030D-6E8A-4147-A177-3AD203B41FA5}">
                      <a16:colId xmlns:a16="http://schemas.microsoft.com/office/drawing/2014/main" val="2226954353"/>
                    </a:ext>
                  </a:extLst>
                </a:gridCol>
                <a:gridCol w="496044">
                  <a:extLst>
                    <a:ext uri="{9D8B030D-6E8A-4147-A177-3AD203B41FA5}">
                      <a16:colId xmlns:a16="http://schemas.microsoft.com/office/drawing/2014/main" val="1021835984"/>
                    </a:ext>
                  </a:extLst>
                </a:gridCol>
                <a:gridCol w="496044">
                  <a:extLst>
                    <a:ext uri="{9D8B030D-6E8A-4147-A177-3AD203B41FA5}">
                      <a16:colId xmlns:a16="http://schemas.microsoft.com/office/drawing/2014/main" val="3199101931"/>
                    </a:ext>
                  </a:extLst>
                </a:gridCol>
                <a:gridCol w="496044">
                  <a:extLst>
                    <a:ext uri="{9D8B030D-6E8A-4147-A177-3AD203B41FA5}">
                      <a16:colId xmlns:a16="http://schemas.microsoft.com/office/drawing/2014/main" val="3453085521"/>
                    </a:ext>
                  </a:extLst>
                </a:gridCol>
                <a:gridCol w="496044">
                  <a:extLst>
                    <a:ext uri="{9D8B030D-6E8A-4147-A177-3AD203B41FA5}">
                      <a16:colId xmlns:a16="http://schemas.microsoft.com/office/drawing/2014/main" val="3609931331"/>
                    </a:ext>
                  </a:extLst>
                </a:gridCol>
                <a:gridCol w="496044">
                  <a:extLst>
                    <a:ext uri="{9D8B030D-6E8A-4147-A177-3AD203B41FA5}">
                      <a16:colId xmlns:a16="http://schemas.microsoft.com/office/drawing/2014/main" val="2978779494"/>
                    </a:ext>
                  </a:extLst>
                </a:gridCol>
                <a:gridCol w="496044">
                  <a:extLst>
                    <a:ext uri="{9D8B030D-6E8A-4147-A177-3AD203B41FA5}">
                      <a16:colId xmlns:a16="http://schemas.microsoft.com/office/drawing/2014/main" val="12280100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UD Digi Kyokasho NK-R" panose="02020400000000000000" pitchFamily="18" charset="-128"/>
                          <a:ea typeface="UD Digi Kyokasho NK-R" panose="02020400000000000000" pitchFamily="18" charset="-128"/>
                        </a:rPr>
                        <a:t>x</a:t>
                      </a:r>
                      <a:endParaRPr kumimoji="1" lang="ja-JP" altLang="en-US"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UD Digi Kyokasho NK-R" panose="02020400000000000000" pitchFamily="18" charset="-128"/>
                          <a:ea typeface="UD Digi Kyokasho NK-R" panose="02020400000000000000" pitchFamily="18" charset="-128"/>
                        </a:rPr>
                        <a:t>0</a:t>
                      </a:r>
                      <a:endParaRPr kumimoji="1" lang="ja-JP" altLang="en-US"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UD Digi Kyokasho NK-R" panose="02020400000000000000" pitchFamily="18" charset="-128"/>
                          <a:ea typeface="UD Digi Kyokasho NK-R" panose="02020400000000000000" pitchFamily="18" charset="-128"/>
                        </a:rPr>
                        <a:t>1</a:t>
                      </a:r>
                      <a:endParaRPr kumimoji="1" lang="ja-JP" altLang="en-US"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UD Digi Kyokasho NK-R" panose="02020400000000000000" pitchFamily="18" charset="-128"/>
                          <a:ea typeface="UD Digi Kyokasho NK-R" panose="02020400000000000000" pitchFamily="18" charset="-128"/>
                        </a:rPr>
                        <a:t>2</a:t>
                      </a:r>
                      <a:endParaRPr kumimoji="1" lang="ja-JP" altLang="en-US"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UD Digi Kyokasho NK-R" panose="02020400000000000000" pitchFamily="18" charset="-128"/>
                          <a:ea typeface="UD Digi Kyokasho NK-R" panose="02020400000000000000" pitchFamily="18" charset="-128"/>
                        </a:rPr>
                        <a:t>3</a:t>
                      </a:r>
                      <a:endParaRPr kumimoji="1" lang="ja-JP" altLang="en-US"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UD Digi Kyokasho NK-R" panose="02020400000000000000" pitchFamily="18" charset="-128"/>
                          <a:ea typeface="UD Digi Kyokasho NK-R" panose="02020400000000000000" pitchFamily="18" charset="-128"/>
                        </a:rPr>
                        <a:t>4</a:t>
                      </a:r>
                      <a:endParaRPr kumimoji="1" lang="ja-JP" altLang="en-US"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UD Digi Kyokasho NK-R" panose="02020400000000000000" pitchFamily="18" charset="-128"/>
                          <a:ea typeface="UD Digi Kyokasho NK-R" panose="02020400000000000000" pitchFamily="18" charset="-128"/>
                        </a:rPr>
                        <a:t>5</a:t>
                      </a:r>
                      <a:endParaRPr kumimoji="1" lang="ja-JP" altLang="en-US"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UD Digi Kyokasho NK-R" panose="02020400000000000000" pitchFamily="18" charset="-128"/>
                          <a:ea typeface="UD Digi Kyokasho NK-R" panose="02020400000000000000" pitchFamily="18" charset="-128"/>
                        </a:rPr>
                        <a:t>6</a:t>
                      </a:r>
                      <a:endParaRPr kumimoji="1" lang="ja-JP" altLang="en-US"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9878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UD Digi Kyokasho NK-R" panose="02020400000000000000" pitchFamily="18" charset="-128"/>
                          <a:ea typeface="UD Digi Kyokasho NK-R" panose="02020400000000000000" pitchFamily="18" charset="-128"/>
                        </a:rPr>
                        <a:t>y</a:t>
                      </a:r>
                      <a:endParaRPr kumimoji="1" lang="ja-JP" altLang="en-US"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UD Digi Kyokasho NK-R" panose="02020400000000000000" pitchFamily="18" charset="-128"/>
                          <a:ea typeface="UD Digi Kyokasho NK-R" panose="02020400000000000000" pitchFamily="18" charset="-128"/>
                        </a:rPr>
                        <a:t>0</a:t>
                      </a:r>
                      <a:endParaRPr kumimoji="1" lang="ja-JP" altLang="en-US"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UD Digi Kyokasho NK-R" panose="02020400000000000000" pitchFamily="18" charset="-128"/>
                          <a:ea typeface="UD Digi Kyokasho NK-R" panose="02020400000000000000" pitchFamily="18" charset="-128"/>
                        </a:rPr>
                        <a:t>1</a:t>
                      </a:r>
                      <a:endParaRPr kumimoji="1" lang="ja-JP" altLang="en-US"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UD Digi Kyokasho NK-R" panose="02020400000000000000" pitchFamily="18" charset="-128"/>
                          <a:ea typeface="UD Digi Kyokasho NK-R" panose="02020400000000000000" pitchFamily="18" charset="-128"/>
                        </a:rPr>
                        <a:t>4</a:t>
                      </a:r>
                      <a:endParaRPr kumimoji="1" lang="ja-JP" altLang="en-US"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UD Digi Kyokasho NK-R" panose="02020400000000000000" pitchFamily="18" charset="-128"/>
                          <a:ea typeface="UD Digi Kyokasho NK-R" panose="02020400000000000000" pitchFamily="18" charset="-128"/>
                        </a:rPr>
                        <a:t>9</a:t>
                      </a:r>
                      <a:endParaRPr kumimoji="1" lang="ja-JP" altLang="en-US"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UD Digi Kyokasho NK-R" panose="02020400000000000000" pitchFamily="18" charset="-128"/>
                          <a:ea typeface="UD Digi Kyokasho NK-R" panose="02020400000000000000" pitchFamily="18" charset="-128"/>
                        </a:rPr>
                        <a:t>16</a:t>
                      </a:r>
                      <a:endParaRPr kumimoji="1" lang="ja-JP" altLang="en-US"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UD Digi Kyokasho NK-R" panose="02020400000000000000" pitchFamily="18" charset="-128"/>
                          <a:ea typeface="UD Digi Kyokasho NK-R" panose="02020400000000000000" pitchFamily="18" charset="-128"/>
                        </a:rPr>
                        <a:t>25</a:t>
                      </a:r>
                      <a:endParaRPr kumimoji="1" lang="ja-JP" altLang="en-US"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UD Digi Kyokasho NK-R" panose="02020400000000000000" pitchFamily="18" charset="-128"/>
                          <a:ea typeface="UD Digi Kyokasho NK-R" panose="02020400000000000000" pitchFamily="18" charset="-128"/>
                        </a:rPr>
                        <a:t>36</a:t>
                      </a:r>
                      <a:endParaRPr kumimoji="1" lang="ja-JP" altLang="en-US"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3642150"/>
                  </a:ext>
                </a:extLst>
              </a:tr>
            </a:tbl>
          </a:graphicData>
        </a:graphic>
      </p:graphicFrame>
      <p:pic>
        <p:nvPicPr>
          <p:cNvPr id="11" name="図 10">
            <a:extLst>
              <a:ext uri="{FF2B5EF4-FFF2-40B4-BE49-F238E27FC236}">
                <a16:creationId xmlns:a16="http://schemas.microsoft.com/office/drawing/2014/main" id="{A127830B-98CC-FB84-FD8A-543CDEECAA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365" y="2995586"/>
            <a:ext cx="2889347" cy="2378565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5BA3D12E-DEAC-785A-1EF9-008FACF056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9630" y="2995586"/>
            <a:ext cx="2931005" cy="2378564"/>
          </a:xfrm>
          <a:prstGeom prst="rect">
            <a:avLst/>
          </a:prstGeom>
        </p:spPr>
      </p:pic>
      <p:graphicFrame>
        <p:nvGraphicFramePr>
          <p:cNvPr id="14" name="表 13">
            <a:extLst>
              <a:ext uri="{FF2B5EF4-FFF2-40B4-BE49-F238E27FC236}">
                <a16:creationId xmlns:a16="http://schemas.microsoft.com/office/drawing/2014/main" id="{8866301A-AB45-DDD6-5244-1A6A2C2A9D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9141039"/>
              </p:ext>
            </p:extLst>
          </p:nvPr>
        </p:nvGraphicFramePr>
        <p:xfrm>
          <a:off x="5050957" y="5736719"/>
          <a:ext cx="3968352" cy="7416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96044">
                  <a:extLst>
                    <a:ext uri="{9D8B030D-6E8A-4147-A177-3AD203B41FA5}">
                      <a16:colId xmlns:a16="http://schemas.microsoft.com/office/drawing/2014/main" val="2008506357"/>
                    </a:ext>
                  </a:extLst>
                </a:gridCol>
                <a:gridCol w="496044">
                  <a:extLst>
                    <a:ext uri="{9D8B030D-6E8A-4147-A177-3AD203B41FA5}">
                      <a16:colId xmlns:a16="http://schemas.microsoft.com/office/drawing/2014/main" val="2226954353"/>
                    </a:ext>
                  </a:extLst>
                </a:gridCol>
                <a:gridCol w="496044">
                  <a:extLst>
                    <a:ext uri="{9D8B030D-6E8A-4147-A177-3AD203B41FA5}">
                      <a16:colId xmlns:a16="http://schemas.microsoft.com/office/drawing/2014/main" val="1021835984"/>
                    </a:ext>
                  </a:extLst>
                </a:gridCol>
                <a:gridCol w="496044">
                  <a:extLst>
                    <a:ext uri="{9D8B030D-6E8A-4147-A177-3AD203B41FA5}">
                      <a16:colId xmlns:a16="http://schemas.microsoft.com/office/drawing/2014/main" val="3199101931"/>
                    </a:ext>
                  </a:extLst>
                </a:gridCol>
                <a:gridCol w="496044">
                  <a:extLst>
                    <a:ext uri="{9D8B030D-6E8A-4147-A177-3AD203B41FA5}">
                      <a16:colId xmlns:a16="http://schemas.microsoft.com/office/drawing/2014/main" val="3453085521"/>
                    </a:ext>
                  </a:extLst>
                </a:gridCol>
                <a:gridCol w="496044">
                  <a:extLst>
                    <a:ext uri="{9D8B030D-6E8A-4147-A177-3AD203B41FA5}">
                      <a16:colId xmlns:a16="http://schemas.microsoft.com/office/drawing/2014/main" val="3609931331"/>
                    </a:ext>
                  </a:extLst>
                </a:gridCol>
                <a:gridCol w="496044">
                  <a:extLst>
                    <a:ext uri="{9D8B030D-6E8A-4147-A177-3AD203B41FA5}">
                      <a16:colId xmlns:a16="http://schemas.microsoft.com/office/drawing/2014/main" val="2978779494"/>
                    </a:ext>
                  </a:extLst>
                </a:gridCol>
                <a:gridCol w="496044">
                  <a:extLst>
                    <a:ext uri="{9D8B030D-6E8A-4147-A177-3AD203B41FA5}">
                      <a16:colId xmlns:a16="http://schemas.microsoft.com/office/drawing/2014/main" val="12280100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solidFill>
                            <a:srgbClr val="C00000"/>
                          </a:solidFill>
                          <a:latin typeface="UD Digi Kyokasho NK-R" panose="02020400000000000000" pitchFamily="18" charset="-128"/>
                          <a:ea typeface="UD Digi Kyokasho NK-R" panose="02020400000000000000" pitchFamily="18" charset="-128"/>
                        </a:rPr>
                        <a:t>x</a:t>
                      </a:r>
                      <a:r>
                        <a:rPr kumimoji="1" lang="en-US" altLang="ja-JP" baseline="30000" dirty="0">
                          <a:solidFill>
                            <a:srgbClr val="C00000"/>
                          </a:solidFill>
                          <a:latin typeface="UD Digi Kyokasho NK-R" panose="02020400000000000000" pitchFamily="18" charset="-128"/>
                          <a:ea typeface="UD Digi Kyokasho NK-R" panose="02020400000000000000" pitchFamily="18" charset="-128"/>
                        </a:rPr>
                        <a:t>2</a:t>
                      </a:r>
                      <a:endParaRPr kumimoji="1" lang="ja-JP" altLang="en-US" baseline="30000">
                        <a:solidFill>
                          <a:srgbClr val="C00000"/>
                        </a:solidFill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solidFill>
                            <a:srgbClr val="C00000"/>
                          </a:solidFill>
                          <a:latin typeface="UD Digi Kyokasho NK-R" panose="02020400000000000000" pitchFamily="18" charset="-128"/>
                          <a:ea typeface="UD Digi Kyokasho NK-R" panose="02020400000000000000" pitchFamily="18" charset="-128"/>
                        </a:rPr>
                        <a:t>0</a:t>
                      </a:r>
                      <a:endParaRPr kumimoji="1" lang="ja-JP" altLang="en-US">
                        <a:solidFill>
                          <a:srgbClr val="C00000"/>
                        </a:solidFill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solidFill>
                            <a:srgbClr val="C00000"/>
                          </a:solidFill>
                          <a:latin typeface="UD Digi Kyokasho NK-R" panose="02020400000000000000" pitchFamily="18" charset="-128"/>
                          <a:ea typeface="UD Digi Kyokasho NK-R" panose="02020400000000000000" pitchFamily="18" charset="-128"/>
                        </a:rPr>
                        <a:t>1</a:t>
                      </a:r>
                      <a:endParaRPr kumimoji="1" lang="ja-JP" altLang="en-US">
                        <a:solidFill>
                          <a:srgbClr val="C00000"/>
                        </a:solidFill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solidFill>
                            <a:srgbClr val="C00000"/>
                          </a:solidFill>
                          <a:latin typeface="UD Digi Kyokasho NK-R" panose="02020400000000000000" pitchFamily="18" charset="-128"/>
                          <a:ea typeface="UD Digi Kyokasho NK-R" panose="02020400000000000000" pitchFamily="18" charset="-128"/>
                        </a:rPr>
                        <a:t>4</a:t>
                      </a:r>
                      <a:endParaRPr kumimoji="1" lang="ja-JP" altLang="en-US">
                        <a:solidFill>
                          <a:srgbClr val="C00000"/>
                        </a:solidFill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solidFill>
                            <a:srgbClr val="C00000"/>
                          </a:solidFill>
                          <a:latin typeface="UD Digi Kyokasho NK-R" panose="02020400000000000000" pitchFamily="18" charset="-128"/>
                          <a:ea typeface="UD Digi Kyokasho NK-R" panose="02020400000000000000" pitchFamily="18" charset="-128"/>
                        </a:rPr>
                        <a:t>9</a:t>
                      </a:r>
                      <a:endParaRPr kumimoji="1" lang="ja-JP" altLang="en-US">
                        <a:solidFill>
                          <a:srgbClr val="C00000"/>
                        </a:solidFill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solidFill>
                            <a:srgbClr val="C00000"/>
                          </a:solidFill>
                          <a:latin typeface="UD Digi Kyokasho NK-R" panose="02020400000000000000" pitchFamily="18" charset="-128"/>
                          <a:ea typeface="UD Digi Kyokasho NK-R" panose="02020400000000000000" pitchFamily="18" charset="-128"/>
                        </a:rPr>
                        <a:t>16</a:t>
                      </a:r>
                      <a:endParaRPr kumimoji="1" lang="ja-JP" altLang="en-US">
                        <a:solidFill>
                          <a:srgbClr val="C00000"/>
                        </a:solidFill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solidFill>
                            <a:srgbClr val="C00000"/>
                          </a:solidFill>
                          <a:latin typeface="UD Digi Kyokasho NK-R" panose="02020400000000000000" pitchFamily="18" charset="-128"/>
                          <a:ea typeface="UD Digi Kyokasho NK-R" panose="02020400000000000000" pitchFamily="18" charset="-128"/>
                        </a:rPr>
                        <a:t>25</a:t>
                      </a:r>
                      <a:endParaRPr kumimoji="1" lang="ja-JP" altLang="en-US">
                        <a:solidFill>
                          <a:srgbClr val="C00000"/>
                        </a:solidFill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solidFill>
                            <a:srgbClr val="C00000"/>
                          </a:solidFill>
                          <a:latin typeface="UD Digi Kyokasho NK-R" panose="02020400000000000000" pitchFamily="18" charset="-128"/>
                          <a:ea typeface="UD Digi Kyokasho NK-R" panose="02020400000000000000" pitchFamily="18" charset="-128"/>
                        </a:rPr>
                        <a:t>36</a:t>
                      </a:r>
                      <a:endParaRPr kumimoji="1" lang="ja-JP" altLang="en-US">
                        <a:solidFill>
                          <a:srgbClr val="C00000"/>
                        </a:solidFill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9878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UD Digi Kyokasho NK-R" panose="02020400000000000000" pitchFamily="18" charset="-128"/>
                          <a:ea typeface="UD Digi Kyokasho NK-R" panose="02020400000000000000" pitchFamily="18" charset="-128"/>
                        </a:rPr>
                        <a:t>y</a:t>
                      </a:r>
                      <a:endParaRPr kumimoji="1" lang="ja-JP" altLang="en-US"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UD Digi Kyokasho NK-R" panose="02020400000000000000" pitchFamily="18" charset="-128"/>
                          <a:ea typeface="UD Digi Kyokasho NK-R" panose="02020400000000000000" pitchFamily="18" charset="-128"/>
                        </a:rPr>
                        <a:t>0</a:t>
                      </a:r>
                      <a:endParaRPr kumimoji="1" lang="ja-JP" altLang="en-US"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UD Digi Kyokasho NK-R" panose="02020400000000000000" pitchFamily="18" charset="-128"/>
                          <a:ea typeface="UD Digi Kyokasho NK-R" panose="02020400000000000000" pitchFamily="18" charset="-128"/>
                        </a:rPr>
                        <a:t>1</a:t>
                      </a:r>
                      <a:endParaRPr kumimoji="1" lang="ja-JP" altLang="en-US"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UD Digi Kyokasho NK-R" panose="02020400000000000000" pitchFamily="18" charset="-128"/>
                          <a:ea typeface="UD Digi Kyokasho NK-R" panose="02020400000000000000" pitchFamily="18" charset="-128"/>
                        </a:rPr>
                        <a:t>4</a:t>
                      </a:r>
                      <a:endParaRPr kumimoji="1" lang="ja-JP" altLang="en-US"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UD Digi Kyokasho NK-R" panose="02020400000000000000" pitchFamily="18" charset="-128"/>
                          <a:ea typeface="UD Digi Kyokasho NK-R" panose="02020400000000000000" pitchFamily="18" charset="-128"/>
                        </a:rPr>
                        <a:t>9</a:t>
                      </a:r>
                      <a:endParaRPr kumimoji="1" lang="ja-JP" altLang="en-US"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UD Digi Kyokasho NK-R" panose="02020400000000000000" pitchFamily="18" charset="-128"/>
                          <a:ea typeface="UD Digi Kyokasho NK-R" panose="02020400000000000000" pitchFamily="18" charset="-128"/>
                        </a:rPr>
                        <a:t>16</a:t>
                      </a:r>
                      <a:endParaRPr kumimoji="1" lang="ja-JP" altLang="en-US"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UD Digi Kyokasho NK-R" panose="02020400000000000000" pitchFamily="18" charset="-128"/>
                          <a:ea typeface="UD Digi Kyokasho NK-R" panose="02020400000000000000" pitchFamily="18" charset="-128"/>
                        </a:rPr>
                        <a:t>25</a:t>
                      </a:r>
                      <a:endParaRPr kumimoji="1" lang="ja-JP" altLang="en-US"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UD Digi Kyokasho NK-R" panose="02020400000000000000" pitchFamily="18" charset="-128"/>
                          <a:ea typeface="UD Digi Kyokasho NK-R" panose="02020400000000000000" pitchFamily="18" charset="-128"/>
                        </a:rPr>
                        <a:t>36</a:t>
                      </a:r>
                      <a:endParaRPr kumimoji="1" lang="ja-JP" altLang="en-US">
                        <a:latin typeface="UD Digi Kyokasho NK-R" panose="02020400000000000000" pitchFamily="18" charset="-128"/>
                        <a:ea typeface="UD Digi Kyokasho NK-R" panose="02020400000000000000" pitchFamily="18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3642150"/>
                  </a:ext>
                </a:extLst>
              </a:tr>
            </a:tbl>
          </a:graphicData>
        </a:graphic>
      </p:graphicFrame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F44AADB-278A-D7B0-D518-028437CEF896}"/>
              </a:ext>
            </a:extLst>
          </p:cNvPr>
          <p:cNvSpPr txBox="1"/>
          <p:nvPr/>
        </p:nvSpPr>
        <p:spPr>
          <a:xfrm>
            <a:off x="1495193" y="2561181"/>
            <a:ext cx="12553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元の空間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23008696-823F-382B-92B7-2EB123BAE415}"/>
              </a:ext>
            </a:extLst>
          </p:cNvPr>
          <p:cNvSpPr txBox="1"/>
          <p:nvPr/>
        </p:nvSpPr>
        <p:spPr>
          <a:xfrm>
            <a:off x="6393446" y="2595476"/>
            <a:ext cx="15947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新しい空間</a:t>
            </a:r>
          </a:p>
        </p:txBody>
      </p:sp>
      <p:sp>
        <p:nvSpPr>
          <p:cNvPr id="17" name="右矢印 16">
            <a:extLst>
              <a:ext uri="{FF2B5EF4-FFF2-40B4-BE49-F238E27FC236}">
                <a16:creationId xmlns:a16="http://schemas.microsoft.com/office/drawing/2014/main" id="{B7661334-9A03-440F-37B0-1B0E5A9A343B}"/>
              </a:ext>
            </a:extLst>
          </p:cNvPr>
          <p:cNvSpPr/>
          <p:nvPr/>
        </p:nvSpPr>
        <p:spPr>
          <a:xfrm>
            <a:off x="4091160" y="3859403"/>
            <a:ext cx="1100380" cy="6509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69CA2796-B813-2510-5FA8-C1BEB0BD8313}"/>
              </a:ext>
            </a:extLst>
          </p:cNvPr>
          <p:cNvSpPr txBox="1"/>
          <p:nvPr/>
        </p:nvSpPr>
        <p:spPr>
          <a:xfrm>
            <a:off x="4224250" y="3460322"/>
            <a:ext cx="746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写像</a:t>
            </a:r>
          </a:p>
        </p:txBody>
      </p:sp>
    </p:spTree>
    <p:extLst>
      <p:ext uri="{BB962C8B-B14F-4D97-AF65-F5344CB8AC3E}">
        <p14:creationId xmlns:p14="http://schemas.microsoft.com/office/powerpoint/2010/main" val="1601336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027E4A-4614-7146-FBCE-351084D05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45C14D7-5F77-DB43-EEC3-3328B7A42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72000"/>
          </a:xfrm>
          <a:solidFill>
            <a:schemeClr val="accent1"/>
          </a:solidFill>
          <a:ln>
            <a:noFill/>
          </a:ln>
        </p:spPr>
        <p:txBody>
          <a:bodyPr anchor="ctr"/>
          <a:lstStyle/>
          <a:p>
            <a:r>
              <a:rPr kumimoji="1" lang="en-US" altLang="ja-JP" dirty="0">
                <a:solidFill>
                  <a:schemeClr val="bg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SVR</a:t>
            </a:r>
            <a:r>
              <a:rPr kumimoji="1" lang="ja-JP" altLang="en-US">
                <a:solidFill>
                  <a:schemeClr val="bg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の原理（非線形）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5EBD58D-4D35-EDF4-B26D-60B959545229}"/>
              </a:ext>
            </a:extLst>
          </p:cNvPr>
          <p:cNvSpPr txBox="1"/>
          <p:nvPr/>
        </p:nvSpPr>
        <p:spPr>
          <a:xfrm>
            <a:off x="278185" y="1224084"/>
            <a:ext cx="8999630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高次元空間での計算はコストが高い</a:t>
            </a:r>
            <a:endParaRPr kumimoji="1" lang="en-US" altLang="ja-JP" sz="24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>
              <a:spcAft>
                <a:spcPts val="600"/>
              </a:spcAft>
            </a:pP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→</a:t>
            </a:r>
            <a:r>
              <a:rPr kumimoji="1" lang="en-US" altLang="ja-JP" sz="24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 </a:t>
            </a: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写像後の次元数が</a:t>
            </a:r>
            <a:r>
              <a:rPr kumimoji="1" lang="ja-JP" altLang="en-US" sz="2400">
                <a:solidFill>
                  <a:srgbClr val="C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膨大</a:t>
            </a: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になり、</a:t>
            </a:r>
            <a:r>
              <a:rPr kumimoji="1" lang="ja-JP" altLang="en-US" sz="2400" u="sng">
                <a:uFill>
                  <a:solidFill>
                    <a:schemeClr val="accent1"/>
                  </a:solidFill>
                </a:u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内積計算</a:t>
            </a: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が現実的にほぼ</a:t>
            </a:r>
            <a:r>
              <a:rPr kumimoji="1" lang="ja-JP" altLang="en-US" sz="2400">
                <a:solidFill>
                  <a:srgbClr val="C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不可能</a:t>
            </a:r>
          </a:p>
        </p:txBody>
      </p:sp>
      <p:sp>
        <p:nvSpPr>
          <p:cNvPr id="7" name="四角形吹き出し 6">
            <a:extLst>
              <a:ext uri="{FF2B5EF4-FFF2-40B4-BE49-F238E27FC236}">
                <a16:creationId xmlns:a16="http://schemas.microsoft.com/office/drawing/2014/main" id="{4852E265-7DB2-EF04-358F-1E5A6A684EDC}"/>
              </a:ext>
            </a:extLst>
          </p:cNvPr>
          <p:cNvSpPr/>
          <p:nvPr/>
        </p:nvSpPr>
        <p:spPr>
          <a:xfrm>
            <a:off x="5182934" y="2493118"/>
            <a:ext cx="3456121" cy="526943"/>
          </a:xfrm>
          <a:prstGeom prst="wedgeRectCallout">
            <a:avLst>
              <a:gd name="adj1" fmla="val -42596"/>
              <a:gd name="adj2" fmla="val -111029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SVR</a:t>
            </a:r>
            <a:r>
              <a:rPr kumimoji="1" lang="ja-JP" altLang="en-US" sz="20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数式の構造上、必須過程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443287F5-402C-9D5C-5212-936F5F71FB44}"/>
              </a:ext>
            </a:extLst>
          </p:cNvPr>
          <p:cNvSpPr txBox="1"/>
          <p:nvPr/>
        </p:nvSpPr>
        <p:spPr>
          <a:xfrm>
            <a:off x="278185" y="3029328"/>
            <a:ext cx="47244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★カーネル関数</a:t>
            </a:r>
          </a:p>
        </p:txBody>
      </p:sp>
      <p:sp>
        <p:nvSpPr>
          <p:cNvPr id="18" name="角丸四角形 17">
            <a:extLst>
              <a:ext uri="{FF2B5EF4-FFF2-40B4-BE49-F238E27FC236}">
                <a16:creationId xmlns:a16="http://schemas.microsoft.com/office/drawing/2014/main" id="{C20493E7-F4B0-E23A-DD12-FBC8A7BA4567}"/>
              </a:ext>
            </a:extLst>
          </p:cNvPr>
          <p:cNvSpPr/>
          <p:nvPr/>
        </p:nvSpPr>
        <p:spPr>
          <a:xfrm>
            <a:off x="603650" y="3675640"/>
            <a:ext cx="2805979" cy="313197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200"/>
              </a:spcAft>
            </a:pPr>
            <a:r>
              <a:rPr kumimoji="1" lang="en-US" altLang="ja-JP" sz="2400" dirty="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【</a:t>
            </a:r>
            <a:r>
              <a:rPr kumimoji="1" lang="ja-JP" altLang="en-US" sz="24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本来の流れ</a:t>
            </a:r>
            <a:r>
              <a:rPr kumimoji="1" lang="en-US" altLang="ja-JP" sz="2400" dirty="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】</a:t>
            </a:r>
          </a:p>
          <a:p>
            <a:pPr algn="ctr"/>
            <a:r>
              <a:rPr kumimoji="1" lang="ja-JP" altLang="en-US" sz="20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元データ</a:t>
            </a:r>
            <a:endParaRPr kumimoji="1" lang="en-US" altLang="ja-JP" sz="2000" dirty="0">
              <a:solidFill>
                <a:schemeClr val="tx1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algn="ctr"/>
            <a:r>
              <a:rPr kumimoji="1" lang="ja-JP" altLang="en-US" sz="20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↓</a:t>
            </a:r>
            <a:endParaRPr kumimoji="1" lang="en-US" altLang="ja-JP" sz="2000" dirty="0">
              <a:solidFill>
                <a:schemeClr val="tx1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algn="ctr"/>
            <a:r>
              <a:rPr kumimoji="1" lang="ja-JP" altLang="en-US" sz="20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高次元へ写像</a:t>
            </a:r>
            <a:endParaRPr kumimoji="1" lang="en-US" altLang="ja-JP" sz="2000" dirty="0">
              <a:solidFill>
                <a:schemeClr val="tx1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algn="ctr"/>
            <a:r>
              <a:rPr kumimoji="1" lang="ja-JP" altLang="en-US" sz="20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↓</a:t>
            </a:r>
            <a:endParaRPr kumimoji="1" lang="en-US" altLang="ja-JP" sz="2000" dirty="0">
              <a:solidFill>
                <a:schemeClr val="tx1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algn="ctr"/>
            <a:r>
              <a:rPr kumimoji="1" lang="ja-JP" altLang="en-US" sz="20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内積を計算</a:t>
            </a:r>
            <a:endParaRPr kumimoji="1" lang="en-US" altLang="ja-JP" sz="2000" dirty="0">
              <a:solidFill>
                <a:schemeClr val="tx1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algn="ctr"/>
            <a:endParaRPr kumimoji="1" lang="en-US" altLang="ja-JP" sz="2000" dirty="0">
              <a:solidFill>
                <a:schemeClr val="tx1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  <p:sp>
        <p:nvSpPr>
          <p:cNvPr id="19" name="角丸四角形 18">
            <a:extLst>
              <a:ext uri="{FF2B5EF4-FFF2-40B4-BE49-F238E27FC236}">
                <a16:creationId xmlns:a16="http://schemas.microsoft.com/office/drawing/2014/main" id="{A0C09E0D-8CB4-B7F8-EFBA-E584616746CD}"/>
              </a:ext>
            </a:extLst>
          </p:cNvPr>
          <p:cNvSpPr/>
          <p:nvPr/>
        </p:nvSpPr>
        <p:spPr>
          <a:xfrm>
            <a:off x="5833076" y="3675639"/>
            <a:ext cx="2805979" cy="313197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200"/>
              </a:spcAft>
            </a:pPr>
            <a:r>
              <a:rPr kumimoji="1" lang="en-US" altLang="ja-JP" sz="2400" dirty="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【</a:t>
            </a:r>
            <a:r>
              <a:rPr kumimoji="1" lang="ja-JP" altLang="en-US" sz="2400">
                <a:solidFill>
                  <a:srgbClr val="C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カーネル関数</a:t>
            </a:r>
            <a:r>
              <a:rPr kumimoji="1" lang="en-US" altLang="ja-JP" sz="2400" dirty="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】</a:t>
            </a:r>
          </a:p>
          <a:p>
            <a:pPr algn="ctr"/>
            <a:r>
              <a:rPr kumimoji="1" lang="ja-JP" altLang="en-US" sz="20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元データ</a:t>
            </a:r>
            <a:endParaRPr kumimoji="1" lang="en-US" altLang="ja-JP" sz="2000" dirty="0">
              <a:solidFill>
                <a:schemeClr val="tx1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algn="ctr"/>
            <a:r>
              <a:rPr kumimoji="1" lang="ja-JP" altLang="en-US" sz="20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↓</a:t>
            </a:r>
            <a:endParaRPr kumimoji="1" lang="en-US" altLang="ja-JP" sz="2000" dirty="0">
              <a:solidFill>
                <a:schemeClr val="tx1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algn="ctr"/>
            <a:r>
              <a:rPr kumimoji="1" lang="ja-JP" altLang="en-US" sz="20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↓</a:t>
            </a:r>
            <a:endParaRPr kumimoji="1" lang="en-US" altLang="ja-JP" sz="2000" dirty="0">
              <a:solidFill>
                <a:schemeClr val="tx1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algn="ctr"/>
            <a:r>
              <a:rPr kumimoji="1" lang="ja-JP" altLang="en-US" sz="20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↓</a:t>
            </a:r>
            <a:endParaRPr kumimoji="1" lang="en-US" altLang="ja-JP" sz="2000" dirty="0">
              <a:solidFill>
                <a:schemeClr val="tx1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algn="ctr"/>
            <a:r>
              <a:rPr kumimoji="1" lang="ja-JP" altLang="en-US" sz="20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内積を計算</a:t>
            </a:r>
            <a:endParaRPr kumimoji="1" lang="en-US" altLang="ja-JP" sz="2000" dirty="0">
              <a:solidFill>
                <a:schemeClr val="tx1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algn="ctr"/>
            <a:endParaRPr kumimoji="1" lang="en-US" altLang="ja-JP" sz="2000" dirty="0">
              <a:solidFill>
                <a:schemeClr val="tx1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  <p:sp>
        <p:nvSpPr>
          <p:cNvPr id="20" name="右矢印 19">
            <a:extLst>
              <a:ext uri="{FF2B5EF4-FFF2-40B4-BE49-F238E27FC236}">
                <a16:creationId xmlns:a16="http://schemas.microsoft.com/office/drawing/2014/main" id="{558D1FE6-2815-48E2-726E-3558647B7343}"/>
              </a:ext>
            </a:extLst>
          </p:cNvPr>
          <p:cNvSpPr/>
          <p:nvPr/>
        </p:nvSpPr>
        <p:spPr>
          <a:xfrm>
            <a:off x="3866278" y="5123482"/>
            <a:ext cx="1564937" cy="5232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012C9A00-DF36-FC3C-C62A-7D02C9965939}"/>
              </a:ext>
            </a:extLst>
          </p:cNvPr>
          <p:cNvSpPr txBox="1"/>
          <p:nvPr/>
        </p:nvSpPr>
        <p:spPr>
          <a:xfrm>
            <a:off x="3440248" y="4059227"/>
            <a:ext cx="23622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0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カーネル関数で</a:t>
            </a:r>
            <a:endParaRPr kumimoji="1" lang="en-US" altLang="ja-JP" sz="20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algn="ctr"/>
            <a:r>
              <a:rPr kumimoji="1" lang="ja-JP" altLang="en-US" sz="20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置き換える・・・</a:t>
            </a:r>
            <a:endParaRPr kumimoji="1" lang="en-US" altLang="ja-JP" sz="20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algn="ctr"/>
            <a:r>
              <a:rPr kumimoji="1" lang="ja-JP" altLang="en-US" sz="2000">
                <a:solidFill>
                  <a:srgbClr val="C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カーネルトリック</a:t>
            </a:r>
            <a:endParaRPr kumimoji="1" lang="en-US" altLang="ja-JP" sz="2000" dirty="0">
              <a:solidFill>
                <a:srgbClr val="C00000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853284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EA0E76-D053-A813-8145-37F6BE9DA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3B41DB-5B38-7BE0-E2B5-8EF3B8E11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72000"/>
          </a:xfrm>
          <a:solidFill>
            <a:schemeClr val="accent1"/>
          </a:solidFill>
          <a:ln>
            <a:noFill/>
          </a:ln>
        </p:spPr>
        <p:txBody>
          <a:bodyPr anchor="ctr"/>
          <a:lstStyle/>
          <a:p>
            <a:r>
              <a:rPr kumimoji="1" lang="en-US" altLang="ja-JP" dirty="0">
                <a:solidFill>
                  <a:schemeClr val="bg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SVR</a:t>
            </a:r>
            <a:r>
              <a:rPr kumimoji="1" lang="ja-JP" altLang="en-US">
                <a:solidFill>
                  <a:schemeClr val="bg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の原理（カーネル関数）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17BDA75-B98F-227C-E00F-323EE829625D}"/>
              </a:ext>
            </a:extLst>
          </p:cNvPr>
          <p:cNvSpPr txBox="1"/>
          <p:nvPr/>
        </p:nvSpPr>
        <p:spPr>
          <a:xfrm>
            <a:off x="278182" y="1199209"/>
            <a:ext cx="8571347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kumimoji="1" lang="ja-JP" altLang="en-US" sz="28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◆カーネル関数</a:t>
            </a:r>
            <a:endParaRPr kumimoji="1" lang="en-US" altLang="ja-JP" sz="28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>
              <a:spcAft>
                <a:spcPts val="600"/>
              </a:spcAft>
            </a:pP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　　　写像後の内積を、元データから直接計算できる関数</a:t>
            </a:r>
            <a:endParaRPr kumimoji="1" lang="en-US" altLang="ja-JP" sz="24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>
              <a:spcAft>
                <a:spcPts val="600"/>
              </a:spcAft>
            </a:pP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　　　高次元変換せずに、非線形回帰分析を行うことができる</a:t>
            </a:r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C652AFCE-8A48-A5CA-61A1-D952B6ED6020}"/>
              </a:ext>
            </a:extLst>
          </p:cNvPr>
          <p:cNvGrpSpPr/>
          <p:nvPr/>
        </p:nvGrpSpPr>
        <p:grpSpPr>
          <a:xfrm>
            <a:off x="1312238" y="2944980"/>
            <a:ext cx="6503236" cy="1297022"/>
            <a:chOff x="954840" y="3119034"/>
            <a:chExt cx="6503236" cy="129702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テキスト ボックス 3">
                  <a:extLst>
                    <a:ext uri="{FF2B5EF4-FFF2-40B4-BE49-F238E27FC236}">
                      <a16:creationId xmlns:a16="http://schemas.microsoft.com/office/drawing/2014/main" id="{D7425E94-6AA6-C47B-1243-D709E90DAE3B}"/>
                    </a:ext>
                  </a:extLst>
                </p:cNvPr>
                <p:cNvSpPr txBox="1"/>
                <p:nvPr/>
              </p:nvSpPr>
              <p:spPr>
                <a:xfrm>
                  <a:off x="954840" y="3119034"/>
                  <a:ext cx="3831473" cy="129702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1" lang="ja-JP" alt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kumimoji="1" lang="ja-JP" alt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{"/>
                            <m:endChr m:val=""/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sSup>
                                  <m:sSup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𝑒𝑥𝑝</m:t>
                                </m:r>
                                <m:d>
                                  <m:d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𝛾</m:t>
                                    </m:r>
                                    <m:sSup>
                                      <m:sSup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begChr m:val="‖"/>
                                            <m:endChr m:val="‖"/>
                                            <m:ctrlPr>
                                              <a:rPr kumimoji="1" lang="en-US" altLang="ja-JP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kumimoji="1" lang="en-US" altLang="ja-JP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kumimoji="1" lang="en-US" altLang="ja-JP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kumimoji="1" lang="en-US" altLang="ja-JP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kumimoji="1" lang="en-US" altLang="ja-JP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kumimoji="1" lang="en-US" altLang="ja-JP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kumimoji="1" lang="en-US" altLang="ja-JP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kumimoji="1" lang="en-US" altLang="ja-JP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  <m:e>
                                <m:sSup>
                                  <m:sSup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kumimoji="1"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sSub>
                                              <m:sSubPr>
                                                <m:ctrlPr>
                                                  <a:rPr kumimoji="1" lang="en-US" altLang="ja-JP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kumimoji="1" lang="en-US" altLang="ja-JP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kumimoji="1" lang="en-US" altLang="ja-JP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</m:e>
                                          <m:sup>
                                            <m:r>
                                              <a:rPr kumimoji="1"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p>
                                        <m:sSub>
                                          <m:sSubPr>
                                            <m:ctrlPr>
                                              <a:rPr kumimoji="1"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kumimoji="1"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kumimoji="1" lang="en-US" altLang="ja-JP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en-US" altLang="ja-JP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𝛾</m:t>
                                            </m:r>
                                          </m:e>
                                          <m:sub>
                                            <m:r>
                                              <a:rPr kumimoji="1" lang="en-US" altLang="ja-JP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sSub>
                                      <m:sSub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𝛾</m:t>
                                        </m:r>
                                      </m:e>
                                      <m:sub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p>
                                </m:sSup>
                              </m:e>
                            </m:eqArr>
                          </m:e>
                        </m:d>
                      </m:oMath>
                    </m:oMathPara>
                  </a14:m>
                  <a:br>
                    <a:rPr kumimoji="1" lang="en-US" altLang="ja-JP" b="0" dirty="0"/>
                  </a:br>
                  <a:endParaRPr kumimoji="1" lang="ja-JP" altLang="en-US"/>
                </a:p>
              </p:txBody>
            </p:sp>
          </mc:Choice>
          <mc:Fallback xmlns="">
            <p:sp>
              <p:nvSpPr>
                <p:cNvPr id="4" name="テキスト ボックス 3">
                  <a:extLst>
                    <a:ext uri="{FF2B5EF4-FFF2-40B4-BE49-F238E27FC236}">
                      <a16:creationId xmlns:a16="http://schemas.microsoft.com/office/drawing/2014/main" id="{D7425E94-6AA6-C47B-1243-D709E90DAE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4840" y="3119034"/>
                  <a:ext cx="3831473" cy="129702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982F6B0B-CB3B-BE54-87DA-84A280E27C5F}"/>
                </a:ext>
              </a:extLst>
            </p:cNvPr>
            <p:cNvSpPr txBox="1"/>
            <p:nvPr/>
          </p:nvSpPr>
          <p:spPr>
            <a:xfrm>
              <a:off x="5114926" y="3151992"/>
              <a:ext cx="2343150" cy="12311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1200"/>
                </a:spcAft>
              </a:pPr>
              <a:r>
                <a:rPr kumimoji="1" lang="ja-JP" altLang="en-US">
                  <a:latin typeface="UD Digi Kyokasho NK-R" panose="02020400000000000000" pitchFamily="18" charset="-128"/>
                  <a:ea typeface="UD Digi Kyokasho NK-R" panose="02020400000000000000" pitchFamily="18" charset="-128"/>
                </a:rPr>
                <a:t>（線形カーネル）</a:t>
              </a:r>
              <a:endParaRPr kumimoji="1" lang="en-US" altLang="ja-JP" dirty="0">
                <a:latin typeface="UD Digi Kyokasho NK-R" panose="02020400000000000000" pitchFamily="18" charset="-128"/>
                <a:ea typeface="UD Digi Kyokasho NK-R" panose="02020400000000000000" pitchFamily="18" charset="-128"/>
              </a:endParaRPr>
            </a:p>
            <a:p>
              <a:pPr>
                <a:spcAft>
                  <a:spcPts val="1200"/>
                </a:spcAft>
              </a:pPr>
              <a:r>
                <a:rPr kumimoji="1" lang="ja-JP" altLang="en-US">
                  <a:latin typeface="UD Digi Kyokasho NK-R" panose="02020400000000000000" pitchFamily="18" charset="-128"/>
                  <a:ea typeface="UD Digi Kyokasho NK-R" panose="02020400000000000000" pitchFamily="18" charset="-128"/>
                </a:rPr>
                <a:t>（ガウスカーネル）</a:t>
              </a:r>
              <a:endParaRPr kumimoji="1" lang="en-US" altLang="ja-JP" dirty="0">
                <a:latin typeface="UD Digi Kyokasho NK-R" panose="02020400000000000000" pitchFamily="18" charset="-128"/>
                <a:ea typeface="UD Digi Kyokasho NK-R" panose="02020400000000000000" pitchFamily="18" charset="-128"/>
              </a:endParaRPr>
            </a:p>
            <a:p>
              <a:pPr>
                <a:spcAft>
                  <a:spcPts val="1200"/>
                </a:spcAft>
              </a:pPr>
              <a:r>
                <a:rPr kumimoji="1" lang="ja-JP" altLang="en-US">
                  <a:latin typeface="UD Digi Kyokasho NK-R" panose="02020400000000000000" pitchFamily="18" charset="-128"/>
                  <a:ea typeface="UD Digi Kyokasho NK-R" panose="02020400000000000000" pitchFamily="18" charset="-128"/>
                </a:rPr>
                <a:t>（多項式カーネル）</a:t>
              </a:r>
            </a:p>
          </p:txBody>
        </p:sp>
      </p:grpSp>
      <p:sp>
        <p:nvSpPr>
          <p:cNvPr id="7" name="角丸四角形 6">
            <a:extLst>
              <a:ext uri="{FF2B5EF4-FFF2-40B4-BE49-F238E27FC236}">
                <a16:creationId xmlns:a16="http://schemas.microsoft.com/office/drawing/2014/main" id="{84FC1218-942E-F040-0C05-A5764453FE59}"/>
              </a:ext>
            </a:extLst>
          </p:cNvPr>
          <p:cNvSpPr/>
          <p:nvPr/>
        </p:nvSpPr>
        <p:spPr>
          <a:xfrm>
            <a:off x="692121" y="4661644"/>
            <a:ext cx="7746548" cy="150541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US" altLang="ja-JP" sz="2400" dirty="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SVR</a:t>
            </a:r>
            <a:r>
              <a:rPr kumimoji="1" lang="ja-JP" altLang="en-US" sz="24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では、一般的に</a:t>
            </a:r>
            <a:r>
              <a:rPr kumimoji="1" lang="ja-JP" altLang="en-US" sz="2400">
                <a:solidFill>
                  <a:srgbClr val="C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ガウス（</a:t>
            </a:r>
            <a:r>
              <a:rPr kumimoji="1" lang="en-US" altLang="ja-JP" sz="2400" dirty="0">
                <a:solidFill>
                  <a:srgbClr val="C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RBF</a:t>
            </a:r>
            <a:r>
              <a:rPr kumimoji="1" lang="ja-JP" altLang="en-US" sz="2400">
                <a:solidFill>
                  <a:srgbClr val="C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）カーネル</a:t>
            </a:r>
            <a:r>
              <a:rPr kumimoji="1" lang="ja-JP" altLang="en-US" sz="24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が使われる</a:t>
            </a:r>
            <a:endParaRPr kumimoji="1" lang="en-US" altLang="ja-JP" sz="2400" dirty="0">
              <a:solidFill>
                <a:schemeClr val="tx1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algn="ctr">
              <a:spcAft>
                <a:spcPts val="600"/>
              </a:spcAft>
            </a:pPr>
            <a:r>
              <a:rPr kumimoji="1" lang="ja-JP" altLang="en-US" sz="24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・・・　複雑な非線形関係に対応できるから</a:t>
            </a:r>
          </a:p>
        </p:txBody>
      </p:sp>
    </p:spTree>
    <p:extLst>
      <p:ext uri="{BB962C8B-B14F-4D97-AF65-F5344CB8AC3E}">
        <p14:creationId xmlns:p14="http://schemas.microsoft.com/office/powerpoint/2010/main" val="31806402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AB11B7-4DFC-EC1B-F8D8-BCA35074B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2A0E87-C4F5-F2CE-DF13-B1582D8B9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72000"/>
          </a:xfrm>
          <a:solidFill>
            <a:schemeClr val="accent1"/>
          </a:solidFill>
          <a:ln>
            <a:noFill/>
          </a:ln>
        </p:spPr>
        <p:txBody>
          <a:bodyPr anchor="ctr"/>
          <a:lstStyle/>
          <a:p>
            <a:r>
              <a:rPr kumimoji="1" lang="en-US" altLang="ja-JP" dirty="0">
                <a:solidFill>
                  <a:schemeClr val="bg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SVR</a:t>
            </a:r>
            <a:r>
              <a:rPr kumimoji="1" lang="ja-JP" altLang="en-US">
                <a:solidFill>
                  <a:schemeClr val="bg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の特徴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7BD51E3-65E1-EE43-5C83-05D7FD167264}"/>
              </a:ext>
            </a:extLst>
          </p:cNvPr>
          <p:cNvSpPr txBox="1"/>
          <p:nvPr/>
        </p:nvSpPr>
        <p:spPr>
          <a:xfrm>
            <a:off x="278185" y="1260765"/>
            <a:ext cx="6172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kumimoji="1" lang="ja-JP" altLang="en-US" sz="28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◆特徴</a:t>
            </a:r>
            <a:endParaRPr kumimoji="1" lang="en-US" altLang="ja-JP" sz="28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  <p:sp>
        <p:nvSpPr>
          <p:cNvPr id="4" name="角丸四角形 3">
            <a:extLst>
              <a:ext uri="{FF2B5EF4-FFF2-40B4-BE49-F238E27FC236}">
                <a16:creationId xmlns:a16="http://schemas.microsoft.com/office/drawing/2014/main" id="{FDDA9F6B-5EA1-FFFD-7AE8-8FE73F5AE87D}"/>
              </a:ext>
            </a:extLst>
          </p:cNvPr>
          <p:cNvSpPr/>
          <p:nvPr/>
        </p:nvSpPr>
        <p:spPr>
          <a:xfrm>
            <a:off x="278186" y="2072750"/>
            <a:ext cx="4050926" cy="3071813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ja-JP" altLang="en-US" sz="28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メリット</a:t>
            </a:r>
            <a:endParaRPr kumimoji="1" lang="en-US" altLang="ja-JP" sz="2800" dirty="0">
              <a:solidFill>
                <a:schemeClr val="tx1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algn="ctr">
              <a:spcAft>
                <a:spcPts val="600"/>
              </a:spcAft>
            </a:pPr>
            <a:endParaRPr kumimoji="1" lang="en-US" altLang="ja-JP" sz="2800" dirty="0">
              <a:solidFill>
                <a:schemeClr val="tx1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>
              <a:spcAft>
                <a:spcPts val="600"/>
              </a:spcAft>
            </a:pPr>
            <a:r>
              <a:rPr kumimoji="1" lang="ja-JP" altLang="en-US" sz="24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・ノイズに強い</a:t>
            </a:r>
            <a:endParaRPr kumimoji="1" lang="en-US" altLang="ja-JP" sz="2400" dirty="0">
              <a:solidFill>
                <a:schemeClr val="tx1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>
              <a:spcAft>
                <a:spcPts val="600"/>
              </a:spcAft>
            </a:pPr>
            <a:r>
              <a:rPr kumimoji="1" lang="ja-JP" altLang="en-US" sz="24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・過学習しにくい</a:t>
            </a:r>
            <a:endParaRPr kumimoji="1" lang="en-US" altLang="ja-JP" sz="2400" dirty="0">
              <a:solidFill>
                <a:schemeClr val="tx1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>
              <a:spcAft>
                <a:spcPts val="600"/>
              </a:spcAft>
            </a:pPr>
            <a:r>
              <a:rPr kumimoji="1" lang="ja-JP" altLang="en-US" sz="24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・非線形データに対応可能</a:t>
            </a:r>
            <a:endParaRPr kumimoji="1" lang="en-US" altLang="ja-JP" sz="2400" dirty="0">
              <a:solidFill>
                <a:schemeClr val="tx1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>
              <a:spcAft>
                <a:spcPts val="600"/>
              </a:spcAft>
            </a:pPr>
            <a:endParaRPr kumimoji="1" lang="ja-JP" altLang="en-US" sz="2400">
              <a:solidFill>
                <a:schemeClr val="tx1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  <p:sp>
        <p:nvSpPr>
          <p:cNvPr id="5" name="角丸四角形 4">
            <a:extLst>
              <a:ext uri="{FF2B5EF4-FFF2-40B4-BE49-F238E27FC236}">
                <a16:creationId xmlns:a16="http://schemas.microsoft.com/office/drawing/2014/main" id="{A3C6AA5C-961D-C33A-65E1-55D727E5A500}"/>
              </a:ext>
            </a:extLst>
          </p:cNvPr>
          <p:cNvSpPr/>
          <p:nvPr/>
        </p:nvSpPr>
        <p:spPr>
          <a:xfrm>
            <a:off x="4814888" y="2072750"/>
            <a:ext cx="4050926" cy="3071813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ja-JP" altLang="en-US" sz="28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デメリット</a:t>
            </a:r>
            <a:endParaRPr kumimoji="1" lang="en-US" altLang="ja-JP" sz="2800" dirty="0">
              <a:solidFill>
                <a:schemeClr val="tx1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algn="ctr">
              <a:spcAft>
                <a:spcPts val="600"/>
              </a:spcAft>
            </a:pPr>
            <a:endParaRPr kumimoji="1" lang="en-US" altLang="ja-JP" sz="2800" dirty="0">
              <a:solidFill>
                <a:schemeClr val="tx1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>
              <a:spcAft>
                <a:spcPts val="600"/>
              </a:spcAft>
            </a:pPr>
            <a:r>
              <a:rPr kumimoji="1" lang="ja-JP" altLang="en-US" sz="24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・大規模データに弱い</a:t>
            </a:r>
            <a:endParaRPr kumimoji="1" lang="en-US" altLang="ja-JP" sz="2400" dirty="0">
              <a:solidFill>
                <a:schemeClr val="tx1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>
              <a:spcAft>
                <a:spcPts val="600"/>
              </a:spcAft>
            </a:pPr>
            <a:r>
              <a:rPr kumimoji="1" lang="ja-JP" altLang="en-US" sz="24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・パラメータ調整が難しい</a:t>
            </a:r>
            <a:endParaRPr kumimoji="1" lang="en-US" altLang="ja-JP" sz="2400" dirty="0">
              <a:solidFill>
                <a:schemeClr val="tx1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>
              <a:spcAft>
                <a:spcPts val="600"/>
              </a:spcAft>
            </a:pPr>
            <a:r>
              <a:rPr kumimoji="1" lang="ja-JP" altLang="en-US" sz="24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・解釈性が低い</a:t>
            </a:r>
            <a:endParaRPr kumimoji="1" lang="en-US" altLang="ja-JP" sz="2400" dirty="0">
              <a:solidFill>
                <a:schemeClr val="tx1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>
              <a:spcAft>
                <a:spcPts val="600"/>
              </a:spcAft>
            </a:pPr>
            <a:endParaRPr kumimoji="1" lang="ja-JP" altLang="en-US" sz="2400">
              <a:solidFill>
                <a:schemeClr val="tx1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938492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768008-E6F5-9D52-19D4-9A445E77D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3908B5D-781C-42D6-DB87-1796E3AF4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72000"/>
          </a:xfrm>
          <a:solidFill>
            <a:schemeClr val="accent1"/>
          </a:solidFill>
          <a:ln>
            <a:noFill/>
          </a:ln>
        </p:spPr>
        <p:txBody>
          <a:bodyPr anchor="ctr"/>
          <a:lstStyle/>
          <a:p>
            <a:r>
              <a:rPr kumimoji="1" lang="ja-JP" altLang="en-US">
                <a:solidFill>
                  <a:schemeClr val="bg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線形回帰と</a:t>
            </a:r>
            <a:r>
              <a:rPr kumimoji="1" lang="en-US" altLang="ja-JP" dirty="0">
                <a:solidFill>
                  <a:schemeClr val="bg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SVR</a:t>
            </a:r>
            <a:endParaRPr kumimoji="1" lang="ja-JP" altLang="en-US">
              <a:solidFill>
                <a:schemeClr val="bg1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6D43212-1C56-C0EA-F33C-76AA6CA86AD1}"/>
              </a:ext>
            </a:extLst>
          </p:cNvPr>
          <p:cNvSpPr txBox="1"/>
          <p:nvPr/>
        </p:nvSpPr>
        <p:spPr>
          <a:xfrm>
            <a:off x="221035" y="1200598"/>
            <a:ext cx="8701930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kumimoji="1" lang="ja-JP" altLang="en-US" sz="28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◆線形回帰の考え方</a:t>
            </a:r>
            <a:endParaRPr kumimoji="1" lang="en-US" altLang="ja-JP" sz="28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>
              <a:spcAft>
                <a:spcPts val="600"/>
              </a:spcAft>
            </a:pP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　　全てのデータ点との誤差を最小化しようとする</a:t>
            </a:r>
            <a:r>
              <a:rPr kumimoji="1" lang="en-US" altLang="ja-JP" sz="24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 </a:t>
            </a: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→</a:t>
            </a:r>
            <a:r>
              <a:rPr kumimoji="1" lang="en-US" altLang="ja-JP" sz="24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 </a:t>
            </a: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外れ値に弱い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2ED56FE-288D-6B41-CBB1-ED655511BC69}"/>
              </a:ext>
            </a:extLst>
          </p:cNvPr>
          <p:cNvSpPr txBox="1"/>
          <p:nvPr/>
        </p:nvSpPr>
        <p:spPr>
          <a:xfrm>
            <a:off x="221035" y="2441556"/>
            <a:ext cx="8844906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kumimoji="1" lang="ja-JP" altLang="en-US" sz="28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◆</a:t>
            </a:r>
            <a:r>
              <a:rPr kumimoji="1" lang="en-US" altLang="ja-JP" sz="28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SVR</a:t>
            </a:r>
            <a:r>
              <a:rPr kumimoji="1" lang="ja-JP" altLang="en-US" sz="28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の考え方</a:t>
            </a:r>
            <a:endParaRPr kumimoji="1" lang="en-US" altLang="ja-JP" sz="28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>
              <a:spcAft>
                <a:spcPts val="600"/>
              </a:spcAft>
            </a:pP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　　</a:t>
            </a:r>
            <a:r>
              <a:rPr kumimoji="1" lang="en-US" altLang="ja-JP" sz="2400" dirty="0" err="1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ε</a:t>
            </a:r>
            <a:r>
              <a:rPr kumimoji="1" lang="en-US" altLang="ja-JP" sz="24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-</a:t>
            </a: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チューブ内の誤差は無視</a:t>
            </a:r>
            <a:r>
              <a:rPr kumimoji="1" lang="en-US" altLang="ja-JP" sz="24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 </a:t>
            </a: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→</a:t>
            </a:r>
            <a:r>
              <a:rPr kumimoji="1" lang="en-US" altLang="ja-JP" sz="24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 </a:t>
            </a: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外れ値の影響を受けにくい</a:t>
            </a:r>
            <a:endParaRPr kumimoji="1" lang="en-US" altLang="ja-JP" sz="24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>
              <a:spcAft>
                <a:spcPts val="600"/>
              </a:spcAft>
            </a:pPr>
            <a:r>
              <a:rPr kumimoji="1" lang="en-US" altLang="ja-JP" sz="24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										</a:t>
            </a:r>
            <a:endParaRPr kumimoji="1" lang="ja-JP" altLang="en-US" sz="2400">
              <a:highlight>
                <a:srgbClr val="FFFF00"/>
              </a:highlight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43D6784-437C-B301-DC08-1E9F09F55860}"/>
              </a:ext>
            </a:extLst>
          </p:cNvPr>
          <p:cNvSpPr txBox="1"/>
          <p:nvPr/>
        </p:nvSpPr>
        <p:spPr>
          <a:xfrm>
            <a:off x="839109" y="6572246"/>
            <a:ext cx="37224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【</a:t>
            </a:r>
            <a:r>
              <a:rPr kumimoji="1" lang="ja-JP" altLang="en-US" sz="12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引用</a:t>
            </a:r>
            <a:r>
              <a:rPr kumimoji="1" lang="en-US" altLang="ja-JP" sz="12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】https://</a:t>
            </a:r>
            <a:r>
              <a:rPr kumimoji="1" lang="en-US" altLang="ja-JP" sz="1200" dirty="0" err="1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boritaso-blog.com</a:t>
            </a:r>
            <a:r>
              <a:rPr kumimoji="1" lang="en-US" altLang="ja-JP" sz="12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/</a:t>
            </a:r>
            <a:r>
              <a:rPr kumimoji="1" lang="en-US" altLang="ja-JP" sz="1200" dirty="0" err="1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svr</a:t>
            </a:r>
            <a:r>
              <a:rPr kumimoji="1" lang="en-US" altLang="ja-JP" sz="12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/</a:t>
            </a:r>
            <a:endParaRPr kumimoji="1" lang="ja-JP" altLang="en-US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CFC26D4F-0B6C-C1C2-63BF-7CAFD3A8D2F6}"/>
              </a:ext>
            </a:extLst>
          </p:cNvPr>
          <p:cNvGrpSpPr/>
          <p:nvPr/>
        </p:nvGrpSpPr>
        <p:grpSpPr>
          <a:xfrm>
            <a:off x="5251077" y="4181978"/>
            <a:ext cx="3671888" cy="1475424"/>
            <a:chOff x="5229225" y="3811106"/>
            <a:chExt cx="3671888" cy="1475424"/>
          </a:xfrm>
        </p:grpSpPr>
        <p:grpSp>
          <p:nvGrpSpPr>
            <p:cNvPr id="12" name="グループ化 11">
              <a:extLst>
                <a:ext uri="{FF2B5EF4-FFF2-40B4-BE49-F238E27FC236}">
                  <a16:creationId xmlns:a16="http://schemas.microsoft.com/office/drawing/2014/main" id="{F0B34E1E-4F67-D159-7006-416F5E5C700C}"/>
                </a:ext>
              </a:extLst>
            </p:cNvPr>
            <p:cNvGrpSpPr/>
            <p:nvPr/>
          </p:nvGrpSpPr>
          <p:grpSpPr>
            <a:xfrm>
              <a:off x="5229225" y="3811106"/>
              <a:ext cx="3513334" cy="990875"/>
              <a:chOff x="5286375" y="4238350"/>
              <a:chExt cx="3513334" cy="99087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テキスト ボックス 6">
                    <a:extLst>
                      <a:ext uri="{FF2B5EF4-FFF2-40B4-BE49-F238E27FC236}">
                        <a16:creationId xmlns:a16="http://schemas.microsoft.com/office/drawing/2014/main" id="{B5DFCFC5-91F4-BF6B-2389-F2FEA601AA5A}"/>
                      </a:ext>
                    </a:extLst>
                  </p:cNvPr>
                  <p:cNvSpPr txBox="1"/>
                  <p:nvPr/>
                </p:nvSpPr>
                <p:spPr>
                  <a:xfrm>
                    <a:off x="5286375" y="4238350"/>
                    <a:ext cx="3513334" cy="756233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unc>
                            <m:funcPr>
                              <m:ctrlPr>
                                <a:rPr kumimoji="1" lang="ja-JP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kumimoji="1" lang="ja-JP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ja-JP" i="0" smtClean="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kumimoji="1" lang="ja-JP" alt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ja-JP" altLang="en-US" b="0" i="1" smtClean="0">
                                          <a:latin typeface="Cambria Math" panose="02040503050406030204" pitchFamily="18" charset="0"/>
                                        </a:rPr>
                                        <m:t>𝜉</m:t>
                                      </m:r>
                                    </m:e>
                                    <m:sup>
                                      <m: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</m:sup>
                                  </m:sSup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kumimoji="1" lang="ja-JP" alt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ja-JP" altLang="en-US" b="0" i="1" smtClean="0">
                                          <a:latin typeface="Cambria Math" panose="02040503050406030204" pitchFamily="18" charset="0"/>
                                        </a:rPr>
                                        <m:t>𝜉</m:t>
                                      </m:r>
                                    </m:e>
                                    <m:sup>
                                      <m:r>
                                        <a:rPr kumimoji="1" lang="ja-JP" alt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</m:sup>
                                  </m:sSup>
                                </m:lim>
                              </m:limLow>
                            </m:fName>
                            <m:e>
                              <m:f>
                                <m:fPr>
                                  <m:ctrlPr>
                                    <a:rPr kumimoji="1" lang="ja-JP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kumimoji="1" lang="ja-JP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kumimoji="1" lang="ja-JP" alt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en-US" altLang="ja-JP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  <m:nary>
                                <m:naryPr>
                                  <m:chr m:val="∑"/>
                                  <m:ctrlPr>
                                    <a:rPr kumimoji="1" lang="ja-JP" alt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d>
                                    <m:dPr>
                                      <m:ctrlPr>
                                        <a:rPr kumimoji="1" lang="ja-JP" alt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kumimoji="1" lang="ja-JP" alt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kumimoji="1" lang="ja-JP" altLang="en-US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1" lang="ja-JP" altLang="en-US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𝜉</m:t>
                                              </m:r>
                                            </m:e>
                                            <m:sub>
                                              <m:r>
                                                <a:rPr kumimoji="1" lang="en-US" altLang="ja-JP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a:rPr kumimoji="1" lang="en-US" altLang="ja-JP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</m:sup>
                                      </m:sSup>
                                      <m: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kumimoji="1" lang="ja-JP" alt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kumimoji="1" lang="ja-JP" altLang="en-US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1" lang="ja-JP" altLang="en-US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𝜉</m:t>
                                              </m:r>
                                            </m:e>
                                            <m:sub>
                                              <m:r>
                                                <a:rPr kumimoji="1" lang="en-US" altLang="ja-JP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a:rPr kumimoji="1" lang="en-US" altLang="ja-JP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</m:nary>
                            </m:e>
                          </m:func>
                        </m:oMath>
                      </m:oMathPara>
                    </a14:m>
                    <a:endParaRPr kumimoji="1" lang="ja-JP" altLang="en-US"/>
                  </a:p>
                </p:txBody>
              </p:sp>
            </mc:Choice>
            <mc:Fallback xmlns="">
              <p:sp>
                <p:nvSpPr>
                  <p:cNvPr id="7" name="テキスト ボックス 6">
                    <a:extLst>
                      <a:ext uri="{FF2B5EF4-FFF2-40B4-BE49-F238E27FC236}">
                        <a16:creationId xmlns:a16="http://schemas.microsoft.com/office/drawing/2014/main" id="{B5DFCFC5-91F4-BF6B-2389-F2FEA601AA5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86375" y="4238350"/>
                    <a:ext cx="3513334" cy="756233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t="-118333" b="-1800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" name="左中かっこ 9">
                <a:extLst>
                  <a:ext uri="{FF2B5EF4-FFF2-40B4-BE49-F238E27FC236}">
                    <a16:creationId xmlns:a16="http://schemas.microsoft.com/office/drawing/2014/main" id="{CA1C1974-7962-DE58-1B33-2A9CFF03D99C}"/>
                  </a:ext>
                </a:extLst>
              </p:cNvPr>
              <p:cNvSpPr/>
              <p:nvPr/>
            </p:nvSpPr>
            <p:spPr>
              <a:xfrm rot="16200000">
                <a:off x="6408100" y="4807898"/>
                <a:ext cx="192573" cy="650082"/>
              </a:xfrm>
              <a:prstGeom prst="leftBrac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1" name="左中かっこ 10">
                <a:extLst>
                  <a:ext uri="{FF2B5EF4-FFF2-40B4-BE49-F238E27FC236}">
                    <a16:creationId xmlns:a16="http://schemas.microsoft.com/office/drawing/2014/main" id="{CA70DF7F-B1CA-E4CA-76F8-AC38DE0E98EF}"/>
                  </a:ext>
                </a:extLst>
              </p:cNvPr>
              <p:cNvSpPr/>
              <p:nvPr/>
            </p:nvSpPr>
            <p:spPr>
              <a:xfrm rot="16200000">
                <a:off x="7791603" y="4387457"/>
                <a:ext cx="192577" cy="1483516"/>
              </a:xfrm>
              <a:prstGeom prst="leftBrac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01F68F47-B378-70C2-3BA9-5841ADB041A7}"/>
                </a:ext>
              </a:extLst>
            </p:cNvPr>
            <p:cNvSpPr txBox="1"/>
            <p:nvPr/>
          </p:nvSpPr>
          <p:spPr>
            <a:xfrm>
              <a:off x="5900737" y="4915364"/>
              <a:ext cx="1500188" cy="3711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>
                  <a:latin typeface="UD Digi Kyokasho NK-R" panose="02020400000000000000" pitchFamily="18" charset="-128"/>
                  <a:ea typeface="UD Digi Kyokasho NK-R" panose="02020400000000000000" pitchFamily="18" charset="-128"/>
                </a:rPr>
                <a:t>正則化項</a:t>
              </a:r>
            </a:p>
          </p:txBody>
        </p: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D36A9EF7-32C5-FE93-51B4-2A6B8C8D2DF5}"/>
                </a:ext>
              </a:extLst>
            </p:cNvPr>
            <p:cNvSpPr txBox="1"/>
            <p:nvPr/>
          </p:nvSpPr>
          <p:spPr>
            <a:xfrm>
              <a:off x="7400925" y="4911642"/>
              <a:ext cx="15001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>
                  <a:latin typeface="UD Digi Kyokasho NK-R" panose="02020400000000000000" pitchFamily="18" charset="-128"/>
                  <a:ea typeface="UD Digi Kyokasho NK-R" panose="02020400000000000000" pitchFamily="18" charset="-128"/>
                </a:rPr>
                <a:t>誤差項</a:t>
              </a:r>
            </a:p>
          </p:txBody>
        </p:sp>
      </p:grp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95C5E32F-B48D-672D-E1D3-DB31EDBF1C72}"/>
              </a:ext>
            </a:extLst>
          </p:cNvPr>
          <p:cNvGrpSpPr/>
          <p:nvPr/>
        </p:nvGrpSpPr>
        <p:grpSpPr>
          <a:xfrm>
            <a:off x="514350" y="3529633"/>
            <a:ext cx="4371975" cy="2999749"/>
            <a:chOff x="514350" y="3529633"/>
            <a:chExt cx="4371975" cy="2999749"/>
          </a:xfrm>
        </p:grpSpPr>
        <p:pic>
          <p:nvPicPr>
            <p:cNvPr id="5124" name="Picture 4">
              <a:extLst>
                <a:ext uri="{FF2B5EF4-FFF2-40B4-BE49-F238E27FC236}">
                  <a16:creationId xmlns:a16="http://schemas.microsoft.com/office/drawing/2014/main" id="{7649AF91-5FB2-A678-94F8-1AE1968F992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251" t="8335" r="14531" b="7737"/>
            <a:stretch>
              <a:fillRect/>
            </a:stretch>
          </p:blipFill>
          <p:spPr bwMode="auto">
            <a:xfrm>
              <a:off x="514350" y="3529633"/>
              <a:ext cx="4371975" cy="29997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8" name="直線コネクタ 7">
              <a:extLst>
                <a:ext uri="{FF2B5EF4-FFF2-40B4-BE49-F238E27FC236}">
                  <a16:creationId xmlns:a16="http://schemas.microsoft.com/office/drawing/2014/main" id="{3B588A54-76D5-9A5E-4525-B578DD15FFB8}"/>
                </a:ext>
              </a:extLst>
            </p:cNvPr>
            <p:cNvCxnSpPr/>
            <p:nvPr/>
          </p:nvCxnSpPr>
          <p:spPr>
            <a:xfrm>
              <a:off x="2864224" y="5169132"/>
              <a:ext cx="242047" cy="34416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直線コネクタ 8">
              <a:extLst>
                <a:ext uri="{FF2B5EF4-FFF2-40B4-BE49-F238E27FC236}">
                  <a16:creationId xmlns:a16="http://schemas.microsoft.com/office/drawing/2014/main" id="{0879EE78-0233-3788-BD36-7AEFDC41A6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0483" y="5651846"/>
              <a:ext cx="694764" cy="10349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F034E161-0463-FB37-F1EA-001326BADC8A}"/>
                </a:ext>
              </a:extLst>
            </p:cNvPr>
            <p:cNvSpPr txBox="1"/>
            <p:nvPr/>
          </p:nvSpPr>
          <p:spPr>
            <a:xfrm>
              <a:off x="2928800" y="5482569"/>
              <a:ext cx="166743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1600">
                  <a:latin typeface="HGPGothicE" panose="020B0900000000000000" pitchFamily="34" charset="-128"/>
                  <a:ea typeface="HGPGothicE" panose="020B0900000000000000" pitchFamily="34" charset="-128"/>
                </a:rPr>
                <a:t>サポートベクター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760358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3B1F21-E638-2E1F-AAA0-D7E6861BE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65E234-F57C-1991-6EC4-8496E89CF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72000"/>
          </a:xfrm>
          <a:solidFill>
            <a:schemeClr val="accent1"/>
          </a:solidFill>
          <a:ln>
            <a:noFill/>
          </a:ln>
        </p:spPr>
        <p:txBody>
          <a:bodyPr anchor="ctr"/>
          <a:lstStyle/>
          <a:p>
            <a:r>
              <a:rPr lang="ja-JP" altLang="en-US">
                <a:solidFill>
                  <a:schemeClr val="bg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用語：クロスバリデーション</a:t>
            </a:r>
            <a:endParaRPr kumimoji="1" lang="ja-JP" altLang="en-US">
              <a:solidFill>
                <a:schemeClr val="bg1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3DA00B2-3955-CCF5-2B60-D80A07D01D87}"/>
              </a:ext>
            </a:extLst>
          </p:cNvPr>
          <p:cNvSpPr txBox="1"/>
          <p:nvPr/>
        </p:nvSpPr>
        <p:spPr>
          <a:xfrm>
            <a:off x="240692" y="1311565"/>
            <a:ext cx="866261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・機械学習モデルが未知のデータに対しても、</a:t>
            </a:r>
            <a:r>
              <a:rPr kumimoji="1" lang="ja-JP" altLang="en-US" sz="2400" u="sng">
                <a:uFill>
                  <a:solidFill>
                    <a:schemeClr val="bg1"/>
                  </a:solidFill>
                </a:u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正しく予測できるか</a:t>
            </a:r>
            <a:endParaRPr kumimoji="1" lang="en-US" altLang="ja-JP" sz="2400" u="sng" dirty="0">
              <a:uFill>
                <a:solidFill>
                  <a:schemeClr val="bg1"/>
                </a:solidFill>
              </a:u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>
              <a:spcAft>
                <a:spcPts val="600"/>
              </a:spcAft>
            </a:pP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　（＝汎化性能）</a:t>
            </a:r>
            <a:r>
              <a:rPr kumimoji="1" lang="ja-JP" altLang="en-US" sz="2400" u="sng">
                <a:uFill>
                  <a:solidFill>
                    <a:schemeClr val="bg1"/>
                  </a:solidFill>
                </a:u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を正確に評価する手法</a:t>
            </a:r>
            <a:endParaRPr kumimoji="1" lang="en-US" altLang="ja-JP" sz="2400" u="sng" dirty="0">
              <a:uFill>
                <a:solidFill>
                  <a:schemeClr val="bg1"/>
                </a:solidFill>
              </a:u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>
              <a:spcAft>
                <a:spcPts val="600"/>
              </a:spcAft>
            </a:pP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・代表的なものとして、「</a:t>
            </a:r>
            <a:r>
              <a:rPr kumimoji="1" lang="en-US" altLang="ja-JP" sz="2400" dirty="0">
                <a:solidFill>
                  <a:srgbClr val="C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K-</a:t>
            </a:r>
            <a:r>
              <a:rPr kumimoji="1" lang="ja-JP" altLang="en-US" sz="2400">
                <a:solidFill>
                  <a:srgbClr val="C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分割交差検証</a:t>
            </a: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」がある</a:t>
            </a:r>
            <a:endParaRPr kumimoji="1" lang="en-US" altLang="ja-JP" sz="24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>
              <a:spcAft>
                <a:spcPts val="600"/>
              </a:spcAft>
            </a:pP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　→</a:t>
            </a:r>
            <a:r>
              <a:rPr kumimoji="1" lang="en-US" altLang="ja-JP" sz="24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 </a:t>
            </a: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データを</a:t>
            </a:r>
            <a:r>
              <a:rPr kumimoji="1" lang="en-US" altLang="ja-JP" sz="24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K</a:t>
            </a: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個に分割、その</a:t>
            </a:r>
            <a:r>
              <a:rPr kumimoji="1" lang="en-US" altLang="ja-JP" sz="24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1</a:t>
            </a: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つをテストデータ、残り</a:t>
            </a:r>
            <a:r>
              <a:rPr kumimoji="1" lang="en-US" altLang="ja-JP" sz="24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(K-1)</a:t>
            </a: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個を</a:t>
            </a:r>
            <a:endParaRPr kumimoji="1" lang="en-US" altLang="ja-JP" sz="24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>
              <a:spcAft>
                <a:spcPts val="600"/>
              </a:spcAft>
            </a:pP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　　　</a:t>
            </a:r>
            <a:r>
              <a:rPr kumimoji="1" lang="en-US" altLang="ja-JP" sz="24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 </a:t>
            </a: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学習データとして精度を評価</a:t>
            </a:r>
            <a:endParaRPr kumimoji="1" lang="en-US" altLang="ja-JP" sz="24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AD03E2A9-D69A-880F-22A4-B0058113F7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2962" y="3547338"/>
            <a:ext cx="5978076" cy="3209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92E16B3-D2EE-470F-52F8-45EF5EC0F06C}"/>
              </a:ext>
            </a:extLst>
          </p:cNvPr>
          <p:cNvSpPr txBox="1"/>
          <p:nvPr/>
        </p:nvSpPr>
        <p:spPr>
          <a:xfrm>
            <a:off x="3851061" y="6617902"/>
            <a:ext cx="4381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【</a:t>
            </a:r>
            <a:r>
              <a:rPr kumimoji="1" lang="ja-JP" altLang="en-US" sz="12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引用</a:t>
            </a:r>
            <a:r>
              <a:rPr kumimoji="1" lang="en-US" altLang="ja-JP" sz="12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】https://</a:t>
            </a:r>
            <a:r>
              <a:rPr kumimoji="1" lang="en-US" altLang="ja-JP" sz="1200" dirty="0" err="1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aiacademy.jp</a:t>
            </a:r>
            <a:r>
              <a:rPr kumimoji="1" lang="en-US" altLang="ja-JP" sz="12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/media/?p=263#i-2</a:t>
            </a:r>
            <a:endParaRPr kumimoji="1" lang="ja-JP" altLang="en-US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4668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32C3BC-BE7B-D718-27BC-6B2D66EF3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D2A7D9-0E0C-15FF-2D5E-A36AFADD1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72000"/>
          </a:xfrm>
          <a:solidFill>
            <a:schemeClr val="accent1"/>
          </a:solidFill>
          <a:ln>
            <a:noFill/>
          </a:ln>
        </p:spPr>
        <p:txBody>
          <a:bodyPr anchor="ctr"/>
          <a:lstStyle/>
          <a:p>
            <a:r>
              <a:rPr lang="ja-JP" altLang="en-US">
                <a:solidFill>
                  <a:schemeClr val="bg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用語：データリーク</a:t>
            </a:r>
            <a:endParaRPr kumimoji="1" lang="ja-JP" altLang="en-US">
              <a:solidFill>
                <a:schemeClr val="bg1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C5F4BA5-591D-A457-213D-1F62ACDD0371}"/>
              </a:ext>
            </a:extLst>
          </p:cNvPr>
          <p:cNvSpPr txBox="1"/>
          <p:nvPr/>
        </p:nvSpPr>
        <p:spPr>
          <a:xfrm>
            <a:off x="278184" y="1103105"/>
            <a:ext cx="8613567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kumimoji="1" lang="en-US" altLang="ja-JP" sz="24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1. </a:t>
            </a: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本来予測を行う時点では</a:t>
            </a:r>
            <a:r>
              <a:rPr kumimoji="1" lang="ja-JP" altLang="en-US" sz="2400" u="sng">
                <a:uFill>
                  <a:solidFill>
                    <a:schemeClr val="bg1"/>
                  </a:solidFill>
                </a:u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知ることができない情報が</a:t>
            </a:r>
            <a:endParaRPr kumimoji="1" lang="en-US" altLang="ja-JP" sz="2400" u="sng" dirty="0">
              <a:uFill>
                <a:solidFill>
                  <a:schemeClr val="bg1"/>
                </a:solidFill>
              </a:u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>
              <a:spcAft>
                <a:spcPts val="600"/>
              </a:spcAft>
            </a:pP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　　</a:t>
            </a:r>
            <a:r>
              <a:rPr kumimoji="1" lang="en-US" altLang="ja-JP" sz="24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 </a:t>
            </a:r>
            <a:r>
              <a:rPr kumimoji="1" lang="ja-JP" altLang="en-US" sz="2400" u="sng">
                <a:uFill>
                  <a:solidFill>
                    <a:schemeClr val="bg1"/>
                  </a:solidFill>
                </a:u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モデルの学習データに混入している</a:t>
            </a:r>
            <a:r>
              <a:rPr kumimoji="1" lang="ja-JP" altLang="en-US" sz="2400">
                <a:uFill>
                  <a:solidFill>
                    <a:schemeClr val="bg1"/>
                  </a:solidFill>
                </a:u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場合</a:t>
            </a:r>
            <a:endParaRPr kumimoji="1" lang="en-US" altLang="ja-JP" sz="24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>
              <a:spcAft>
                <a:spcPts val="600"/>
              </a:spcAft>
            </a:pPr>
            <a:r>
              <a:rPr kumimoji="1" lang="en-US" altLang="ja-JP" sz="24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2. </a:t>
            </a: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予測対象の目的変数の</a:t>
            </a:r>
            <a:r>
              <a:rPr kumimoji="1" lang="ja-JP" altLang="en-US" sz="2400" u="sng">
                <a:uFill>
                  <a:solidFill>
                    <a:schemeClr val="bg1"/>
                  </a:solidFill>
                </a:u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答え合わせになる変数が</a:t>
            </a:r>
            <a:endParaRPr kumimoji="1" lang="en-US" altLang="ja-JP" sz="2400" u="sng" dirty="0">
              <a:uFill>
                <a:solidFill>
                  <a:schemeClr val="bg1"/>
                </a:solidFill>
              </a:u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>
              <a:spcAft>
                <a:spcPts val="1800"/>
              </a:spcAft>
            </a:pPr>
            <a:r>
              <a:rPr kumimoji="1" lang="ja-JP" altLang="en-US" sz="2400">
                <a:uFill>
                  <a:solidFill>
                    <a:schemeClr val="bg1"/>
                  </a:solidFill>
                </a:u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　　</a:t>
            </a:r>
            <a:r>
              <a:rPr kumimoji="1" lang="en-US" altLang="ja-JP" sz="2400" dirty="0">
                <a:uFill>
                  <a:solidFill>
                    <a:schemeClr val="bg1"/>
                  </a:solidFill>
                </a:u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 </a:t>
            </a:r>
            <a:r>
              <a:rPr kumimoji="1" lang="ja-JP" altLang="en-US" sz="2400" u="sng">
                <a:uFill>
                  <a:solidFill>
                    <a:schemeClr val="bg1"/>
                  </a:solidFill>
                </a:u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説明変数に入っている</a:t>
            </a: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場合</a:t>
            </a:r>
            <a:endParaRPr kumimoji="1" lang="en-US" altLang="ja-JP" sz="24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>
              <a:spcAft>
                <a:spcPts val="600"/>
              </a:spcAft>
            </a:pPr>
            <a:r>
              <a:rPr kumimoji="1" lang="en-US" altLang="ja-JP" sz="24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【</a:t>
            </a: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例</a:t>
            </a:r>
            <a:r>
              <a:rPr kumimoji="1" lang="en-US" altLang="ja-JP" sz="24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 </a:t>
            </a: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：</a:t>
            </a:r>
            <a:r>
              <a:rPr kumimoji="1" lang="en-US" altLang="ja-JP" sz="24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 </a:t>
            </a: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サービス退会予測モデル</a:t>
            </a:r>
            <a:r>
              <a:rPr kumimoji="1" lang="en-US" altLang="ja-JP" sz="24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】</a:t>
            </a:r>
          </a:p>
          <a:p>
            <a:pPr>
              <a:spcAft>
                <a:spcPts val="600"/>
              </a:spcAft>
            </a:pP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・予測したいこと</a:t>
            </a:r>
            <a:r>
              <a:rPr kumimoji="1" lang="en-US" altLang="ja-JP" sz="24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 </a:t>
            </a: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→</a:t>
            </a:r>
            <a:r>
              <a:rPr kumimoji="1" lang="en-US" altLang="ja-JP" sz="24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 </a:t>
            </a: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来月退会しそうな顧客</a:t>
            </a:r>
            <a:endParaRPr kumimoji="1" lang="en-US" altLang="ja-JP" sz="24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>
              <a:spcAft>
                <a:spcPts val="600"/>
              </a:spcAft>
            </a:pPr>
            <a:endParaRPr kumimoji="1" lang="ja-JP" altLang="en-US" sz="240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  <p:sp>
        <p:nvSpPr>
          <p:cNvPr id="4" name="角丸四角形 3">
            <a:extLst>
              <a:ext uri="{FF2B5EF4-FFF2-40B4-BE49-F238E27FC236}">
                <a16:creationId xmlns:a16="http://schemas.microsoft.com/office/drawing/2014/main" id="{AF54230D-DAE1-3EEF-FBB3-448B9AE0B6F5}"/>
              </a:ext>
            </a:extLst>
          </p:cNvPr>
          <p:cNvSpPr/>
          <p:nvPr/>
        </p:nvSpPr>
        <p:spPr>
          <a:xfrm>
            <a:off x="688085" y="4042052"/>
            <a:ext cx="3631664" cy="1793970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800"/>
              </a:spcAft>
            </a:pPr>
            <a:r>
              <a:rPr kumimoji="1" lang="en-US" altLang="ja-JP" sz="2400" dirty="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NG</a:t>
            </a:r>
            <a:r>
              <a:rPr kumimoji="1" lang="ja-JP" altLang="en-US" sz="24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データ</a:t>
            </a:r>
            <a:endParaRPr kumimoji="1" lang="en-US" altLang="ja-JP" sz="2800" dirty="0">
              <a:solidFill>
                <a:schemeClr val="tx1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algn="ctr">
              <a:spcAft>
                <a:spcPts val="600"/>
              </a:spcAft>
            </a:pPr>
            <a:r>
              <a:rPr kumimoji="1" lang="ja-JP" altLang="en-US" sz="20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退会手続きページ閲覧回数</a:t>
            </a:r>
            <a:endParaRPr kumimoji="1" lang="en-US" altLang="ja-JP" sz="2000" dirty="0">
              <a:solidFill>
                <a:schemeClr val="tx1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algn="ctr">
              <a:spcAft>
                <a:spcPts val="600"/>
              </a:spcAft>
            </a:pPr>
            <a:r>
              <a:rPr kumimoji="1" lang="ja-JP" altLang="en-US" sz="20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退会完了メール履歴</a:t>
            </a:r>
            <a:endParaRPr kumimoji="1" lang="en-US" altLang="ja-JP" sz="2000" dirty="0">
              <a:solidFill>
                <a:schemeClr val="tx1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algn="ctr">
              <a:spcAft>
                <a:spcPts val="600"/>
              </a:spcAft>
            </a:pPr>
            <a:r>
              <a:rPr kumimoji="1" lang="ja-JP" altLang="en-US" sz="20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（退会後に発生する情報）</a:t>
            </a:r>
          </a:p>
        </p:txBody>
      </p:sp>
      <p:sp>
        <p:nvSpPr>
          <p:cNvPr id="5" name="角丸四角形 4">
            <a:extLst>
              <a:ext uri="{FF2B5EF4-FFF2-40B4-BE49-F238E27FC236}">
                <a16:creationId xmlns:a16="http://schemas.microsoft.com/office/drawing/2014/main" id="{887F25FD-FE3B-91AA-75F0-466E2541F33D}"/>
              </a:ext>
            </a:extLst>
          </p:cNvPr>
          <p:cNvSpPr/>
          <p:nvPr/>
        </p:nvSpPr>
        <p:spPr>
          <a:xfrm>
            <a:off x="4789918" y="4042052"/>
            <a:ext cx="3631664" cy="179397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800"/>
              </a:spcAft>
            </a:pPr>
            <a:r>
              <a:rPr kumimoji="1" lang="en-US" altLang="ja-JP" sz="2400" dirty="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OK</a:t>
            </a:r>
            <a:r>
              <a:rPr kumimoji="1" lang="ja-JP" altLang="en-US" sz="24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データ</a:t>
            </a:r>
            <a:endParaRPr kumimoji="1" lang="en-US" altLang="ja-JP" sz="2800" dirty="0">
              <a:solidFill>
                <a:schemeClr val="tx1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algn="ctr">
              <a:spcAft>
                <a:spcPts val="600"/>
              </a:spcAft>
            </a:pPr>
            <a:r>
              <a:rPr kumimoji="1" lang="ja-JP" altLang="en-US" sz="20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ログイン頻度</a:t>
            </a:r>
            <a:endParaRPr kumimoji="1" lang="en-US" altLang="ja-JP" sz="2000" dirty="0">
              <a:solidFill>
                <a:schemeClr val="tx1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algn="ctr">
              <a:spcAft>
                <a:spcPts val="600"/>
              </a:spcAft>
            </a:pPr>
            <a:r>
              <a:rPr kumimoji="1" lang="ja-JP" altLang="en-US" sz="20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利用金額の推移</a:t>
            </a:r>
            <a:endParaRPr kumimoji="1" lang="en-US" altLang="ja-JP" sz="2000" dirty="0">
              <a:solidFill>
                <a:schemeClr val="tx1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algn="ctr">
              <a:spcAft>
                <a:spcPts val="600"/>
              </a:spcAft>
            </a:pPr>
            <a:r>
              <a:rPr kumimoji="1" lang="ja-JP" altLang="en-US" sz="20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（予測時点で存在する情報）</a:t>
            </a:r>
            <a:endParaRPr kumimoji="1" lang="en-US" altLang="ja-JP" sz="2000" dirty="0">
              <a:solidFill>
                <a:schemeClr val="tx1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B2768FD-AB68-0404-11D8-4AE34BC4BEE7}"/>
              </a:ext>
            </a:extLst>
          </p:cNvPr>
          <p:cNvSpPr txBox="1"/>
          <p:nvPr/>
        </p:nvSpPr>
        <p:spPr>
          <a:xfrm>
            <a:off x="483135" y="6404029"/>
            <a:ext cx="8613567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学習時には精度が高く見えるが、実際は使えないモデルになる　　</a:t>
            </a:r>
            <a:endParaRPr kumimoji="1" lang="en-US" altLang="ja-JP" sz="24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>
              <a:spcAft>
                <a:spcPts val="600"/>
              </a:spcAft>
            </a:pPr>
            <a:endParaRPr kumimoji="1" lang="ja-JP" altLang="en-US" sz="240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  <p:sp>
        <p:nvSpPr>
          <p:cNvPr id="7" name="下矢印 6">
            <a:extLst>
              <a:ext uri="{FF2B5EF4-FFF2-40B4-BE49-F238E27FC236}">
                <a16:creationId xmlns:a16="http://schemas.microsoft.com/office/drawing/2014/main" id="{37BAEBE8-7275-08EC-0BAE-6152C59BEA92}"/>
              </a:ext>
            </a:extLst>
          </p:cNvPr>
          <p:cNvSpPr/>
          <p:nvPr/>
        </p:nvSpPr>
        <p:spPr>
          <a:xfrm>
            <a:off x="2153160" y="5910414"/>
            <a:ext cx="701514" cy="49361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99347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D0533A-DED7-B680-ED95-F973D9DCE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7EF310E-7027-D3EB-7DF8-449A27043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72000"/>
          </a:xfrm>
          <a:solidFill>
            <a:schemeClr val="accent1"/>
          </a:solidFill>
          <a:ln>
            <a:noFill/>
          </a:ln>
        </p:spPr>
        <p:txBody>
          <a:bodyPr anchor="ctr"/>
          <a:lstStyle/>
          <a:p>
            <a:r>
              <a:rPr kumimoji="1" lang="ja-JP" altLang="en-US">
                <a:solidFill>
                  <a:schemeClr val="bg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用語：再現性（</a:t>
            </a:r>
            <a:r>
              <a:rPr kumimoji="1" lang="en-US" altLang="ja-JP" dirty="0">
                <a:solidFill>
                  <a:schemeClr val="bg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seed</a:t>
            </a:r>
            <a:r>
              <a:rPr kumimoji="1" lang="ja-JP" altLang="en-US">
                <a:solidFill>
                  <a:schemeClr val="bg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）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7A58C28-56D1-AB5B-FF08-CD86562B5C24}"/>
              </a:ext>
            </a:extLst>
          </p:cNvPr>
          <p:cNvSpPr txBox="1"/>
          <p:nvPr/>
        </p:nvSpPr>
        <p:spPr>
          <a:xfrm>
            <a:off x="278184" y="1118871"/>
            <a:ext cx="8723925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・同じ条件で実行した際に、</a:t>
            </a:r>
            <a:r>
              <a:rPr kumimoji="1" lang="ja-JP" altLang="en-US" sz="2400" u="sng">
                <a:uFill>
                  <a:solidFill>
                    <a:schemeClr val="bg1"/>
                  </a:solidFill>
                </a:u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全く同じ学習結果が毎回得られる</a:t>
            </a: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こと</a:t>
            </a:r>
            <a:endParaRPr kumimoji="1" lang="en-US" altLang="ja-JP" sz="24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>
              <a:spcAft>
                <a:spcPts val="600"/>
              </a:spcAft>
            </a:pPr>
            <a:endParaRPr kumimoji="1" lang="en-US" altLang="ja-JP" sz="24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>
              <a:spcAft>
                <a:spcPts val="600"/>
              </a:spcAft>
            </a:pP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◆再現性がないと・・・</a:t>
            </a:r>
            <a:endParaRPr kumimoji="1" lang="en-US" altLang="ja-JP" sz="24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>
              <a:spcAft>
                <a:spcPts val="600"/>
              </a:spcAft>
            </a:pP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　研究、論文　・・・　他の人が同じ結果を得られない</a:t>
            </a:r>
            <a:endParaRPr kumimoji="1" lang="en-US" altLang="ja-JP" sz="24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>
              <a:spcAft>
                <a:spcPts val="600"/>
              </a:spcAft>
            </a:pP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　チーム開発　・・・　メンバーごとに結果が変わる</a:t>
            </a:r>
            <a:endParaRPr kumimoji="1" lang="en-US" altLang="ja-JP" sz="24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>
              <a:spcAft>
                <a:spcPts val="600"/>
              </a:spcAft>
            </a:pP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　デバッグ　・・・　バグの原因が特定しにくい</a:t>
            </a:r>
            <a:endParaRPr kumimoji="1" lang="en-US" altLang="ja-JP" sz="24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>
              <a:spcAft>
                <a:spcPts val="600"/>
              </a:spcAft>
            </a:pPr>
            <a:endParaRPr kumimoji="1" lang="en-US" altLang="ja-JP" sz="24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>
              <a:spcAft>
                <a:spcPts val="600"/>
              </a:spcAft>
            </a:pP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◆</a:t>
            </a:r>
            <a:r>
              <a:rPr kumimoji="1" lang="en-US" altLang="ja-JP" sz="2400" dirty="0">
                <a:solidFill>
                  <a:srgbClr val="C00000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seed</a:t>
            </a:r>
          </a:p>
          <a:p>
            <a:pPr>
              <a:spcAft>
                <a:spcPts val="600"/>
              </a:spcAft>
            </a:pP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　乱数を生成するための初期値となる数字のこと</a:t>
            </a:r>
            <a:endParaRPr kumimoji="1" lang="en-US" altLang="ja-JP" sz="24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  <p:sp>
        <p:nvSpPr>
          <p:cNvPr id="4" name="角丸四角形 3">
            <a:extLst>
              <a:ext uri="{FF2B5EF4-FFF2-40B4-BE49-F238E27FC236}">
                <a16:creationId xmlns:a16="http://schemas.microsoft.com/office/drawing/2014/main" id="{BCD597A8-13EE-0558-6764-EADD45AB079A}"/>
              </a:ext>
            </a:extLst>
          </p:cNvPr>
          <p:cNvSpPr/>
          <p:nvPr/>
        </p:nvSpPr>
        <p:spPr>
          <a:xfrm>
            <a:off x="404306" y="5297614"/>
            <a:ext cx="2055114" cy="1434261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800"/>
              </a:spcAft>
            </a:pPr>
            <a:r>
              <a:rPr kumimoji="1" lang="en-US" altLang="ja-JP" sz="2000" dirty="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seed</a:t>
            </a:r>
            <a:r>
              <a:rPr kumimoji="1" lang="ja-JP" altLang="en-US" sz="20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を固定</a:t>
            </a:r>
            <a:endParaRPr kumimoji="1" lang="en-US" altLang="ja-JP" sz="2000" dirty="0">
              <a:solidFill>
                <a:schemeClr val="tx1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  <p:sp>
        <p:nvSpPr>
          <p:cNvPr id="5" name="角丸四角形 4">
            <a:extLst>
              <a:ext uri="{FF2B5EF4-FFF2-40B4-BE49-F238E27FC236}">
                <a16:creationId xmlns:a16="http://schemas.microsoft.com/office/drawing/2014/main" id="{3731BD40-B8CA-6084-366C-3D431D0E58EF}"/>
              </a:ext>
            </a:extLst>
          </p:cNvPr>
          <p:cNvSpPr/>
          <p:nvPr/>
        </p:nvSpPr>
        <p:spPr>
          <a:xfrm>
            <a:off x="3544443" y="5297613"/>
            <a:ext cx="2055114" cy="1434261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ja-JP" altLang="en-US" sz="20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毎回同じ乱数が生成される</a:t>
            </a:r>
            <a:endParaRPr kumimoji="1" lang="en-US" altLang="ja-JP" sz="2000" dirty="0">
              <a:solidFill>
                <a:schemeClr val="tx1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  <p:sp>
        <p:nvSpPr>
          <p:cNvPr id="6" name="角丸四角形 5">
            <a:extLst>
              <a:ext uri="{FF2B5EF4-FFF2-40B4-BE49-F238E27FC236}">
                <a16:creationId xmlns:a16="http://schemas.microsoft.com/office/drawing/2014/main" id="{0C2F7CD3-95D4-19E5-776E-A8A036803FAA}"/>
              </a:ext>
            </a:extLst>
          </p:cNvPr>
          <p:cNvSpPr/>
          <p:nvPr/>
        </p:nvSpPr>
        <p:spPr>
          <a:xfrm>
            <a:off x="6684580" y="5297612"/>
            <a:ext cx="2055114" cy="1434261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ja-JP" altLang="en-US" sz="2000">
                <a:solidFill>
                  <a:schemeClr val="tx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毎回同じ結果が得られる</a:t>
            </a:r>
            <a:endParaRPr kumimoji="1" lang="en-US" altLang="ja-JP" sz="2000" dirty="0">
              <a:solidFill>
                <a:schemeClr val="tx1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  <p:sp>
        <p:nvSpPr>
          <p:cNvPr id="7" name="右矢印 6">
            <a:extLst>
              <a:ext uri="{FF2B5EF4-FFF2-40B4-BE49-F238E27FC236}">
                <a16:creationId xmlns:a16="http://schemas.microsoft.com/office/drawing/2014/main" id="{85D5014C-DCC2-21AD-79A0-DCD6EE821707}"/>
              </a:ext>
            </a:extLst>
          </p:cNvPr>
          <p:cNvSpPr/>
          <p:nvPr/>
        </p:nvSpPr>
        <p:spPr>
          <a:xfrm>
            <a:off x="2761511" y="5689277"/>
            <a:ext cx="480840" cy="6509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右矢印 7">
            <a:extLst>
              <a:ext uri="{FF2B5EF4-FFF2-40B4-BE49-F238E27FC236}">
                <a16:creationId xmlns:a16="http://schemas.microsoft.com/office/drawing/2014/main" id="{B4F8625A-21CC-3A7B-BB59-78807C3D2BBB}"/>
              </a:ext>
            </a:extLst>
          </p:cNvPr>
          <p:cNvSpPr/>
          <p:nvPr/>
        </p:nvSpPr>
        <p:spPr>
          <a:xfrm>
            <a:off x="5901648" y="5689276"/>
            <a:ext cx="480840" cy="6509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85023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FB1FF8-E313-48DC-7D82-4AC533E3C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B684A5-5EC9-1AFE-D2CD-31A094D9B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72000"/>
          </a:xfrm>
          <a:solidFill>
            <a:schemeClr val="accent1"/>
          </a:solidFill>
          <a:ln>
            <a:noFill/>
          </a:ln>
        </p:spPr>
        <p:txBody>
          <a:bodyPr anchor="ctr"/>
          <a:lstStyle/>
          <a:p>
            <a:r>
              <a:rPr lang="ja-JP" altLang="en-US">
                <a:solidFill>
                  <a:schemeClr val="bg1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用語：特徴量エンジニアリング</a:t>
            </a:r>
            <a:endParaRPr kumimoji="1" lang="ja-JP" altLang="en-US">
              <a:solidFill>
                <a:schemeClr val="bg1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09E9FA6-7C28-25FA-1FAF-AA8DEC956775}"/>
              </a:ext>
            </a:extLst>
          </p:cNvPr>
          <p:cNvSpPr txBox="1"/>
          <p:nvPr/>
        </p:nvSpPr>
        <p:spPr>
          <a:xfrm>
            <a:off x="278184" y="1260765"/>
            <a:ext cx="8865815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・未加工データを機械学習モデルで使用するための</a:t>
            </a:r>
            <a:r>
              <a:rPr kumimoji="1" lang="ja-JP" altLang="en-US" sz="2400" u="sng">
                <a:uFill>
                  <a:solidFill>
                    <a:schemeClr val="bg1"/>
                  </a:solidFill>
                </a:u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適切な情報</a:t>
            </a:r>
            <a:endParaRPr kumimoji="1" lang="en-US" altLang="ja-JP" sz="2400" u="sng" dirty="0">
              <a:uFill>
                <a:solidFill>
                  <a:schemeClr val="bg1"/>
                </a:solidFill>
              </a:u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>
              <a:spcAft>
                <a:spcPts val="600"/>
              </a:spcAft>
            </a:pPr>
            <a:r>
              <a:rPr kumimoji="1" lang="ja-JP" altLang="en-US" sz="2400">
                <a:uFill>
                  <a:solidFill>
                    <a:schemeClr val="bg1"/>
                  </a:solidFill>
                </a:u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　</a:t>
            </a:r>
            <a:r>
              <a:rPr kumimoji="1" lang="ja-JP" altLang="en-US" sz="2400" u="sng">
                <a:uFill>
                  <a:solidFill>
                    <a:schemeClr val="bg1"/>
                  </a:solidFill>
                </a:u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に変換するプロセス</a:t>
            </a: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のこと。</a:t>
            </a:r>
            <a:endParaRPr kumimoji="1" lang="en-US" altLang="ja-JP" sz="24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>
              <a:spcAft>
                <a:spcPts val="600"/>
              </a:spcAft>
            </a:pP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・機械学習を適用する際に不可欠</a:t>
            </a:r>
            <a:endParaRPr kumimoji="1" lang="en-US" altLang="ja-JP" sz="24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>
              <a:spcAft>
                <a:spcPts val="600"/>
              </a:spcAft>
            </a:pPr>
            <a:r>
              <a:rPr kumimoji="1" lang="en-US" altLang="ja-JP" sz="24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 </a:t>
            </a:r>
          </a:p>
          <a:p>
            <a:pPr>
              <a:spcAft>
                <a:spcPts val="600"/>
              </a:spcAft>
            </a:pP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◆主な手法</a:t>
            </a:r>
            <a:endParaRPr kumimoji="1" lang="en-US" altLang="ja-JP" sz="24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>
              <a:spcAft>
                <a:spcPts val="600"/>
              </a:spcAft>
            </a:pP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・特徴量抽出</a:t>
            </a:r>
            <a:endParaRPr kumimoji="1" lang="en-US" altLang="ja-JP" sz="24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>
              <a:spcAft>
                <a:spcPts val="600"/>
              </a:spcAft>
            </a:pPr>
            <a:r>
              <a:rPr kumimoji="1" lang="ja-JP" altLang="en-US" sz="24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　</a:t>
            </a: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→</a:t>
            </a:r>
            <a:r>
              <a:rPr kumimoji="1" lang="en-US" altLang="ja-JP" sz="24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 </a:t>
            </a: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候補となる特徴量を生成する</a:t>
            </a:r>
            <a:endParaRPr kumimoji="1" lang="en-US" altLang="ja-JP" sz="24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>
              <a:spcAft>
                <a:spcPts val="600"/>
              </a:spcAft>
            </a:pP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・特徴量変換</a:t>
            </a:r>
            <a:endParaRPr kumimoji="1" lang="en-US" altLang="ja-JP" sz="24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>
              <a:spcAft>
                <a:spcPts val="600"/>
              </a:spcAft>
            </a:pP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　→</a:t>
            </a:r>
            <a:r>
              <a:rPr kumimoji="1" lang="en-US" altLang="ja-JP" sz="24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 </a:t>
            </a: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特徴量を、モデル作成に適したデータに変換する</a:t>
            </a:r>
            <a:endParaRPr kumimoji="1" lang="en-US" altLang="ja-JP" sz="24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>
              <a:spcAft>
                <a:spcPts val="600"/>
              </a:spcAft>
            </a:pP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・特徴選択</a:t>
            </a:r>
            <a:endParaRPr kumimoji="1" lang="en-US" altLang="ja-JP" sz="24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>
              <a:spcAft>
                <a:spcPts val="600"/>
              </a:spcAft>
            </a:pP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　→</a:t>
            </a:r>
            <a:r>
              <a:rPr kumimoji="1" lang="en-US" altLang="ja-JP" sz="24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 </a:t>
            </a: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解釈性を改善し、サイズを削減する</a:t>
            </a:r>
            <a:endParaRPr kumimoji="1" lang="en-US" altLang="ja-JP" sz="24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57925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2969</TotalTime>
  <Words>1353</Words>
  <Application>Microsoft Macintosh PowerPoint</Application>
  <PresentationFormat>画面に合わせる (4:3)</PresentationFormat>
  <Paragraphs>229</Paragraphs>
  <Slides>14</Slides>
  <Notes>12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22" baseType="lpstr">
      <vt:lpstr>HGPGothicE</vt:lpstr>
      <vt:lpstr>UD Digi Kyokasho NK-R</vt:lpstr>
      <vt:lpstr>游ゴシック</vt:lpstr>
      <vt:lpstr>Aptos</vt:lpstr>
      <vt:lpstr>Aptos Display</vt:lpstr>
      <vt:lpstr>Arial</vt:lpstr>
      <vt:lpstr>Cambria Math</vt:lpstr>
      <vt:lpstr>Office テーマ</vt:lpstr>
      <vt:lpstr>Pythonセミナー 第4回　</vt:lpstr>
      <vt:lpstr>今回の概要</vt:lpstr>
      <vt:lpstr>非線形</vt:lpstr>
      <vt:lpstr>非線形回帰モデル</vt:lpstr>
      <vt:lpstr>SVRとは（非線形）</vt:lpstr>
      <vt:lpstr>「高次元空間への写像」って？</vt:lpstr>
      <vt:lpstr>SVRの原理（非線形）</vt:lpstr>
      <vt:lpstr>SVRの原理（カーネル関数）</vt:lpstr>
      <vt:lpstr>SVRの特徴</vt:lpstr>
      <vt:lpstr>線形回帰とSVR</vt:lpstr>
      <vt:lpstr>用語：クロスバリデーション</vt:lpstr>
      <vt:lpstr>用語：データリーク</vt:lpstr>
      <vt:lpstr>用語：再現性（seed）</vt:lpstr>
      <vt:lpstr>用語：特徴量エンジニアリング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Kakuda Sana</dc:creator>
  <cp:lastModifiedBy>Kakuda Sana</cp:lastModifiedBy>
  <cp:revision>10</cp:revision>
  <dcterms:created xsi:type="dcterms:W3CDTF">2026-06-10T06:56:04Z</dcterms:created>
  <dcterms:modified xsi:type="dcterms:W3CDTF">2026-06-17T03:46:59Z</dcterms:modified>
</cp:coreProperties>
</file>