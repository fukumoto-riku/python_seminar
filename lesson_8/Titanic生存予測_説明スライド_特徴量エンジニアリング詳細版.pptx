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e45a761bcb4200" /><Relationship Type="http://schemas.openxmlformats.org/officeDocument/2006/relationships/extended-properties" Target="/docProps/app.xml" Id="R529579b0867e49ff" /><Relationship Type="http://schemas.openxmlformats.org/officeDocument/2006/relationships/officeDocument" Target="/ppt/presentation.xml" Id="Raaf359456b73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950d472324dcd"/>
  </p:sldMasterIdLst>
  <p:notesMasterIdLst>
    <p:notesMasterId xmlns:r="http://schemas.openxmlformats.org/officeDocument/2006/relationships" r:id="Rceb79ca689b6433b"/>
  </p:notesMasterIdLst>
  <p:sldIdLst>
    <p:sldId xmlns:r="http://schemas.openxmlformats.org/officeDocument/2006/relationships" id="256" r:id="Rb01f1d90ce984a40"/>
    <p:sldId xmlns:r="http://schemas.openxmlformats.org/officeDocument/2006/relationships" id="257" r:id="Rc1e552b52cc44b8d"/>
    <p:sldId xmlns:r="http://schemas.openxmlformats.org/officeDocument/2006/relationships" id="258" r:id="Rf9359a260fa54e1f"/>
    <p:sldId xmlns:r="http://schemas.openxmlformats.org/officeDocument/2006/relationships" id="259" r:id="R145f9a2e2030432a"/>
    <p:sldId xmlns:r="http://schemas.openxmlformats.org/officeDocument/2006/relationships" id="260" r:id="Rdf1be93688fb45a3"/>
    <p:sldId xmlns:r="http://schemas.openxmlformats.org/officeDocument/2006/relationships" id="261" r:id="R3814a0ac486742bd"/>
    <p:sldId xmlns:r="http://schemas.openxmlformats.org/officeDocument/2006/relationships" id="262" r:id="Re556290e77b744ee"/>
    <p:sldId xmlns:r="http://schemas.openxmlformats.org/officeDocument/2006/relationships" id="263" r:id="R401bd2fe7773494f"/>
    <p:sldId xmlns:r="http://schemas.openxmlformats.org/officeDocument/2006/relationships" id="264" r:id="Rb2af6dcee1624fc8"/>
    <p:sldId xmlns:r="http://schemas.openxmlformats.org/officeDocument/2006/relationships" id="265" r:id="Rfd8474a7bc124698"/>
    <p:sldId xmlns:r="http://schemas.openxmlformats.org/officeDocument/2006/relationships" id="266" r:id="R644ecc0a80da452f"/>
    <p:sldId xmlns:r="http://schemas.openxmlformats.org/officeDocument/2006/relationships" id="267" r:id="Rcd1d68149aca462e"/>
    <p:sldId xmlns:r="http://schemas.openxmlformats.org/officeDocument/2006/relationships" id="268" r:id="Ra706016620e74c56"/>
    <p:sldId xmlns:r="http://schemas.openxmlformats.org/officeDocument/2006/relationships" id="269" r:id="R87d98c8a0dbe419b"/>
    <p:sldId xmlns:r="http://schemas.openxmlformats.org/officeDocument/2006/relationships" id="270" r:id="R71c4b79067524fdb"/>
    <p:sldId xmlns:r="http://schemas.openxmlformats.org/officeDocument/2006/relationships" id="271" r:id="R9afa3a51ebcb42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b4505132e24237" /><Relationship Type="http://schemas.openxmlformats.org/officeDocument/2006/relationships/slideMaster" Target="/ppt/slideMasters/slideMaster1.xml" Id="Rd82950d472324dcd" /><Relationship Type="http://schemas.openxmlformats.org/officeDocument/2006/relationships/notesMaster" Target="/ppt/notesMasters/notesMaster1.xml" Id="Rceb79ca689b6433b" /><Relationship Type="http://schemas.openxmlformats.org/officeDocument/2006/relationships/presProps" Target="/ppt/presProps.xml" Id="Rb0299691d0c64aa7" /><Relationship Type="http://schemas.openxmlformats.org/officeDocument/2006/relationships/tableStyles" Target="/ppt/tableStyles.xml" Id="R13f21699360e4ee0" /><Relationship Type="http://schemas.openxmlformats.org/officeDocument/2006/relationships/slide" Target="/ppt/slides/slide1.xml" Id="Rb01f1d90ce984a40" /><Relationship Type="http://schemas.openxmlformats.org/officeDocument/2006/relationships/slide" Target="/ppt/slides/slide2.xml" Id="Rc1e552b52cc44b8d" /><Relationship Type="http://schemas.openxmlformats.org/officeDocument/2006/relationships/slide" Target="/ppt/slides/slide3.xml" Id="Rf9359a260fa54e1f" /><Relationship Type="http://schemas.openxmlformats.org/officeDocument/2006/relationships/slide" Target="/ppt/slides/slide4.xml" Id="R145f9a2e2030432a" /><Relationship Type="http://schemas.openxmlformats.org/officeDocument/2006/relationships/slide" Target="/ppt/slides/slide5.xml" Id="Rdf1be93688fb45a3" /><Relationship Type="http://schemas.openxmlformats.org/officeDocument/2006/relationships/slide" Target="/ppt/slides/slide6.xml" Id="R3814a0ac486742bd" /><Relationship Type="http://schemas.openxmlformats.org/officeDocument/2006/relationships/slide" Target="/ppt/slides/slide7.xml" Id="Re556290e77b744ee" /><Relationship Type="http://schemas.openxmlformats.org/officeDocument/2006/relationships/slide" Target="/ppt/slides/slide8.xml" Id="R401bd2fe7773494f" /><Relationship Type="http://schemas.openxmlformats.org/officeDocument/2006/relationships/slide" Target="/ppt/slides/slide9.xml" Id="Rb2af6dcee1624fc8" /><Relationship Type="http://schemas.openxmlformats.org/officeDocument/2006/relationships/slide" Target="/ppt/slides/slide10.xml" Id="Rfd8474a7bc124698" /><Relationship Type="http://schemas.openxmlformats.org/officeDocument/2006/relationships/slide" Target="/ppt/slides/slide11.xml" Id="R644ecc0a80da452f" /><Relationship Type="http://schemas.openxmlformats.org/officeDocument/2006/relationships/slide" Target="/ppt/slides/slide12.xml" Id="Rcd1d68149aca462e" /><Relationship Type="http://schemas.openxmlformats.org/officeDocument/2006/relationships/slide" Target="/ppt/slides/slide13.xml" Id="Ra706016620e74c56" /><Relationship Type="http://schemas.openxmlformats.org/officeDocument/2006/relationships/slide" Target="/ppt/slides/slide14.xml" Id="R87d98c8a0dbe419b" /><Relationship Type="http://schemas.openxmlformats.org/officeDocument/2006/relationships/slide" Target="/ppt/slides/slide15.xml" Id="R71c4b79067524fdb" /><Relationship Type="http://schemas.openxmlformats.org/officeDocument/2006/relationships/slide" Target="/ppt/slides/slide16.xml" Id="R9afa3a51ebcb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85dcd69c4649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a1ecdbca7f4bee" /><Relationship Type="http://schemas.openxmlformats.org/officeDocument/2006/relationships/notesMaster" Target="/ppt/notesMasters/notesMaster1.xml" Id="R7293dbec361549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9a6a7da50d4eaa" /><Relationship Type="http://schemas.openxmlformats.org/officeDocument/2006/relationships/notesMaster" Target="/ppt/notesMasters/notesMaster1.xml" Id="Rac7fbfd335e2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1c6334405047c4" /><Relationship Type="http://schemas.openxmlformats.org/officeDocument/2006/relationships/notesMaster" Target="/ppt/notesMasters/notesMaster1.xml" Id="Rdd4540abab50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d579ff1d5a4f9b" /><Relationship Type="http://schemas.openxmlformats.org/officeDocument/2006/relationships/notesMaster" Target="/ppt/notesMasters/notesMaster1.xml" Id="R92d86c8d8233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4b269c009a4521" /><Relationship Type="http://schemas.openxmlformats.org/officeDocument/2006/relationships/notesMaster" Target="/ppt/notesMasters/notesMaster1.xml" Id="R5d050602194444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00d4fe327b44f5" /><Relationship Type="http://schemas.openxmlformats.org/officeDocument/2006/relationships/notesMaster" Target="/ppt/notesMasters/notesMaster1.xml" Id="Rf553625a99fa46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78e6b0e9224082" /><Relationship Type="http://schemas.openxmlformats.org/officeDocument/2006/relationships/notesMaster" Target="/ppt/notesMasters/notesMaster1.xml" Id="R555b0936adc44c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6135e5461d4db8" /><Relationship Type="http://schemas.openxmlformats.org/officeDocument/2006/relationships/notesMaster" Target="/ppt/notesMasters/notesMaster1.xml" Id="Rf1bb04731afd4c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bbb59233404ca4" /><Relationship Type="http://schemas.openxmlformats.org/officeDocument/2006/relationships/notesMaster" Target="/ppt/notesMasters/notesMaster1.xml" Id="Rf45a3e9d54954b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430cb815964756" /><Relationship Type="http://schemas.openxmlformats.org/officeDocument/2006/relationships/notesMaster" Target="/ppt/notesMasters/notesMaster1.xml" Id="R16eacd3a47b04c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ecc77d13fd4ea7" /><Relationship Type="http://schemas.openxmlformats.org/officeDocument/2006/relationships/notesMaster" Target="/ppt/notesMasters/notesMaster1.xml" Id="R15cfb6dbbffb45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3278ded0e74541" /><Relationship Type="http://schemas.openxmlformats.org/officeDocument/2006/relationships/notesMaster" Target="/ppt/notesMasters/notesMaster1.xml" Id="Ra37c16604d854b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adaadcd4e04121" /><Relationship Type="http://schemas.openxmlformats.org/officeDocument/2006/relationships/notesMaster" Target="/ppt/notesMasters/notesMaster1.xml" Id="Rf0df72cf08744d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4680defb9b492e" /><Relationship Type="http://schemas.openxmlformats.org/officeDocument/2006/relationships/notesMaster" Target="/ppt/notesMasters/notesMaster1.xml" Id="R40ae430633cd42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b901b800094fee" /><Relationship Type="http://schemas.openxmlformats.org/officeDocument/2006/relationships/notesMaster" Target="/ppt/notesMasters/notesMaster1.xml" Id="Ra9e37e99038c40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3e535c42f3497a" /><Relationship Type="http://schemas.openxmlformats.org/officeDocument/2006/relationships/notesMaster" Target="/ppt/notesMasters/notesMaster1.xml" Id="Re843b367031646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805f0680045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2d5ba1f5504ae9" /><Relationship Type="http://schemas.openxmlformats.org/officeDocument/2006/relationships/slideLayout" Target="/ppt/slideLayouts/slideLayout1.xml" Id="R83f1c3ec655c4c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f1c3ec655c4c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deaa68c24d86" /><Relationship Type="http://schemas.openxmlformats.org/officeDocument/2006/relationships/notesSlide" Target="/ppt/notesSlides/notesSlide1.xml" Id="R27b65a732c3f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d366c57da490a" /><Relationship Type="http://schemas.openxmlformats.org/officeDocument/2006/relationships/notesSlide" Target="/ppt/notesSlides/notesSlide2.xml" Id="Rc216da536429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ecc6eea6d4c4d" /><Relationship Type="http://schemas.openxmlformats.org/officeDocument/2006/relationships/notesSlide" Target="/ppt/notesSlides/notesSlide3.xml" Id="R0670f2c567484a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90ad530cc411e" /><Relationship Type="http://schemas.openxmlformats.org/officeDocument/2006/relationships/notesSlide" Target="/ppt/notesSlides/notesSlide4.xml" Id="R996a0027bafd4c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ec3969cf9449b" /><Relationship Type="http://schemas.openxmlformats.org/officeDocument/2006/relationships/notesSlide" Target="/ppt/notesSlides/notesSlide5.xml" Id="R211e8857e20b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d927d8a7f4a5c" /><Relationship Type="http://schemas.openxmlformats.org/officeDocument/2006/relationships/notesSlide" Target="/ppt/notesSlides/notesSlide6.xml" Id="R4bf9b76ea81348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fb6d455dd4756" /><Relationship Type="http://schemas.openxmlformats.org/officeDocument/2006/relationships/notesSlide" Target="/ppt/notesSlides/notesSlide7.xml" Id="Rc6c18dc83cea45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0eab2fe0c45ed" /><Relationship Type="http://schemas.openxmlformats.org/officeDocument/2006/relationships/notesSlide" Target="/ppt/notesSlides/notesSlide8.xml" Id="R2e04d7e8860443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778baf6f94156" /><Relationship Type="http://schemas.openxmlformats.org/officeDocument/2006/relationships/notesSlide" Target="/ppt/notesSlides/notesSlide9.xml" Id="Ra4807131fdae4a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96438c30d481b" /><Relationship Type="http://schemas.openxmlformats.org/officeDocument/2006/relationships/notesSlide" Target="/ppt/notesSlides/notesSlide10.xml" Id="R1ed54544ee2640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59863f8d440e2" /><Relationship Type="http://schemas.openxmlformats.org/officeDocument/2006/relationships/notesSlide" Target="/ppt/notesSlides/notesSlide11.xml" Id="Rbf874796934841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90cdc4ab34499" /><Relationship Type="http://schemas.openxmlformats.org/officeDocument/2006/relationships/notesSlide" Target="/ppt/notesSlides/notesSlide12.xml" Id="R657d75eda5ba4f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5e359340f4b66" /><Relationship Type="http://schemas.openxmlformats.org/officeDocument/2006/relationships/notesSlide" Target="/ppt/notesSlides/notesSlide13.xml" Id="Rcb21255c638645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08012d223488a" /><Relationship Type="http://schemas.openxmlformats.org/officeDocument/2006/relationships/chart" Target="/ppt/slides/charts/chart1.xml" Id="R550ef244bb344d69" /><Relationship Type="http://schemas.openxmlformats.org/officeDocument/2006/relationships/notesSlide" Target="/ppt/notesSlides/notesSlide14.xml" Id="R18092dc8020c4e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68ca26e514e53" /><Relationship Type="http://schemas.openxmlformats.org/officeDocument/2006/relationships/notesSlide" Target="/ppt/notesSlides/notesSlide15.xml" Id="Rc5a7d0cf447a49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75389f30f412c" /><Relationship Type="http://schemas.openxmlformats.org/officeDocument/2006/relationships/notesSlide" Target="/ppt/notesSlides/notesSlide16.xml" Id="R191b04c46d344da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Overall OOF F1</c:v>
          </c:tx>
          <c:spPr>
            <a:solidFill xmlns:a="http://schemas.openxmlformats.org/drawingml/2006/main">
              <a:srgbClr val="2F78D0"/>
            </a:solidFill>
          </c:spPr>
          <c:cat>
            <c:strLit>
              <c:ptCount val="4"/>
              <c:pt idx="0">
                <c:v>CatBoost</c:v>
              </c:pt>
              <c:pt idx="1">
                <c:v>Soft Voting</c:v>
              </c:pt>
              <c:pt idx="2">
                <c:v>XGBoost</c:v>
              </c:pt>
              <c:pt idx="3">
                <c:v>LightGBM</c:v>
              </c:pt>
            </c:strLit>
          </c:cat>
          <c:val>
            <c:numLit>
              <c:formatCode>0.00</c:formatCode>
              <c:ptCount val="4"/>
              <c:pt idx="0">
                <c:v>79.8</c:v>
              </c:pt>
              <c:pt idx="1">
                <c:v>80.14</c:v>
              </c:pt>
              <c:pt idx="2">
                <c:v>80.79</c:v>
              </c:pt>
              <c:pt idx="3">
                <c:v>81.15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 b="1">
                    <a:solidFill>
                      <a:srgbClr val="111111"/>
                    </a:solidFill>
                  </a:rPr>
                  <a:t>F1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11111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F46E0DF-CDE9-4BE0-844A-1F86F749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PYTHON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SEMINAR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LESSON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81F86CF-DD5D-4986-98F7-19C24FAE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9906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Titanic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生存予測を
コードの流れから理解する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EE2BBFF-C58B-433F-B53B-6D295C6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 が、
乗客データを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種類の提出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CSV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へ変えるまで</a:t>
            </a:r>
          </a:p>
        </p:txBody>
      </p:sp>
      <p:cxnSp>
        <p:nvCxnSpPr>
          <p:cNvPr id="17" name="cover-rule"/>
          <p:cNvCxnSpPr/>
          <p:nvPr/>
        </p:nvCxnSpPr>
        <p:spPr>
          <a:xfrm xmlns:a="http://schemas.openxmlformats.org/drawingml/2006/main">
            <a:off x="457200" y="5524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19E3F551-389A-40F3-A18E-A591CC02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</a:p>
        </p:txBody>
      </p:sp>
    </p:spTree>
    <p:extLst>
      <p:ext uri="{BB962C8B-B14F-4D97-AF65-F5344CB8AC3E}">
        <p14:creationId xmlns:p14="http://schemas.microsoft.com/office/powerpoint/2010/main" val="28591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55A487D8-4429-4D40-8166-9878599F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予測は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つの処理を一本につなぐ</a:t>
            </a:r>
          </a:p>
        </p:txBody>
      </p:sp>
      <p:cxnSp>
        <p:nvCxnSpPr>
          <p:cNvPr id="54" name="title-rule-2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2-lead">
            <a:extLst xmlns:a="http://schemas.openxmlformats.org/drawingml/2006/main">
              <a:ext uri="{FF2B5EF4-FFF2-40B4-BE49-F238E27FC236}">
                <a16:creationId xmlns:a16="http://schemas.microsoft.com/office/drawing/2014/main" id="{43A453E2-4179-4F72-9236-8E0FA3B9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952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途中の評価用予測と、最終のテスト予測を分けて扱うことがポイント。</a:t>
            </a:r>
          </a:p>
        </p:txBody>
      </p:sp>
      <p:cxnSp>
        <p:nvCxnSpPr>
          <p:cNvPr id="56" name="s2-arrow-0"/>
          <p:cNvCxnSpPr/>
          <p:nvPr/>
        </p:nvCxnSpPr>
        <p:spPr>
          <a:xfrm xmlns:a="http://schemas.openxmlformats.org/drawingml/2006/main">
            <a:off x="1790700" y="3219450"/>
            <a:ext cx="304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7" name="s2-arrow-1"/>
          <p:cNvCxnSpPr/>
          <p:nvPr/>
        </p:nvCxnSpPr>
        <p:spPr>
          <a:xfrm xmlns:a="http://schemas.openxmlformats.org/drawingml/2006/main">
            <a:off x="3429000" y="3219450"/>
            <a:ext cx="304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8" name="s2-arrow-2"/>
          <p:cNvCxnSpPr/>
          <p:nvPr/>
        </p:nvCxnSpPr>
        <p:spPr>
          <a:xfrm xmlns:a="http://schemas.openxmlformats.org/drawingml/2006/main">
            <a:off x="5067300" y="3219450"/>
            <a:ext cx="304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9" name="s2-arrow-3"/>
          <p:cNvCxnSpPr/>
          <p:nvPr/>
        </p:nvCxnSpPr>
        <p:spPr>
          <a:xfrm xmlns:a="http://schemas.openxmlformats.org/drawingml/2006/main">
            <a:off x="6705600" y="3219450"/>
            <a:ext cx="304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0" name="s2-arrow-4"/>
          <p:cNvCxnSpPr/>
          <p:nvPr/>
        </p:nvCxnSpPr>
        <p:spPr>
          <a:xfrm xmlns:a="http://schemas.openxmlformats.org/drawingml/2006/main">
            <a:off x="8343900" y="3219450"/>
            <a:ext cx="304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1" name="s2-arrow-5"/>
          <p:cNvCxnSpPr/>
          <p:nvPr/>
        </p:nvCxnSpPr>
        <p:spPr>
          <a:xfrm xmlns:a="http://schemas.openxmlformats.org/drawingml/2006/main">
            <a:off x="9982200" y="3219450"/>
            <a:ext cx="304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s2-box-0">
            <a:extLst xmlns:a="http://schemas.openxmlformats.org/drawingml/2006/main">
              <a:ext uri="{FF2B5EF4-FFF2-40B4-BE49-F238E27FC236}">
                <a16:creationId xmlns:a16="http://schemas.microsoft.com/office/drawing/2014/main" id="{A9761546-F1A0-45A3-9478-DA0C937A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333500" cy="1524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-num-0">
            <a:extLst xmlns:a="http://schemas.openxmlformats.org/drawingml/2006/main">
              <a:ext uri="{FF2B5EF4-FFF2-40B4-BE49-F238E27FC236}">
                <a16:creationId xmlns:a16="http://schemas.microsoft.com/office/drawing/2014/main" id="{BDBAB0E5-9652-4F79-AB89-46A7FE11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" name="s2-label-0">
            <a:extLst xmlns:a="http://schemas.openxmlformats.org/drawingml/2006/main">
              <a:ext uri="{FF2B5EF4-FFF2-40B4-BE49-F238E27FC236}">
                <a16:creationId xmlns:a16="http://schemas.microsoft.com/office/drawing/2014/main" id="{6D6BAE87-A157-41F2-B727-793CA69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18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読込確認</a:t>
            </a:r>
          </a:p>
        </p:txBody>
      </p:sp>
      <p:sp>
        <p:nvSpPr>
          <p:cNvPr id="13" name="s2-box-1">
            <a:extLst xmlns:a="http://schemas.openxmlformats.org/drawingml/2006/main">
              <a:ext uri="{FF2B5EF4-FFF2-40B4-BE49-F238E27FC236}">
                <a16:creationId xmlns:a16="http://schemas.microsoft.com/office/drawing/2014/main" id="{D0B8DF58-4ECC-4562-ABCD-84DBCA2F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1333500" cy="1524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2-num-1">
            <a:extLst xmlns:a="http://schemas.openxmlformats.org/drawingml/2006/main">
              <a:ext uri="{FF2B5EF4-FFF2-40B4-BE49-F238E27FC236}">
                <a16:creationId xmlns:a16="http://schemas.microsoft.com/office/drawing/2014/main" id="{0EDAA4CD-EBEE-4D1D-BA68-7CBD003A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479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" name="s2-label-1">
            <a:extLst xmlns:a="http://schemas.openxmlformats.org/drawingml/2006/main">
              <a:ext uri="{FF2B5EF4-FFF2-40B4-BE49-F238E27FC236}">
                <a16:creationId xmlns:a16="http://schemas.microsoft.com/office/drawing/2014/main" id="{E5894E6A-5DD1-481E-9F6F-8C17D8B6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00400"/>
            <a:ext cx="118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特徴量</a:t>
            </a:r>
          </a:p>
        </p:txBody>
      </p:sp>
      <p:sp>
        <p:nvSpPr>
          <p:cNvPr id="16" name="s2-box-2">
            <a:extLst xmlns:a="http://schemas.openxmlformats.org/drawingml/2006/main">
              <a:ext uri="{FF2B5EF4-FFF2-40B4-BE49-F238E27FC236}">
                <a16:creationId xmlns:a16="http://schemas.microsoft.com/office/drawing/2014/main" id="{C91E64BD-2B48-46C5-8530-9F312FED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1333500" cy="1524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num-2">
            <a:extLst xmlns:a="http://schemas.openxmlformats.org/drawingml/2006/main">
              <a:ext uri="{FF2B5EF4-FFF2-40B4-BE49-F238E27FC236}">
                <a16:creationId xmlns:a16="http://schemas.microsoft.com/office/drawing/2014/main" id="{25658A34-6688-4328-B283-9B04A1A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8" name="s2-label-2">
            <a:extLst xmlns:a="http://schemas.openxmlformats.org/drawingml/2006/main">
              <a:ext uri="{FF2B5EF4-FFF2-40B4-BE49-F238E27FC236}">
                <a16:creationId xmlns:a16="http://schemas.microsoft.com/office/drawing/2014/main" id="{74759ED7-0EC2-4247-8065-F4BA40B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00400"/>
            <a:ext cx="118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19" name="s2-box-3">
            <a:extLst xmlns:a="http://schemas.openxmlformats.org/drawingml/2006/main">
              <a:ext uri="{FF2B5EF4-FFF2-40B4-BE49-F238E27FC236}">
                <a16:creationId xmlns:a16="http://schemas.microsoft.com/office/drawing/2014/main" id="{1EE9AD8F-66A1-4299-987D-0E265041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57450"/>
            <a:ext cx="1333500" cy="1524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2-num-3">
            <a:extLst xmlns:a="http://schemas.openxmlformats.org/drawingml/2006/main">
              <a:ext uri="{FF2B5EF4-FFF2-40B4-BE49-F238E27FC236}">
                <a16:creationId xmlns:a16="http://schemas.microsoft.com/office/drawing/2014/main" id="{1260C422-01EC-4C99-AECC-502A0B4B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479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1" name="s2-label-3">
            <a:extLst xmlns:a="http://schemas.openxmlformats.org/drawingml/2006/main">
              <a:ext uri="{FF2B5EF4-FFF2-40B4-BE49-F238E27FC236}">
                <a16:creationId xmlns:a16="http://schemas.microsoft.com/office/drawing/2014/main" id="{A26DDF56-B19A-495D-9806-FC2F550F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00400"/>
            <a:ext cx="118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比較調整</a:t>
            </a:r>
          </a:p>
        </p:txBody>
      </p:sp>
      <p:sp>
        <p:nvSpPr>
          <p:cNvPr id="22" name="s2-box-4">
            <a:extLst xmlns:a="http://schemas.openxmlformats.org/drawingml/2006/main">
              <a:ext uri="{FF2B5EF4-FFF2-40B4-BE49-F238E27FC236}">
                <a16:creationId xmlns:a16="http://schemas.microsoft.com/office/drawing/2014/main" id="{0689F97F-5FE4-472E-AC14-B1DD68F4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1333500" cy="1524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2-num-4">
            <a:extLst xmlns:a="http://schemas.openxmlformats.org/drawingml/2006/main">
              <a:ext uri="{FF2B5EF4-FFF2-40B4-BE49-F238E27FC236}">
                <a16:creationId xmlns:a16="http://schemas.microsoft.com/office/drawing/2014/main" id="{22343CE7-074B-4FB8-BD77-F98ADDF2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4" name="s2-label-4">
            <a:extLst xmlns:a="http://schemas.openxmlformats.org/drawingml/2006/main">
              <a:ext uri="{FF2B5EF4-FFF2-40B4-BE49-F238E27FC236}">
                <a16:creationId xmlns:a16="http://schemas.microsoft.com/office/drawing/2014/main" id="{01137F8C-1C3B-43C2-93E6-C47684AE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118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確認</a:t>
            </a:r>
          </a:p>
        </p:txBody>
      </p:sp>
      <p:sp>
        <p:nvSpPr>
          <p:cNvPr id="25" name="s2-box-5">
            <a:extLst xmlns:a="http://schemas.openxmlformats.org/drawingml/2006/main">
              <a:ext uri="{FF2B5EF4-FFF2-40B4-BE49-F238E27FC236}">
                <a16:creationId xmlns:a16="http://schemas.microsoft.com/office/drawing/2014/main" id="{511F24E3-9CDE-43DB-80C0-34A6EAA8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1333500" cy="1524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2-num-5">
            <a:extLst xmlns:a="http://schemas.openxmlformats.org/drawingml/2006/main">
              <a:ext uri="{FF2B5EF4-FFF2-40B4-BE49-F238E27FC236}">
                <a16:creationId xmlns:a16="http://schemas.microsoft.com/office/drawing/2014/main" id="{A5CFB280-EC27-4CC1-9BDB-0CE236FC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7" name="s2-label-5">
            <a:extLst xmlns:a="http://schemas.openxmlformats.org/drawingml/2006/main">
              <a:ext uri="{FF2B5EF4-FFF2-40B4-BE49-F238E27FC236}">
                <a16:creationId xmlns:a16="http://schemas.microsoft.com/office/drawing/2014/main" id="{E42F0202-5C37-4C25-9590-CA2F754C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0400"/>
            <a:ext cx="118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全体学習</a:t>
            </a:r>
          </a:p>
        </p:txBody>
      </p:sp>
      <p:sp>
        <p:nvSpPr>
          <p:cNvPr id="28" name="s2-box-6">
            <a:extLst xmlns:a="http://schemas.openxmlformats.org/drawingml/2006/main">
              <a:ext uri="{FF2B5EF4-FFF2-40B4-BE49-F238E27FC236}">
                <a16:creationId xmlns:a16="http://schemas.microsoft.com/office/drawing/2014/main" id="{F2FD3333-551E-4250-9EA5-71E03ADF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1333500" cy="1524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2-num-6">
            <a:extLst xmlns:a="http://schemas.openxmlformats.org/drawingml/2006/main">
              <a:ext uri="{FF2B5EF4-FFF2-40B4-BE49-F238E27FC236}">
                <a16:creationId xmlns:a16="http://schemas.microsoft.com/office/drawing/2014/main" id="{DB73D6FF-5170-4CD5-9CB5-2DF7FD56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47950"/>
            <a:ext cx="400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30" name="s2-label-6">
            <a:extLst xmlns:a="http://schemas.openxmlformats.org/drawingml/2006/main">
              <a:ext uri="{FF2B5EF4-FFF2-40B4-BE49-F238E27FC236}">
                <a16:creationId xmlns:a16="http://schemas.microsoft.com/office/drawing/2014/main" id="{04EBAE32-0A86-44F9-AAB2-A8C0B3F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00400"/>
            <a:ext cx="1181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CSV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作成</a:t>
            </a:r>
          </a:p>
        </p:txBody>
      </p:sp>
      <p:sp>
        <p:nvSpPr>
          <p:cNvPr id="31" name="s2-oof-callout">
            <a:extLst xmlns:a="http://schemas.openxmlformats.org/drawingml/2006/main">
              <a:ext uri="{FF2B5EF4-FFF2-40B4-BE49-F238E27FC236}">
                <a16:creationId xmlns:a16="http://schemas.microsoft.com/office/drawing/2014/main" id="{50F6BD88-F576-499E-A841-436016CF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62450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学習データを公平に採点</a:t>
            </a:r>
          </a:p>
        </p:txBody>
      </p:sp>
      <p:sp>
        <p:nvSpPr>
          <p:cNvPr id="32" name="s2-csv-callout">
            <a:extLst xmlns:a="http://schemas.openxmlformats.org/drawingml/2006/main">
              <a:ext uri="{FF2B5EF4-FFF2-40B4-BE49-F238E27FC236}">
                <a16:creationId xmlns:a16="http://schemas.microsoft.com/office/drawing/2014/main" id="{1D200C18-B306-4D8B-9CC0-DB51801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624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179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人分を保存</a:t>
            </a:r>
          </a:p>
        </p:txBody>
      </p:sp>
      <p:sp>
        <p:nvSpPr>
          <p:cNvPr id="33" name="source-2">
            <a:extLst xmlns:a="http://schemas.openxmlformats.org/drawingml/2006/main">
              <a:ext uri="{FF2B5EF4-FFF2-40B4-BE49-F238E27FC236}">
                <a16:creationId xmlns:a16="http://schemas.microsoft.com/office/drawing/2014/main" id="{5FB2BAAF-61B5-4D3C-8BA6-F8EB1E52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34" name="page-2">
            <a:extLst xmlns:a="http://schemas.openxmlformats.org/drawingml/2006/main">
              <a:ext uri="{FF2B5EF4-FFF2-40B4-BE49-F238E27FC236}">
                <a16:creationId xmlns:a16="http://schemas.microsoft.com/office/drawing/2014/main" id="{8A42BFBA-83E1-4193-AB1C-2A1635D5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077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F39BD230-C468-44A3-8CC6-9E58EFA4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712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人の正解から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179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人の生存を予測する</a:t>
            </a:r>
          </a:p>
        </p:txBody>
      </p:sp>
      <p:cxnSp>
        <p:nvCxnSpPr>
          <p:cNvPr id="28" name="title-rule-3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3-left-panel">
            <a:extLst xmlns:a="http://schemas.openxmlformats.org/drawingml/2006/main">
              <a:ext uri="{FF2B5EF4-FFF2-40B4-BE49-F238E27FC236}">
                <a16:creationId xmlns:a16="http://schemas.microsoft.com/office/drawing/2014/main" id="{A57F7EDE-907F-4D72-9B6B-129F54D4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52768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3-right-panel">
            <a:extLst xmlns:a="http://schemas.openxmlformats.org/drawingml/2006/main">
              <a:ext uri="{FF2B5EF4-FFF2-40B4-BE49-F238E27FC236}">
                <a16:creationId xmlns:a16="http://schemas.microsoft.com/office/drawing/2014/main" id="{F1762C94-04A6-490A-9712-4EA2DA70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5734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-train-label">
            <a:extLst xmlns:a="http://schemas.openxmlformats.org/drawingml/2006/main">
              <a:ext uri="{FF2B5EF4-FFF2-40B4-BE49-F238E27FC236}">
                <a16:creationId xmlns:a16="http://schemas.microsoft.com/office/drawing/2014/main" id="{B368DF48-D4E4-483E-AD63-C6592312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学習データ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6" name="s3-train-stat">
            <a:extLst xmlns:a="http://schemas.openxmlformats.org/drawingml/2006/main">
              <a:ext uri="{FF2B5EF4-FFF2-40B4-BE49-F238E27FC236}">
                <a16:creationId xmlns:a16="http://schemas.microsoft.com/office/drawing/2014/main" id="{19EB376E-AED8-4A30-AD96-0784E8B6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4191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712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 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×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列</a:t>
            </a:r>
          </a:p>
        </p:txBody>
      </p:sp>
      <p:sp>
        <p:nvSpPr>
          <p:cNvPr id="7" name="s3-train-dot-0">
            <a:extLst xmlns:a="http://schemas.openxmlformats.org/drawingml/2006/main">
              <a:ext uri="{FF2B5EF4-FFF2-40B4-BE49-F238E27FC236}">
                <a16:creationId xmlns:a16="http://schemas.microsoft.com/office/drawing/2014/main" id="{FBA1FAB0-B7C8-4F09-BD1A-D786FE2B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train-text-0">
            <a:extLst xmlns:a="http://schemas.openxmlformats.org/drawingml/2006/main">
              <a:ext uri="{FF2B5EF4-FFF2-40B4-BE49-F238E27FC236}">
                <a16:creationId xmlns:a16="http://schemas.microsoft.com/office/drawing/2014/main" id="{DCE78BFD-6606-4D67-A5AC-782D15E9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4248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正解ラベル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Survived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 を持つ</a:t>
            </a:r>
          </a:p>
        </p:txBody>
      </p:sp>
      <p:sp>
        <p:nvSpPr>
          <p:cNvPr id="9" name="s3-train-dot-1">
            <a:extLst xmlns:a="http://schemas.openxmlformats.org/drawingml/2006/main">
              <a:ext uri="{FF2B5EF4-FFF2-40B4-BE49-F238E27FC236}">
                <a16:creationId xmlns:a16="http://schemas.microsoft.com/office/drawing/2014/main" id="{92FA5AF9-57C7-446C-A8B2-235400A7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3-train-text-1">
            <a:extLst xmlns:a="http://schemas.openxmlformats.org/drawingml/2006/main">
              <a:ext uri="{FF2B5EF4-FFF2-40B4-BE49-F238E27FC236}">
                <a16:creationId xmlns:a16="http://schemas.microsoft.com/office/drawing/2014/main" id="{62FC705B-3097-4E7B-A08E-440B16CE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248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PassengerId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 は入力から除外</a:t>
            </a:r>
          </a:p>
        </p:txBody>
      </p:sp>
      <p:sp>
        <p:nvSpPr>
          <p:cNvPr id="11" name="s3-train-dot-2">
            <a:extLst xmlns:a="http://schemas.openxmlformats.org/drawingml/2006/main">
              <a:ext uri="{FF2B5EF4-FFF2-40B4-BE49-F238E27FC236}">
                <a16:creationId xmlns:a16="http://schemas.microsoft.com/office/drawing/2014/main" id="{4AE75063-EF5B-45DA-B4C9-01971953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3-train-text-2">
            <a:extLst xmlns:a="http://schemas.openxmlformats.org/drawingml/2006/main">
              <a:ext uri="{FF2B5EF4-FFF2-40B4-BE49-F238E27FC236}">
                <a16:creationId xmlns:a16="http://schemas.microsoft.com/office/drawing/2014/main" id="{E335821F-0D6B-40BA-9214-D2970585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4248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残りの列から生存確率を学ぶ</a:t>
            </a:r>
          </a:p>
        </p:txBody>
      </p:sp>
      <p:sp>
        <p:nvSpPr>
          <p:cNvPr id="13" name="s3-test-label">
            <a:extLst xmlns:a="http://schemas.openxmlformats.org/drawingml/2006/main">
              <a:ext uri="{FF2B5EF4-FFF2-40B4-BE49-F238E27FC236}">
                <a16:creationId xmlns:a16="http://schemas.microsoft.com/office/drawing/2014/main" id="{088E7C51-E331-49BD-88B6-5AC855C8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予測対象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test</a:t>
            </a:r>
          </a:p>
        </p:txBody>
      </p:sp>
      <p:sp>
        <p:nvSpPr>
          <p:cNvPr id="14" name="s3-test-stat">
            <a:extLst xmlns:a="http://schemas.openxmlformats.org/drawingml/2006/main">
              <a:ext uri="{FF2B5EF4-FFF2-40B4-BE49-F238E27FC236}">
                <a16:creationId xmlns:a16="http://schemas.microsoft.com/office/drawing/2014/main" id="{D0903685-7ED6-41F1-8C08-E0C71783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191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179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 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×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列</a:t>
            </a:r>
          </a:p>
        </p:txBody>
      </p:sp>
      <p:sp>
        <p:nvSpPr>
          <p:cNvPr id="15" name="s3-test-dot-0">
            <a:extLst xmlns:a="http://schemas.openxmlformats.org/drawingml/2006/main">
              <a:ext uri="{FF2B5EF4-FFF2-40B4-BE49-F238E27FC236}">
                <a16:creationId xmlns:a16="http://schemas.microsoft.com/office/drawing/2014/main" id="{CE33A697-3350-4D5D-A8F5-6B0261E5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3-test-text-0">
            <a:extLst xmlns:a="http://schemas.openxmlformats.org/drawingml/2006/main">
              <a:ext uri="{FF2B5EF4-FFF2-40B4-BE49-F238E27FC236}">
                <a16:creationId xmlns:a16="http://schemas.microsoft.com/office/drawing/2014/main" id="{6FCE5C91-5E32-45B4-9F59-146A3F9D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629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Survived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 は未知</a:t>
            </a:r>
          </a:p>
        </p:txBody>
      </p:sp>
      <p:sp>
        <p:nvSpPr>
          <p:cNvPr id="17" name="s3-test-dot-1">
            <a:extLst xmlns:a="http://schemas.openxmlformats.org/drawingml/2006/main">
              <a:ext uri="{FF2B5EF4-FFF2-40B4-BE49-F238E27FC236}">
                <a16:creationId xmlns:a16="http://schemas.microsoft.com/office/drawing/2014/main" id="{8C06A61E-09AB-4355-B611-6FB95B52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-test-text-1">
            <a:extLst xmlns:a="http://schemas.openxmlformats.org/drawingml/2006/main">
              <a:ext uri="{FF2B5EF4-FFF2-40B4-BE49-F238E27FC236}">
                <a16:creationId xmlns:a16="http://schemas.microsoft.com/office/drawing/2014/main" id="{3974CF97-FF07-4BAE-9BC6-AC17BC10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4629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各人に生存確率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 を出す</a:t>
            </a:r>
          </a:p>
        </p:txBody>
      </p:sp>
      <p:sp>
        <p:nvSpPr>
          <p:cNvPr id="19" name="s3-test-dot-2">
            <a:extLst xmlns:a="http://schemas.openxmlformats.org/drawingml/2006/main">
              <a:ext uri="{FF2B5EF4-FFF2-40B4-BE49-F238E27FC236}">
                <a16:creationId xmlns:a16="http://schemas.microsoft.com/office/drawing/2014/main" id="{160E17F3-15C7-4056-A7B0-1612EF7C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3-test-text-2">
            <a:extLst xmlns:a="http://schemas.openxmlformats.org/drawingml/2006/main">
              <a:ext uri="{FF2B5EF4-FFF2-40B4-BE49-F238E27FC236}">
                <a16:creationId xmlns:a16="http://schemas.microsoft.com/office/drawing/2014/main" id="{F1FD4861-7E90-4F25-9428-4F0BCA1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46291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しきい値で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0/1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に変換し、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を戻す</a:t>
            </a:r>
          </a:p>
        </p:txBody>
      </p:sp>
      <p:sp>
        <p:nvSpPr>
          <p:cNvPr id="21" name="source-3">
            <a:extLst xmlns:a="http://schemas.openxmlformats.org/drawingml/2006/main">
              <a:ext uri="{FF2B5EF4-FFF2-40B4-BE49-F238E27FC236}">
                <a16:creationId xmlns:a16="http://schemas.microsoft.com/office/drawing/2014/main" id="{0F8590EE-0A7C-4B75-A9D2-CB8F2458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E3442760-5BA1-485C-8246-8318A67B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3750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CA42C86-6E32-460D-950B-B69C019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元の列を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23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個の特徴量へ変換する</a:t>
            </a:r>
          </a:p>
        </p:txBody>
      </p:sp>
      <p:cxnSp>
        <p:nvCxnSpPr>
          <p:cNvPr id="38" name="title-rule-4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4-lead">
            <a:extLst xmlns:a="http://schemas.openxmlformats.org/drawingml/2006/main">
              <a:ext uri="{FF2B5EF4-FFF2-40B4-BE49-F238E27FC236}">
                <a16:creationId xmlns:a16="http://schemas.microsoft.com/office/drawing/2014/main" id="{3C33E70F-FDEF-45D8-BD33-C005970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採用された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C_rare_simple3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は，本人・家族・同行関係を数値／カテゴリとして表現する。</a:t>
            </a:r>
          </a:p>
        </p:txBody>
      </p:sp>
      <p:cxnSp>
        <p:nvCxnSpPr>
          <p:cNvPr id="40" name="s4-rule-0"/>
          <p:cNvCxnSpPr/>
          <p:nvPr/>
        </p:nvCxnSpPr>
        <p:spPr>
          <a:xfrm xmlns:a="http://schemas.openxmlformats.org/drawingml/2006/main">
            <a:off x="45720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5" name="s4-head-0">
            <a:extLst xmlns:a="http://schemas.openxmlformats.org/drawingml/2006/main">
              <a:ext uri="{FF2B5EF4-FFF2-40B4-BE49-F238E27FC236}">
                <a16:creationId xmlns:a16="http://schemas.microsoft.com/office/drawing/2014/main" id="{039BF567-84E7-4ACA-99A8-8A9DE1D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本人の属性</a:t>
            </a:r>
          </a:p>
        </p:txBody>
      </p:sp>
      <p:sp>
        <p:nvSpPr>
          <p:cNvPr id="6" name="s4-body-0">
            <a:extLst xmlns:a="http://schemas.openxmlformats.org/drawingml/2006/main">
              <a:ext uri="{FF2B5EF4-FFF2-40B4-BE49-F238E27FC236}">
                <a16:creationId xmlns:a16="http://schemas.microsoft.com/office/drawing/2014/main" id="{8F8352F7-9FA2-4357-B50C-07D3DD4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Name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（氏名）→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Title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（敬称）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Age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（年齢）→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補完値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Sex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（性別）×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Pclass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（等級）</a:t>
            </a:r>
          </a:p>
        </p:txBody>
      </p:sp>
      <p:cxnSp>
        <p:nvCxnSpPr>
          <p:cNvPr id="43" name="s4-rule-1"/>
          <p:cNvCxnSpPr/>
          <p:nvPr/>
        </p:nvCxnSpPr>
        <p:spPr>
          <a:xfrm xmlns:a="http://schemas.openxmlformats.org/drawingml/2006/main">
            <a:off x="424815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8" name="s4-head-1">
            <a:extLst xmlns:a="http://schemas.openxmlformats.org/drawingml/2006/main">
              <a:ext uri="{FF2B5EF4-FFF2-40B4-BE49-F238E27FC236}">
                <a16:creationId xmlns:a16="http://schemas.microsoft.com/office/drawing/2014/main" id="{51A530FA-B0E4-4819-BC67-FD39970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家族の情報</a:t>
            </a:r>
          </a:p>
        </p:txBody>
      </p:sp>
      <p:sp>
        <p:nvSpPr>
          <p:cNvPr id="9" name="s4-body-1">
            <a:extLst xmlns:a="http://schemas.openxmlformats.org/drawingml/2006/main">
              <a:ext uri="{FF2B5EF4-FFF2-40B4-BE49-F238E27FC236}">
                <a16:creationId xmlns:a16="http://schemas.microsoft.com/office/drawing/2014/main" id="{B342D387-2E0B-4AB6-9AB9-A001F05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SibSp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（兄弟姉妹・配偶者数）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Parch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（親・子数）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FamilyGroup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（家族規模）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IsAlone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（単独）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IsChild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歳未満）</a:t>
            </a:r>
          </a:p>
        </p:txBody>
      </p:sp>
      <p:cxnSp>
        <p:nvCxnSpPr>
          <p:cNvPr id="46" name="s4-rule-2"/>
          <p:cNvCxnSpPr/>
          <p:nvPr/>
        </p:nvCxnSpPr>
        <p:spPr>
          <a:xfrm xmlns:a="http://schemas.openxmlformats.org/drawingml/2006/main">
            <a:off x="803910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F78D0"/>
            </a:solidFill>
            <a:prstDash val="solid"/>
          </a:ln>
        </p:spPr>
      </p:cxnSp>
      <p:sp>
        <p:nvSpPr>
          <p:cNvPr id="11" name="s4-head-2">
            <a:extLst xmlns:a="http://schemas.openxmlformats.org/drawingml/2006/main">
              <a:ext uri="{FF2B5EF4-FFF2-40B4-BE49-F238E27FC236}">
                <a16:creationId xmlns:a16="http://schemas.microsoft.com/office/drawing/2014/main" id="{AAF72BEA-3375-46CC-A682-39F284A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同行・客室</a:t>
            </a:r>
          </a:p>
        </p:txBody>
      </p:sp>
      <p:sp>
        <p:nvSpPr>
          <p:cNvPr id="12" name="s4-body-2">
            <a:extLst xmlns:a="http://schemas.openxmlformats.org/drawingml/2006/main">
              <a:ext uri="{FF2B5EF4-FFF2-40B4-BE49-F238E27FC236}">
                <a16:creationId xmlns:a16="http://schemas.microsoft.com/office/drawing/2014/main" id="{92A4BCFF-D4C9-4708-9FCE-1205594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TicketGroupSize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（同一券人数）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SurnameGroupSize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（同姓人数）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Deck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（デッキ）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TicketPrefix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（券種）</a:t>
            </a:r>
          </a:p>
        </p:txBody>
      </p:sp>
      <p:sp>
        <p:nvSpPr>
          <p:cNvPr id="13" name="s4-callout">
            <a:extLst xmlns:a="http://schemas.openxmlformats.org/drawingml/2006/main">
              <a:ext uri="{FF2B5EF4-FFF2-40B4-BE49-F238E27FC236}">
                <a16:creationId xmlns:a16="http://schemas.microsoft.com/office/drawing/2014/main" id="{26562872-AC36-4B44-B669-D7C97D4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callout-text">
            <a:extLst xmlns:a="http://schemas.openxmlformats.org/drawingml/2006/main">
              <a:ext uri="{FF2B5EF4-FFF2-40B4-BE49-F238E27FC236}">
                <a16:creationId xmlns:a16="http://schemas.microsoft.com/office/drawing/2014/main" id="{2D44C1E0-6C4A-492B-B4AC-9C320E14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2F78D0"/>
                </a:solidFill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補完値・頻度・まれなカテゴリは，各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の学習側だけで決める。</a:t>
            </a:r>
          </a:p>
        </p:txBody>
      </p:sp>
      <p:sp>
        <p:nvSpPr>
          <p:cNvPr id="15" name="source-4">
            <a:extLst xmlns:a="http://schemas.openxmlformats.org/drawingml/2006/main">
              <a:ext uri="{FF2B5EF4-FFF2-40B4-BE49-F238E27FC236}">
                <a16:creationId xmlns:a16="http://schemas.microsoft.com/office/drawing/2014/main" id="{1F8D817A-07D8-4B5D-95D6-BD5DC4C2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14A33937-736C-45FA-B2E6-1E318CB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2479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CA42C86-6E32-460D-950B-B69C019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欠損値は学習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内の統計で補完する</a:t>
            </a:r>
          </a:p>
        </p:txBody>
      </p:sp>
      <p:cxnSp>
        <p:nvCxnSpPr>
          <p:cNvPr id="38" name="title-rule-4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4-lead">
            <a:extLst xmlns:a="http://schemas.openxmlformats.org/drawingml/2006/main">
              <a:ext uri="{FF2B5EF4-FFF2-40B4-BE49-F238E27FC236}">
                <a16:creationId xmlns:a16="http://schemas.microsoft.com/office/drawing/2014/main" id="{3C33E70F-FDEF-45D8-BD33-C005970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補完値は訓練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だけで計算し，検証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／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では再集計しない。</a:t>
            </a:r>
          </a:p>
        </p:txBody>
      </p:sp>
      <p:cxnSp>
        <p:nvCxnSpPr>
          <p:cNvPr id="40" name="s4-rule-0"/>
          <p:cNvCxnSpPr/>
          <p:nvPr/>
        </p:nvCxnSpPr>
        <p:spPr>
          <a:xfrm xmlns:a="http://schemas.openxmlformats.org/drawingml/2006/main">
            <a:off x="45720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5" name="s4-head-0">
            <a:extLst xmlns:a="http://schemas.openxmlformats.org/drawingml/2006/main">
              <a:ext uri="{FF2B5EF4-FFF2-40B4-BE49-F238E27FC236}">
                <a16:creationId xmlns:a16="http://schemas.microsoft.com/office/drawing/2014/main" id="{039BF567-84E7-4ACA-99A8-8A9DE1D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Age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（年齢）の階層補完</a:t>
            </a:r>
          </a:p>
        </p:txBody>
      </p:sp>
      <p:sp>
        <p:nvSpPr>
          <p:cNvPr id="6" name="s4-body-0">
            <a:extLst xmlns:a="http://schemas.openxmlformats.org/drawingml/2006/main">
              <a:ext uri="{FF2B5EF4-FFF2-40B4-BE49-F238E27FC236}">
                <a16:creationId xmlns:a16="http://schemas.microsoft.com/office/drawing/2014/main" id="{8F8352F7-9FA2-4357-B50C-07D3DD4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敬称×客室等級の中央値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敬称別の中央値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客室等級×性別の中央値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全体中央値</a:t>
            </a:r>
          </a:p>
        </p:txBody>
      </p:sp>
      <p:cxnSp>
        <p:nvCxnSpPr>
          <p:cNvPr id="43" name="s4-rule-1"/>
          <p:cNvCxnSpPr/>
          <p:nvPr/>
        </p:nvCxnSpPr>
        <p:spPr>
          <a:xfrm xmlns:a="http://schemas.openxmlformats.org/drawingml/2006/main">
            <a:off x="424815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8" name="s4-head-1">
            <a:extLst xmlns:a="http://schemas.openxmlformats.org/drawingml/2006/main">
              <a:ext uri="{FF2B5EF4-FFF2-40B4-BE49-F238E27FC236}">
                <a16:creationId xmlns:a16="http://schemas.microsoft.com/office/drawing/2014/main" id="{51A530FA-B0E4-4819-BC67-FD39970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Fare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（運賃）の処理</a:t>
            </a:r>
          </a:p>
        </p:txBody>
      </p:sp>
      <p:sp>
        <p:nvSpPr>
          <p:cNvPr id="9" name="s4-body-1">
            <a:extLst xmlns:a="http://schemas.openxmlformats.org/drawingml/2006/main">
              <a:ext uri="{FF2B5EF4-FFF2-40B4-BE49-F238E27FC236}">
                <a16:creationId xmlns:a16="http://schemas.microsoft.com/office/drawing/2014/main" id="{B342D387-2E0B-4AB6-9AB9-A001F05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客室等級別の中央値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全体中央値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負値を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へ補正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 FareLog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（対数運賃）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　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 log(1 + Fare)</a:t>
            </a:r>
          </a:p>
        </p:txBody>
      </p:sp>
      <p:cxnSp>
        <p:nvCxnSpPr>
          <p:cNvPr id="46" name="s4-rule-2"/>
          <p:cNvCxnSpPr/>
          <p:nvPr/>
        </p:nvCxnSpPr>
        <p:spPr>
          <a:xfrm xmlns:a="http://schemas.openxmlformats.org/drawingml/2006/main">
            <a:off x="803910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F78D0"/>
            </a:solidFill>
            <a:prstDash val="solid"/>
          </a:ln>
        </p:spPr>
      </p:cxnSp>
      <p:sp>
        <p:nvSpPr>
          <p:cNvPr id="11" name="s4-head-2">
            <a:extLst xmlns:a="http://schemas.openxmlformats.org/drawingml/2006/main">
              <a:ext uri="{FF2B5EF4-FFF2-40B4-BE49-F238E27FC236}">
                <a16:creationId xmlns:a16="http://schemas.microsoft.com/office/drawing/2014/main" id="{AAF72BEA-3375-46CC-A682-39F284A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その他の欠損処理</a:t>
            </a:r>
          </a:p>
        </p:txBody>
      </p:sp>
      <p:sp>
        <p:nvSpPr>
          <p:cNvPr id="12" name="s4-body-2">
            <a:extLst xmlns:a="http://schemas.openxmlformats.org/drawingml/2006/main">
              <a:ext uri="{FF2B5EF4-FFF2-40B4-BE49-F238E27FC236}">
                <a16:creationId xmlns:a16="http://schemas.microsoft.com/office/drawing/2014/main" id="{92A4BCFF-D4C9-4708-9FCE-1205594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Embarked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（乗船港）→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最頻値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AgeMissing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（年齢欠損フラグ）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カテゴリ欠損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Unknown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（不明）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数値列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中央値で補完</a:t>
            </a:r>
          </a:p>
        </p:txBody>
      </p:sp>
      <p:sp>
        <p:nvSpPr>
          <p:cNvPr id="13" name="s4-callout">
            <a:extLst xmlns:a="http://schemas.openxmlformats.org/drawingml/2006/main">
              <a:ext uri="{FF2B5EF4-FFF2-40B4-BE49-F238E27FC236}">
                <a16:creationId xmlns:a16="http://schemas.microsoft.com/office/drawing/2014/main" id="{26562872-AC36-4B44-B669-D7C97D4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callout-text">
            <a:extLst xmlns:a="http://schemas.openxmlformats.org/drawingml/2006/main">
              <a:ext uri="{FF2B5EF4-FFF2-40B4-BE49-F238E27FC236}">
                <a16:creationId xmlns:a16="http://schemas.microsoft.com/office/drawing/2014/main" id="{2D44C1E0-6C4A-492B-B4AC-9C320E14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2F78D0"/>
                </a:solidFill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検証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や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の分布を，補完値・カテゴリ処理の決定に使わない。</a:t>
            </a:r>
          </a:p>
        </p:txBody>
      </p:sp>
      <p:sp>
        <p:nvSpPr>
          <p:cNvPr id="15" name="source-4">
            <a:extLst xmlns:a="http://schemas.openxmlformats.org/drawingml/2006/main">
              <a:ext uri="{FF2B5EF4-FFF2-40B4-BE49-F238E27FC236}">
                <a16:creationId xmlns:a16="http://schemas.microsoft.com/office/drawing/2014/main" id="{1F8D817A-07D8-4B5D-95D6-BD5DC4C2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14A33937-736C-45FA-B2E6-1E318CB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02479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CA42C86-6E32-460D-950B-B69C019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氏名と家族構成から役割・同伴状況を作る</a:t>
            </a:r>
          </a:p>
        </p:txBody>
      </p:sp>
      <p:cxnSp>
        <p:nvCxnSpPr>
          <p:cNvPr id="38" name="title-rule-4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4-lead">
            <a:extLst xmlns:a="http://schemas.openxmlformats.org/drawingml/2006/main">
              <a:ext uri="{FF2B5EF4-FFF2-40B4-BE49-F238E27FC236}">
                <a16:creationId xmlns:a16="http://schemas.microsoft.com/office/drawing/2014/main" id="{3C33E70F-FDEF-45D8-BD33-C005970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生の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Name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は使わず，敬称・姓と家族人数に分解してモデルへ渡す。</a:t>
            </a:r>
          </a:p>
        </p:txBody>
      </p:sp>
      <p:cxnSp>
        <p:nvCxnSpPr>
          <p:cNvPr id="40" name="s4-rule-0"/>
          <p:cNvCxnSpPr/>
          <p:nvPr/>
        </p:nvCxnSpPr>
        <p:spPr>
          <a:xfrm xmlns:a="http://schemas.openxmlformats.org/drawingml/2006/main">
            <a:off x="45720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5" name="s4-head-0">
            <a:extLst xmlns:a="http://schemas.openxmlformats.org/drawingml/2006/main">
              <a:ext uri="{FF2B5EF4-FFF2-40B4-BE49-F238E27FC236}">
                <a16:creationId xmlns:a16="http://schemas.microsoft.com/office/drawing/2014/main" id="{039BF567-84E7-4ACA-99A8-8A9DE1D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Title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（敬称）</a:t>
            </a:r>
          </a:p>
        </p:txBody>
      </p:sp>
      <p:sp>
        <p:nvSpPr>
          <p:cNvPr id="6" name="s4-body-0">
            <a:extLst xmlns:a="http://schemas.openxmlformats.org/drawingml/2006/main">
              <a:ext uri="{FF2B5EF4-FFF2-40B4-BE49-F238E27FC236}">
                <a16:creationId xmlns:a16="http://schemas.microsoft.com/office/drawing/2014/main" id="{8F8352F7-9FA2-4357-B50C-07D3DD4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894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氏名の「姓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敬称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名」から抽出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Mr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（成人男性）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 Mrs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（既婚女性）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Miss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（未婚女性）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 Master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（男児）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Rare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（その他の敬称）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Title_Pclass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（敬称×客室等級）</a:t>
            </a:r>
          </a:p>
        </p:txBody>
      </p:sp>
      <p:cxnSp>
        <p:nvCxnSpPr>
          <p:cNvPr id="43" name="s4-rule-1"/>
          <p:cNvCxnSpPr/>
          <p:nvPr/>
        </p:nvCxnSpPr>
        <p:spPr>
          <a:xfrm xmlns:a="http://schemas.openxmlformats.org/drawingml/2006/main">
            <a:off x="424815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8" name="s4-head-1">
            <a:extLst xmlns:a="http://schemas.openxmlformats.org/drawingml/2006/main">
              <a:ext uri="{FF2B5EF4-FFF2-40B4-BE49-F238E27FC236}">
                <a16:creationId xmlns:a16="http://schemas.microsoft.com/office/drawing/2014/main" id="{51A530FA-B0E4-4819-BC67-FD39970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 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FamilySize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（家族人数）</a:t>
            </a:r>
          </a:p>
        </p:txBody>
      </p:sp>
      <p:sp>
        <p:nvSpPr>
          <p:cNvPr id="9" name="s4-body-1">
            <a:extLst xmlns:a="http://schemas.openxmlformats.org/drawingml/2006/main">
              <a:ext uri="{FF2B5EF4-FFF2-40B4-BE49-F238E27FC236}">
                <a16:creationId xmlns:a16="http://schemas.microsoft.com/office/drawing/2014/main" id="{B342D387-2E0B-4AB6-9AB9-A001F05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SibSp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（兄弟姉妹・配偶者数）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 Parch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（親・子数）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+ 1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Alone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（単独）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〜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Small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（小家族）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人以上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Large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（大家族）</a:t>
            </a:r>
          </a:p>
        </p:txBody>
      </p:sp>
      <p:cxnSp>
        <p:nvCxnSpPr>
          <p:cNvPr id="46" name="s4-rule-2"/>
          <p:cNvCxnSpPr/>
          <p:nvPr/>
        </p:nvCxnSpPr>
        <p:spPr>
          <a:xfrm xmlns:a="http://schemas.openxmlformats.org/drawingml/2006/main">
            <a:off x="803910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F78D0"/>
            </a:solidFill>
            <a:prstDash val="solid"/>
          </a:ln>
        </p:spPr>
      </p:cxnSp>
      <p:sp>
        <p:nvSpPr>
          <p:cNvPr id="11" name="s4-head-2">
            <a:extLst xmlns:a="http://schemas.openxmlformats.org/drawingml/2006/main">
              <a:ext uri="{FF2B5EF4-FFF2-40B4-BE49-F238E27FC236}">
                <a16:creationId xmlns:a16="http://schemas.microsoft.com/office/drawing/2014/main" id="{AAF72BEA-3375-46CC-A682-39F284A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役割・姓の共有</a:t>
            </a:r>
          </a:p>
        </p:txBody>
      </p:sp>
      <p:sp>
        <p:nvSpPr>
          <p:cNvPr id="12" name="s4-body-2">
            <a:extLst xmlns:a="http://schemas.openxmlformats.org/drawingml/2006/main">
              <a:ext uri="{FF2B5EF4-FFF2-40B4-BE49-F238E27FC236}">
                <a16:creationId xmlns:a16="http://schemas.microsoft.com/office/drawing/2014/main" id="{92A4BCFF-D4C9-4708-9FCE-1205594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IsAlone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（単独乗船フラグ）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IsChild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歳未満フラグ）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SurnameGroupSize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（同姓人数）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HasFamilySurname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（同姓あり）</a:t>
            </a:r>
          </a:p>
        </p:txBody>
      </p:sp>
      <p:sp>
        <p:nvSpPr>
          <p:cNvPr id="13" name="s4-callout">
            <a:extLst xmlns:a="http://schemas.openxmlformats.org/drawingml/2006/main">
              <a:ext uri="{FF2B5EF4-FFF2-40B4-BE49-F238E27FC236}">
                <a16:creationId xmlns:a16="http://schemas.microsoft.com/office/drawing/2014/main" id="{26562872-AC36-4B44-B669-D7C97D4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callout-text">
            <a:extLst xmlns:a="http://schemas.openxmlformats.org/drawingml/2006/main">
              <a:ext uri="{FF2B5EF4-FFF2-40B4-BE49-F238E27FC236}">
                <a16:creationId xmlns:a16="http://schemas.microsoft.com/office/drawing/2014/main" id="{2D44C1E0-6C4A-492B-B4AC-9C320E14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2F78D0"/>
                </a:solidFill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採用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profile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は，敬称を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Rare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へ統合し，家族人数を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区分（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simple3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）にする。</a:t>
            </a:r>
          </a:p>
        </p:txBody>
      </p:sp>
      <p:sp>
        <p:nvSpPr>
          <p:cNvPr id="15" name="source-4">
            <a:extLst xmlns:a="http://schemas.openxmlformats.org/drawingml/2006/main">
              <a:ext uri="{FF2B5EF4-FFF2-40B4-BE49-F238E27FC236}">
                <a16:creationId xmlns:a16="http://schemas.microsoft.com/office/drawing/2014/main" id="{1F8D817A-07D8-4B5D-95D6-BD5DC4C2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14A33937-736C-45FA-B2E6-1E318CB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02479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BCA42C86-6E32-460D-950B-B69C019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と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Cabin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から同行グループを表す</a:t>
            </a:r>
          </a:p>
        </p:txBody>
      </p:sp>
      <p:cxnSp>
        <p:nvCxnSpPr>
          <p:cNvPr id="38" name="title-rule-4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4-lead">
            <a:extLst xmlns:a="http://schemas.openxmlformats.org/drawingml/2006/main">
              <a:ext uri="{FF2B5EF4-FFF2-40B4-BE49-F238E27FC236}">
                <a16:creationId xmlns:a16="http://schemas.microsoft.com/office/drawing/2014/main" id="{3C33E70F-FDEF-45D8-BD33-C005970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 生の文字列は使わず，共有人数・接頭辞・デッキなどへ変換する。</a:t>
            </a:r>
          </a:p>
        </p:txBody>
      </p:sp>
      <p:cxnSp>
        <p:nvCxnSpPr>
          <p:cNvPr id="40" name="s4-rule-0"/>
          <p:cNvCxnSpPr/>
          <p:nvPr/>
        </p:nvCxnSpPr>
        <p:spPr>
          <a:xfrm xmlns:a="http://schemas.openxmlformats.org/drawingml/2006/main">
            <a:off x="45720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5" name="s4-head-0">
            <a:extLst xmlns:a="http://schemas.openxmlformats.org/drawingml/2006/main">
              <a:ext uri="{FF2B5EF4-FFF2-40B4-BE49-F238E27FC236}">
                <a16:creationId xmlns:a16="http://schemas.microsoft.com/office/drawing/2014/main" id="{039BF567-84E7-4ACA-99A8-8A9DE1D8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同一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（チケット）</a:t>
            </a:r>
          </a:p>
        </p:txBody>
      </p:sp>
      <p:sp>
        <p:nvSpPr>
          <p:cNvPr id="6" name="s4-body-0">
            <a:extLst xmlns:a="http://schemas.openxmlformats.org/drawingml/2006/main">
              <a:ext uri="{FF2B5EF4-FFF2-40B4-BE49-F238E27FC236}">
                <a16:creationId xmlns:a16="http://schemas.microsoft.com/office/drawing/2014/main" id="{8F8352F7-9FA2-4357-B50C-07D3DD4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TicketGroupSize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（同一券人数）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SharedTicket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（券共有）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FarePerPerson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人運賃）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未出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（未知の券）は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</a:t>
            </a:r>
          </a:p>
        </p:txBody>
      </p:sp>
      <p:cxnSp>
        <p:nvCxnSpPr>
          <p:cNvPr id="43" name="s4-rule-1"/>
          <p:cNvCxnSpPr/>
          <p:nvPr/>
        </p:nvCxnSpPr>
        <p:spPr>
          <a:xfrm xmlns:a="http://schemas.openxmlformats.org/drawingml/2006/main">
            <a:off x="424815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11111"/>
            </a:solidFill>
            <a:prstDash val="solid"/>
          </a:ln>
        </p:spPr>
      </p:cxnSp>
      <p:sp>
        <p:nvSpPr>
          <p:cNvPr id="8" name="s4-head-1">
            <a:extLst xmlns:a="http://schemas.openxmlformats.org/drawingml/2006/main">
              <a:ext uri="{FF2B5EF4-FFF2-40B4-BE49-F238E27FC236}">
                <a16:creationId xmlns:a16="http://schemas.microsoft.com/office/drawing/2014/main" id="{51A530FA-B0E4-4819-BC67-FD39970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TicketPrefix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（券種）</a:t>
            </a:r>
          </a:p>
        </p:txBody>
      </p:sp>
      <p:sp>
        <p:nvSpPr>
          <p:cNvPr id="9" name="s4-body-1">
            <a:extLst xmlns:a="http://schemas.openxmlformats.org/drawingml/2006/main">
              <a:ext uri="{FF2B5EF4-FFF2-40B4-BE49-F238E27FC236}">
                <a16:creationId xmlns:a16="http://schemas.microsoft.com/office/drawing/2014/main" id="{B342D387-2E0B-4AB6-9AB9-A001F05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末尾の数字を除く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英字以外を除く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NONE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（接頭辞なし）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RARE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件未満の接頭辞）</a:t>
            </a:r>
          </a:p>
        </p:txBody>
      </p:sp>
      <p:cxnSp>
        <p:nvCxnSpPr>
          <p:cNvPr id="46" name="s4-rule-2"/>
          <p:cNvCxnSpPr/>
          <p:nvPr/>
        </p:nvCxnSpPr>
        <p:spPr>
          <a:xfrm xmlns:a="http://schemas.openxmlformats.org/drawingml/2006/main">
            <a:off x="8039100" y="24003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F78D0"/>
            </a:solidFill>
            <a:prstDash val="solid"/>
          </a:ln>
        </p:spPr>
      </p:cxnSp>
      <p:sp>
        <p:nvSpPr>
          <p:cNvPr id="11" name="s4-head-2">
            <a:extLst xmlns:a="http://schemas.openxmlformats.org/drawingml/2006/main">
              <a:ext uri="{FF2B5EF4-FFF2-40B4-BE49-F238E27FC236}">
                <a16:creationId xmlns:a16="http://schemas.microsoft.com/office/drawing/2014/main" id="{AAF72BEA-3375-46CC-A682-39F284A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Cabin / Deck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（客室）</a:t>
            </a:r>
          </a:p>
        </p:txBody>
      </p:sp>
      <p:sp>
        <p:nvSpPr>
          <p:cNvPr id="12" name="s4-body-2">
            <a:extLst xmlns:a="http://schemas.openxmlformats.org/drawingml/2006/main">
              <a:ext uri="{FF2B5EF4-FFF2-40B4-BE49-F238E27FC236}">
                <a16:creationId xmlns:a16="http://schemas.microsoft.com/office/drawing/2014/main" id="{92A4BCFF-D4C9-4708-9FCE-1205594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Cabin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先頭の英字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Deck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Unknown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Cabin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欠損）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Other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件未満の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Deck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客室情報の有無（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HasCabin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）</a:t>
            </a:r>
          </a:p>
        </p:txBody>
      </p:sp>
      <p:sp>
        <p:nvSpPr>
          <p:cNvPr id="13" name="s4-callout">
            <a:extLst xmlns:a="http://schemas.openxmlformats.org/drawingml/2006/main">
              <a:ext uri="{FF2B5EF4-FFF2-40B4-BE49-F238E27FC236}">
                <a16:creationId xmlns:a16="http://schemas.microsoft.com/office/drawing/2014/main" id="{26562872-AC36-4B44-B669-D7C97D4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callout-text">
            <a:extLst xmlns:a="http://schemas.openxmlformats.org/drawingml/2006/main">
              <a:ext uri="{FF2B5EF4-FFF2-40B4-BE49-F238E27FC236}">
                <a16:creationId xmlns:a16="http://schemas.microsoft.com/office/drawing/2014/main" id="{2D44C1E0-6C4A-492B-B4AC-9C320E14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2F78D0"/>
                </a:solidFill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Ticket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（チケット）・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Surname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（姓）の頻度と希少カテゴリ判定も，訓練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fold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だけから学習する。</a:t>
            </a:r>
          </a:p>
        </p:txBody>
      </p:sp>
      <p:sp>
        <p:nvSpPr>
          <p:cNvPr id="15" name="source-4">
            <a:extLst xmlns:a="http://schemas.openxmlformats.org/drawingml/2006/main">
              <a:ext uri="{FF2B5EF4-FFF2-40B4-BE49-F238E27FC236}">
                <a16:creationId xmlns:a16="http://schemas.microsoft.com/office/drawing/2014/main" id="{1F8D817A-07D8-4B5D-95D6-BD5DC4C2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14A33937-736C-45FA-B2E6-1E318CB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02479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69100588-FB5A-436E-970F-A5142535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1"/>
                </a:solidFill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23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特徴量は数値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15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個・カテゴリ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個で構成する</a:t>
            </a:r>
          </a:p>
        </p:txBody>
      </p:sp>
      <p:cxnSp>
        <p:nvCxnSpPr>
          <p:cNvPr id="29" name="title-rule-11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11-card-0">
            <a:extLst xmlns:a="http://schemas.openxmlformats.org/drawingml/2006/main">
              <a:ext uri="{FF2B5EF4-FFF2-40B4-BE49-F238E27FC236}">
                <a16:creationId xmlns:a16="http://schemas.microsoft.com/office/drawing/2014/main" id="{BFB69128-E629-4A58-A48F-EB0A6B2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1-label-0">
            <a:extLst xmlns:a="http://schemas.openxmlformats.org/drawingml/2006/main">
              <a:ext uri="{FF2B5EF4-FFF2-40B4-BE49-F238E27FC236}">
                <a16:creationId xmlns:a16="http://schemas.microsoft.com/office/drawing/2014/main" id="{6B0CC6C8-B849-47A2-8108-8A2FBA51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2F78D0"/>
                </a:solidFill>
              </a:defRPr>
            </a:pPr>
            <a:r>
              <a:rPr b="0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数値</a:t>
            </a:r>
            <a:r>
              <a:rPr b="0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b="0">
                <a:solidFill>
                  <a:srgbClr val="2F78D0"/>
                </a:solidFill>
                <a:latin typeface="Meiryo"/>
                <a:ea typeface="Meiryo"/>
                <a:cs typeface="Meiryo"/>
              </a:rPr>
              <a:t>個：本人・家族</a:t>
            </a:r>
          </a:p>
        </p:txBody>
      </p:sp>
      <p:sp>
        <p:nvSpPr>
          <p:cNvPr id="5" name="s11-model-0">
            <a:extLst xmlns:a="http://schemas.openxmlformats.org/drawingml/2006/main">
              <a:ext uri="{FF2B5EF4-FFF2-40B4-BE49-F238E27FC236}">
                <a16:creationId xmlns:a16="http://schemas.microsoft.com/office/drawing/2014/main" id="{CB4C84EB-3A8B-4CD9-9CD2-A90497F9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Pclass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（客室等級）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 Age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（年齢）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SibSp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（兄弟姉妹・配偶者数）</a:t>
            </a:r>
          </a:p>
        </p:txBody>
      </p:sp>
      <p:sp>
        <p:nvSpPr>
          <p:cNvPr id="6" name="s11-threshold-0">
            <a:extLst xmlns:a="http://schemas.openxmlformats.org/drawingml/2006/main">
              <a:ext uri="{FF2B5EF4-FFF2-40B4-BE49-F238E27FC236}">
                <a16:creationId xmlns:a16="http://schemas.microsoft.com/office/drawing/2014/main" id="{8FD7F2D0-BAD7-454C-B688-DE16C9E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Parch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（親・子数）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FareLog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（対数運賃）</a:t>
            </a:r>
          </a:p>
        </p:txBody>
      </p:sp>
      <p:sp>
        <p:nvSpPr>
          <p:cNvPr id="7" name="s11-survived-0">
            <a:extLst xmlns:a="http://schemas.openxmlformats.org/drawingml/2006/main">
              <a:ext uri="{FF2B5EF4-FFF2-40B4-BE49-F238E27FC236}">
                <a16:creationId xmlns:a16="http://schemas.microsoft.com/office/drawing/2014/main" id="{63930A4E-AF2F-48D9-9C56-6F129654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F78D0"/>
                </a:solidFill>
              </a:defRPr>
            </a:pPr>
            <a:r>
              <a:rPr b="0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AgeMissing</a:t>
            </a:r>
            <a:r>
              <a:rPr b="0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（年齢欠損）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F78D0"/>
                </a:solidFill>
              </a:defRPr>
            </a:pPr>
            <a:r>
              <a:rPr b="0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FamilySize</a:t>
            </a:r>
            <a:r>
              <a:rPr b="0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（家族人数）</a:t>
            </a:r>
          </a:p>
        </p:txBody>
      </p:sp>
      <p:sp>
        <p:nvSpPr>
          <p:cNvPr id="8" name="s11-reason-0">
            <a:extLst xmlns:a="http://schemas.openxmlformats.org/drawingml/2006/main">
              <a:ext uri="{FF2B5EF4-FFF2-40B4-BE49-F238E27FC236}">
                <a16:creationId xmlns:a16="http://schemas.microsoft.com/office/drawing/2014/main" id="{9055176F-44E5-46C4-A7D8-5D06FF9C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158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IsAlone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（単独）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 IsChild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16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歳未満）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HasCabin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（客室情報あり）</a:t>
            </a:r>
          </a:p>
        </p:txBody>
      </p:sp>
      <p:sp>
        <p:nvSpPr>
          <p:cNvPr id="9" name="s11-card-1">
            <a:extLst xmlns:a="http://schemas.openxmlformats.org/drawingml/2006/main">
              <a:ext uri="{FF2B5EF4-FFF2-40B4-BE49-F238E27FC236}">
                <a16:creationId xmlns:a16="http://schemas.microsoft.com/office/drawing/2014/main" id="{C0B60AA3-D8BB-454E-8241-7B991D1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1-label-1">
            <a:extLst xmlns:a="http://schemas.openxmlformats.org/drawingml/2006/main">
              <a:ext uri="{FF2B5EF4-FFF2-40B4-BE49-F238E27FC236}">
                <a16:creationId xmlns:a16="http://schemas.microsoft.com/office/drawing/2014/main" id="{F0833097-83E4-498C-AABA-2894120A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数値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個：同行関係</a:t>
            </a:r>
          </a:p>
        </p:txBody>
      </p:sp>
      <p:sp>
        <p:nvSpPr>
          <p:cNvPr id="11" name="s11-model-1">
            <a:extLst xmlns:a="http://schemas.openxmlformats.org/drawingml/2006/main">
              <a:ext uri="{FF2B5EF4-FFF2-40B4-BE49-F238E27FC236}">
                <a16:creationId xmlns:a16="http://schemas.microsoft.com/office/drawing/2014/main" id="{7C87D15C-475F-4CED-A6F9-B63E87B1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TicketGroupSize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（同一券人数）</a:t>
            </a:r>
          </a:p>
        </p:txBody>
      </p:sp>
      <p:sp>
        <p:nvSpPr>
          <p:cNvPr id="12" name="s11-threshold-1">
            <a:extLst xmlns:a="http://schemas.openxmlformats.org/drawingml/2006/main">
              <a:ext uri="{FF2B5EF4-FFF2-40B4-BE49-F238E27FC236}">
                <a16:creationId xmlns:a16="http://schemas.microsoft.com/office/drawing/2014/main" id="{41376CF1-31E4-45A8-819F-12D2E44A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SharedTicket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（券共有）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FarePerPerson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人運賃）</a:t>
            </a:r>
          </a:p>
        </p:txBody>
      </p:sp>
      <p:sp>
        <p:nvSpPr>
          <p:cNvPr id="13" name="s11-survived-1">
            <a:extLst xmlns:a="http://schemas.openxmlformats.org/drawingml/2006/main">
              <a:ext uri="{FF2B5EF4-FFF2-40B4-BE49-F238E27FC236}">
                <a16:creationId xmlns:a16="http://schemas.microsoft.com/office/drawing/2014/main" id="{06E40C6F-1E39-488A-B75A-5A9FA13E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767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F78D0"/>
                </a:solidFill>
              </a:defRPr>
            </a:pPr>
            <a:r>
              <a:rPr b="0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SurnameGroupSize</a:t>
            </a:r>
            <a:r>
              <a:rPr b="0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（同姓人数）</a:t>
            </a:r>
          </a:p>
        </p:txBody>
      </p:sp>
      <p:sp>
        <p:nvSpPr>
          <p:cNvPr id="14" name="s11-reason-1">
            <a:extLst xmlns:a="http://schemas.openxmlformats.org/drawingml/2006/main">
              <a:ext uri="{FF2B5EF4-FFF2-40B4-BE49-F238E27FC236}">
                <a16:creationId xmlns:a16="http://schemas.microsoft.com/office/drawing/2014/main" id="{99819B09-A372-41B2-A01C-92F56C9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244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HasFamilySurname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（同姓家族あり）</a:t>
            </a:r>
          </a:p>
        </p:txBody>
      </p:sp>
      <p:sp>
        <p:nvSpPr>
          <p:cNvPr id="15" name="s11-card-2">
            <a:extLst xmlns:a="http://schemas.openxmlformats.org/drawingml/2006/main">
              <a:ext uri="{FF2B5EF4-FFF2-40B4-BE49-F238E27FC236}">
                <a16:creationId xmlns:a16="http://schemas.microsoft.com/office/drawing/2014/main" id="{5005283B-7DA0-445E-8DFD-4122CBC5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1-label-2">
            <a:extLst xmlns:a="http://schemas.openxmlformats.org/drawingml/2006/main">
              <a:ext uri="{FF2B5EF4-FFF2-40B4-BE49-F238E27FC236}">
                <a16:creationId xmlns:a16="http://schemas.microsoft.com/office/drawing/2014/main" id="{C91BB18A-068C-448E-AB9D-E898A1CC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カテゴリ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個</a:t>
            </a:r>
          </a:p>
        </p:txBody>
      </p:sp>
      <p:sp>
        <p:nvSpPr>
          <p:cNvPr id="17" name="s11-model-2">
            <a:extLst xmlns:a="http://schemas.openxmlformats.org/drawingml/2006/main">
              <a:ext uri="{FF2B5EF4-FFF2-40B4-BE49-F238E27FC236}">
                <a16:creationId xmlns:a16="http://schemas.microsoft.com/office/drawing/2014/main" id="{B45D7BDA-3F30-4819-BE40-53A13534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Sex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（性別）</a:t>
            </a: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 Embarked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（乗船港）</a:t>
            </a:r>
          </a:p>
        </p:txBody>
      </p:sp>
      <p:sp>
        <p:nvSpPr>
          <p:cNvPr id="18" name="s11-threshold-2">
            <a:extLst xmlns:a="http://schemas.openxmlformats.org/drawingml/2006/main">
              <a:ext uri="{FF2B5EF4-FFF2-40B4-BE49-F238E27FC236}">
                <a16:creationId xmlns:a16="http://schemas.microsoft.com/office/drawing/2014/main" id="{649EEF19-AD30-456F-B11E-AF4FA4D2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Title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（敬称）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FamilyGroup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（家族区分）</a:t>
            </a:r>
          </a:p>
        </p:txBody>
      </p:sp>
      <p:sp>
        <p:nvSpPr>
          <p:cNvPr id="19" name="s11-survived-2">
            <a:extLst xmlns:a="http://schemas.openxmlformats.org/drawingml/2006/main">
              <a:ext uri="{FF2B5EF4-FFF2-40B4-BE49-F238E27FC236}">
                <a16:creationId xmlns:a16="http://schemas.microsoft.com/office/drawing/2014/main" id="{2EB6D515-E891-4B78-BF46-45B034A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767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F78D0"/>
                </a:solidFill>
              </a:defRPr>
            </a:pPr>
            <a:r>
              <a:rPr b="0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Deck</a:t>
            </a:r>
            <a:r>
              <a:rPr b="0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（デッキ）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F78D0"/>
                </a:solidFill>
              </a:defRPr>
            </a:pPr>
            <a:r>
              <a:rPr b="0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TicketPrefix</a:t>
            </a:r>
            <a:r>
              <a:rPr b="0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（券種）</a:t>
            </a:r>
          </a:p>
        </p:txBody>
      </p:sp>
      <p:sp>
        <p:nvSpPr>
          <p:cNvPr id="20" name="s11-reason-2">
            <a:extLst xmlns:a="http://schemas.openxmlformats.org/drawingml/2006/main">
              <a:ext uri="{FF2B5EF4-FFF2-40B4-BE49-F238E27FC236}">
                <a16:creationId xmlns:a16="http://schemas.microsoft.com/office/drawing/2014/main" id="{5C632936-982B-455F-AF44-CF605DA0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Sex_Pclass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（性別×等級）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</a:defRPr>
            </a:pPr>
            <a:r>
              <a:rPr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Title_Pclass</a:t>
            </a:r>
            <a:r>
              <a:rPr b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（敬称×等級）</a:t>
            </a:r>
          </a:p>
        </p:txBody>
      </p:sp>
      <p:sp>
        <p:nvSpPr>
          <p:cNvPr id="21" name="s11-conclusion">
            <a:extLst xmlns:a="http://schemas.openxmlformats.org/drawingml/2006/main">
              <a:ext uri="{FF2B5EF4-FFF2-40B4-BE49-F238E27FC236}">
                <a16:creationId xmlns:a16="http://schemas.microsoft.com/office/drawing/2014/main" id="{79A99391-EB57-40F9-B27B-64C267B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2F78D0"/>
                </a:solidFill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氏名・姓・券番号・客室番号は生のまま使わず，意味のある特徴量へ変換する。</a:t>
            </a:r>
          </a:p>
        </p:txBody>
      </p:sp>
      <p:sp>
        <p:nvSpPr>
          <p:cNvPr id="22" name="source-11">
            <a:extLst xmlns:a="http://schemas.openxmlformats.org/drawingml/2006/main">
              <a:ext uri="{FF2B5EF4-FFF2-40B4-BE49-F238E27FC236}">
                <a16:creationId xmlns:a16="http://schemas.microsoft.com/office/drawing/2014/main" id="{9DF4E4E1-F498-423D-98E3-5BA29313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 b="0"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23" name="page-11">
            <a:extLst xmlns:a="http://schemas.openxmlformats.org/drawingml/2006/main">
              <a:ext uri="{FF2B5EF4-FFF2-40B4-BE49-F238E27FC236}">
                <a16:creationId xmlns:a16="http://schemas.microsoft.com/office/drawing/2014/main" id="{1D9649C3-1947-4028-AEC2-1F5F1111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30801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405941CE-9561-43B1-A33A-16BB3EFF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でリークのない評価をつくる</a:t>
            </a:r>
          </a:p>
        </p:txBody>
      </p:sp>
      <p:cxnSp>
        <p:nvCxnSpPr>
          <p:cNvPr id="24" name="title-rule-5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cxnSp>
        <p:nvCxnSpPr>
          <p:cNvPr id="25" name="s5-timeline"/>
          <p:cNvCxnSpPr/>
          <p:nvPr/>
        </p:nvCxnSpPr>
        <p:spPr>
          <a:xfrm xmlns:a="http://schemas.openxmlformats.org/drawingml/2006/main">
            <a:off x="723900" y="3143250"/>
            <a:ext cx="10477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s5-dot-0">
            <a:extLst xmlns:a="http://schemas.openxmlformats.org/drawingml/2006/main">
              <a:ext uri="{FF2B5EF4-FFF2-40B4-BE49-F238E27FC236}">
                <a16:creationId xmlns:a16="http://schemas.microsoft.com/office/drawing/2014/main" id="{60B9A874-DFBA-4923-AB74-9697F23E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5" name="s5-dot-1">
            <a:extLst xmlns:a="http://schemas.openxmlformats.org/drawingml/2006/main">
              <a:ext uri="{FF2B5EF4-FFF2-40B4-BE49-F238E27FC236}">
                <a16:creationId xmlns:a16="http://schemas.microsoft.com/office/drawing/2014/main" id="{EA5A7DFF-F63B-4F5F-9A12-8C91ABFA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6" name="s5-dot-2">
            <a:extLst xmlns:a="http://schemas.openxmlformats.org/drawingml/2006/main">
              <a:ext uri="{FF2B5EF4-FFF2-40B4-BE49-F238E27FC236}">
                <a16:creationId xmlns:a16="http://schemas.microsoft.com/office/drawing/2014/main" id="{3D2DE05E-B252-4C75-AF96-9B36C10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D0"/>
          </a:solidFill>
        </p:spPr>
      </p:sp>
      <p:sp>
        <p:nvSpPr>
          <p:cNvPr id="7" name="s5-step1">
            <a:extLst xmlns:a="http://schemas.openxmlformats.org/drawingml/2006/main">
              <a:ext uri="{FF2B5EF4-FFF2-40B4-BE49-F238E27FC236}">
                <a16:creationId xmlns:a16="http://schemas.microsoft.com/office/drawing/2014/main" id="{A3A9FDD0-E1C7-4A4F-990B-15738722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分割する</a:t>
            </a:r>
          </a:p>
        </p:txBody>
      </p:sp>
      <p:sp>
        <p:nvSpPr>
          <p:cNvPr id="8" name="s5-step2">
            <a:extLst xmlns:a="http://schemas.openxmlformats.org/drawingml/2006/main">
              <a:ext uri="{FF2B5EF4-FFF2-40B4-BE49-F238E27FC236}">
                <a16:creationId xmlns:a16="http://schemas.microsoft.com/office/drawing/2014/main" id="{9A607CF5-CF65-4F8E-A450-4F94EA45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学習側だけで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fit</a:t>
            </a:r>
          </a:p>
        </p:txBody>
      </p:sp>
      <p:sp>
        <p:nvSpPr>
          <p:cNvPr id="9" name="s5-step3">
            <a:extLst xmlns:a="http://schemas.openxmlformats.org/drawingml/2006/main">
              <a:ext uri="{FF2B5EF4-FFF2-40B4-BE49-F238E27FC236}">
                <a16:creationId xmlns:a16="http://schemas.microsoft.com/office/drawing/2014/main" id="{45C6C617-C7A5-4A7D-9ABA-03344D73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04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③ 検証側を予測</a:t>
            </a:r>
          </a:p>
        </p:txBody>
      </p:sp>
      <p:sp>
        <p:nvSpPr>
          <p:cNvPr id="10" name="s5-body1">
            <a:extLst xmlns:a="http://schemas.openxmlformats.org/drawingml/2006/main">
              <a:ext uri="{FF2B5EF4-FFF2-40B4-BE49-F238E27FC236}">
                <a16:creationId xmlns:a16="http://schemas.microsoft.com/office/drawing/2014/main" id="{126E6B44-0826-4BB3-8722-BB07E90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857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毎回、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4fold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を学習用、
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1fold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を検証用にする。</a:t>
            </a:r>
          </a:p>
        </p:txBody>
      </p:sp>
      <p:sp>
        <p:nvSpPr>
          <p:cNvPr id="11" name="s5-body2">
            <a:extLst xmlns:a="http://schemas.openxmlformats.org/drawingml/2006/main">
              <a:ext uri="{FF2B5EF4-FFF2-40B4-BE49-F238E27FC236}">
                <a16:creationId xmlns:a16="http://schemas.microsoft.com/office/drawing/2014/main" id="{677FE67F-B26F-499D-8EE1-A9FC200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3143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補完・頻度集計・前処理・
モデルは学習側だけで作る。</a:t>
            </a:r>
          </a:p>
        </p:txBody>
      </p:sp>
      <p:sp>
        <p:nvSpPr>
          <p:cNvPr id="12" name="s5-body3">
            <a:extLst xmlns:a="http://schemas.openxmlformats.org/drawingml/2006/main">
              <a:ext uri="{FF2B5EF4-FFF2-40B4-BE49-F238E27FC236}">
                <a16:creationId xmlns:a16="http://schemas.microsoft.com/office/drawing/2014/main" id="{CAAAFFAC-65C4-4C97-B5F6-148988D6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143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検証側に確率を出し、
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5fold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分を元の順序へ戻す。</a:t>
            </a:r>
          </a:p>
        </p:txBody>
      </p:sp>
      <p:sp>
        <p:nvSpPr>
          <p:cNvPr id="13" name="s5-callout">
            <a:extLst xmlns:a="http://schemas.openxmlformats.org/drawingml/2006/main">
              <a:ext uri="{FF2B5EF4-FFF2-40B4-BE49-F238E27FC236}">
                <a16:creationId xmlns:a16="http://schemas.microsoft.com/office/drawing/2014/main" id="{2966B0DF-B5C4-4A5E-B0C9-EF6B680D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5-callout-text">
            <a:extLst xmlns:a="http://schemas.openxmlformats.org/drawingml/2006/main">
              <a:ext uri="{FF2B5EF4-FFF2-40B4-BE49-F238E27FC236}">
                <a16:creationId xmlns:a16="http://schemas.microsoft.com/office/drawing/2014/main" id="{CDF72696-BE81-49C0-ABE8-1EE85C5B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57800"/>
            <a:ext cx="8724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予測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 その人を学習に使っていないモデルが出した予測</a:t>
            </a:r>
          </a:p>
        </p:txBody>
      </p:sp>
      <p:sp>
        <p:nvSpPr>
          <p:cNvPr id="15" name="source-5">
            <a:extLst xmlns:a="http://schemas.openxmlformats.org/drawingml/2006/main">
              <a:ext uri="{FF2B5EF4-FFF2-40B4-BE49-F238E27FC236}">
                <a16:creationId xmlns:a16="http://schemas.microsoft.com/office/drawing/2014/main" id="{1793BEF1-73EB-43C3-BD45-94BA5FDB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16" name="page-5">
            <a:extLst xmlns:a="http://schemas.openxmlformats.org/drawingml/2006/main">
              <a:ext uri="{FF2B5EF4-FFF2-40B4-BE49-F238E27FC236}">
                <a16:creationId xmlns:a16="http://schemas.microsoft.com/office/drawing/2014/main" id="{10CBB4DC-DD00-4E36-B510-E1B0A51B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37153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78652369-15C9-4640-A7C0-DDFA3B5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候補は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段階で絞り込む</a:t>
            </a:r>
          </a:p>
        </p:txBody>
      </p:sp>
      <p:cxnSp>
        <p:nvCxnSpPr>
          <p:cNvPr id="60" name="title-rule-6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6-stage-0">
            <a:extLst xmlns:a="http://schemas.openxmlformats.org/drawingml/2006/main">
              <a:ext uri="{FF2B5EF4-FFF2-40B4-BE49-F238E27FC236}">
                <a16:creationId xmlns:a16="http://schemas.microsoft.com/office/drawing/2014/main" id="{0DFFD363-88D5-4A84-9156-7489A6E4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76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4" name="s6-head-0">
            <a:extLst xmlns:a="http://schemas.openxmlformats.org/drawingml/2006/main">
              <a:ext uri="{FF2B5EF4-FFF2-40B4-BE49-F238E27FC236}">
                <a16:creationId xmlns:a16="http://schemas.microsoft.com/office/drawing/2014/main" id="{4C22D30F-3A6F-4A5E-BDFF-CD3D1990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特徴量を選ぶ</a:t>
            </a:r>
          </a:p>
        </p:txBody>
      </p:sp>
      <p:sp>
        <p:nvSpPr>
          <p:cNvPr id="5" name="s6-stat-0">
            <a:extLst xmlns:a="http://schemas.openxmlformats.org/drawingml/2006/main">
              <a:ext uri="{FF2B5EF4-FFF2-40B4-BE49-F238E27FC236}">
                <a16:creationId xmlns:a16="http://schemas.microsoft.com/office/drawing/2014/main" id="{DD2B5FC7-CDD5-47E5-974C-0F2A9CF0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 と派生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profile</a:t>
            </a:r>
          </a:p>
        </p:txBody>
      </p:sp>
      <p:cxnSp>
        <p:nvCxnSpPr>
          <p:cNvPr id="64" name="s6-rule-0"/>
          <p:cNvCxnSpPr/>
          <p:nvPr/>
        </p:nvCxnSpPr>
        <p:spPr>
          <a:xfrm xmlns:a="http://schemas.openxmlformats.org/drawingml/2006/main">
            <a:off x="457200" y="35814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7" name="s6-desc-0">
            <a:extLst xmlns:a="http://schemas.openxmlformats.org/drawingml/2006/main">
              <a:ext uri="{FF2B5EF4-FFF2-40B4-BE49-F238E27FC236}">
                <a16:creationId xmlns:a16="http://schemas.microsoft.com/office/drawing/2014/main" id="{88CDC8E4-7343-414F-96B3-23F9723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323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代表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モデルで比較
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3seed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で再確認</a:t>
            </a:r>
          </a:p>
        </p:txBody>
      </p:sp>
      <p:sp>
        <p:nvSpPr>
          <p:cNvPr id="8" name="s6-result-0">
            <a:extLst xmlns:a="http://schemas.openxmlformats.org/drawingml/2006/main">
              <a:ext uri="{FF2B5EF4-FFF2-40B4-BE49-F238E27FC236}">
                <a16:creationId xmlns:a16="http://schemas.microsoft.com/office/drawing/2014/main" id="{D7E065E0-A41A-436E-8EE3-994D23E0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採用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C_rare_simple3</a:t>
            </a:r>
          </a:p>
        </p:txBody>
      </p:sp>
      <p:sp>
        <p:nvSpPr>
          <p:cNvPr id="9" name="s6-stage-1">
            <a:extLst xmlns:a="http://schemas.openxmlformats.org/drawingml/2006/main">
              <a:ext uri="{FF2B5EF4-FFF2-40B4-BE49-F238E27FC236}">
                <a16:creationId xmlns:a16="http://schemas.microsoft.com/office/drawing/2014/main" id="{BC22DB37-CBAA-4BDB-9CD6-0C5A2DB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76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s6-head-1">
            <a:extLst xmlns:a="http://schemas.openxmlformats.org/drawingml/2006/main">
              <a:ext uri="{FF2B5EF4-FFF2-40B4-BE49-F238E27FC236}">
                <a16:creationId xmlns:a16="http://schemas.microsoft.com/office/drawing/2014/main" id="{9B419F9E-A605-4011-BDFF-2062433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モデルを比べる</a:t>
            </a:r>
          </a:p>
        </p:txBody>
      </p:sp>
      <p:sp>
        <p:nvSpPr>
          <p:cNvPr id="11" name="s6-stat-1">
            <a:extLst xmlns:a="http://schemas.openxmlformats.org/drawingml/2006/main">
              <a:ext uri="{FF2B5EF4-FFF2-40B4-BE49-F238E27FC236}">
                <a16:creationId xmlns:a16="http://schemas.microsoft.com/office/drawing/2014/main" id="{738AAA0E-43EA-4A0D-8364-FBCED969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種類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 クラス重み</a:t>
            </a:r>
          </a:p>
        </p:txBody>
      </p:sp>
      <p:cxnSp>
        <p:nvCxnSpPr>
          <p:cNvPr id="70" name="s6-rule-1"/>
          <p:cNvCxnSpPr/>
          <p:nvPr/>
        </p:nvCxnSpPr>
        <p:spPr>
          <a:xfrm xmlns:a="http://schemas.openxmlformats.org/drawingml/2006/main">
            <a:off x="4248150" y="35814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3" name="s6-desc-1">
            <a:extLst xmlns:a="http://schemas.openxmlformats.org/drawingml/2006/main">
              <a:ext uri="{FF2B5EF4-FFF2-40B4-BE49-F238E27FC236}">
                <a16:creationId xmlns:a16="http://schemas.microsoft.com/office/drawing/2014/main" id="{3950A6C5-7B7A-4836-8DCF-2007F474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323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Boosting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Bagging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
線形・カーネル</a:t>
            </a:r>
          </a:p>
        </p:txBody>
      </p:sp>
      <p:sp>
        <p:nvSpPr>
          <p:cNvPr id="14" name="s6-result-1">
            <a:extLst xmlns:a="http://schemas.openxmlformats.org/drawingml/2006/main">
              <a:ext uri="{FF2B5EF4-FFF2-40B4-BE49-F238E27FC236}">
                <a16:creationId xmlns:a16="http://schemas.microsoft.com/office/drawing/2014/main" id="{74F0D9DC-7802-4E71-972D-6F5C39E5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同じ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条件で比較</a:t>
            </a:r>
          </a:p>
        </p:txBody>
      </p:sp>
      <p:sp>
        <p:nvSpPr>
          <p:cNvPr id="15" name="s6-stage-2">
            <a:extLst xmlns:a="http://schemas.openxmlformats.org/drawingml/2006/main">
              <a:ext uri="{FF2B5EF4-FFF2-40B4-BE49-F238E27FC236}">
                <a16:creationId xmlns:a16="http://schemas.microsoft.com/office/drawing/2014/main" id="{B9617995-D759-4C0C-85C0-7F5D5527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76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6" name="s6-head-2">
            <a:extLst xmlns:a="http://schemas.openxmlformats.org/drawingml/2006/main">
              <a:ext uri="{FF2B5EF4-FFF2-40B4-BE49-F238E27FC236}">
                <a16:creationId xmlns:a16="http://schemas.microsoft.com/office/drawing/2014/main" id="{8AABB879-54BF-4951-AB74-FCA1799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設定を調整する</a:t>
            </a:r>
          </a:p>
        </p:txBody>
      </p:sp>
      <p:sp>
        <p:nvSpPr>
          <p:cNvPr id="17" name="s6-stat-2">
            <a:extLst xmlns:a="http://schemas.openxmlformats.org/drawingml/2006/main">
              <a:ext uri="{FF2B5EF4-FFF2-40B4-BE49-F238E27FC236}">
                <a16:creationId xmlns:a16="http://schemas.microsoft.com/office/drawing/2014/main" id="{837563FD-89DF-494E-BE70-F981E03F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Optuna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30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trials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cxnSp>
        <p:nvCxnSpPr>
          <p:cNvPr id="76" name="s6-rule-2"/>
          <p:cNvCxnSpPr/>
          <p:nvPr/>
        </p:nvCxnSpPr>
        <p:spPr>
          <a:xfrm xmlns:a="http://schemas.openxmlformats.org/drawingml/2006/main">
            <a:off x="8039100" y="3581400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9" name="s6-desc-2">
            <a:extLst xmlns:a="http://schemas.openxmlformats.org/drawingml/2006/main">
              <a:ext uri="{FF2B5EF4-FFF2-40B4-BE49-F238E27FC236}">
                <a16:creationId xmlns:a16="http://schemas.microsoft.com/office/drawing/2014/main" id="{2D9C2E4D-49D7-4EEA-8E3C-83C2B775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323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上位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trial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を
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3seed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で再評価</a:t>
            </a:r>
          </a:p>
        </p:txBody>
      </p:sp>
      <p:sp>
        <p:nvSpPr>
          <p:cNvPr id="20" name="s6-result-2">
            <a:extLst xmlns:a="http://schemas.openxmlformats.org/drawingml/2006/main">
              <a:ext uri="{FF2B5EF4-FFF2-40B4-BE49-F238E27FC236}">
                <a16:creationId xmlns:a16="http://schemas.microsoft.com/office/drawing/2014/main" id="{4DAC85FE-7FC7-4BDD-A3D1-C1068BD8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6730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一発の当たりを避ける</a:t>
            </a:r>
          </a:p>
        </p:txBody>
      </p:sp>
      <p:sp>
        <p:nvSpPr>
          <p:cNvPr id="21" name="source-6">
            <a:extLst xmlns:a="http://schemas.openxmlformats.org/drawingml/2006/main">
              <a:ext uri="{FF2B5EF4-FFF2-40B4-BE49-F238E27FC236}">
                <a16:creationId xmlns:a16="http://schemas.microsoft.com/office/drawing/2014/main" id="{D6BDEA89-4B22-448E-9937-64909835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22" name="page-6">
            <a:extLst xmlns:a="http://schemas.openxmlformats.org/drawingml/2006/main">
              <a:ext uri="{FF2B5EF4-FFF2-40B4-BE49-F238E27FC236}">
                <a16:creationId xmlns:a16="http://schemas.microsoft.com/office/drawing/2014/main" id="{0F59B30D-F361-413C-A346-FCBFAF0C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971845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9595E05B-5F9C-4639-AEEA-A0F723F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が最大になるしきい値を選ぶ</a:t>
            </a:r>
          </a:p>
        </p:txBody>
      </p:sp>
      <p:cxnSp>
        <p:nvCxnSpPr>
          <p:cNvPr id="31" name="title-rule-7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7-lead">
            <a:extLst xmlns:a="http://schemas.openxmlformats.org/drawingml/2006/main">
              <a:ext uri="{FF2B5EF4-FFF2-40B4-BE49-F238E27FC236}">
                <a16:creationId xmlns:a16="http://schemas.microsoft.com/office/drawing/2014/main" id="{A7D4EBF7-2D73-460E-BD38-1D0CE8A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モデルの出力は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0/1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ではなく生存確率。どこから「生存」とするかを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上で決める。</a:t>
            </a:r>
          </a:p>
        </p:txBody>
      </p:sp>
      <p:sp>
        <p:nvSpPr>
          <p:cNvPr id="4" name="s7-formula-panel">
            <a:extLst xmlns:a="http://schemas.openxmlformats.org/drawingml/2006/main">
              <a:ext uri="{FF2B5EF4-FFF2-40B4-BE49-F238E27FC236}">
                <a16:creationId xmlns:a16="http://schemas.microsoft.com/office/drawing/2014/main" id="{08BE5021-D2CB-480E-AA94-51D1AA66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4000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formula-head">
            <a:extLst xmlns:a="http://schemas.openxmlformats.org/drawingml/2006/main">
              <a:ext uri="{FF2B5EF4-FFF2-40B4-BE49-F238E27FC236}">
                <a16:creationId xmlns:a16="http://schemas.microsoft.com/office/drawing/2014/main" id="{FA6F2EA3-6607-43EC-B093-3A5B4253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で重視すること</a:t>
            </a:r>
          </a:p>
        </p:txBody>
      </p:sp>
      <p:sp>
        <p:nvSpPr>
          <p:cNvPr id="6" name="s7-formula">
            <a:extLst xmlns:a="http://schemas.openxmlformats.org/drawingml/2006/main">
              <a:ext uri="{FF2B5EF4-FFF2-40B4-BE49-F238E27FC236}">
                <a16:creationId xmlns:a16="http://schemas.microsoft.com/office/drawing/2014/main" id="{AF2CE301-95F7-428F-8B4D-6D0B8E28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5052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Precision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：生存予測の正確さ
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Recall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：生存者を拾う割合
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：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つをまとめた指標</a:t>
            </a:r>
          </a:p>
        </p:txBody>
      </p:sp>
      <p:cxnSp>
        <p:nvCxnSpPr>
          <p:cNvPr id="36" name="s7-arrow-1"/>
          <p:cNvCxnSpPr/>
          <p:nvPr/>
        </p:nvCxnSpPr>
        <p:spPr>
          <a:xfrm xmlns:a="http://schemas.openxmlformats.org/drawingml/2006/main">
            <a:off x="4762500" y="3333750"/>
            <a:ext cx="8191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s7-threshold-panel">
            <a:extLst xmlns:a="http://schemas.openxmlformats.org/drawingml/2006/main">
              <a:ext uri="{FF2B5EF4-FFF2-40B4-BE49-F238E27FC236}">
                <a16:creationId xmlns:a16="http://schemas.microsoft.com/office/drawing/2014/main" id="{2968A3DE-C51B-40D1-A318-B8C8DEAF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05050"/>
            <a:ext cx="5981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7-threshold-label">
            <a:extLst xmlns:a="http://schemas.openxmlformats.org/drawingml/2006/main">
              <a:ext uri="{FF2B5EF4-FFF2-40B4-BE49-F238E27FC236}">
                <a16:creationId xmlns:a16="http://schemas.microsoft.com/office/drawing/2014/main" id="{DD439605-1B5F-4222-9879-F27A39AC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985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今回の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LightGBM</a:t>
            </a:r>
          </a:p>
        </p:txBody>
      </p:sp>
      <p:sp>
        <p:nvSpPr>
          <p:cNvPr id="10" name="s7-threshold-value">
            <a:extLst xmlns:a="http://schemas.openxmlformats.org/drawingml/2006/main">
              <a:ext uri="{FF2B5EF4-FFF2-40B4-BE49-F238E27FC236}">
                <a16:creationId xmlns:a16="http://schemas.microsoft.com/office/drawing/2014/main" id="{E7320715-E88B-4445-BE71-82539B73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4381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しきい値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0.474</a:t>
            </a:r>
          </a:p>
        </p:txBody>
      </p:sp>
      <p:sp>
        <p:nvSpPr>
          <p:cNvPr id="11" name="s7-case1">
            <a:extLst xmlns:a="http://schemas.openxmlformats.org/drawingml/2006/main">
              <a:ext uri="{FF2B5EF4-FFF2-40B4-BE49-F238E27FC236}">
                <a16:creationId xmlns:a16="http://schemas.microsoft.com/office/drawing/2014/main" id="{D14ADD25-24E8-43F4-93EC-3F772317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0.62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Survived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" name="s7-case2">
            <a:extLst xmlns:a="http://schemas.openxmlformats.org/drawingml/2006/main">
              <a:ext uri="{FF2B5EF4-FFF2-40B4-BE49-F238E27FC236}">
                <a16:creationId xmlns:a16="http://schemas.microsoft.com/office/drawing/2014/main" id="{5895EE89-A3A6-4A39-BBDF-69F63D9A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863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0.31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Survived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3" name="s7-note">
            <a:extLst xmlns:a="http://schemas.openxmlformats.org/drawingml/2006/main">
              <a:ext uri="{FF2B5EF4-FFF2-40B4-BE49-F238E27FC236}">
                <a16:creationId xmlns:a16="http://schemas.microsoft.com/office/drawing/2014/main" id="{E93FBAAF-2D0C-46D9-A837-2F339394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85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探索範囲は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0.10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〜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0.90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。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5fold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×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3seed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の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確率を平均して選ぶ。</a:t>
            </a:r>
          </a:p>
        </p:txBody>
      </p:sp>
      <p:sp>
        <p:nvSpPr>
          <p:cNvPr id="14" name="source-7">
            <a:extLst xmlns:a="http://schemas.openxmlformats.org/drawingml/2006/main">
              <a:ext uri="{FF2B5EF4-FFF2-40B4-BE49-F238E27FC236}">
                <a16:creationId xmlns:a16="http://schemas.microsoft.com/office/drawing/2014/main" id="{E8ADCB42-03A3-4D0A-A8F1-DB0C59B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15" name="page-7">
            <a:extLst xmlns:a="http://schemas.openxmlformats.org/drawingml/2006/main">
              <a:ext uri="{FF2B5EF4-FFF2-40B4-BE49-F238E27FC236}">
                <a16:creationId xmlns:a16="http://schemas.microsoft.com/office/drawing/2014/main" id="{0D5BA083-2054-4C66-B056-01D4B099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35907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FC9AF230-DFB8-451D-81A7-6DC2C775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異なるモデルの確率を重み付きで混ぜる</a:t>
            </a:r>
          </a:p>
        </p:txBody>
      </p:sp>
      <p:cxnSp>
        <p:nvCxnSpPr>
          <p:cNvPr id="41" name="title-rule-8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cxnSp>
        <p:nvCxnSpPr>
          <p:cNvPr id="42" name="s8-a1"/>
          <p:cNvCxnSpPr/>
          <p:nvPr/>
        </p:nvCxnSpPr>
        <p:spPr>
          <a:xfrm xmlns:a="http://schemas.openxmlformats.org/drawingml/2006/main">
            <a:off x="3333750" y="2343150"/>
            <a:ext cx="2476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s8-a2"/>
          <p:cNvCxnSpPr/>
          <p:nvPr/>
        </p:nvCxnSpPr>
        <p:spPr>
          <a:xfrm xmlns:a="http://schemas.openxmlformats.org/drawingml/2006/main">
            <a:off x="3333750" y="3429000"/>
            <a:ext cx="2476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4" name="s8-a3"/>
          <p:cNvCxnSpPr/>
          <p:nvPr/>
        </p:nvCxnSpPr>
        <p:spPr>
          <a:xfrm xmlns:a="http://schemas.openxmlformats.org/drawingml/2006/main">
            <a:off x="3333750" y="4514850"/>
            <a:ext cx="2476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5" name="s8-collector"/>
          <p:cNvCxnSpPr/>
          <p:nvPr/>
        </p:nvCxnSpPr>
        <p:spPr>
          <a:xfrm xmlns:a="http://schemas.openxmlformats.org/drawingml/2006/main">
            <a:off x="5810250" y="2343150"/>
            <a:ext cx="95" cy="2171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6" name="s8-a4"/>
          <p:cNvCxnSpPr/>
          <p:nvPr/>
        </p:nvCxnSpPr>
        <p:spPr>
          <a:xfrm xmlns:a="http://schemas.openxmlformats.org/drawingml/2006/main">
            <a:off x="5810250" y="3429000"/>
            <a:ext cx="381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7" name="s8-a5"/>
          <p:cNvCxnSpPr/>
          <p:nvPr/>
        </p:nvCxnSpPr>
        <p:spPr>
          <a:xfrm xmlns:a="http://schemas.openxmlformats.org/drawingml/2006/main">
            <a:off x="8858250" y="342900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s8-model1">
            <a:extLst xmlns:a="http://schemas.openxmlformats.org/drawingml/2006/main">
              <a:ext uri="{FF2B5EF4-FFF2-40B4-BE49-F238E27FC236}">
                <a16:creationId xmlns:a16="http://schemas.microsoft.com/office/drawing/2014/main" id="{01EEFE6B-6B60-421D-8947-A593FBC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2876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model2">
            <a:extLst xmlns:a="http://schemas.openxmlformats.org/drawingml/2006/main">
              <a:ext uri="{FF2B5EF4-FFF2-40B4-BE49-F238E27FC236}">
                <a16:creationId xmlns:a16="http://schemas.microsoft.com/office/drawing/2014/main" id="{0EFED571-FE49-4430-8965-5FDF59A2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2876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8-model3">
            <a:extLst xmlns:a="http://schemas.openxmlformats.org/drawingml/2006/main">
              <a:ext uri="{FF2B5EF4-FFF2-40B4-BE49-F238E27FC236}">
                <a16:creationId xmlns:a16="http://schemas.microsoft.com/office/drawing/2014/main" id="{C7454A6B-3430-4BE6-AF55-FDDC5594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2876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8-m1">
            <a:extLst xmlns:a="http://schemas.openxmlformats.org/drawingml/2006/main">
              <a:ext uri="{FF2B5EF4-FFF2-40B4-BE49-F238E27FC236}">
                <a16:creationId xmlns:a16="http://schemas.microsoft.com/office/drawing/2014/main" id="{0F1FF3DD-DFE1-40A6-987D-1806FBB8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LightGBM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×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0.20</a:t>
            </a:r>
          </a:p>
        </p:txBody>
      </p:sp>
      <p:sp>
        <p:nvSpPr>
          <p:cNvPr id="13" name="s8-m2">
            <a:extLst xmlns:a="http://schemas.openxmlformats.org/drawingml/2006/main">
              <a:ext uri="{FF2B5EF4-FFF2-40B4-BE49-F238E27FC236}">
                <a16:creationId xmlns:a16="http://schemas.microsoft.com/office/drawing/2014/main" id="{6C2614D6-268B-4720-8614-3C322B88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Random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Forest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×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0.60</a:t>
            </a:r>
          </a:p>
        </p:txBody>
      </p:sp>
      <p:sp>
        <p:nvSpPr>
          <p:cNvPr id="14" name="s8-m3">
            <a:extLst xmlns:a="http://schemas.openxmlformats.org/drawingml/2006/main">
              <a:ext uri="{FF2B5EF4-FFF2-40B4-BE49-F238E27FC236}">
                <a16:creationId xmlns:a16="http://schemas.microsoft.com/office/drawing/2014/main" id="{A7ECD8DD-090B-4AF5-B682-D0B95A3D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238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Logistic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×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0.20</a:t>
            </a:r>
          </a:p>
        </p:txBody>
      </p:sp>
      <p:sp>
        <p:nvSpPr>
          <p:cNvPr id="15" name="s8-ensemble">
            <a:extLst xmlns:a="http://schemas.openxmlformats.org/drawingml/2006/main">
              <a:ext uri="{FF2B5EF4-FFF2-40B4-BE49-F238E27FC236}">
                <a16:creationId xmlns:a16="http://schemas.microsoft.com/office/drawing/2014/main" id="{FABC284A-CFA4-4702-A57D-63CC5F7F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667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C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8-ensemble-title">
            <a:extLst xmlns:a="http://schemas.openxmlformats.org/drawingml/2006/main">
              <a:ext uri="{FF2B5EF4-FFF2-40B4-BE49-F238E27FC236}">
                <a16:creationId xmlns:a16="http://schemas.microsoft.com/office/drawing/2014/main" id="{9ADD60A8-566A-404E-A091-C574D3B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重み付き平均</a:t>
            </a:r>
          </a:p>
        </p:txBody>
      </p:sp>
      <p:sp>
        <p:nvSpPr>
          <p:cNvPr id="17" name="s8-ensemble-body">
            <a:extLst xmlns:a="http://schemas.openxmlformats.org/drawingml/2006/main">
              <a:ext uri="{FF2B5EF4-FFF2-40B4-BE49-F238E27FC236}">
                <a16:creationId xmlns:a16="http://schemas.microsoft.com/office/drawing/2014/main" id="{98EFFA0D-37A8-4A09-9EDE-3B567B9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2286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つの確率を
加重平均
しきい値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0.384</a:t>
            </a:r>
          </a:p>
        </p:txBody>
      </p:sp>
      <p:sp>
        <p:nvSpPr>
          <p:cNvPr id="18" name="s8-result">
            <a:extLst xmlns:a="http://schemas.openxmlformats.org/drawingml/2006/main">
              <a:ext uri="{FF2B5EF4-FFF2-40B4-BE49-F238E27FC236}">
                <a16:creationId xmlns:a16="http://schemas.microsoft.com/office/drawing/2014/main" id="{EB9A84D9-0E88-42B0-A26E-ED321C87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2476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8-result-title">
            <a:extLst xmlns:a="http://schemas.openxmlformats.org/drawingml/2006/main">
              <a:ext uri="{FF2B5EF4-FFF2-40B4-BE49-F238E27FC236}">
                <a16:creationId xmlns:a16="http://schemas.microsoft.com/office/drawing/2014/main" id="{2C75FAC5-8C28-4790-B49C-524035F5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比較結果</a:t>
            </a:r>
          </a:p>
        </p:txBody>
      </p:sp>
      <p:sp>
        <p:nvSpPr>
          <p:cNvPr id="20" name="s8-result-body">
            <a:extLst xmlns:a="http://schemas.openxmlformats.org/drawingml/2006/main">
              <a:ext uri="{FF2B5EF4-FFF2-40B4-BE49-F238E27FC236}">
                <a16:creationId xmlns:a16="http://schemas.microsoft.com/office/drawing/2014/main" id="{08AC4754-D17B-4035-B0A4-EE5DA846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20574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br/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Soft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Voting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0.8014</a:t>
            </a:r>
            <a:br/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&lt;</a:t>
            </a:r>
            <a:br/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LightGBM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0.8115</a:t>
            </a:r>
          </a:p>
        </p:txBody>
      </p:sp>
      <p:sp>
        <p:nvSpPr>
          <p:cNvPr id="21" name="s8-conclusion">
            <a:extLst xmlns:a="http://schemas.openxmlformats.org/drawingml/2006/main">
              <a:ext uri="{FF2B5EF4-FFF2-40B4-BE49-F238E27FC236}">
                <a16:creationId xmlns:a16="http://schemas.microsoft.com/office/drawing/2014/main" id="{E6041DBB-3C8E-41DB-9C16-612BE85B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67350"/>
            <a:ext cx="918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混合も単体モデルと同じ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条件で比較し、採否を決める。</a:t>
            </a:r>
          </a:p>
        </p:txBody>
      </p:sp>
      <p:sp>
        <p:nvSpPr>
          <p:cNvPr id="22" name="source-8">
            <a:extLst xmlns:a="http://schemas.openxmlformats.org/drawingml/2006/main">
              <a:ext uri="{FF2B5EF4-FFF2-40B4-BE49-F238E27FC236}">
                <a16:creationId xmlns:a16="http://schemas.microsoft.com/office/drawing/2014/main" id="{24E7D298-800C-45C9-BD5B-F8AF69F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23" name="page-8">
            <a:extLst xmlns:a="http://schemas.openxmlformats.org/drawingml/2006/main">
              <a:ext uri="{FF2B5EF4-FFF2-40B4-BE49-F238E27FC236}">
                <a16:creationId xmlns:a16="http://schemas.microsoft.com/office/drawing/2014/main" id="{BE7B8C11-B8AB-4D4C-A7EE-F9E70A79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810257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EC9DC981-F15C-4FE9-B2B0-D55BBBC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で学習データとの近さを確認する</a:t>
            </a:r>
          </a:p>
        </p:txBody>
      </p:sp>
      <p:cxnSp>
        <p:nvCxnSpPr>
          <p:cNvPr id="22" name="title-rule-9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9-lead">
            <a:extLst xmlns:a="http://schemas.openxmlformats.org/drawingml/2006/main">
              <a:ext uri="{FF2B5EF4-FFF2-40B4-BE49-F238E27FC236}">
                <a16:creationId xmlns:a16="http://schemas.microsoft.com/office/drawing/2014/main" id="{64ED9790-7D6B-429B-A2BA-5F0FDFFA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0668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は「正解の確率」ではなく、予測対象が学習例に似ているかを見る注意表示。</a:t>
            </a:r>
          </a:p>
        </p:txBody>
      </p:sp>
      <p:sp>
        <p:nvSpPr>
          <p:cNvPr id="4" name="s9-card-0">
            <a:extLst xmlns:a="http://schemas.openxmlformats.org/drawingml/2006/main">
              <a:ext uri="{FF2B5EF4-FFF2-40B4-BE49-F238E27FC236}">
                <a16:creationId xmlns:a16="http://schemas.microsoft.com/office/drawing/2014/main" id="{2CD0E62A-03CC-45B9-A74D-C1117BE5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333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9-stat-0">
            <a:extLst xmlns:a="http://schemas.openxmlformats.org/drawingml/2006/main">
              <a:ext uri="{FF2B5EF4-FFF2-40B4-BE49-F238E27FC236}">
                <a16:creationId xmlns:a16="http://schemas.microsoft.com/office/drawing/2014/main" id="{679E25E4-A7B4-42E4-86F0-05FC7FF3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6" name="s9-desc-0">
            <a:extLst xmlns:a="http://schemas.openxmlformats.org/drawingml/2006/main">
              <a:ext uri="{FF2B5EF4-FFF2-40B4-BE49-F238E27FC236}">
                <a16:creationId xmlns:a16="http://schemas.microsoft.com/office/drawing/2014/main" id="{743B71F3-555B-4728-BC3C-B92EE1C1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Pclass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Sex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Age</a:t>
            </a:r>
            <a:br/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FamilySize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FareLog</a:t>
            </a:r>
            <a:br/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TicketGroupSize</a:t>
            </a:r>
          </a:p>
        </p:txBody>
      </p:sp>
      <p:sp>
        <p:nvSpPr>
          <p:cNvPr id="7" name="s9-card-1">
            <a:extLst xmlns:a="http://schemas.openxmlformats.org/drawingml/2006/main">
              <a:ext uri="{FF2B5EF4-FFF2-40B4-BE49-F238E27FC236}">
                <a16:creationId xmlns:a16="http://schemas.microsoft.com/office/drawing/2014/main" id="{682B2BB4-BEB4-4DEB-9DC6-96113C3B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3333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9-stat-1">
            <a:extLst xmlns:a="http://schemas.openxmlformats.org/drawingml/2006/main">
              <a:ext uri="{FF2B5EF4-FFF2-40B4-BE49-F238E27FC236}">
                <a16:creationId xmlns:a16="http://schemas.microsoft.com/office/drawing/2014/main" id="{914D77D8-B648-40D2-BE8D-DC8B6376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9" name="s9-desc-1">
            <a:extLst xmlns:a="http://schemas.openxmlformats.org/drawingml/2006/main">
              <a:ext uri="{FF2B5EF4-FFF2-40B4-BE49-F238E27FC236}">
                <a16:creationId xmlns:a16="http://schemas.microsoft.com/office/drawing/2014/main" id="{270B7802-E6EB-4616-9724-059E719D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標準化後の
近傍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人との平均距離</a:t>
            </a:r>
          </a:p>
        </p:txBody>
      </p:sp>
      <p:sp>
        <p:nvSpPr>
          <p:cNvPr id="10" name="s9-card-2">
            <a:extLst xmlns:a="http://schemas.openxmlformats.org/drawingml/2006/main">
              <a:ext uri="{FF2B5EF4-FFF2-40B4-BE49-F238E27FC236}">
                <a16:creationId xmlns:a16="http://schemas.microsoft.com/office/drawing/2014/main" id="{15D6CDDB-0E01-4190-BD5E-BCC26332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333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9-stat-2">
            <a:extLst xmlns:a="http://schemas.openxmlformats.org/drawingml/2006/main">
              <a:ext uri="{FF2B5EF4-FFF2-40B4-BE49-F238E27FC236}">
                <a16:creationId xmlns:a16="http://schemas.microsoft.com/office/drawing/2014/main" id="{CA3811FA-5E48-47D5-8480-4704BFCB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C96A2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C96A20"/>
                </a:solidFill>
                <a:latin typeface="Times New Roman"/>
                <a:ea typeface="Times New Roman"/>
                <a:cs typeface="Times New Roman"/>
              </a:rPr>
              <a:t>95%</a:t>
            </a:r>
            <a:r>
              <a:rPr b="1">
                <a:solidFill>
                  <a:srgbClr val="C96A20"/>
                </a:solidFill>
                <a:latin typeface="Meiryo"/>
                <a:ea typeface="Meiryo"/>
                <a:cs typeface="Meiryo"/>
              </a:rPr>
              <a:t>点</a:t>
            </a:r>
          </a:p>
        </p:txBody>
      </p:sp>
      <p:sp>
        <p:nvSpPr>
          <p:cNvPr id="12" name="s9-desc-2">
            <a:extLst xmlns:a="http://schemas.openxmlformats.org/drawingml/2006/main">
              <a:ext uri="{FF2B5EF4-FFF2-40B4-BE49-F238E27FC236}">
                <a16:creationId xmlns:a16="http://schemas.microsoft.com/office/drawing/2014/main" id="{6CB9D2EC-1F2C-4A0A-AD38-C98BD127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00450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train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距離の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95%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点
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1.242118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を境界にする</a:t>
            </a:r>
          </a:p>
        </p:txBody>
      </p:sp>
      <p:sp>
        <p:nvSpPr>
          <p:cNvPr id="13" name="s9-bottom">
            <a:extLst xmlns:a="http://schemas.openxmlformats.org/drawingml/2006/main">
              <a:ext uri="{FF2B5EF4-FFF2-40B4-BE49-F238E27FC236}">
                <a16:creationId xmlns:a16="http://schemas.microsoft.com/office/drawing/2014/main" id="{1C870C32-D08C-4528-A2A8-BF6BAEE5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9-bottom-stat">
            <a:extLst xmlns:a="http://schemas.openxmlformats.org/drawingml/2006/main">
              <a:ext uri="{FF2B5EF4-FFF2-40B4-BE49-F238E27FC236}">
                <a16:creationId xmlns:a16="http://schemas.microsoft.com/office/drawing/2014/main" id="{CCAE4433-7283-4BD9-B19E-058F1826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325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test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：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内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167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人（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93.30%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）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外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人（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6.70%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）</a:t>
            </a:r>
          </a:p>
        </p:txBody>
      </p:sp>
      <p:sp>
        <p:nvSpPr>
          <p:cNvPr id="15" name="source-9">
            <a:extLst xmlns:a="http://schemas.openxmlformats.org/drawingml/2006/main">
              <a:ext uri="{FF2B5EF4-FFF2-40B4-BE49-F238E27FC236}">
                <a16:creationId xmlns:a16="http://schemas.microsoft.com/office/drawing/2014/main" id="{29CEB1FE-89E8-4011-A8AF-2608BAC8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16" name="page-9">
            <a:extLst xmlns:a="http://schemas.openxmlformats.org/drawingml/2006/main">
              <a:ext uri="{FF2B5EF4-FFF2-40B4-BE49-F238E27FC236}">
                <a16:creationId xmlns:a16="http://schemas.microsoft.com/office/drawing/2014/main" id="{E3A10833-A3F5-4C9C-8231-33F06A4D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527558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CDF69053-51A0-4895-95BB-31CBAADB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LightGBM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が全体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で首位</a:t>
            </a:r>
          </a:p>
        </p:txBody>
      </p:sp>
      <p:cxnSp>
        <p:nvCxnSpPr>
          <p:cNvPr id="22" name="title-rule-10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10-chart-caption">
            <a:extLst xmlns:a="http://schemas.openxmlformats.org/drawingml/2006/main">
              <a:ext uri="{FF2B5EF4-FFF2-40B4-BE49-F238E27FC236}">
                <a16:creationId xmlns:a16="http://schemas.microsoft.com/office/drawing/2014/main" id="{2E476A3F-FEE0-4D2F-80F5-16A10882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19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全体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（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%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・高いほど良い）</a:t>
            </a:r>
          </a:p>
        </p:txBody>
      </p:sp>
      <p:sp>
        <p:nvSpPr>
          <p:cNvPr id="4" name="s10-note1">
            <a:extLst xmlns:a="http://schemas.openxmlformats.org/drawingml/2006/main">
              <a:ext uri="{FF2B5EF4-FFF2-40B4-BE49-F238E27FC236}">
                <a16:creationId xmlns:a16="http://schemas.microsoft.com/office/drawing/2014/main" id="{4D058CC5-5472-4FB1-81FD-60450F8C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4248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-note1-head">
            <a:extLst xmlns:a="http://schemas.openxmlformats.org/drawingml/2006/main">
              <a:ext uri="{FF2B5EF4-FFF2-40B4-BE49-F238E27FC236}">
                <a16:creationId xmlns:a16="http://schemas.microsoft.com/office/drawing/2014/main" id="{916B1D28-EA98-4E36-9196-8D6F412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574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採用モデル</a:t>
            </a:r>
          </a:p>
        </p:txBody>
      </p:sp>
      <p:sp>
        <p:nvSpPr>
          <p:cNvPr id="6" name="s10-note1-body">
            <a:extLst xmlns:a="http://schemas.openxmlformats.org/drawingml/2006/main">
              <a:ext uri="{FF2B5EF4-FFF2-40B4-BE49-F238E27FC236}">
                <a16:creationId xmlns:a16="http://schemas.microsoft.com/office/drawing/2014/main" id="{5FBFF77D-81C2-4C2E-9742-B0A7F3D6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LightGBM</a:t>
            </a:r>
            <a:br/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0.8115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 閾値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0.474</a:t>
            </a:r>
          </a:p>
        </p:txBody>
      </p:sp>
      <p:sp>
        <p:nvSpPr>
          <p:cNvPr id="7" name="s10-note2">
            <a:extLst xmlns:a="http://schemas.openxmlformats.org/drawingml/2006/main">
              <a:ext uri="{FF2B5EF4-FFF2-40B4-BE49-F238E27FC236}">
                <a16:creationId xmlns:a16="http://schemas.microsoft.com/office/drawing/2014/main" id="{0708DA80-0DDE-4C64-9047-DDF98071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4248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0-note2-head">
            <a:extLst xmlns:a="http://schemas.openxmlformats.org/drawingml/2006/main">
              <a:ext uri="{FF2B5EF4-FFF2-40B4-BE49-F238E27FC236}">
                <a16:creationId xmlns:a16="http://schemas.microsoft.com/office/drawing/2014/main" id="{9B5CDE9D-4A62-47A6-8149-9DA7FCE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評価条件</a:t>
            </a:r>
          </a:p>
        </p:txBody>
      </p:sp>
      <p:sp>
        <p:nvSpPr>
          <p:cNvPr id="9" name="s10-note2-body">
            <a:extLst xmlns:a="http://schemas.openxmlformats.org/drawingml/2006/main">
              <a:ext uri="{FF2B5EF4-FFF2-40B4-BE49-F238E27FC236}">
                <a16:creationId xmlns:a16="http://schemas.microsoft.com/office/drawing/2014/main" id="{FC92C87E-D4E1-4D50-8655-F7C0362B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5-fold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Stratified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CV</a:t>
            </a:r>
            <a:br/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seeds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42,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123,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2026</a:t>
            </a:r>
          </a:p>
        </p:txBody>
      </p:sp>
      <p:sp>
        <p:nvSpPr>
          <p:cNvPr id="10" name="s10-note3">
            <a:extLst xmlns:a="http://schemas.openxmlformats.org/drawingml/2006/main">
              <a:ext uri="{FF2B5EF4-FFF2-40B4-BE49-F238E27FC236}">
                <a16:creationId xmlns:a16="http://schemas.microsoft.com/office/drawing/2014/main" id="{8DE34C1A-02C7-4AE1-9595-6828E7CF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4248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0-note3-body">
            <a:extLst xmlns:a="http://schemas.openxmlformats.org/drawingml/2006/main">
              <a:ext uri="{FF2B5EF4-FFF2-40B4-BE49-F238E27FC236}">
                <a16:creationId xmlns:a16="http://schemas.microsoft.com/office/drawing/2014/main" id="{6BA25683-D25F-40B2-9443-797D6FDE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29200"/>
            <a:ext cx="3619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外は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26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人と少ないため、
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外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の差は慎重に解釈する。</a:t>
            </a:r>
          </a:p>
        </p:txBody>
      </p:sp>
      <p:sp>
        <p:nvSpPr>
          <p:cNvPr id="12" name="source-10">
            <a:extLst xmlns:a="http://schemas.openxmlformats.org/drawingml/2006/main">
              <a:ext uri="{FF2B5EF4-FFF2-40B4-BE49-F238E27FC236}">
                <a16:creationId xmlns:a16="http://schemas.microsoft.com/office/drawing/2014/main" id="{94AE0D26-295A-4A05-99A1-88722F48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13" name="page-10">
            <a:extLst xmlns:a="http://schemas.openxmlformats.org/drawingml/2006/main">
              <a:ext uri="{FF2B5EF4-FFF2-40B4-BE49-F238E27FC236}">
                <a16:creationId xmlns:a16="http://schemas.microsoft.com/office/drawing/2014/main" id="{3A8CE127-86BD-4A0A-8CCC-C0C29713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57200" y="1943100"/>
          <a:ext xmlns:a="http://schemas.openxmlformats.org/drawingml/2006/main" cx="6572250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0ef244bb344d69"/>
          </a:graphicData>
        </a:graphic>
      </p:graphicFrame>
    </p:spTree>
    <p:extLst>
      <p:ext uri="{BB962C8B-B14F-4D97-AF65-F5344CB8AC3E}">
        <p14:creationId xmlns:p14="http://schemas.microsoft.com/office/powerpoint/2010/main" val="17562011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69100588-FB5A-436E-970F-A5142535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つの提出はモデルとしきい値が異なる</a:t>
            </a:r>
          </a:p>
        </p:txBody>
      </p:sp>
      <p:cxnSp>
        <p:nvCxnSpPr>
          <p:cNvPr id="29" name="title-rule-11"/>
          <p:cNvCxnSpPr/>
          <p:nvPr/>
        </p:nvCxnSpPr>
        <p:spPr>
          <a:xfrm xmlns:a="http://schemas.openxmlformats.org/drawingml/2006/main">
            <a:off x="457200" y="12573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BCC4"/>
            </a:solidFill>
            <a:prstDash val="solid"/>
          </a:ln>
        </p:spPr>
      </p:cxnSp>
      <p:sp>
        <p:nvSpPr>
          <p:cNvPr id="3" name="s11-card-0">
            <a:extLst xmlns:a="http://schemas.openxmlformats.org/drawingml/2006/main">
              <a:ext uri="{FF2B5EF4-FFF2-40B4-BE49-F238E27FC236}">
                <a16:creationId xmlns:a16="http://schemas.microsoft.com/office/drawing/2014/main" id="{BFB69128-E629-4A58-A48F-EB0A6B2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1-label-0">
            <a:extLst xmlns:a="http://schemas.openxmlformats.org/drawingml/2006/main">
              <a:ext uri="{FF2B5EF4-FFF2-40B4-BE49-F238E27FC236}">
                <a16:creationId xmlns:a16="http://schemas.microsoft.com/office/drawing/2014/main" id="{6B0CC6C8-B849-47A2-8108-8A2FBA51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提出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" name="s11-model-0">
            <a:extLst xmlns:a="http://schemas.openxmlformats.org/drawingml/2006/main">
              <a:ext uri="{FF2B5EF4-FFF2-40B4-BE49-F238E27FC236}">
                <a16:creationId xmlns:a16="http://schemas.microsoft.com/office/drawing/2014/main" id="{CB4C84EB-3A8B-4CD9-9CD2-A90497F9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00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LightGBM</a:t>
            </a:r>
          </a:p>
        </p:txBody>
      </p:sp>
      <p:sp>
        <p:nvSpPr>
          <p:cNvPr id="6" name="s11-threshold-0">
            <a:extLst xmlns:a="http://schemas.openxmlformats.org/drawingml/2006/main">
              <a:ext uri="{FF2B5EF4-FFF2-40B4-BE49-F238E27FC236}">
                <a16:creationId xmlns:a16="http://schemas.microsoft.com/office/drawing/2014/main" id="{8FD7F2D0-BAD7-454C-B688-DE16C9E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閾値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0.474</a:t>
            </a:r>
          </a:p>
        </p:txBody>
      </p:sp>
      <p:sp>
        <p:nvSpPr>
          <p:cNvPr id="7" name="s11-survived-0">
            <a:extLst xmlns:a="http://schemas.openxmlformats.org/drawingml/2006/main">
              <a:ext uri="{FF2B5EF4-FFF2-40B4-BE49-F238E27FC236}">
                <a16:creationId xmlns:a16="http://schemas.microsoft.com/office/drawing/2014/main" id="{63930A4E-AF2F-48D9-9C56-6F129654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生存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62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</a:t>
            </a:r>
          </a:p>
        </p:txBody>
      </p:sp>
      <p:sp>
        <p:nvSpPr>
          <p:cNvPr id="8" name="s11-reason-0">
            <a:extLst xmlns:a="http://schemas.openxmlformats.org/drawingml/2006/main">
              <a:ext uri="{FF2B5EF4-FFF2-40B4-BE49-F238E27FC236}">
                <a16:creationId xmlns:a16="http://schemas.microsoft.com/office/drawing/2014/main" id="{9055176F-44E5-46C4-A7D8-5D06FF9C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280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全体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が最良</a:t>
            </a:r>
          </a:p>
        </p:txBody>
      </p:sp>
      <p:sp>
        <p:nvSpPr>
          <p:cNvPr id="9" name="s11-card-1">
            <a:extLst xmlns:a="http://schemas.openxmlformats.org/drawingml/2006/main">
              <a:ext uri="{FF2B5EF4-FFF2-40B4-BE49-F238E27FC236}">
                <a16:creationId xmlns:a16="http://schemas.microsoft.com/office/drawing/2014/main" id="{C0B60AA3-D8BB-454E-8241-7B991D1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1-label-1">
            <a:extLst xmlns:a="http://schemas.openxmlformats.org/drawingml/2006/main">
              <a:ext uri="{FF2B5EF4-FFF2-40B4-BE49-F238E27FC236}">
                <a16:creationId xmlns:a16="http://schemas.microsoft.com/office/drawing/2014/main" id="{F0833097-83E4-498C-AABA-2894120A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提出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s11-model-1">
            <a:extLst xmlns:a="http://schemas.openxmlformats.org/drawingml/2006/main">
              <a:ext uri="{FF2B5EF4-FFF2-40B4-BE49-F238E27FC236}">
                <a16:creationId xmlns:a16="http://schemas.microsoft.com/office/drawing/2014/main" id="{7C87D15C-475F-4CED-A6F9-B63E87B1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800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XGBoost</a:t>
            </a:r>
          </a:p>
        </p:txBody>
      </p:sp>
      <p:sp>
        <p:nvSpPr>
          <p:cNvPr id="12" name="s11-threshold-1">
            <a:extLst xmlns:a="http://schemas.openxmlformats.org/drawingml/2006/main">
              <a:ext uri="{FF2B5EF4-FFF2-40B4-BE49-F238E27FC236}">
                <a16:creationId xmlns:a16="http://schemas.microsoft.com/office/drawing/2014/main" id="{41376CF1-31E4-45A8-819F-12D2E44A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閾値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0.458</a:t>
            </a:r>
          </a:p>
        </p:txBody>
      </p:sp>
      <p:sp>
        <p:nvSpPr>
          <p:cNvPr id="13" name="s11-survived-1">
            <a:extLst xmlns:a="http://schemas.openxmlformats.org/drawingml/2006/main">
              <a:ext uri="{FF2B5EF4-FFF2-40B4-BE49-F238E27FC236}">
                <a16:creationId xmlns:a16="http://schemas.microsoft.com/office/drawing/2014/main" id="{06E40C6F-1E39-488A-B75A-5A9FA13E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767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生存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62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</a:t>
            </a:r>
          </a:p>
        </p:txBody>
      </p:sp>
      <p:sp>
        <p:nvSpPr>
          <p:cNvPr id="14" name="s11-reason-1">
            <a:extLst xmlns:a="http://schemas.openxmlformats.org/drawingml/2006/main">
              <a:ext uri="{FF2B5EF4-FFF2-40B4-BE49-F238E27FC236}">
                <a16:creationId xmlns:a16="http://schemas.microsoft.com/office/drawing/2014/main" id="{99819B09-A372-41B2-A01C-92F56C9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24400"/>
            <a:ext cx="280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を考慮した別モデル</a:t>
            </a:r>
          </a:p>
        </p:txBody>
      </p:sp>
      <p:sp>
        <p:nvSpPr>
          <p:cNvPr id="15" name="s11-card-2">
            <a:extLst xmlns:a="http://schemas.openxmlformats.org/drawingml/2006/main">
              <a:ext uri="{FF2B5EF4-FFF2-40B4-BE49-F238E27FC236}">
                <a16:creationId xmlns:a16="http://schemas.microsoft.com/office/drawing/2014/main" id="{5005283B-7DA0-445E-8DFD-4122CBC5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1-label-2">
            <a:extLst xmlns:a="http://schemas.openxmlformats.org/drawingml/2006/main">
              <a:ext uri="{FF2B5EF4-FFF2-40B4-BE49-F238E27FC236}">
                <a16:creationId xmlns:a16="http://schemas.microsoft.com/office/drawing/2014/main" id="{C91BB18A-068C-448E-AB9D-E898A1CC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提出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7" name="s11-model-2">
            <a:extLst xmlns:a="http://schemas.openxmlformats.org/drawingml/2006/main">
              <a:ext uri="{FF2B5EF4-FFF2-40B4-BE49-F238E27FC236}">
                <a16:creationId xmlns:a16="http://schemas.microsoft.com/office/drawing/2014/main" id="{B45D7BDA-3F30-4819-BE40-53A13534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800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LightGBM</a:t>
            </a:r>
          </a:p>
        </p:txBody>
      </p:sp>
      <p:sp>
        <p:nvSpPr>
          <p:cNvPr id="18" name="s11-threshold-2">
            <a:extLst xmlns:a="http://schemas.openxmlformats.org/drawingml/2006/main">
              <a:ext uri="{FF2B5EF4-FFF2-40B4-BE49-F238E27FC236}">
                <a16:creationId xmlns:a16="http://schemas.microsoft.com/office/drawing/2014/main" id="{649EEF19-AD30-456F-B11E-AF4FA4D2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閾値 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0.444</a:t>
            </a:r>
          </a:p>
        </p:txBody>
      </p:sp>
      <p:sp>
        <p:nvSpPr>
          <p:cNvPr id="19" name="s11-survived-2">
            <a:extLst xmlns:a="http://schemas.openxmlformats.org/drawingml/2006/main">
              <a:ext uri="{FF2B5EF4-FFF2-40B4-BE49-F238E27FC236}">
                <a16:creationId xmlns:a16="http://schemas.microsoft.com/office/drawing/2014/main" id="{2EB6D515-E891-4B78-BF46-45B034A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76700"/>
            <a:ext cx="2800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生存 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65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</a:t>
            </a:r>
          </a:p>
        </p:txBody>
      </p:sp>
      <p:sp>
        <p:nvSpPr>
          <p:cNvPr id="20" name="s11-reason-2">
            <a:extLst xmlns:a="http://schemas.openxmlformats.org/drawingml/2006/main">
              <a:ext uri="{FF2B5EF4-FFF2-40B4-BE49-F238E27FC236}">
                <a16:creationId xmlns:a16="http://schemas.microsoft.com/office/drawing/2014/main" id="{5C632936-982B-455F-AF44-CF605DA0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2800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Recall</a:t>
            </a:r>
            <a:r>
              <a:rPr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を重視</a:t>
            </a:r>
          </a:p>
        </p:txBody>
      </p:sp>
      <p:sp>
        <p:nvSpPr>
          <p:cNvPr id="21" name="s11-conclusion">
            <a:extLst xmlns:a="http://schemas.openxmlformats.org/drawingml/2006/main">
              <a:ext uri="{FF2B5EF4-FFF2-40B4-BE49-F238E27FC236}">
                <a16:creationId xmlns:a16="http://schemas.microsoft.com/office/drawing/2014/main" id="{79A99391-EB57-40F9-B27B-64C267B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提出の一致率は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98.32%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以上。少なくとも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つの提出でラベルが違う乗客は</a:t>
            </a: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b="1">
                <a:solidFill>
                  <a:srgbClr val="2F78D0"/>
                </a:solidFill>
                <a:latin typeface="Meiryo"/>
                <a:ea typeface="Meiryo"/>
                <a:cs typeface="Meiryo"/>
              </a:rPr>
              <a:t>人。</a:t>
            </a:r>
          </a:p>
        </p:txBody>
      </p:sp>
      <p:sp>
        <p:nvSpPr>
          <p:cNvPr id="22" name="source-11">
            <a:extLst xmlns:a="http://schemas.openxmlformats.org/drawingml/2006/main">
              <a:ext uri="{FF2B5EF4-FFF2-40B4-BE49-F238E27FC236}">
                <a16:creationId xmlns:a16="http://schemas.microsoft.com/office/drawing/2014/main" id="{9DF4E4E1-F498-423D-98E3-5BA29313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23" name="page-11">
            <a:extLst xmlns:a="http://schemas.openxmlformats.org/drawingml/2006/main">
              <a:ext uri="{FF2B5EF4-FFF2-40B4-BE49-F238E27FC236}">
                <a16:creationId xmlns:a16="http://schemas.microsoft.com/office/drawing/2014/main" id="{1D9649C3-1947-4028-AEC2-1F5F1111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308011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kicker">
            <a:extLst xmlns:a="http://schemas.openxmlformats.org/drawingml/2006/main">
              <a:ext uri="{FF2B5EF4-FFF2-40B4-BE49-F238E27FC236}">
                <a16:creationId xmlns:a16="http://schemas.microsoft.com/office/drawing/2014/main" id="{B5DD33C0-4C77-4AB7-A3F3-9E33D058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F78D0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2F78D0"/>
                </a:solidFill>
                <a:latin typeface="Times New Roman"/>
                <a:ea typeface="Times New Roman"/>
                <a:cs typeface="Times New Roman"/>
              </a:rPr>
              <a:t>TAKEAWAYS</a:t>
            </a:r>
          </a:p>
        </p:txBody>
      </p:sp>
      <p:sp>
        <p:nvSpPr>
          <p:cNvPr id="2" name="s12-title">
            <a:extLst xmlns:a="http://schemas.openxmlformats.org/drawingml/2006/main">
              <a:ext uri="{FF2B5EF4-FFF2-40B4-BE49-F238E27FC236}">
                <a16:creationId xmlns:a16="http://schemas.microsoft.com/office/drawing/2014/main" id="{83A00131-D6CE-40DA-9116-EC94F1C3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8572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予測の要点は
「作る・測る・選ぶ」</a:t>
            </a:r>
          </a:p>
        </p:txBody>
      </p:sp>
      <p:cxnSp>
        <p:nvCxnSpPr>
          <p:cNvPr id="17" name="s12-rule"/>
          <p:cNvCxnSpPr/>
          <p:nvPr/>
        </p:nvCxnSpPr>
        <p:spPr>
          <a:xfrm xmlns:a="http://schemas.openxmlformats.org/drawingml/2006/main">
            <a:off x="457200" y="38100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s12-1">
            <a:extLst xmlns:a="http://schemas.openxmlformats.org/drawingml/2006/main">
              <a:ext uri="{FF2B5EF4-FFF2-40B4-BE49-F238E27FC236}">
                <a16:creationId xmlns:a16="http://schemas.microsoft.com/office/drawing/2014/main" id="{B63E45BC-7075-4C9C-B559-CC39910E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作る：元の列から、欠損や同行関係を表す特徴量を作る。</a:t>
            </a:r>
          </a:p>
        </p:txBody>
      </p:sp>
      <p:sp>
        <p:nvSpPr>
          <p:cNvPr id="5" name="s12-2">
            <a:extLst xmlns:a="http://schemas.openxmlformats.org/drawingml/2006/main">
              <a:ext uri="{FF2B5EF4-FFF2-40B4-BE49-F238E27FC236}">
                <a16:creationId xmlns:a16="http://schemas.microsoft.com/office/drawing/2014/main" id="{3C5EBD0C-D1A7-4BAE-9193-B47E350C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測る：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OOF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予測でリークなく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F1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としきい値を測る。</a:t>
            </a:r>
          </a:p>
        </p:txBody>
      </p:sp>
      <p:sp>
        <p:nvSpPr>
          <p:cNvPr id="6" name="s12-3">
            <a:extLst xmlns:a="http://schemas.openxmlformats.org/drawingml/2006/main">
              <a:ext uri="{FF2B5EF4-FFF2-40B4-BE49-F238E27FC236}">
                <a16:creationId xmlns:a16="http://schemas.microsoft.com/office/drawing/2014/main" id="{630827A4-CA22-4552-8EC3-F1DAD8B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eiryo"/>
                <a:ea typeface="Meiryo"/>
                <a:cs typeface="Meiryo"/>
              </a:defRPr>
            </a:pP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選ぶ：複数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seed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</a:t>
            </a:r>
            <a:r>
              <a:rPr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</a:t>
            </a:r>
            <a:r>
              <a:rPr b="1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・提出の違いを見て、最終モデルを選ぶ。</a:t>
            </a:r>
          </a:p>
        </p:txBody>
      </p:sp>
      <p:sp>
        <p:nvSpPr>
          <p:cNvPr id="7" name="source-12">
            <a:extLst xmlns:a="http://schemas.openxmlformats.org/drawingml/2006/main">
              <a:ext uri="{FF2B5EF4-FFF2-40B4-BE49-F238E27FC236}">
                <a16:creationId xmlns:a16="http://schemas.microsoft.com/office/drawing/2014/main" id="{68B16836-FBD7-495D-BC44-1138561D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6"/>
                </a:solidFill>
                <a:latin typeface="Meiryo"/>
                <a:ea typeface="Meiryo"/>
                <a:cs typeface="Meiryo"/>
              </a:defRPr>
            </a:pP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出典：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titanic_f1_competition.ipynb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（</a:t>
            </a:r>
            <a:r>
              <a:rPr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2026-07-15</a:t>
            </a:r>
            <a:r>
              <a:rPr>
                <a:solidFill>
                  <a:srgbClr val="545B66"/>
                </a:solidFill>
                <a:latin typeface="Meiryo"/>
                <a:ea typeface="Meiryo"/>
                <a:cs typeface="Meiryo"/>
              </a:rPr>
              <a:t>実行結果）</a:t>
            </a:r>
          </a:p>
        </p:txBody>
      </p:sp>
      <p:sp>
        <p:nvSpPr>
          <p:cNvPr id="8" name="page-12">
            <a:extLst xmlns:a="http://schemas.openxmlformats.org/drawingml/2006/main">
              <a:ext uri="{FF2B5EF4-FFF2-40B4-BE49-F238E27FC236}">
                <a16:creationId xmlns:a16="http://schemas.microsoft.com/office/drawing/2014/main" id="{7059D6DA-679F-4883-8604-3173D280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45B66"/>
                </a:solidFill>
              </a:defRPr>
            </a:pPr>
            <a:r>
              <a:rPr b="0">
                <a:solidFill>
                  <a:srgbClr val="545B66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3399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2026-07-15T04:03:34.7000000Z</dcterms:created>
  <dcterms:modified xsi:type="dcterms:W3CDTF">2026-07-15T04:03:34.7000000Z</dcterms:modified>
</coreProperties>
</file>