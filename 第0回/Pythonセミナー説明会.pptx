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358" r:id="rId2"/>
    <p:sldId id="359" r:id="rId3"/>
    <p:sldId id="354" r:id="rId4"/>
    <p:sldId id="355" r:id="rId5"/>
    <p:sldId id="353" r:id="rId6"/>
    <p:sldId id="357" r:id="rId7"/>
    <p:sldId id="3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02"/>
    <p:restoredTop sz="94678"/>
  </p:normalViewPr>
  <p:slideViewPr>
    <p:cSldViewPr snapToGrid="0">
      <p:cViewPr varScale="1">
        <p:scale>
          <a:sx n="109" d="100"/>
          <a:sy n="109" d="100"/>
        </p:scale>
        <p:origin x="18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14E79-A952-694F-B346-A911419A7B28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9D1B4-4FF4-B04A-BAB0-9283D5CF9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492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9D1B4-4FF4-B04A-BAB0-9283D5CF999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311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9D1B4-4FF4-B04A-BAB0-9283D5CF999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767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9D1B4-4FF4-B04A-BAB0-9283D5CF999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1964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66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78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090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836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72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17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58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392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36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677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83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1pPr>
            <a:lvl2pPr marL="0" indent="160729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2pPr>
            <a:lvl3pPr marL="0" indent="321457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3pPr>
            <a:lvl4pPr marL="0" indent="482186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4pPr>
            <a:lvl5pPr marL="0" indent="642915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5pPr>
          </a:lstStyle>
          <a:p>
            <a:pPr lvl="0">
              <a:defRPr sz="1800"/>
            </a:pPr>
            <a:r>
              <a:rPr sz="2250"/>
              <a:t>本文レベル1</a:t>
            </a:r>
          </a:p>
          <a:p>
            <a:pPr lvl="1">
              <a:defRPr sz="1800"/>
            </a:pPr>
            <a:r>
              <a:rPr sz="2250"/>
              <a:t>本文レベル2</a:t>
            </a:r>
          </a:p>
          <a:p>
            <a:pPr lvl="2">
              <a:defRPr sz="1800"/>
            </a:pPr>
            <a:r>
              <a:rPr sz="2250"/>
              <a:t>本文レベル3</a:t>
            </a:r>
          </a:p>
          <a:p>
            <a:pPr lvl="3">
              <a:defRPr sz="1800"/>
            </a:pPr>
            <a:r>
              <a:rPr sz="2250"/>
              <a:t>本文レベル4</a:t>
            </a:r>
          </a:p>
          <a:p>
            <a:pPr lvl="4">
              <a:defRPr sz="1800"/>
            </a:pPr>
            <a:r>
              <a:rPr sz="2250"/>
              <a:t>本文レベル 5</a:t>
            </a:r>
          </a:p>
        </p:txBody>
      </p:sp>
      <p:pic>
        <p:nvPicPr>
          <p:cNvPr id="9" name="header4.png"/>
          <p:cNvPicPr/>
          <p:nvPr/>
        </p:nvPicPr>
        <p:blipFill>
          <a:blip r:embed="rId2" cstate="email">
            <a:alphaModFix amt="11038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0" y="3848967"/>
            <a:ext cx="9135380" cy="302020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BB3BF9A-E1A1-5D42-9A70-C132BA784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5CC020-4C1D-F746-9448-CDB9A908293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0D2C9C9-3A42-294F-89BB-76FFEAA3B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574862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C853D-5023-3743-BD1C-1F0E59C742FE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85A63-6F27-D04B-86C3-3C9E2881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91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1l8oBEown8c?si=zX6mLa6Q5pPUFG0S" TargetMode="External"/><Relationship Id="rId2" Type="http://schemas.openxmlformats.org/officeDocument/2006/relationships/hyperlink" Target="https://paiza.jp/works/shellcommand/primer/shell-command-primer-01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C787-0CDD-8F11-7C59-928E400AA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649ABC-DC69-92E7-8C38-EC6FCB0FDF26}"/>
              </a:ext>
            </a:extLst>
          </p:cNvPr>
          <p:cNvSpPr txBox="1"/>
          <p:nvPr/>
        </p:nvSpPr>
        <p:spPr>
          <a:xfrm>
            <a:off x="1795438" y="3075057"/>
            <a:ext cx="55531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Python</a:t>
            </a:r>
            <a:r>
              <a:rPr kumimoji="1" lang="ja-JP" altLang="en-US" sz="40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セミナー説明会</a:t>
            </a:r>
          </a:p>
        </p:txBody>
      </p:sp>
    </p:spTree>
    <p:extLst>
      <p:ext uri="{BB962C8B-B14F-4D97-AF65-F5344CB8AC3E}">
        <p14:creationId xmlns:p14="http://schemas.microsoft.com/office/powerpoint/2010/main" val="150570699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14DAC-760A-A419-21BD-459572FF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517A2E1-454E-92BD-7A7D-0B21CF382249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F36BF4-9CF9-591D-F12A-457940CC1481}"/>
              </a:ext>
            </a:extLst>
          </p:cNvPr>
          <p:cNvSpPr txBox="1"/>
          <p:nvPr/>
        </p:nvSpPr>
        <p:spPr>
          <a:xfrm>
            <a:off x="13751" y="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今回やること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A7F012-5CAE-63C9-9BE0-DB03D9A39C60}"/>
              </a:ext>
            </a:extLst>
          </p:cNvPr>
          <p:cNvSpPr txBox="1"/>
          <p:nvPr/>
        </p:nvSpPr>
        <p:spPr>
          <a:xfrm>
            <a:off x="2671479" y="2459504"/>
            <a:ext cx="380104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</a:t>
            </a:r>
            <a:r>
              <a:rPr kumimoji="1" lang="en-US" altLang="ja-JP" sz="24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Python</a:t>
            </a:r>
            <a:r>
              <a:rPr kumimoji="1" lang="ja-JP" altLang="en-US" sz="24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セミナーとは</a:t>
            </a:r>
            <a:endParaRPr kumimoji="1" lang="en-US" altLang="ja-JP" sz="24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endParaRPr kumimoji="1" lang="en-US" altLang="ja-JP" sz="24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r>
              <a:rPr kumimoji="1" lang="ja-JP" altLang="en-US" sz="24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</a:t>
            </a:r>
            <a:r>
              <a:rPr kumimoji="1" lang="en-US" altLang="ja-JP" sz="24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Mac</a:t>
            </a:r>
            <a:r>
              <a:rPr kumimoji="1" lang="ja-JP" altLang="en-US" sz="24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の初期設定</a:t>
            </a:r>
            <a:endParaRPr kumimoji="1" lang="en-US" altLang="ja-JP" sz="24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endParaRPr kumimoji="1" lang="en-US" altLang="ja-JP" sz="24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r>
              <a:rPr kumimoji="1" lang="ja-JP" altLang="en-US" sz="24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</a:t>
            </a:r>
            <a:r>
              <a:rPr kumimoji="1" lang="en-US" altLang="ja-JP" sz="24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VScode</a:t>
            </a:r>
            <a:r>
              <a:rPr kumimoji="1" lang="ja-JP" altLang="en-US" sz="24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のインストール</a:t>
            </a:r>
            <a:endParaRPr kumimoji="1" lang="en-US" altLang="ja-JP" sz="24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447733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134FA-2DC9-3EA4-AFE4-C5F4EB78D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>
            <a:extLst>
              <a:ext uri="{FF2B5EF4-FFF2-40B4-BE49-F238E27FC236}">
                <a16:creationId xmlns:a16="http://schemas.microsoft.com/office/drawing/2014/main" id="{7DFF2010-EF9F-4209-9B60-8AC06C25C3DE}"/>
              </a:ext>
            </a:extLst>
          </p:cNvPr>
          <p:cNvSpPr/>
          <p:nvPr/>
        </p:nvSpPr>
        <p:spPr>
          <a:xfrm>
            <a:off x="93632" y="769644"/>
            <a:ext cx="8970485" cy="817288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目的：</a:t>
            </a:r>
            <a:endParaRPr lang="en-US" altLang="ja-JP" sz="20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データの可視化及び古典的機械学習手法を</a:t>
            </a:r>
            <a:r>
              <a:rPr lang="en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Python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で実装できるようになる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16A23E-BD84-17F7-0834-D73DF1D90ABF}"/>
              </a:ext>
            </a:extLst>
          </p:cNvPr>
          <p:cNvSpPr txBox="1"/>
          <p:nvPr/>
        </p:nvSpPr>
        <p:spPr>
          <a:xfrm>
            <a:off x="278998" y="1688389"/>
            <a:ext cx="8517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教材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：化学のための</a:t>
            </a:r>
            <a:r>
              <a:rPr lang="en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Python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によるデータ解析・機械学習入門</a:t>
            </a:r>
            <a:endParaRPr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　　　マテリアルズ・インフォマティクス実践ハンドブック</a:t>
            </a:r>
            <a:endParaRPr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lang="ja-JP" altLang="en-US" sz="2000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範囲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：化学のための</a:t>
            </a:r>
            <a:r>
              <a:rPr lang="en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Python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によるデータ解析・機械学習入門　５章まで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B8E60B-CCA6-E8F7-C078-09D2F29E11D8}"/>
              </a:ext>
            </a:extLst>
          </p:cNvPr>
          <p:cNvSpPr txBox="1"/>
          <p:nvPr/>
        </p:nvSpPr>
        <p:spPr>
          <a:xfrm>
            <a:off x="278998" y="4726973"/>
            <a:ext cx="897048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実施場所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F503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オープンスペース</a:t>
            </a:r>
            <a:endParaRPr lang="en-US" altLang="ja-JP" sz="2000" b="1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lang="ja-JP" altLang="en-US" sz="2000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実施内容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 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全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9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回を予定</a:t>
            </a:r>
            <a:endParaRPr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(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日程は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Slack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で順次通知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,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　</a:t>
            </a:r>
            <a:r>
              <a:rPr lang="ja-JP" altLang="en-US" sz="2000">
                <a:solidFill>
                  <a:srgbClr val="FF0000"/>
                </a:solid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授業予定をサイボウズに登録してください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)</a:t>
            </a:r>
          </a:p>
          <a:p>
            <a:r>
              <a:rPr lang="ja-JP" altLang="en-US" sz="2000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連絡・資料置き場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 </a:t>
            </a:r>
          </a:p>
          <a:p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Slack 【Python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セミナーについてのお知らせ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】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スレッドに順次追加</a:t>
            </a:r>
            <a:endParaRPr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r"/>
            <a:r>
              <a:rPr lang="en" altLang="ja-JP" sz="12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https://</a:t>
            </a:r>
            <a:r>
              <a:rPr lang="en" altLang="ja-JP" sz="12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naist-mihq.slack.com</a:t>
            </a:r>
            <a:r>
              <a:rPr lang="en" altLang="ja-JP" sz="12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/archives/C02CNAM9CGH/p1778753494061069</a:t>
            </a:r>
            <a:endParaRPr lang="en-US" altLang="ja-JP" sz="12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A3E39CEC-7B1E-29E9-0EC7-13B1993B98A7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CD467FE-D963-4E52-875E-D858660D62FD}"/>
              </a:ext>
            </a:extLst>
          </p:cNvPr>
          <p:cNvSpPr txBox="1"/>
          <p:nvPr/>
        </p:nvSpPr>
        <p:spPr>
          <a:xfrm>
            <a:off x="13751" y="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セミナーの概要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8C6A599-F46F-BB13-AFC0-34B5D2E40C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54" t="8341" r="10072" b="17933"/>
          <a:stretch>
            <a:fillRect/>
          </a:stretch>
        </p:blipFill>
        <p:spPr>
          <a:xfrm rot="5400000">
            <a:off x="4856969" y="2929419"/>
            <a:ext cx="1710734" cy="126000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FFE92642-8A8B-91B8-0ACF-27E7CE5A7C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75" t="14887" r="28587" b="35702"/>
          <a:stretch>
            <a:fillRect/>
          </a:stretch>
        </p:blipFill>
        <p:spPr>
          <a:xfrm>
            <a:off x="2431163" y="2659419"/>
            <a:ext cx="127967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9774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E7FF2B6-F1FB-2E5C-0159-322ED13F0754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5A4B2E7-D6FA-22E3-76ED-CFECB953D8A1}"/>
              </a:ext>
            </a:extLst>
          </p:cNvPr>
          <p:cNvSpPr txBox="1"/>
          <p:nvPr/>
        </p:nvSpPr>
        <p:spPr>
          <a:xfrm>
            <a:off x="13751" y="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セミナーの概要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4E3365-D16A-3218-078F-E69ADC4900AF}"/>
              </a:ext>
            </a:extLst>
          </p:cNvPr>
          <p:cNvSpPr txBox="1"/>
          <p:nvPr/>
        </p:nvSpPr>
        <p:spPr>
          <a:xfrm>
            <a:off x="182300" y="804165"/>
            <a:ext cx="877940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000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セミナーの流れ</a:t>
            </a:r>
            <a:endParaRPr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>
              <a:spcAft>
                <a:spcPts val="600"/>
              </a:spcAft>
            </a:pP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①</a:t>
            </a:r>
            <a:r>
              <a:rPr lang="ja-JP" altLang="en-US" sz="2000">
                <a:uFill>
                  <a:solidFill>
                    <a:srgbClr val="FF0000"/>
                  </a:solidFill>
                </a:u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予習として宿題を解く</a:t>
            </a:r>
            <a:endParaRPr lang="en-US" altLang="ja-JP" sz="2000" dirty="0">
              <a:uFill>
                <a:solidFill>
                  <a:srgbClr val="FF0000"/>
                </a:solidFill>
              </a:uFill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>
              <a:spcAft>
                <a:spcPts val="600"/>
              </a:spcAft>
            </a:pP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②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担当</a:t>
            </a:r>
            <a:r>
              <a:rPr lang="en-US" altLang="ja-JP" sz="2000" dirty="0">
                <a:uFill>
                  <a:solidFill>
                    <a:schemeClr val="accent6"/>
                  </a:solidFill>
                </a:u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M2</a:t>
            </a:r>
            <a:r>
              <a:rPr lang="ja-JP" altLang="en-US" sz="2000">
                <a:uFill>
                  <a:solidFill>
                    <a:schemeClr val="accent6"/>
                  </a:solidFill>
                </a:u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から今回の目的を</a:t>
            </a:r>
            <a:r>
              <a:rPr lang="en-US" altLang="ja-JP" sz="2000" dirty="0">
                <a:uFill>
                  <a:solidFill>
                    <a:schemeClr val="accent6"/>
                  </a:solidFill>
                </a:u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1</a:t>
            </a:r>
            <a:r>
              <a:rPr lang="ja-JP" altLang="en-US" sz="2000">
                <a:uFill>
                  <a:solidFill>
                    <a:schemeClr val="accent6"/>
                  </a:solidFill>
                </a:u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分で紹介</a:t>
            </a:r>
            <a:endParaRPr lang="en-US" altLang="ja-JP" sz="2000" dirty="0">
              <a:uFill>
                <a:solidFill>
                  <a:schemeClr val="accent6"/>
                </a:solidFill>
              </a:uFill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>
              <a:spcAft>
                <a:spcPts val="600"/>
              </a:spcAft>
            </a:pP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③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担当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M1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が今回使用した概念を説明、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M2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が補足</a:t>
            </a:r>
            <a:endParaRPr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>
              <a:spcAft>
                <a:spcPts val="600"/>
              </a:spcAft>
            </a:pP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④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担当</a:t>
            </a:r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M1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が宿題の解説</a:t>
            </a:r>
            <a:endParaRPr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>
              <a:spcAft>
                <a:spcPts val="600"/>
              </a:spcAft>
            </a:pPr>
            <a:r>
              <a:rPr lang="en-US" altLang="ja-JP" sz="2000" dirty="0">
                <a:uFill>
                  <a:solidFill>
                    <a:schemeClr val="accent4"/>
                  </a:solidFill>
                </a:u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⑤</a:t>
            </a:r>
            <a:r>
              <a:rPr lang="ja-JP" altLang="en-US" sz="2000">
                <a:uFill>
                  <a:solidFill>
                    <a:schemeClr val="accent4"/>
                  </a:solidFill>
                </a:u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担当</a:t>
            </a:r>
            <a:r>
              <a:rPr lang="en-US" altLang="ja-JP" sz="2000" dirty="0">
                <a:uFill>
                  <a:solidFill>
                    <a:schemeClr val="accent4"/>
                  </a:solidFill>
                </a:u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M2</a:t>
            </a:r>
            <a:r>
              <a:rPr lang="ja-JP" altLang="en-US" sz="2000">
                <a:uFill>
                  <a:solidFill>
                    <a:schemeClr val="accent4"/>
                  </a:solidFill>
                </a:uFill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から次回予告と宿題の説明</a:t>
            </a:r>
            <a:endParaRPr lang="en-US" altLang="ja-JP" sz="2000" dirty="0">
              <a:uFill>
                <a:solidFill>
                  <a:schemeClr val="accent4"/>
                </a:solidFill>
              </a:uFill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75CF77-2BCC-24F5-8DA9-2605721EDA24}"/>
              </a:ext>
            </a:extLst>
          </p:cNvPr>
          <p:cNvSpPr txBox="1"/>
          <p:nvPr/>
        </p:nvSpPr>
        <p:spPr>
          <a:xfrm>
            <a:off x="182300" y="5226784"/>
            <a:ext cx="822372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宿題について</a:t>
            </a:r>
            <a:endParaRPr kumimoji="1" lang="en-US" altLang="ja-JP" sz="2000" b="1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M1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全員が行う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(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コードを貼り付けて終わり以外であればなんでも可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)</a:t>
            </a:r>
          </a:p>
          <a:p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・分からなくても全然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OK</a:t>
            </a:r>
          </a:p>
          <a:p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ただし、「どこが」「なぜ」分からなかったのかを明確にする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次回、具体的な質問をしてください</a:t>
            </a:r>
            <a:endParaRPr kumimoji="1" lang="en-US" altLang="ja-JP" sz="15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3E882AA-E920-4D6E-2275-F65716050791}"/>
              </a:ext>
            </a:extLst>
          </p:cNvPr>
          <p:cNvSpPr txBox="1"/>
          <p:nvPr/>
        </p:nvSpPr>
        <p:spPr>
          <a:xfrm>
            <a:off x="182300" y="3207835"/>
            <a:ext cx="83503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000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担当</a:t>
            </a:r>
            <a:r>
              <a:rPr kumimoji="1" lang="en-US" altLang="ja-JP" sz="2000" b="1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M1</a:t>
            </a:r>
            <a:r>
              <a:rPr kumimoji="1" lang="ja-JP" altLang="en-US" sz="2000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がやること</a:t>
            </a:r>
            <a:endParaRPr kumimoji="1" lang="en-US" altLang="ja-JP" sz="2000" b="1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・次回予告で提示された単語を調べてスライドにまとめる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(2〜3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枚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)</a:t>
            </a:r>
          </a:p>
          <a:p>
            <a:pPr algn="l"/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	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例：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MAE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、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LASSO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、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PCA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など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・追加で関連する内容について調べる（任意）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・次回</a:t>
            </a:r>
            <a:r>
              <a:rPr lang="ja-JP" altLang="ja-JP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までにM２と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協力して</a:t>
            </a:r>
            <a:r>
              <a:rPr lang="ja-JP" altLang="ja-JP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スライドを完成させる</a:t>
            </a:r>
            <a:endParaRPr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・担当回でプレゼンする</a:t>
            </a:r>
            <a:endParaRPr lang="ja-JP" altLang="ja-JP" sz="200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413489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25522A7-560C-950C-63F0-A75529C60EFE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7450D1-6540-B0CC-80E0-A3220AD091F0}"/>
              </a:ext>
            </a:extLst>
          </p:cNvPr>
          <p:cNvSpPr txBox="1"/>
          <p:nvPr/>
        </p:nvSpPr>
        <p:spPr>
          <a:xfrm>
            <a:off x="13751" y="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各回の内容と担当者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2119EF-EC07-E9EA-9D4B-D9CF59895204}"/>
              </a:ext>
            </a:extLst>
          </p:cNvPr>
          <p:cNvSpPr txBox="1"/>
          <p:nvPr/>
        </p:nvSpPr>
        <p:spPr>
          <a:xfrm>
            <a:off x="13752" y="700522"/>
            <a:ext cx="9147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第一回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：仮想環境の構築（ローカル・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Vaccine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）、計算機サーバーでジョブを投げる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２担当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：柴山さん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E29D2EF-DE1D-C2AF-C9AD-18E74CF37098}"/>
              </a:ext>
            </a:extLst>
          </p:cNvPr>
          <p:cNvSpPr txBox="1"/>
          <p:nvPr/>
        </p:nvSpPr>
        <p:spPr>
          <a:xfrm>
            <a:off x="-13" y="1346853"/>
            <a:ext cx="6773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第二回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：機械学習のフロー、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y-y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プロット、評価指標について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２担当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：岩崎さん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B60DFF6-A7E6-6D32-C0DB-2FA73288C58E}"/>
              </a:ext>
            </a:extLst>
          </p:cNvPr>
          <p:cNvSpPr txBox="1"/>
          <p:nvPr/>
        </p:nvSpPr>
        <p:spPr>
          <a:xfrm>
            <a:off x="-1" y="1993183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第三回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：線形回帰モデルの構築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２担当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：宇津原さん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61E65D-B377-D8A3-0506-15E27C015D21}"/>
              </a:ext>
            </a:extLst>
          </p:cNvPr>
          <p:cNvSpPr txBox="1"/>
          <p:nvPr/>
        </p:nvSpPr>
        <p:spPr>
          <a:xfrm>
            <a:off x="-14" y="2633525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第四回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：非線形回帰モデルの構築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２担当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：上野さん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3CF13A8-F349-BF4C-2396-3FE9764C76D4}"/>
              </a:ext>
            </a:extLst>
          </p:cNvPr>
          <p:cNvSpPr txBox="1"/>
          <p:nvPr/>
        </p:nvSpPr>
        <p:spPr>
          <a:xfrm>
            <a:off x="-27" y="3279855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第五回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：分類モデルの構築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２担当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：岩﨑さん、林さん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107487A-3D87-52A5-2F84-A7BF184F8139}"/>
              </a:ext>
            </a:extLst>
          </p:cNvPr>
          <p:cNvSpPr txBox="1"/>
          <p:nvPr/>
        </p:nvSpPr>
        <p:spPr>
          <a:xfrm>
            <a:off x="0" y="3920196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第六回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：可視化、クラスタリング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２担当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：土師さん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ACB43E6-9EA8-41A4-7734-7971C00A0AB5}"/>
              </a:ext>
            </a:extLst>
          </p:cNvPr>
          <p:cNvSpPr txBox="1"/>
          <p:nvPr/>
        </p:nvSpPr>
        <p:spPr>
          <a:xfrm>
            <a:off x="0" y="4560538"/>
            <a:ext cx="7233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第七回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：次元削減、モデルの適用領域（</a:t>
            </a:r>
            <a:r>
              <a:rPr lang="en" altLang="ja-JP" b="1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Applicability Domain</a:t>
            </a:r>
            <a:r>
              <a:rPr lang="ja-JP" altLang="en-US" b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）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２担当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：林さん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F3CA441-B84F-C335-5B27-B9CB28659B47}"/>
              </a:ext>
            </a:extLst>
          </p:cNvPr>
          <p:cNvSpPr txBox="1"/>
          <p:nvPr/>
        </p:nvSpPr>
        <p:spPr>
          <a:xfrm>
            <a:off x="0" y="5200879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第八回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：タイタニック号の生存予測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２担当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：田村さん、宇津原さん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443E09E-2DB5-5B1B-D6DD-8B6FC3C442D5}"/>
              </a:ext>
            </a:extLst>
          </p:cNvPr>
          <p:cNvSpPr txBox="1"/>
          <p:nvPr/>
        </p:nvSpPr>
        <p:spPr>
          <a:xfrm>
            <a:off x="13751" y="5834312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第九回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：有機低分子の物性予測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２担当</a:t>
            </a: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：田村さん</a:t>
            </a:r>
          </a:p>
        </p:txBody>
      </p:sp>
    </p:spTree>
    <p:extLst>
      <p:ext uri="{BB962C8B-B14F-4D97-AF65-F5344CB8AC3E}">
        <p14:creationId xmlns:p14="http://schemas.microsoft.com/office/powerpoint/2010/main" val="239051236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8E864-49B2-5A3A-C822-CE69C69F8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4CEBA1C-F3EE-DB67-2E36-9165E39A37BA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80A901-B93A-DBD7-5CCF-6D2F510D04A9}"/>
              </a:ext>
            </a:extLst>
          </p:cNvPr>
          <p:cNvSpPr txBox="1"/>
          <p:nvPr/>
        </p:nvSpPr>
        <p:spPr>
          <a:xfrm>
            <a:off x="13751" y="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次回やること、宿題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D37BF9-4D33-E2F0-F927-FD02B802A012}"/>
              </a:ext>
            </a:extLst>
          </p:cNvPr>
          <p:cNvSpPr txBox="1"/>
          <p:nvPr/>
        </p:nvSpPr>
        <p:spPr>
          <a:xfrm>
            <a:off x="425672" y="4398492"/>
            <a:ext cx="8292655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8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宿題</a:t>
            </a:r>
            <a:endParaRPr kumimoji="1" lang="en-US" altLang="ja-JP" sz="28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Paiza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シェルコマンド</a:t>
            </a:r>
            <a:b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</a:br>
            <a:r>
              <a:rPr kumimoji="1"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  <a:hlinkClick r:id="rId2"/>
              </a:rPr>
              <a:t>https://paiza.jp/works/shellcommand/primer/shell-command-primer-01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lang="en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Git</a:t>
            </a:r>
            <a:r>
              <a:rPr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とは？</a:t>
            </a:r>
            <a:r>
              <a:rPr lang="en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GitHub</a:t>
            </a:r>
            <a:r>
              <a:rPr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とは？</a:t>
            </a:r>
            <a:r>
              <a:rPr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10</a:t>
            </a:r>
            <a:r>
              <a:rPr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分で仕組み・使い方を解説！</a:t>
            </a:r>
            <a:r>
              <a:rPr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【</a:t>
            </a:r>
            <a:r>
              <a:rPr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超入門編</a:t>
            </a:r>
            <a:r>
              <a:rPr lang="en-US" altLang="ja-JP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】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lang="en" altLang="ja-JP" dirty="0">
                <a:solidFill>
                  <a:srgbClr val="1264A3"/>
                </a:solidFill>
                <a:latin typeface="Hiragino Maru Gothic ProN W4" panose="020F0400000000000000" pitchFamily="34" charset="-128"/>
                <a:ea typeface="Hiragino Maru Gothic ProN W4" panose="020F0400000000000000" pitchFamily="34" charset="-128"/>
                <a:hlinkClick r:id="rId3"/>
              </a:rPr>
              <a:t>https://youtu.be/1l8oBEown8c?si=zX6mLa6Q5pPUFG0S</a:t>
            </a:r>
            <a:endParaRPr lang="en" altLang="ja-JP" dirty="0">
              <a:solidFill>
                <a:srgbClr val="1264A3"/>
              </a:solidFill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Github</a:t>
            </a:r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のアカウント作成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FAC0A96-A9E5-6F14-CD33-064C6D672AE4}"/>
              </a:ext>
            </a:extLst>
          </p:cNvPr>
          <p:cNvGrpSpPr/>
          <p:nvPr/>
        </p:nvGrpSpPr>
        <p:grpSpPr>
          <a:xfrm>
            <a:off x="1011503" y="1160618"/>
            <a:ext cx="5760465" cy="3237874"/>
            <a:chOff x="432547" y="1169550"/>
            <a:chExt cx="5760465" cy="3237874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F8785DC7-80CE-CA0D-0B7A-6B54729E4E61}"/>
                </a:ext>
              </a:extLst>
            </p:cNvPr>
            <p:cNvSpPr txBox="1"/>
            <p:nvPr/>
          </p:nvSpPr>
          <p:spPr>
            <a:xfrm>
              <a:off x="468368" y="1169550"/>
              <a:ext cx="5724644" cy="3237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ja-JP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Hiragino Maru Gothic ProN W4" panose="020F0400000000000000" pitchFamily="34" charset="-128"/>
                  <a:ea typeface="Hiragino Maru Gothic ProN W4" panose="020F0400000000000000" pitchFamily="34" charset="-128"/>
                </a:rPr>
                <a:t>基礎知識　仮想環境とは</a:t>
              </a:r>
              <a:endPara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iragino Maru Gothic ProN W4" panose="020F0400000000000000" pitchFamily="34" charset="-128"/>
                <a:ea typeface="Hiragino Maru Gothic ProN W4" panose="020F0400000000000000" pitchFamily="34" charset="-128"/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Hiragino Maru Gothic ProN W4" panose="020F0400000000000000" pitchFamily="34" charset="-128"/>
                  <a:ea typeface="Hiragino Maru Gothic ProN W4" panose="020F0400000000000000" pitchFamily="34" charset="-128"/>
                </a:rPr>
                <a:t>　　　</a:t>
              </a:r>
              <a:r>
                <a:rPr lang="ja-JP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iragino Maru Gothic ProN W4" panose="020F0400000000000000" pitchFamily="34" charset="-128"/>
                  <a:ea typeface="Hiragino Maru Gothic ProN W4" panose="020F0400000000000000" pitchFamily="34" charset="-128"/>
                </a:rPr>
                <a:t>　</a:t>
              </a:r>
              <a:r>
                <a:rPr lang="ja-JP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Hiragino Maru Gothic ProN W4" panose="020F0400000000000000" pitchFamily="34" charset="-128"/>
                  <a:ea typeface="Hiragino Maru Gothic ProN W4" panose="020F0400000000000000" pitchFamily="34" charset="-128"/>
                </a:rPr>
                <a:t>　仮想環境を作るためのツール</a:t>
              </a:r>
              <a:endPara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iragino Maru Gothic ProN W4" panose="020F0400000000000000" pitchFamily="34" charset="-128"/>
                <a:ea typeface="Hiragino Maru Gothic ProN W4" panose="020F0400000000000000" pitchFamily="34" charset="-128"/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Hiragino Maru Gothic ProN W4" panose="020F0400000000000000" pitchFamily="34" charset="-128"/>
                  <a:ea typeface="Hiragino Maru Gothic ProN W4" panose="020F0400000000000000" pitchFamily="34" charset="-128"/>
                </a:rPr>
                <a:t>　実践　　仮想環境を作ってみよう</a:t>
              </a:r>
              <a:endPara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iragino Maru Gothic ProN W4" panose="020F0400000000000000" pitchFamily="34" charset="-128"/>
                <a:ea typeface="Hiragino Maru Gothic ProN W4" panose="020F0400000000000000" pitchFamily="34" charset="-128"/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Hiragino Maru Gothic ProN W4" panose="020F0400000000000000" pitchFamily="34" charset="-128"/>
                  <a:ea typeface="Hiragino Maru Gothic ProN W4" panose="020F0400000000000000" pitchFamily="34" charset="-128"/>
                </a:rPr>
                <a:t>　　　　　サーバに接続しよう</a:t>
              </a:r>
              <a:endPara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iragino Maru Gothic ProN W4" panose="020F0400000000000000" pitchFamily="34" charset="-128"/>
                <a:ea typeface="Hiragino Maru Gothic ProN W4" panose="020F0400000000000000" pitchFamily="34" charset="-128"/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Hiragino Maru Gothic ProN W4" panose="020F0400000000000000" pitchFamily="34" charset="-128"/>
                  <a:ea typeface="Hiragino Maru Gothic ProN W4" panose="020F0400000000000000" pitchFamily="34" charset="-128"/>
                </a:rPr>
                <a:t>　　　　　サーバで仮想環境を作ろう</a:t>
              </a:r>
              <a:endPara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iragino Maru Gothic ProN W4" panose="020F0400000000000000" pitchFamily="34" charset="-128"/>
                <a:ea typeface="Hiragino Maru Gothic ProN W4" panose="020F0400000000000000" pitchFamily="34" charset="-128"/>
              </a:endParaRPr>
            </a:p>
            <a:p>
              <a:pPr>
                <a:lnSpc>
                  <a:spcPct val="150000"/>
                </a:lnSpc>
              </a:pPr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A928A33-9DE8-9713-CEE0-7F4C7317837B}"/>
                </a:ext>
              </a:extLst>
            </p:cNvPr>
            <p:cNvSpPr/>
            <p:nvPr/>
          </p:nvSpPr>
          <p:spPr>
            <a:xfrm>
              <a:off x="434524" y="1333274"/>
              <a:ext cx="45719" cy="34969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60E27DEF-9DE0-8487-4AFC-60115286C62B}"/>
                </a:ext>
              </a:extLst>
            </p:cNvPr>
            <p:cNvSpPr/>
            <p:nvPr/>
          </p:nvSpPr>
          <p:spPr>
            <a:xfrm>
              <a:off x="432547" y="2459455"/>
              <a:ext cx="45719" cy="34969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963708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3A93F-5BE9-817D-934E-B19C37D8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1516A31-F674-A8CA-3C87-4FC879022519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94B8C4-8D52-26C5-C278-F4A134DD8FE7}"/>
              </a:ext>
            </a:extLst>
          </p:cNvPr>
          <p:cNvSpPr txBox="1"/>
          <p:nvPr/>
        </p:nvSpPr>
        <p:spPr>
          <a:xfrm>
            <a:off x="13751" y="0"/>
            <a:ext cx="5120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Support</a:t>
            </a:r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：おすすめアプリ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831388-CE72-9B4F-7A7A-EF775A579770}"/>
              </a:ext>
            </a:extLst>
          </p:cNvPr>
          <p:cNvSpPr txBox="1"/>
          <p:nvPr/>
        </p:nvSpPr>
        <p:spPr>
          <a:xfrm>
            <a:off x="512977" y="1289953"/>
            <a:ext cx="850206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Zotero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：論文まとめツール、参考文献目録も作れるので便利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iTerm2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：ちょっと便利なコンソール、コピペが簡単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		Oh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 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My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 </a:t>
            </a:r>
            <a:r>
              <a:rPr kumimoji="1" lang="en-US" altLang="ja-JP" sz="20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Zsh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！も調べてみるといいかも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Antigravity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AI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エージェントがついた</a:t>
            </a:r>
            <a:r>
              <a:rPr kumimoji="1" lang="en-US" altLang="ja-JP" sz="20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VScode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</a:t>
            </a:r>
            <a:r>
              <a:rPr kumimoji="1" lang="en-US" altLang="ja-JP" sz="20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alphaxive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</a:t>
            </a:r>
            <a:r>
              <a:rPr kumimoji="1" lang="en-US" altLang="ja-JP" sz="20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arxiv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を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LLM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のサポート付きで読める機能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		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　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URL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を書き換えることで使える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sz="16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 sz="16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例：</a:t>
            </a:r>
            <a:r>
              <a:rPr kumimoji="1" lang="en-US" altLang="ja-JP" sz="16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https://arxiv.org/abs/16〜</a:t>
            </a:r>
            <a:r>
              <a:rPr kumimoji="1" lang="ja-JP" altLang="en-US" sz="16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　→ </a:t>
            </a:r>
            <a:r>
              <a:rPr kumimoji="1" lang="en-US" altLang="ja-JP" sz="16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https://</a:t>
            </a:r>
            <a:r>
              <a:rPr kumimoji="1" lang="en-US" altLang="ja-JP" sz="16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alphaxiv.org</a:t>
            </a:r>
            <a:r>
              <a:rPr kumimoji="1" lang="en-US" altLang="ja-JP" sz="16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/abs/16〜 </a:t>
            </a:r>
            <a:r>
              <a:rPr kumimoji="1" lang="ja-JP" altLang="en-US" sz="16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に書き換える　</a:t>
            </a:r>
            <a:endParaRPr kumimoji="1" lang="en-US" altLang="ja-JP" sz="16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・</a:t>
            </a:r>
            <a:r>
              <a:rPr kumimoji="1" lang="en-US" altLang="ja-JP" sz="20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deepwiki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：</a:t>
            </a:r>
            <a:r>
              <a:rPr kumimoji="1" lang="en-US" altLang="ja-JP" sz="20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Github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を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LLM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のサポートつきで読める機能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		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  同じく</a:t>
            </a:r>
            <a:r>
              <a:rPr kumimoji="1" lang="en-US" altLang="ja-JP" sz="20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URL</a:t>
            </a:r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を書き換える</a:t>
            </a:r>
            <a:endParaRPr kumimoji="1" lang="en-US" altLang="ja-JP" sz="20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r>
              <a:rPr kumimoji="1" lang="en-US" altLang="ja-JP" sz="16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	</a:t>
            </a:r>
            <a:r>
              <a:rPr kumimoji="1" lang="ja-JP" altLang="en-US" sz="16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例：</a:t>
            </a:r>
            <a:r>
              <a:rPr kumimoji="1" lang="en" altLang="ja-JP" sz="16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https://</a:t>
            </a:r>
            <a:r>
              <a:rPr kumimoji="1" lang="en" altLang="ja-JP" sz="16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github.com</a:t>
            </a:r>
            <a:r>
              <a:rPr kumimoji="1" lang="en" altLang="ja-JP" sz="16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/〜</a:t>
            </a:r>
            <a:r>
              <a:rPr kumimoji="1" lang="ja-JP" altLang="en-US" sz="16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　→　</a:t>
            </a:r>
            <a:r>
              <a:rPr kumimoji="1" lang="en" altLang="ja-JP" sz="16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https://</a:t>
            </a:r>
            <a:r>
              <a:rPr kumimoji="1" lang="en" altLang="ja-JP" sz="1600" dirty="0" err="1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deepwiki.com</a:t>
            </a:r>
            <a:r>
              <a:rPr kumimoji="1" lang="en" altLang="ja-JP" sz="1600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/〜</a:t>
            </a:r>
            <a:endParaRPr kumimoji="1" lang="en-US" altLang="ja-JP" sz="1600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CAD43B-8190-AE8D-0167-B08425EA1020}"/>
              </a:ext>
            </a:extLst>
          </p:cNvPr>
          <p:cNvSpPr txBox="1"/>
          <p:nvPr/>
        </p:nvSpPr>
        <p:spPr>
          <a:xfrm>
            <a:off x="0" y="679938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00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ざっくり説明を書いているので調べてみてください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FAA85E-FDAC-16AB-4BAB-1548AF17AA13}"/>
              </a:ext>
            </a:extLst>
          </p:cNvPr>
          <p:cNvSpPr txBox="1"/>
          <p:nvPr/>
        </p:nvSpPr>
        <p:spPr>
          <a:xfrm>
            <a:off x="512977" y="5950059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気になったら先輩に聞いてみてください</a:t>
            </a:r>
            <a:endParaRPr kumimoji="1" lang="en-US" altLang="ja-JP" dirty="0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  <a:p>
            <a:pPr algn="l"/>
            <a:r>
              <a:rPr kumimoji="1" lang="ja-JP" altLang="en-US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時間オーバーしてすみませんでした。　土師</a:t>
            </a:r>
          </a:p>
        </p:txBody>
      </p:sp>
    </p:spTree>
    <p:extLst>
      <p:ext uri="{BB962C8B-B14F-4D97-AF65-F5344CB8AC3E}">
        <p14:creationId xmlns:p14="http://schemas.microsoft.com/office/powerpoint/2010/main" val="13785816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mtClean="0">
            <a:latin typeface="Hiragino Maru Gothic ProN W4" panose="020F0400000000000000" pitchFamily="34" charset="-128"/>
            <a:ea typeface="Hiragino Maru Gothic ProN W4" panose="020F04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4566</TotalTime>
  <Words>739</Words>
  <Application>Microsoft Macintosh PowerPoint</Application>
  <PresentationFormat>画面に合わせる (4:3)</PresentationFormat>
  <Paragraphs>88</Paragraphs>
  <Slides>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Hiragino Kaku Gothic ProN W3</vt:lpstr>
      <vt:lpstr>Hiragino Maru Gothic ProN W4</vt:lpstr>
      <vt:lpstr>Meiryo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 Yokuto</dc:creator>
  <cp:lastModifiedBy>Haze Yokuto</cp:lastModifiedBy>
  <cp:revision>22</cp:revision>
  <dcterms:created xsi:type="dcterms:W3CDTF">2026-05-14T03:01:12Z</dcterms:created>
  <dcterms:modified xsi:type="dcterms:W3CDTF">2026-05-18T06:01:38Z</dcterms:modified>
</cp:coreProperties>
</file>