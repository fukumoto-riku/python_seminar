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60" r:id="rId3"/>
    <p:sldId id="262" r:id="rId4"/>
    <p:sldId id="273" r:id="rId5"/>
    <p:sldId id="257" r:id="rId6"/>
    <p:sldId id="263" r:id="rId7"/>
    <p:sldId id="274" r:id="rId8"/>
    <p:sldId id="259" r:id="rId9"/>
    <p:sldId id="272" r:id="rId10"/>
    <p:sldId id="267" r:id="rId11"/>
    <p:sldId id="268" r:id="rId12"/>
    <p:sldId id="271" r:id="rId13"/>
    <p:sldId id="26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0"/>
    <p:restoredTop sz="79863"/>
  </p:normalViewPr>
  <p:slideViewPr>
    <p:cSldViewPr snapToGrid="0">
      <p:cViewPr>
        <p:scale>
          <a:sx n="96" d="100"/>
          <a:sy n="96" d="100"/>
        </p:scale>
        <p:origin x="2200"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4DD334-AFFD-4646-ACAE-93245D122CDD}" type="datetimeFigureOut">
              <a:rPr kumimoji="1" lang="ja-JP" altLang="en-US" smtClean="0"/>
              <a:t>2026/6/2</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89AA7-0A7F-0040-A40D-54DDCC682F79}" type="slidenum">
              <a:rPr kumimoji="1" lang="ja-JP" altLang="en-US" smtClean="0"/>
              <a:t>‹#›</a:t>
            </a:fld>
            <a:endParaRPr kumimoji="1" lang="ja-JP" altLang="en-US"/>
          </a:p>
        </p:txBody>
      </p:sp>
    </p:spTree>
    <p:extLst>
      <p:ext uri="{BB962C8B-B14F-4D97-AF65-F5344CB8AC3E}">
        <p14:creationId xmlns:p14="http://schemas.microsoft.com/office/powerpoint/2010/main" val="29498887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1</a:t>
            </a:fld>
            <a:endParaRPr kumimoji="1" lang="ja-JP" altLang="en-US"/>
          </a:p>
        </p:txBody>
      </p:sp>
    </p:spTree>
    <p:extLst>
      <p:ext uri="{BB962C8B-B14F-4D97-AF65-F5344CB8AC3E}">
        <p14:creationId xmlns:p14="http://schemas.microsoft.com/office/powerpoint/2010/main" val="100983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2</a:t>
            </a:fld>
            <a:endParaRPr kumimoji="1" lang="ja-JP" altLang="en-US"/>
          </a:p>
        </p:txBody>
      </p:sp>
    </p:spTree>
    <p:extLst>
      <p:ext uri="{BB962C8B-B14F-4D97-AF65-F5344CB8AC3E}">
        <p14:creationId xmlns:p14="http://schemas.microsoft.com/office/powerpoint/2010/main" val="2989858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1200" dirty="0"/>
              <a:t>RMSE</a:t>
            </a:r>
            <a:r>
              <a:rPr lang="ja-JP" altLang="en-US" sz="1200"/>
              <a:t>は二乗平均平方根誤差</a:t>
            </a:r>
            <a:endParaRPr lang="en-US" altLang="ja-JP" sz="1200" dirty="0"/>
          </a:p>
          <a:p>
            <a:pPr marL="0" indent="0">
              <a:buNone/>
            </a:pPr>
            <a:r>
              <a:rPr lang="ja-JP" altLang="en-US" sz="1200"/>
              <a:t>二乗してから平均をとる誤差です。強い部分として、</a:t>
            </a:r>
            <a:endParaRPr lang="en-US" altLang="ja-JP" sz="1200" dirty="0"/>
          </a:p>
          <a:p>
            <a:pPr marL="0" indent="0">
              <a:buNone/>
            </a:pPr>
            <a:endParaRPr lang="en-US" altLang="ja-JP" sz="1200" dirty="0"/>
          </a:p>
          <a:p>
            <a:pPr marL="0" indent="0">
              <a:buNone/>
            </a:pPr>
            <a:endParaRPr lang="en-US" altLang="ja-JP" sz="1200" dirty="0"/>
          </a:p>
          <a:p>
            <a:r>
              <a:rPr lang="en-US" altLang="ja-JP" sz="1200" dirty="0"/>
              <a:t>MAE</a:t>
            </a:r>
            <a:r>
              <a:rPr lang="ja-JP" altLang="en-US" sz="1200"/>
              <a:t>（平均絶対誤差）</a:t>
            </a:r>
            <a:endParaRPr lang="en-US" altLang="ja-JP" sz="1200" dirty="0"/>
          </a:p>
          <a:p>
            <a:pPr marL="0" indent="0">
              <a:buNone/>
            </a:pPr>
            <a:r>
              <a:rPr lang="ja-JP" altLang="en-US" sz="1200"/>
              <a:t>平均してどれぐらいづれていたか</a:t>
            </a:r>
            <a:endParaRPr lang="en-US" altLang="ja-JP" sz="1200" dirty="0"/>
          </a:p>
          <a:p>
            <a:pPr marL="0" indent="0">
              <a:buNone/>
            </a:pPr>
            <a:endParaRPr lang="en-US" altLang="ja-JP" sz="1200" dirty="0"/>
          </a:p>
          <a:p>
            <a:pPr marL="0" indent="0">
              <a:buNone/>
            </a:pPr>
            <a:endParaRPr lang="en-US" altLang="ja-JP" sz="1200" dirty="0"/>
          </a:p>
          <a:p>
            <a:r>
              <a:rPr lang="ja-JP" altLang="en-US" sz="1200"/>
              <a:t>予測値</a:t>
            </a:r>
            <a:r>
              <a:rPr lang="en-US" altLang="ja-JP" sz="1200" dirty="0"/>
              <a:t>-</a:t>
            </a:r>
            <a:r>
              <a:rPr lang="ja-JP" altLang="en-US" sz="1200"/>
              <a:t>実測値プロット</a:t>
            </a:r>
          </a:p>
          <a:p>
            <a:pPr marL="0" indent="0">
              <a:buNone/>
            </a:pPr>
            <a:r>
              <a:rPr kumimoji="1" lang="ja-JP" altLang="en-US" sz="1200"/>
              <a:t>予測と実測のプロット。</a:t>
            </a:r>
            <a:r>
              <a:rPr kumimoji="1" lang="en-US" altLang="ja-JP" sz="1200" dirty="0"/>
              <a:t>45deg</a:t>
            </a:r>
            <a:r>
              <a:rPr lang="ja-JP" altLang="en-US" sz="1200"/>
              <a:t>線にどれぐらい集まっているか？</a:t>
            </a:r>
            <a:endParaRPr lang="en-US" altLang="ja-JP" sz="1200" dirty="0"/>
          </a:p>
          <a:p>
            <a:pPr marL="0" indent="0">
              <a:buNone/>
            </a:pPr>
            <a:r>
              <a:rPr kumimoji="1" lang="en-US" altLang="ja-JP" sz="1200" dirty="0"/>
              <a:t>※</a:t>
            </a:r>
            <a:r>
              <a:rPr kumimoji="1" lang="ja-JP" altLang="en-US" sz="1200"/>
              <a:t>図はチャット</a:t>
            </a:r>
            <a:r>
              <a:rPr kumimoji="1" lang="en-US" altLang="ja-JP" sz="1200" dirty="0" err="1"/>
              <a:t>GPt</a:t>
            </a:r>
            <a:r>
              <a:rPr kumimoji="1" lang="ja-JP" altLang="en-US" sz="1200"/>
              <a:t>で作成。少し恣意的だけとどまあわかるでしょう。</a:t>
            </a:r>
            <a:endParaRPr kumimoji="1" lang="en-US" altLang="ja-JP" sz="1200" dirty="0"/>
          </a:p>
          <a:p>
            <a:pPr marL="0" indent="0">
              <a:buNone/>
            </a:pPr>
            <a:r>
              <a:rPr kumimoji="1" lang="ja-JP" altLang="en-US" sz="1200"/>
              <a:t>ほぼ最悪ケース。</a:t>
            </a:r>
            <a:endParaRPr kumimoji="1" lang="ja-JP" altLang="en-US"/>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3</a:t>
            </a:fld>
            <a:endParaRPr kumimoji="1" lang="ja-JP" altLang="en-US"/>
          </a:p>
        </p:txBody>
      </p:sp>
    </p:spTree>
    <p:extLst>
      <p:ext uri="{BB962C8B-B14F-4D97-AF65-F5344CB8AC3E}">
        <p14:creationId xmlns:p14="http://schemas.microsoft.com/office/powerpoint/2010/main" val="2133272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408A8-FCCC-FDC3-9D1B-47868BC400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B77D4B-1A39-9686-77B1-8636316B32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2090D6-739E-7F4D-F94D-7C9AA5BA8C78}"/>
              </a:ext>
            </a:extLst>
          </p:cNvPr>
          <p:cNvSpPr>
            <a:spLocks noGrp="1"/>
          </p:cNvSpPr>
          <p:nvPr>
            <p:ph type="body" idx="1"/>
          </p:nvPr>
        </p:nvSpPr>
        <p:spPr/>
        <p:txBody>
          <a:bodyPr/>
          <a:lstStyle/>
          <a:p>
            <a:r>
              <a:rPr lang="ja-JP" altLang="en-US" sz="1200"/>
              <a:t>予測値</a:t>
            </a:r>
            <a:r>
              <a:rPr lang="en-US" altLang="ja-JP" sz="1200" dirty="0"/>
              <a:t>-</a:t>
            </a:r>
            <a:r>
              <a:rPr lang="ja-JP" altLang="en-US" sz="1200"/>
              <a:t>実測値プロット</a:t>
            </a:r>
          </a:p>
          <a:p>
            <a:pPr marL="0" indent="0">
              <a:buNone/>
            </a:pPr>
            <a:r>
              <a:rPr kumimoji="1" lang="ja-JP" altLang="en-US" sz="1200"/>
              <a:t>予測と実測のプロット。</a:t>
            </a:r>
            <a:r>
              <a:rPr kumimoji="1" lang="en-US" altLang="ja-JP" sz="1200" dirty="0"/>
              <a:t>45deg</a:t>
            </a:r>
            <a:r>
              <a:rPr lang="ja-JP" altLang="en-US" sz="1200"/>
              <a:t>線にどれぐらい集まっているか？</a:t>
            </a:r>
            <a:endParaRPr lang="en-US" altLang="ja-JP" sz="1200" dirty="0"/>
          </a:p>
          <a:p>
            <a:pPr marL="0" indent="0">
              <a:buNone/>
            </a:pPr>
            <a:endParaRPr lang="en-US" altLang="ja-JP" sz="1200" dirty="0"/>
          </a:p>
          <a:p>
            <a:pPr marL="0" indent="0">
              <a:buNone/>
            </a:pPr>
            <a:r>
              <a:rPr lang="ja-JP" altLang="en-US" sz="1200"/>
              <a:t>今回は、</a:t>
            </a:r>
            <a:r>
              <a:rPr lang="en-US" altLang="ja-JP" sz="1200" dirty="0"/>
              <a:t>4</a:t>
            </a:r>
            <a:r>
              <a:rPr lang="ja-JP" altLang="en-US" sz="1200"/>
              <a:t>つほど、実例を作成しました。</a:t>
            </a:r>
            <a:endParaRPr lang="en-US" altLang="ja-JP" sz="1200" dirty="0"/>
          </a:p>
          <a:p>
            <a:pPr marL="0" indent="0">
              <a:buNone/>
            </a:pPr>
            <a:r>
              <a:rPr lang="ja-JP" altLang="en-US" sz="1200"/>
              <a:t>左上：良い例：とても綺麗に</a:t>
            </a:r>
            <a:r>
              <a:rPr lang="en-US" altLang="ja-JP" sz="1200" dirty="0"/>
              <a:t>45deg</a:t>
            </a:r>
            <a:r>
              <a:rPr lang="ja-JP" altLang="en-US" sz="1200"/>
              <a:t>線に集まっている</a:t>
            </a:r>
            <a:endParaRPr lang="en-US" altLang="ja-JP" sz="1200" dirty="0"/>
          </a:p>
          <a:p>
            <a:pPr marL="0" indent="0">
              <a:buNone/>
            </a:pPr>
            <a:endParaRPr lang="en-US" altLang="ja-JP" sz="1200" dirty="0"/>
          </a:p>
          <a:p>
            <a:pPr marL="0" indent="0">
              <a:buNone/>
            </a:pPr>
            <a:r>
              <a:rPr lang="ja-JP" altLang="en-US" sz="1200"/>
              <a:t>右うえ；悪い：モデルが何も学べてない→予測値がほぼ一定</a:t>
            </a:r>
            <a:endParaRPr lang="en-US" altLang="ja-JP" sz="1200" dirty="0"/>
          </a:p>
          <a:p>
            <a:pPr marL="0" indent="0">
              <a:buNone/>
            </a:pPr>
            <a:r>
              <a:rPr lang="ja-JP" altLang="en-US" sz="1200"/>
              <a:t>　</a:t>
            </a:r>
            <a:r>
              <a:rPr lang="en-US" altLang="ja-JP" sz="1200" dirty="0"/>
              <a:t>R^2</a:t>
            </a:r>
            <a:r>
              <a:rPr lang="ja-JP" altLang="en-US" sz="1200"/>
              <a:t>は</a:t>
            </a:r>
            <a:r>
              <a:rPr lang="en-US" altLang="ja-JP" sz="1200" dirty="0"/>
              <a:t>0</a:t>
            </a:r>
            <a:r>
              <a:rPr lang="ja-JP" altLang="en-US" sz="1200"/>
              <a:t>か負、</a:t>
            </a:r>
            <a:r>
              <a:rPr lang="en-US" altLang="ja-JP" sz="1200" dirty="0"/>
              <a:t>RMSE</a:t>
            </a:r>
            <a:r>
              <a:rPr lang="ja-JP" altLang="en-US" sz="1200"/>
              <a:t>や</a:t>
            </a:r>
            <a:r>
              <a:rPr lang="en-US" altLang="ja-JP" sz="1200" dirty="0"/>
              <a:t>MAE</a:t>
            </a:r>
            <a:r>
              <a:rPr lang="ja-JP" altLang="en-US" sz="1200"/>
              <a:t>は大きい、実測値が大きくても予測値に変化がない</a:t>
            </a:r>
            <a:endParaRPr lang="en-US" altLang="ja-JP" sz="1200" dirty="0"/>
          </a:p>
          <a:p>
            <a:pPr marL="0" indent="0">
              <a:buNone/>
            </a:pPr>
            <a:r>
              <a:rPr lang="ja-JP" altLang="en-US" sz="1200"/>
              <a:t>左下：悪い：雲みたいに散らばっている。方向性が大きくはあるけど、誤差が大きすぎる。予測できてますか？？</a:t>
            </a:r>
            <a:endParaRPr lang="en-US" altLang="ja-JP" sz="1200" dirty="0"/>
          </a:p>
          <a:p>
            <a:pPr marL="0" indent="0">
              <a:buNone/>
            </a:pPr>
            <a:r>
              <a:rPr lang="ja-JP" altLang="en-US" sz="1200"/>
              <a:t>右下：悪い：系統的にずれている（傾き、切片がおかしい）：モデルが値のレンジを小さく見積もっている。</a:t>
            </a:r>
            <a:endParaRPr lang="en-US" altLang="ja-JP" sz="1200" dirty="0"/>
          </a:p>
          <a:p>
            <a:pPr marL="0" indent="0">
              <a:buNone/>
            </a:pPr>
            <a:endParaRPr lang="en-US" altLang="ja-JP" sz="1200" dirty="0"/>
          </a:p>
        </p:txBody>
      </p:sp>
      <p:sp>
        <p:nvSpPr>
          <p:cNvPr id="4" name="スライド番号プレースホルダー 3">
            <a:extLst>
              <a:ext uri="{FF2B5EF4-FFF2-40B4-BE49-F238E27FC236}">
                <a16:creationId xmlns:a16="http://schemas.microsoft.com/office/drawing/2014/main" id="{C417A1E5-8104-F31F-D3C8-7F1EA10CAFF3}"/>
              </a:ext>
            </a:extLst>
          </p:cNvPr>
          <p:cNvSpPr>
            <a:spLocks noGrp="1"/>
          </p:cNvSpPr>
          <p:nvPr>
            <p:ph type="sldNum" sz="quarter" idx="5"/>
          </p:nvPr>
        </p:nvSpPr>
        <p:spPr/>
        <p:txBody>
          <a:bodyPr/>
          <a:lstStyle/>
          <a:p>
            <a:fld id="{BD189AA7-0A7F-0040-A40D-54DDCC682F79}" type="slidenum">
              <a:rPr kumimoji="1" lang="ja-JP" altLang="en-US" smtClean="0"/>
              <a:t>4</a:t>
            </a:fld>
            <a:endParaRPr kumimoji="1" lang="ja-JP" altLang="en-US"/>
          </a:p>
        </p:txBody>
      </p:sp>
    </p:spTree>
    <p:extLst>
      <p:ext uri="{BB962C8B-B14F-4D97-AF65-F5344CB8AC3E}">
        <p14:creationId xmlns:p14="http://schemas.microsoft.com/office/powerpoint/2010/main" val="2084800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コードをパースした感じ、このタスクの最終的な目標は、「有機化合物の</a:t>
            </a:r>
            <a:r>
              <a:rPr kumimoji="1" lang="en-US" altLang="ja-JP" dirty="0"/>
              <a:t>HOMO</a:t>
            </a:r>
            <a:r>
              <a:rPr kumimoji="1" lang="ja-JP" altLang="en-US"/>
              <a:t>エネルギ予測」を行いたいと判断しました。</a:t>
            </a:r>
            <a:endParaRPr kumimoji="1" lang="en-US" altLang="ja-JP" dirty="0"/>
          </a:p>
          <a:p>
            <a:endParaRPr kumimoji="1" lang="en-US" altLang="ja-JP" dirty="0"/>
          </a:p>
          <a:p>
            <a:r>
              <a:rPr kumimoji="1" lang="ja-JP" altLang="en-US"/>
              <a:t>今回のプロジェクトでは、</a:t>
            </a:r>
            <a:r>
              <a:rPr kumimoji="1" lang="en-US" altLang="ja-JP" dirty="0"/>
              <a:t>raw</a:t>
            </a:r>
            <a:r>
              <a:rPr kumimoji="1" lang="ja-JP" altLang="en-US"/>
              <a:t>データの可視化がないので、</a:t>
            </a:r>
            <a:r>
              <a:rPr kumimoji="1" lang="en-US" altLang="ja-JP" dirty="0"/>
              <a:t>Data</a:t>
            </a:r>
            <a:r>
              <a:rPr kumimoji="1" lang="ja-JP" altLang="en-US"/>
              <a:t> </a:t>
            </a:r>
            <a:r>
              <a:rPr kumimoji="1" lang="en-US" altLang="ja-JP" dirty="0" err="1"/>
              <a:t>Wronger</a:t>
            </a:r>
            <a:r>
              <a:rPr kumimoji="1" lang="ja-JP" altLang="en-US"/>
              <a:t>で判断したか、そもそも</a:t>
            </a:r>
            <a:r>
              <a:rPr kumimoji="1" lang="en-US" altLang="ja-JP" dirty="0" err="1"/>
              <a:t>XGBoost</a:t>
            </a:r>
            <a:r>
              <a:rPr kumimoji="1" lang="ja-JP" altLang="en-US"/>
              <a:t>を用いることを前提として、プロジェクトが行われたと考えます。</a:t>
            </a:r>
            <a:endParaRPr kumimoji="1" lang="en-US" altLang="ja-JP" dirty="0"/>
          </a:p>
          <a:p>
            <a:endParaRPr kumimoji="1" lang="en-US" altLang="ja-JP" dirty="0"/>
          </a:p>
          <a:p>
            <a:r>
              <a:rPr kumimoji="1" lang="ja-JP" altLang="en-US"/>
              <a:t>具体的なフローでの対応する処理項目として、前処理として、使わない列の削除</a:t>
            </a:r>
            <a:endParaRPr kumimoji="1" lang="en-US" altLang="ja-JP" dirty="0"/>
          </a:p>
          <a:p>
            <a:r>
              <a:rPr kumimoji="1" lang="ja-JP" altLang="en-US"/>
              <a:t>モデルでは、</a:t>
            </a:r>
            <a:r>
              <a:rPr kumimoji="1" lang="en-US" altLang="ja-JP" dirty="0" err="1"/>
              <a:t>XGBoost</a:t>
            </a:r>
            <a:r>
              <a:rPr kumimoji="1" lang="ja-JP" altLang="en-US"/>
              <a:t>を選択</a:t>
            </a:r>
            <a:endParaRPr kumimoji="1" lang="en-US" altLang="ja-JP" dirty="0"/>
          </a:p>
          <a:p>
            <a:r>
              <a:rPr kumimoji="1" lang="ja-JP" altLang="en-US"/>
              <a:t>モデルの構築では、</a:t>
            </a:r>
            <a:r>
              <a:rPr kumimoji="1" lang="en-US" altLang="ja-JP" dirty="0"/>
              <a:t>1</a:t>
            </a:r>
            <a:r>
              <a:rPr kumimoji="1" lang="ja-JP" altLang="en-US"/>
              <a:t>万データをトレーニングデータ</a:t>
            </a:r>
            <a:r>
              <a:rPr kumimoji="1" lang="en-US" altLang="ja-JP" dirty="0"/>
              <a:t>8000</a:t>
            </a:r>
            <a:r>
              <a:rPr kumimoji="1" lang="ja-JP" altLang="en-US"/>
              <a:t>と、テストでーた</a:t>
            </a:r>
            <a:r>
              <a:rPr kumimoji="1" lang="en-US" altLang="ja-JP" dirty="0"/>
              <a:t>2000</a:t>
            </a:r>
            <a:r>
              <a:rPr kumimoji="1" lang="ja-JP" altLang="en-US"/>
              <a:t>に分けて学習と評価を行って増田</a:t>
            </a:r>
            <a:endParaRPr kumimoji="1" lang="en-US" altLang="ja-JP" dirty="0"/>
          </a:p>
          <a:p>
            <a:r>
              <a:rPr kumimoji="1" lang="ja-JP" altLang="en-US"/>
              <a:t>モデルの評価は、予測値</a:t>
            </a:r>
            <a:r>
              <a:rPr kumimoji="1" lang="en-US" altLang="ja-JP" dirty="0"/>
              <a:t>-</a:t>
            </a:r>
            <a:r>
              <a:rPr kumimoji="1" lang="ja-JP" altLang="en-US"/>
              <a:t>実測値プロットと数値で行っています。</a:t>
            </a:r>
            <a:endParaRPr kumimoji="1" lang="en-US" altLang="ja-JP" dirty="0"/>
          </a:p>
          <a:p>
            <a:endParaRPr kumimoji="1" lang="en-US" altLang="ja-JP" dirty="0"/>
          </a:p>
          <a:p>
            <a:endParaRPr kumimoji="1" lang="en-US" altLang="ja-JP" dirty="0"/>
          </a:p>
          <a:p>
            <a:r>
              <a:rPr kumimoji="1" lang="ja-JP" altLang="en-US"/>
              <a:t>・補足</a:t>
            </a:r>
            <a:endParaRPr kumimoji="1" lang="en-US" altLang="ja-JP" dirty="0"/>
          </a:p>
          <a:p>
            <a:r>
              <a:rPr kumimoji="1" lang="en-US" altLang="ja-JP" dirty="0" err="1"/>
              <a:t>XGBoost</a:t>
            </a:r>
            <a:r>
              <a:rPr kumimoji="1" lang="ja-JP" altLang="en-US"/>
              <a:t>は雑に投げても結果が出るタイプのやつなので、（</a:t>
            </a:r>
            <a:r>
              <a:rPr kumimoji="1" lang="en-US" altLang="ja-JP" dirty="0" err="1"/>
              <a:t>kaggel</a:t>
            </a:r>
            <a:r>
              <a:rPr kumimoji="1" lang="ja-JP" altLang="en-US"/>
              <a:t>の結果などはそうだよね）まあ、一旦考えずに、</a:t>
            </a:r>
            <a:r>
              <a:rPr kumimoji="1" lang="en-US" altLang="ja-JP" dirty="0" err="1"/>
              <a:t>XGBoost</a:t>
            </a:r>
            <a:r>
              <a:rPr kumimoji="1" lang="ja-JP" altLang="en-US"/>
              <a:t>で評価するって選択肢もあるかもしれない。</a:t>
            </a:r>
            <a:endParaRPr kumimoji="1" lang="en-US" altLang="ja-JP" dirty="0"/>
          </a:p>
          <a:p>
            <a:r>
              <a:rPr kumimoji="1" lang="ja-JP" altLang="en-US"/>
              <a:t>私の主張は教科書的な解釈なので、必ずしも正確、実務に即しているとは限らない。</a:t>
            </a:r>
            <a:endParaRPr kumimoji="1" lang="en-US" altLang="ja-JP" dirty="0"/>
          </a:p>
          <a:p>
            <a:r>
              <a:rPr kumimoji="1" lang="ja-JP" altLang="en-US"/>
              <a:t>まあ、仕方ないね。そもそも、教科書的な機械学習しかしてないし。</a:t>
            </a:r>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5</a:t>
            </a:fld>
            <a:endParaRPr kumimoji="1" lang="ja-JP" altLang="en-US"/>
          </a:p>
        </p:txBody>
      </p:sp>
    </p:spTree>
    <p:extLst>
      <p:ext uri="{BB962C8B-B14F-4D97-AF65-F5344CB8AC3E}">
        <p14:creationId xmlns:p14="http://schemas.microsoft.com/office/powerpoint/2010/main" val="1830896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より詳細なコードの解釈として、</a:t>
            </a:r>
            <a:endParaRPr kumimoji="1" lang="en-US" altLang="ja-JP" dirty="0"/>
          </a:p>
          <a:p>
            <a:pPr marL="0" indent="0">
              <a:buNone/>
            </a:pPr>
            <a:r>
              <a:rPr lang="en-US" altLang="ja-JP" sz="1200" dirty="0"/>
              <a:t>1.</a:t>
            </a:r>
            <a:r>
              <a:rPr lang="ja-JP" altLang="en-US" sz="1200"/>
              <a:t>ライブラリの読み込み</a:t>
            </a:r>
            <a:endParaRPr lang="en-US" altLang="ja-JP" sz="1200" dirty="0"/>
          </a:p>
          <a:p>
            <a:pPr marL="0" indent="0">
              <a:buNone/>
            </a:pPr>
            <a:r>
              <a:rPr kumimoji="1" lang="en-US" altLang="ja-JP" sz="1200" dirty="0"/>
              <a:t>2.</a:t>
            </a:r>
            <a:r>
              <a:rPr kumimoji="1" lang="ja-JP" altLang="en-US" sz="1200"/>
              <a:t>評価・可視化用の</a:t>
            </a:r>
            <a:r>
              <a:rPr lang="ja-JP" altLang="en-US" sz="1200"/>
              <a:t>関数を定義</a:t>
            </a:r>
            <a:endParaRPr lang="en-US" altLang="ja-JP" sz="1200" dirty="0"/>
          </a:p>
          <a:p>
            <a:pPr marL="0" indent="0">
              <a:buNone/>
            </a:pPr>
            <a:r>
              <a:rPr kumimoji="1" lang="en-US" altLang="ja-JP" sz="1200" dirty="0"/>
              <a:t>3.</a:t>
            </a:r>
            <a:r>
              <a:rPr kumimoji="1" lang="ja-JP" altLang="en-US" sz="1200"/>
              <a:t>特徴量重要度を可視化する関数を定義</a:t>
            </a:r>
            <a:endParaRPr kumimoji="1" lang="en-US" altLang="ja-JP" sz="1200" dirty="0"/>
          </a:p>
          <a:p>
            <a:pPr marL="0" indent="0">
              <a:buNone/>
            </a:pPr>
            <a:r>
              <a:rPr lang="en-US" altLang="ja-JP" sz="1200" dirty="0"/>
              <a:t>4.</a:t>
            </a:r>
            <a:r>
              <a:rPr lang="ja-JP" altLang="en-US" sz="1200"/>
              <a:t>データの読み込み</a:t>
            </a:r>
            <a:endParaRPr lang="en-US" altLang="ja-JP" sz="1200" dirty="0"/>
          </a:p>
          <a:p>
            <a:pPr marL="0" indent="0">
              <a:buNone/>
            </a:pPr>
            <a:r>
              <a:rPr lang="en-US" altLang="ja-JP" sz="1200" dirty="0"/>
              <a:t>5.</a:t>
            </a:r>
            <a:r>
              <a:rPr lang="ja-JP" altLang="en-US" sz="1200"/>
              <a:t>不要列の削除</a:t>
            </a:r>
            <a:endParaRPr lang="en-US" altLang="ja-JP" sz="1200" dirty="0"/>
          </a:p>
          <a:p>
            <a:pPr marL="0" indent="0">
              <a:buNone/>
            </a:pPr>
            <a:r>
              <a:rPr lang="en-US" altLang="ja-JP" sz="1200" dirty="0"/>
              <a:t>6.</a:t>
            </a:r>
            <a:r>
              <a:rPr lang="ja-JP" altLang="en-US" sz="1200"/>
              <a:t>訓練データ・テストデータに分割</a:t>
            </a:r>
            <a:endParaRPr lang="en-US" altLang="ja-JP" sz="1200" dirty="0"/>
          </a:p>
          <a:p>
            <a:pPr marL="0" indent="0">
              <a:buNone/>
            </a:pPr>
            <a:r>
              <a:rPr lang="en-US" altLang="ja-JP" sz="1200" dirty="0"/>
              <a:t>7.</a:t>
            </a:r>
            <a:r>
              <a:rPr lang="ja-JP" altLang="en-US" sz="1200"/>
              <a:t>標準化</a:t>
            </a:r>
            <a:endParaRPr lang="en-US" altLang="ja-JP" sz="1200" dirty="0"/>
          </a:p>
          <a:p>
            <a:pPr marL="0" indent="0">
              <a:buNone/>
            </a:pPr>
            <a:r>
              <a:rPr lang="en-US" altLang="ja-JP" sz="1200" dirty="0"/>
              <a:t>8.XGBoost</a:t>
            </a:r>
            <a:r>
              <a:rPr lang="ja-JP" altLang="en-US" sz="1200"/>
              <a:t>を用いた学習</a:t>
            </a:r>
            <a:endParaRPr lang="en-US" altLang="ja-JP" sz="1200" dirty="0"/>
          </a:p>
          <a:p>
            <a:pPr marL="0" indent="0">
              <a:buNone/>
            </a:pPr>
            <a:r>
              <a:rPr lang="en-US" altLang="ja-JP" sz="1200" dirty="0"/>
              <a:t>9.</a:t>
            </a:r>
            <a:r>
              <a:rPr lang="ja-JP" altLang="en-US" sz="1200"/>
              <a:t>予測性能を可視化</a:t>
            </a:r>
            <a:r>
              <a:rPr lang="en-US" altLang="ja-JP" sz="1200" dirty="0"/>
              <a:t> </a:t>
            </a:r>
            <a:r>
              <a:rPr lang="ja-JP" altLang="en-US" sz="1200"/>
              <a:t>・評価する</a:t>
            </a:r>
            <a:r>
              <a:rPr lang="en-US" altLang="ja-JP" sz="1200" dirty="0"/>
              <a:t>(</a:t>
            </a:r>
            <a:r>
              <a:rPr lang="ja-JP" altLang="en-US" sz="1200"/>
              <a:t>予測値</a:t>
            </a:r>
            <a:r>
              <a:rPr lang="en-US" altLang="ja-JP" sz="1200" dirty="0"/>
              <a:t>-</a:t>
            </a:r>
            <a:r>
              <a:rPr lang="ja-JP" altLang="en-US" sz="1200"/>
              <a:t>実測値プロット</a:t>
            </a:r>
            <a:r>
              <a:rPr lang="en-US" altLang="ja-JP" sz="1200" dirty="0"/>
              <a:t>)</a:t>
            </a:r>
          </a:p>
          <a:p>
            <a:pPr marL="0" indent="0">
              <a:buNone/>
            </a:pPr>
            <a:r>
              <a:rPr lang="en-US" altLang="ja-JP" sz="1200" dirty="0"/>
              <a:t>10.(</a:t>
            </a:r>
            <a:r>
              <a:rPr lang="ja-JP" altLang="en-US" sz="1200"/>
              <a:t>追加課題</a:t>
            </a:r>
            <a:r>
              <a:rPr lang="en-US" altLang="ja-JP" sz="1200" dirty="0"/>
              <a:t>)</a:t>
            </a:r>
            <a:r>
              <a:rPr lang="en-US" altLang="ja-JP" sz="1200" dirty="0" err="1"/>
              <a:t>XGBoost</a:t>
            </a:r>
            <a:r>
              <a:rPr lang="ja-JP" altLang="en-US" sz="1200"/>
              <a:t>を用いて再学習</a:t>
            </a:r>
            <a:endParaRPr lang="en-US" altLang="ja-JP" sz="1200" dirty="0"/>
          </a:p>
          <a:p>
            <a:pPr marL="0" indent="0">
              <a:buNone/>
            </a:pPr>
            <a:r>
              <a:rPr lang="en-US" altLang="ja-JP" sz="1200" dirty="0"/>
              <a:t>11.</a:t>
            </a:r>
            <a:r>
              <a:rPr lang="ja-JP" altLang="en-US" sz="1200"/>
              <a:t>可視化・評価する</a:t>
            </a:r>
            <a:endParaRPr lang="en-US" altLang="ja-JP" sz="1200" dirty="0"/>
          </a:p>
          <a:p>
            <a:r>
              <a:rPr kumimoji="1" lang="ja-JP" altLang="en-US"/>
              <a:t>の流れで解析をしています。</a:t>
            </a:r>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6</a:t>
            </a:fld>
            <a:endParaRPr kumimoji="1" lang="ja-JP" altLang="en-US"/>
          </a:p>
        </p:txBody>
      </p:sp>
    </p:spTree>
    <p:extLst>
      <p:ext uri="{BB962C8B-B14F-4D97-AF65-F5344CB8AC3E}">
        <p14:creationId xmlns:p14="http://schemas.microsoft.com/office/powerpoint/2010/main" val="3058252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結果の解釈では、左がトレーニングに用いたデータでの予測値</a:t>
            </a:r>
            <a:r>
              <a:rPr kumimoji="1" lang="en-US" altLang="ja-JP" dirty="0"/>
              <a:t>-</a:t>
            </a:r>
            <a:r>
              <a:rPr kumimoji="1" lang="ja-JP" altLang="en-US"/>
              <a:t>実測値プロット、右が最初に隔離したテストデータでの予測値</a:t>
            </a:r>
            <a:r>
              <a:rPr kumimoji="1" lang="en-US" altLang="ja-JP" dirty="0"/>
              <a:t>-</a:t>
            </a:r>
            <a:r>
              <a:rPr kumimoji="1" lang="ja-JP" altLang="en-US"/>
              <a:t>実測値プロットです。</a:t>
            </a:r>
            <a:endParaRPr kumimoji="1" lang="en-US" altLang="ja-JP" dirty="0"/>
          </a:p>
          <a:p>
            <a:endParaRPr kumimoji="1" lang="en-US" altLang="ja-JP" dirty="0"/>
          </a:p>
          <a:p>
            <a:r>
              <a:rPr kumimoji="1" lang="ja-JP" altLang="en-US"/>
              <a:t>予測値</a:t>
            </a:r>
            <a:r>
              <a:rPr kumimoji="1" lang="en-US" altLang="ja-JP" dirty="0"/>
              <a:t>-</a:t>
            </a:r>
            <a:r>
              <a:rPr kumimoji="1" lang="ja-JP" altLang="en-US"/>
              <a:t>実測値プロットの解釈では、理想は</a:t>
            </a:r>
            <a:r>
              <a:rPr kumimoji="1" lang="en-US" altLang="ja-JP" dirty="0"/>
              <a:t>45deg</a:t>
            </a:r>
            <a:r>
              <a:rPr kumimoji="1" lang="ja-JP" altLang="en-US"/>
              <a:t>の線に乗るのが理想です。</a:t>
            </a:r>
            <a:endParaRPr kumimoji="1" lang="en-US" altLang="ja-JP" dirty="0"/>
          </a:p>
          <a:p>
            <a:r>
              <a:rPr kumimoji="1" lang="ja-JP" altLang="en-US"/>
              <a:t>予測値</a:t>
            </a:r>
            <a:r>
              <a:rPr kumimoji="1" lang="en-US" altLang="ja-JP" dirty="0"/>
              <a:t>-</a:t>
            </a:r>
            <a:r>
              <a:rPr kumimoji="1" lang="ja-JP" altLang="en-US"/>
              <a:t>実測値プロットでは、傾向を見る図ですので</a:t>
            </a:r>
            <a:endParaRPr kumimoji="1" lang="en-US" altLang="ja-JP" dirty="0"/>
          </a:p>
          <a:p>
            <a:r>
              <a:rPr kumimoji="1" lang="ja-JP" altLang="en-US"/>
              <a:t>この図では、左では、ほとんど全部が</a:t>
            </a:r>
            <a:r>
              <a:rPr kumimoji="1" lang="en-US" altLang="ja-JP" dirty="0"/>
              <a:t>45deg</a:t>
            </a:r>
            <a:r>
              <a:rPr kumimoji="1" lang="ja-JP" altLang="en-US"/>
              <a:t>に載っており、トレーニングデータに関しては、非常に良い成績を示していると考えられます。</a:t>
            </a:r>
            <a:endParaRPr kumimoji="1" lang="en-US" altLang="ja-JP" dirty="0"/>
          </a:p>
          <a:p>
            <a:endParaRPr kumimoji="1" lang="en-US" altLang="ja-JP" dirty="0"/>
          </a:p>
          <a:p>
            <a:r>
              <a:rPr kumimoji="1" lang="ja-JP" altLang="en-US"/>
              <a:t>右のテストデータでの予測値</a:t>
            </a:r>
            <a:r>
              <a:rPr kumimoji="1" lang="en-US" altLang="ja-JP" dirty="0"/>
              <a:t>-</a:t>
            </a:r>
            <a:r>
              <a:rPr kumimoji="1" lang="ja-JP" altLang="en-US"/>
              <a:t>実測値プロットはトレーニングデータよりはばらけた結果となっています。</a:t>
            </a:r>
            <a:endParaRPr kumimoji="1" lang="en-US" altLang="ja-JP" dirty="0"/>
          </a:p>
          <a:p>
            <a:r>
              <a:rPr kumimoji="1" lang="ja-JP" altLang="en-US"/>
              <a:t>つまり、このトレーニングでは、トレーニングデータでは良い予測性能を示すものの、テストデータなどに対しての汎化性能の獲得はできなかったと考えられます。</a:t>
            </a:r>
            <a:endParaRPr kumimoji="1" lang="en-US" altLang="ja-JP" dirty="0"/>
          </a:p>
          <a:p>
            <a:endParaRPr kumimoji="1" lang="en-US" altLang="ja-JP" dirty="0"/>
          </a:p>
          <a:p>
            <a:r>
              <a:rPr kumimoji="1" lang="ja-JP" altLang="en-US"/>
              <a:t>原因として、過学習が第一候補に挙げられるので、対策として、</a:t>
            </a:r>
            <a:r>
              <a:rPr kumimoji="1" lang="en-US" altLang="ja-JP" dirty="0" err="1"/>
              <a:t>XGBoost</a:t>
            </a:r>
            <a:r>
              <a:rPr kumimoji="1" lang="ja-JP" altLang="en-US"/>
              <a:t>なら、</a:t>
            </a:r>
            <a:r>
              <a:rPr kumimoji="1" lang="en-US" altLang="ja-JP" dirty="0"/>
              <a:t>Early stopping</a:t>
            </a:r>
            <a:r>
              <a:rPr kumimoji="1" lang="ja-JP" altLang="en-US"/>
              <a:t>用いて決定木の追加を早期に止めるなどが考えられます。（これはおまけでしている）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8</a:t>
            </a:fld>
            <a:endParaRPr kumimoji="1" lang="ja-JP" altLang="en-US"/>
          </a:p>
        </p:txBody>
      </p:sp>
    </p:spTree>
    <p:extLst>
      <p:ext uri="{BB962C8B-B14F-4D97-AF65-F5344CB8AC3E}">
        <p14:creationId xmlns:p14="http://schemas.microsoft.com/office/powerpoint/2010/main" val="1300663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79A9-93FD-F4D5-8D56-B31D24E905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28534E-FC98-4419-35AA-E44FC02860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D6173E-EFE4-0E8F-E8F7-16D6749CFAC8}"/>
              </a:ext>
            </a:extLst>
          </p:cNvPr>
          <p:cNvSpPr>
            <a:spLocks noGrp="1"/>
          </p:cNvSpPr>
          <p:nvPr>
            <p:ph type="body" idx="1"/>
          </p:nvPr>
        </p:nvSpPr>
        <p:spPr/>
        <p:txBody>
          <a:bodyPr/>
          <a:lstStyle/>
          <a:p>
            <a:r>
              <a:rPr kumimoji="1" lang="ja-JP" altLang="en-US"/>
              <a:t>この結果は、モデルの性能を結果表示です</a:t>
            </a:r>
            <a:endParaRPr kumimoji="1" lang="en-US" altLang="ja-JP" dirty="0"/>
          </a:p>
          <a:p>
            <a:endParaRPr kumimoji="1" lang="en-US" altLang="ja-JP" dirty="0"/>
          </a:p>
          <a:p>
            <a:r>
              <a:rPr kumimoji="1" lang="ja-JP" altLang="en-US"/>
              <a:t>ただし、表示の</a:t>
            </a:r>
            <a:r>
              <a:rPr kumimoji="1" lang="en-US" altLang="ja-JP" dirty="0"/>
              <a:t>MEGAN</a:t>
            </a:r>
            <a:r>
              <a:rPr kumimoji="1" lang="ja-JP" altLang="en-US"/>
              <a:t>は流用元のコードからのタイポと思われるので、モデルネームとしては、</a:t>
            </a:r>
            <a:r>
              <a:rPr kumimoji="1" lang="en-US" altLang="ja-JP" dirty="0" err="1"/>
              <a:t>XGBoost</a:t>
            </a:r>
            <a:r>
              <a:rPr kumimoji="1" lang="ja-JP" altLang="en-US"/>
              <a:t>が適切かもしれません。</a:t>
            </a:r>
            <a:endParaRPr kumimoji="1" lang="en-US" altLang="ja-JP" dirty="0"/>
          </a:p>
          <a:p>
            <a:endParaRPr kumimoji="1" lang="en-US" altLang="ja-JP" dirty="0"/>
          </a:p>
          <a:p>
            <a:r>
              <a:rPr kumimoji="1" lang="ja-JP" altLang="en-US"/>
              <a:t>それぞれの意味として、</a:t>
            </a:r>
            <a:r>
              <a:rPr kumimoji="1" lang="en-US" altLang="ja-JP" dirty="0"/>
              <a:t>RMSE</a:t>
            </a:r>
            <a:r>
              <a:rPr kumimoji="1" lang="ja-JP" altLang="en-US"/>
              <a:t>は予測が平均的にどれぐらい外れているかみている指標です</a:t>
            </a:r>
            <a:endParaRPr kumimoji="1" lang="en-US" altLang="ja-JP" dirty="0"/>
          </a:p>
          <a:p>
            <a:r>
              <a:rPr kumimoji="1" lang="en-US" altLang="ja-JP" dirty="0"/>
              <a:t>MAE</a:t>
            </a:r>
            <a:r>
              <a:rPr kumimoji="1" lang="ja-JP" altLang="en-US"/>
              <a:t>は、平均してどれぐらい外れているか？を表している指標です。</a:t>
            </a:r>
            <a:endParaRPr kumimoji="1" lang="en-US" altLang="ja-JP" dirty="0"/>
          </a:p>
          <a:p>
            <a:endParaRPr kumimoji="1" lang="en-US" altLang="ja-JP" dirty="0"/>
          </a:p>
          <a:p>
            <a:r>
              <a:rPr kumimoji="1" lang="en-US" altLang="ja-JP" dirty="0"/>
              <a:t>R^2</a:t>
            </a:r>
            <a:r>
              <a:rPr kumimoji="1" lang="ja-JP" altLang="en-US"/>
              <a:t>は目標変数の</a:t>
            </a:r>
            <a:r>
              <a:rPr kumimoji="1" lang="en-US" altLang="ja-JP" dirty="0"/>
              <a:t>HOMO</a:t>
            </a:r>
            <a:r>
              <a:rPr kumimoji="1" lang="ja-JP" altLang="en-US"/>
              <a:t>のばらつきをモデルがどれぐらい説明できるか？になります。これで言うと、トレーニングデータだと</a:t>
            </a:r>
            <a:r>
              <a:rPr kumimoji="1" lang="en-US" altLang="ja-JP" dirty="0"/>
              <a:t>98%</a:t>
            </a:r>
            <a:r>
              <a:rPr kumimoji="1" lang="ja-JP" altLang="en-US"/>
              <a:t>程度、テストデータだと、</a:t>
            </a:r>
            <a:r>
              <a:rPr kumimoji="1" lang="en-US" altLang="ja-JP" dirty="0"/>
              <a:t>86%</a:t>
            </a:r>
            <a:r>
              <a:rPr kumimoji="1" lang="ja-JP" altLang="en-US"/>
              <a:t>程度予測できているということっ。</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093BC6CB-83B7-07AC-F6B2-C53B1A0AE9E9}"/>
              </a:ext>
            </a:extLst>
          </p:cNvPr>
          <p:cNvSpPr>
            <a:spLocks noGrp="1"/>
          </p:cNvSpPr>
          <p:nvPr>
            <p:ph type="sldNum" sz="quarter" idx="5"/>
          </p:nvPr>
        </p:nvSpPr>
        <p:spPr/>
        <p:txBody>
          <a:bodyPr/>
          <a:lstStyle/>
          <a:p>
            <a:fld id="{BD189AA7-0A7F-0040-A40D-54DDCC682F79}" type="slidenum">
              <a:rPr kumimoji="1" lang="ja-JP" altLang="en-US" smtClean="0"/>
              <a:t>9</a:t>
            </a:fld>
            <a:endParaRPr kumimoji="1" lang="ja-JP" altLang="en-US"/>
          </a:p>
        </p:txBody>
      </p:sp>
    </p:spTree>
    <p:extLst>
      <p:ext uri="{BB962C8B-B14F-4D97-AF65-F5344CB8AC3E}">
        <p14:creationId xmlns:p14="http://schemas.microsoft.com/office/powerpoint/2010/main" val="512167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こちらの結果は、</a:t>
            </a:r>
            <a:r>
              <a:rPr kumimoji="1" lang="en-US" altLang="ja-JP" dirty="0" err="1"/>
              <a:t>Xgboost</a:t>
            </a:r>
            <a:r>
              <a:rPr kumimoji="1" lang="ja-JP" altLang="en-US"/>
              <a:t>の学習済みの決定木を集計して、どの特徴量が予測に聞いていたかを見るための指標です</a:t>
            </a:r>
            <a:endParaRPr kumimoji="1" lang="en-US" altLang="ja-JP" dirty="0"/>
          </a:p>
          <a:p>
            <a:endParaRPr kumimoji="1" lang="en-US" altLang="ja-JP" dirty="0"/>
          </a:p>
          <a:p>
            <a:r>
              <a:rPr kumimoji="1" lang="en-US" altLang="ja-JP" dirty="0"/>
              <a:t>X</a:t>
            </a:r>
            <a:r>
              <a:rPr kumimoji="1" lang="ja-JP" altLang="en-US"/>
              <a:t>軸の</a:t>
            </a:r>
            <a:r>
              <a:rPr kumimoji="1" lang="en-US" altLang="ja-JP" dirty="0"/>
              <a:t>importance</a:t>
            </a:r>
            <a:r>
              <a:rPr kumimoji="1" lang="ja-JP" altLang="en-US"/>
              <a:t>が重要度、</a:t>
            </a:r>
            <a:r>
              <a:rPr kumimoji="1" lang="en-US" altLang="ja-JP" dirty="0"/>
              <a:t>y</a:t>
            </a:r>
            <a:r>
              <a:rPr kumimoji="1" lang="ja-JP" altLang="en-US"/>
              <a:t>軸の</a:t>
            </a:r>
            <a:r>
              <a:rPr kumimoji="1" lang="en-US" altLang="ja-JP" dirty="0"/>
              <a:t>feature</a:t>
            </a:r>
            <a:r>
              <a:rPr kumimoji="1" lang="ja-JP" altLang="en-US"/>
              <a:t>が特徴量を表している</a:t>
            </a:r>
            <a:endParaRPr kumimoji="1" lang="en-US" altLang="ja-JP" dirty="0"/>
          </a:p>
          <a:p>
            <a:endParaRPr kumimoji="1" lang="en-US" altLang="ja-JP" dirty="0"/>
          </a:p>
          <a:p>
            <a:r>
              <a:rPr kumimoji="1" lang="ja-JP" altLang="en-US"/>
              <a:t>値は、相対値でモデルの中での相対的な重要度</a:t>
            </a:r>
            <a:endParaRPr kumimoji="1" lang="en-US" altLang="ja-JP" dirty="0"/>
          </a:p>
          <a:p>
            <a:endParaRPr kumimoji="1" lang="en-US" altLang="ja-JP" dirty="0"/>
          </a:p>
          <a:p>
            <a:r>
              <a:rPr kumimoji="1" lang="ja-JP" altLang="en-US"/>
              <a:t>流石に、値の意味は、</a:t>
            </a:r>
            <a:r>
              <a:rPr kumimoji="1" lang="en-US" altLang="ja-JP" dirty="0"/>
              <a:t>chat GPT</a:t>
            </a:r>
            <a:r>
              <a:rPr kumimoji="1" lang="ja-JP" altLang="en-US"/>
              <a:t>で妥協。</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特徴量</a:t>
            </a:r>
            <a:r>
              <a:rPr lang="en-US" altLang="ja-JP" dirty="0"/>
              <a:t>	</a:t>
            </a:r>
            <a:r>
              <a:rPr lang="ja-JP" altLang="ja-JP"/>
              <a:t>ざっくり意味</a:t>
            </a:r>
            <a:r>
              <a:rPr lang="en-US" altLang="ja-JP" dirty="0"/>
              <a:t>	</a:t>
            </a:r>
            <a:r>
              <a:rPr lang="ja-JP" altLang="ja-JP"/>
              <a:t>解釈の方向</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EState_VSA10</a:t>
            </a:r>
            <a:r>
              <a:rPr kumimoji="1" lang="en-US" altLang="ja-JP" sz="1200" kern="1200" dirty="0">
                <a:solidFill>
                  <a:schemeClr val="tx1"/>
                </a:solidFill>
                <a:latin typeface="+mn-lt"/>
                <a:ea typeface="+mn-ea"/>
                <a:cs typeface="+mn-cs"/>
              </a:rPr>
              <a:t>	</a:t>
            </a:r>
            <a:r>
              <a:rPr lang="ja-JP" altLang="ja-JP" b="1"/>
              <a:t>EState index が 9.17〜15.00 の原子</a:t>
            </a:r>
            <a:r>
              <a:rPr lang="ja-JP" altLang="ja-JP"/>
              <a:t>について、VSA、つまり表面積寄与を合計した値</a:t>
            </a:r>
            <a:r>
              <a:rPr lang="en-US" altLang="ja-JP" dirty="0"/>
              <a:t>	</a:t>
            </a:r>
            <a:r>
              <a:rPr lang="ja-JP" altLang="ja-JP"/>
              <a:t>高いEState値を持つ原子環境が、分子表面にどれくらい出ているか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VSA_EState2</a:t>
            </a:r>
            <a:r>
              <a:rPr kumimoji="1" lang="en-US" altLang="ja-JP" sz="1200" kern="1200" dirty="0">
                <a:solidFill>
                  <a:schemeClr val="tx1"/>
                </a:solidFill>
                <a:latin typeface="+mn-lt"/>
                <a:ea typeface="+mn-ea"/>
                <a:cs typeface="+mn-cs"/>
              </a:rPr>
              <a:t>		</a:t>
            </a:r>
            <a:r>
              <a:rPr lang="ja-JP" altLang="ja-JP" b="1"/>
              <a:t>VSA寄与が 4.78〜5.00 の原子</a:t>
            </a:r>
            <a:r>
              <a:rPr lang="ja-JP" altLang="ja-JP"/>
              <a:t>について、EState indexを合計した値</a:t>
            </a:r>
            <a:r>
              <a:rPr lang="en-US" altLang="ja-JP" dirty="0"/>
              <a:t>			</a:t>
            </a:r>
            <a:r>
              <a:rPr lang="ja-JP" altLang="ja-JP"/>
              <a:t>ある表面積サイズの原子群が、どんな電子的環境を持つか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fr_nitro</a:t>
            </a:r>
            <a:r>
              <a:rPr kumimoji="1" lang="en-US" altLang="ja-JP" sz="1200" kern="1200" dirty="0">
                <a:solidFill>
                  <a:schemeClr val="tx1"/>
                </a:solidFill>
                <a:latin typeface="+mn-lt"/>
                <a:ea typeface="+mn-ea"/>
                <a:cs typeface="+mn-cs"/>
              </a:rPr>
              <a:t>		</a:t>
            </a:r>
            <a:r>
              <a:rPr lang="ja-JP" altLang="ja-JP"/>
              <a:t>ニトロ基 </a:t>
            </a:r>
            <a:r>
              <a:rPr kumimoji="1" lang="ja-JP" altLang="ja-JP" sz="1200" kern="1200">
                <a:solidFill>
                  <a:schemeClr val="tx1"/>
                </a:solidFill>
                <a:latin typeface="+mn-lt"/>
                <a:ea typeface="+mn-ea"/>
                <a:cs typeface="+mn-cs"/>
              </a:rPr>
              <a:t>-NO2</a:t>
            </a:r>
            <a:r>
              <a:rPr lang="ja-JP" altLang="ja-JP"/>
              <a:t> の数</a:t>
            </a:r>
            <a:r>
              <a:rPr lang="en-US" altLang="ja-JP" dirty="0"/>
              <a:t>						</a:t>
            </a:r>
            <a:r>
              <a:rPr lang="ja-JP" altLang="ja-JP"/>
              <a:t>ニトロ基を何個含むか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MolMR</a:t>
            </a:r>
            <a:r>
              <a:rPr kumimoji="1" lang="en-US" altLang="ja-JP" sz="1200" kern="1200" dirty="0">
                <a:solidFill>
                  <a:schemeClr val="tx1"/>
                </a:solidFill>
                <a:latin typeface="+mn-lt"/>
                <a:ea typeface="+mn-ea"/>
                <a:cs typeface="+mn-cs"/>
              </a:rPr>
              <a:t>		</a:t>
            </a:r>
            <a:r>
              <a:rPr lang="ja-JP" altLang="ja-JP"/>
              <a:t>Wildman-Crippen法による </a:t>
            </a:r>
            <a:r>
              <a:rPr lang="ja-JP" altLang="ja-JP" b="1"/>
              <a:t>molar refractivity / モル屈折率</a:t>
            </a:r>
            <a:r>
              <a:rPr lang="en-US" altLang="ja-JP" b="1" dirty="0"/>
              <a:t>			</a:t>
            </a:r>
            <a:r>
              <a:rPr lang="ja-JP" altLang="ja-JP"/>
              <a:t>分子の大きさ・分極しやすさ寄りの記述子</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MinEStateIndex</a:t>
            </a:r>
            <a:r>
              <a:rPr kumimoji="1" lang="en-US" altLang="ja-JP" sz="1200" kern="1200" dirty="0">
                <a:solidFill>
                  <a:schemeClr val="tx1"/>
                </a:solidFill>
                <a:latin typeface="+mn-lt"/>
                <a:ea typeface="+mn-ea"/>
                <a:cs typeface="+mn-cs"/>
              </a:rPr>
              <a:t>	</a:t>
            </a:r>
            <a:r>
              <a:rPr lang="ja-JP" altLang="ja-JP"/>
              <a:t>分子中の原子EState indexの最小値</a:t>
            </a:r>
            <a:r>
              <a:rPr lang="en-US" altLang="ja-JP" dirty="0"/>
              <a:t>					</a:t>
            </a:r>
            <a:r>
              <a:rPr lang="ja-JP" altLang="ja-JP"/>
              <a:t>最も低いEState環境を持つ原子の値</a:t>
            </a:r>
            <a:r>
              <a:rPr kumimoji="1" lang="ja-JP" altLang="ja-JP" sz="1200" kern="1200">
                <a:solidFill>
                  <a:schemeClr val="tx1"/>
                </a:solidFill>
                <a:latin typeface="+mn-lt"/>
                <a:ea typeface="+mn-ea"/>
                <a:cs typeface="+mn-cs"/>
              </a:rPr>
              <a:t>fr_NH0</a:t>
            </a:r>
            <a:r>
              <a:rPr lang="ja-JP" altLang="ja-JP" b="1"/>
              <a:t>三級アミン</a:t>
            </a:r>
            <a:r>
              <a:rPr lang="ja-JP" altLang="ja-JP"/>
              <a:t>の数NにHがなく、炭素などに3結合しているアミンの個数</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VSA_EState3</a:t>
            </a:r>
            <a:r>
              <a:rPr kumimoji="1" lang="en-US" altLang="ja-JP" sz="1200" kern="1200" dirty="0">
                <a:solidFill>
                  <a:schemeClr val="tx1"/>
                </a:solidFill>
                <a:latin typeface="+mn-lt"/>
                <a:ea typeface="+mn-ea"/>
                <a:cs typeface="+mn-cs"/>
              </a:rPr>
              <a:t>		</a:t>
            </a:r>
            <a:r>
              <a:rPr lang="ja-JP" altLang="ja-JP" b="1"/>
              <a:t>VSA寄与が 5.00〜5.41 の原子</a:t>
            </a:r>
            <a:r>
              <a:rPr lang="ja-JP" altLang="ja-JP"/>
              <a:t>について、EState indexを合計した値</a:t>
            </a:r>
            <a:r>
              <a:rPr lang="en-US" altLang="ja-JP" dirty="0"/>
              <a:t>			</a:t>
            </a:r>
            <a:r>
              <a:rPr kumimoji="1" lang="ja-JP" altLang="ja-JP" sz="1200" kern="1200">
                <a:solidFill>
                  <a:schemeClr val="tx1"/>
                </a:solidFill>
                <a:latin typeface="+mn-lt"/>
                <a:ea typeface="+mn-ea"/>
                <a:cs typeface="+mn-cs"/>
              </a:rPr>
              <a:t>VSA_EState2</a:t>
            </a:r>
            <a:r>
              <a:rPr lang="ja-JP" altLang="ja-JP"/>
              <a:t> の隣の表面積ビン</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TPSA</a:t>
            </a:r>
            <a:r>
              <a:rPr kumimoji="1" lang="en-US" altLang="ja-JP" sz="1200" kern="1200" dirty="0">
                <a:solidFill>
                  <a:schemeClr val="tx1"/>
                </a:solidFill>
                <a:latin typeface="+mn-lt"/>
                <a:ea typeface="+mn-ea"/>
                <a:cs typeface="+mn-cs"/>
              </a:rPr>
              <a:t>		</a:t>
            </a:r>
            <a:r>
              <a:rPr lang="ja-JP" altLang="ja-JP"/>
              <a:t>Topological Polar Surface Area、トポロジカル極性表面積主にN・O由来の極性表面積。</a:t>
            </a:r>
            <a:r>
              <a:rPr lang="en-US" altLang="ja-JP" dirty="0"/>
              <a:t>	</a:t>
            </a:r>
            <a:r>
              <a:rPr lang="ja-JP" altLang="ja-JP"/>
              <a:t>分子の極性・透過性の目安</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MaxAbsEStateIndex</a:t>
            </a:r>
            <a:r>
              <a:rPr kumimoji="1" lang="en-US" altLang="ja-JP" sz="1200" kern="1200" dirty="0">
                <a:solidFill>
                  <a:schemeClr val="tx1"/>
                </a:solidFill>
                <a:latin typeface="+mn-lt"/>
                <a:ea typeface="+mn-ea"/>
                <a:cs typeface="+mn-cs"/>
              </a:rPr>
              <a:t>	</a:t>
            </a:r>
            <a:r>
              <a:rPr lang="ja-JP" altLang="ja-JP"/>
              <a:t>原子EState indexの絶対値の最大値</a:t>
            </a:r>
            <a:r>
              <a:rPr lang="en-US" altLang="ja-JP" dirty="0"/>
              <a:t>					</a:t>
            </a:r>
            <a:r>
              <a:rPr lang="ja-JP" altLang="ja-JP"/>
              <a:t>正負どちらでも、最も極端なEState環境の強さ</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latin typeface="+mn-lt"/>
                <a:ea typeface="+mn-ea"/>
                <a:cs typeface="+mn-cs"/>
              </a:rPr>
              <a:t>EState_VSA1</a:t>
            </a:r>
            <a:r>
              <a:rPr kumimoji="1" lang="en-US" altLang="ja-JP" sz="1200" kern="1200" dirty="0">
                <a:solidFill>
                  <a:schemeClr val="tx1"/>
                </a:solidFill>
                <a:latin typeface="+mn-lt"/>
                <a:ea typeface="+mn-ea"/>
                <a:cs typeface="+mn-cs"/>
              </a:rPr>
              <a:t>		</a:t>
            </a:r>
            <a:r>
              <a:rPr lang="ja-JP" altLang="ja-JP" b="1"/>
              <a:t>EState index が -∞〜-0.39 の原子</a:t>
            </a:r>
            <a:r>
              <a:rPr lang="ja-JP" altLang="ja-JP"/>
              <a:t>について、VSAを合計した値</a:t>
            </a:r>
            <a:r>
              <a:rPr lang="en-US" altLang="ja-JP" dirty="0"/>
              <a:t>			</a:t>
            </a:r>
            <a:r>
              <a:rPr lang="ja-JP" altLang="ja-JP"/>
              <a:t>低いEState値を持つ原子環境が表面にどれくらいあるか</a:t>
            </a:r>
          </a:p>
          <a:p>
            <a:endParaRPr kumimoji="1" lang="en-US" altLang="ja-JP" dirty="0"/>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10</a:t>
            </a:fld>
            <a:endParaRPr kumimoji="1" lang="ja-JP" altLang="en-US"/>
          </a:p>
        </p:txBody>
      </p:sp>
    </p:spTree>
    <p:extLst>
      <p:ext uri="{BB962C8B-B14F-4D97-AF65-F5344CB8AC3E}">
        <p14:creationId xmlns:p14="http://schemas.microsoft.com/office/powerpoint/2010/main" val="2701852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結果の解釈では、左がトレーニングに用いたデータでの予測値</a:t>
            </a:r>
            <a:r>
              <a:rPr kumimoji="1" lang="en-US" altLang="ja-JP" dirty="0"/>
              <a:t>-</a:t>
            </a:r>
            <a:r>
              <a:rPr kumimoji="1" lang="ja-JP" altLang="en-US"/>
              <a:t>実測値プロット、右が最初に隔離したテストデータでの予測値</a:t>
            </a:r>
            <a:r>
              <a:rPr kumimoji="1" lang="en-US" altLang="ja-JP" dirty="0"/>
              <a:t>-</a:t>
            </a:r>
            <a:r>
              <a:rPr kumimoji="1" lang="ja-JP" altLang="en-US"/>
              <a:t>実測値プロットです。</a:t>
            </a:r>
            <a:endParaRPr kumimoji="1" lang="en-US" altLang="ja-JP" dirty="0"/>
          </a:p>
          <a:p>
            <a:endParaRPr kumimoji="1" lang="en-US" altLang="ja-JP" dirty="0"/>
          </a:p>
          <a:p>
            <a:r>
              <a:rPr kumimoji="1" lang="ja-JP" altLang="en-US"/>
              <a:t>テストでーたがアーリーストッピングなしの時と比べて</a:t>
            </a:r>
            <a:r>
              <a:rPr kumimoji="1" lang="en-US" altLang="ja-JP" dirty="0"/>
              <a:t>45deg</a:t>
            </a:r>
            <a:r>
              <a:rPr kumimoji="1" lang="ja-JP" altLang="en-US"/>
              <a:t>の線に収束しているので、おそらく、体感性能は良くなっていそう。</a:t>
            </a:r>
          </a:p>
        </p:txBody>
      </p:sp>
      <p:sp>
        <p:nvSpPr>
          <p:cNvPr id="4" name="スライド番号プレースホルダー 3"/>
          <p:cNvSpPr>
            <a:spLocks noGrp="1"/>
          </p:cNvSpPr>
          <p:nvPr>
            <p:ph type="sldNum" sz="quarter" idx="5"/>
          </p:nvPr>
        </p:nvSpPr>
        <p:spPr/>
        <p:txBody>
          <a:bodyPr/>
          <a:lstStyle/>
          <a:p>
            <a:fld id="{BD189AA7-0A7F-0040-A40D-54DDCC682F79}" type="slidenum">
              <a:rPr kumimoji="1" lang="ja-JP" altLang="en-US" smtClean="0"/>
              <a:t>11</a:t>
            </a:fld>
            <a:endParaRPr kumimoji="1" lang="ja-JP" altLang="en-US"/>
          </a:p>
        </p:txBody>
      </p:sp>
    </p:spTree>
    <p:extLst>
      <p:ext uri="{BB962C8B-B14F-4D97-AF65-F5344CB8AC3E}">
        <p14:creationId xmlns:p14="http://schemas.microsoft.com/office/powerpoint/2010/main" val="663091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56B51-8EA4-ECB5-39D3-1E121B513C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2636D-4C80-D141-E7E8-B4CB6F7E37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CF139A-9B49-257A-E893-B4A06BF73266}"/>
              </a:ext>
            </a:extLst>
          </p:cNvPr>
          <p:cNvSpPr>
            <a:spLocks noGrp="1"/>
          </p:cNvSpPr>
          <p:nvPr>
            <p:ph type="body" idx="1"/>
          </p:nvPr>
        </p:nvSpPr>
        <p:spPr/>
        <p:txBody>
          <a:bodyPr/>
          <a:lstStyle/>
          <a:p>
            <a:r>
              <a:rPr kumimoji="1" lang="ja-JP" altLang="en-US"/>
              <a:t>この結果は、モデルの性能を結果表示です</a:t>
            </a:r>
            <a:endParaRPr kumimoji="1" lang="en-US" altLang="ja-JP" dirty="0"/>
          </a:p>
          <a:p>
            <a:endParaRPr kumimoji="1" lang="en-US" altLang="ja-JP" dirty="0"/>
          </a:p>
          <a:p>
            <a:r>
              <a:rPr kumimoji="1" lang="ja-JP" altLang="en-US"/>
              <a:t>ただし、表示の</a:t>
            </a:r>
            <a:r>
              <a:rPr kumimoji="1" lang="en-US" altLang="ja-JP" dirty="0"/>
              <a:t>MEGAN</a:t>
            </a:r>
            <a:r>
              <a:rPr kumimoji="1" lang="ja-JP" altLang="en-US"/>
              <a:t>は流用元のコードからのタイポと思われるので、モデルネームとしては、</a:t>
            </a:r>
            <a:r>
              <a:rPr kumimoji="1" lang="en-US" altLang="ja-JP" dirty="0" err="1"/>
              <a:t>XGBoost</a:t>
            </a:r>
            <a:r>
              <a:rPr kumimoji="1" lang="ja-JP" altLang="en-US"/>
              <a:t>が適切かもしれません。</a:t>
            </a:r>
            <a:endParaRPr kumimoji="1" lang="en-US" altLang="ja-JP" dirty="0"/>
          </a:p>
          <a:p>
            <a:endParaRPr kumimoji="1" lang="en-US" altLang="ja-JP" dirty="0"/>
          </a:p>
          <a:p>
            <a:r>
              <a:rPr kumimoji="1" lang="ja-JP" altLang="en-US"/>
              <a:t>それぞれの意味として、早期停止が実施されたイテレーション数が</a:t>
            </a:r>
            <a:r>
              <a:rPr kumimoji="1" lang="en-US" altLang="ja-JP" dirty="0"/>
              <a:t>Early stopping</a:t>
            </a:r>
            <a:r>
              <a:rPr kumimoji="1" lang="ja-JP" altLang="en-US"/>
              <a:t>が実施された部分です。つまり、今回の学習では、</a:t>
            </a:r>
            <a:r>
              <a:rPr kumimoji="1" lang="en-US" altLang="ja-JP" dirty="0"/>
              <a:t>1038</a:t>
            </a:r>
            <a:r>
              <a:rPr kumimoji="1" lang="ja-JP" altLang="en-US"/>
              <a:t>回目付近で検証データの性能が最も良くなったと言えます</a:t>
            </a:r>
            <a:endParaRPr kumimoji="1" lang="en-US" altLang="ja-JP" dirty="0"/>
          </a:p>
          <a:p>
            <a:r>
              <a:rPr kumimoji="1" lang="ja-JP" altLang="en-US"/>
              <a:t>デフォルトの値なら、木が１００なので、学習が進んだと考えられます。</a:t>
            </a:r>
            <a:endParaRPr kumimoji="1" lang="en-US" altLang="ja-JP" dirty="0"/>
          </a:p>
          <a:p>
            <a:r>
              <a:rPr kumimoji="1" lang="ja-JP" altLang="en-US"/>
              <a:t>りすとくとして過学習も考えられますが、過学習だと</a:t>
            </a:r>
            <a:r>
              <a:rPr kumimoji="1" lang="en-US" altLang="ja-JP" dirty="0"/>
              <a:t>0.</a:t>
            </a:r>
            <a:r>
              <a:rPr kumimoji="1" lang="ja-JP" altLang="en-US"/>
              <a:t>９９を超える値を出してしまうので、今回は、過学習とか考えずらいです。</a:t>
            </a:r>
            <a:endParaRPr kumimoji="1" lang="en-US" altLang="ja-JP" dirty="0"/>
          </a:p>
          <a:p>
            <a:endParaRPr kumimoji="1" lang="en-US" altLang="ja-JP" dirty="0"/>
          </a:p>
          <a:p>
            <a:r>
              <a:rPr kumimoji="1" lang="ja-JP" altLang="en-US"/>
              <a:t>次に</a:t>
            </a:r>
            <a:r>
              <a:rPr kumimoji="1" lang="en-US" altLang="ja-JP" dirty="0"/>
              <a:t>RMSE</a:t>
            </a:r>
            <a:r>
              <a:rPr kumimoji="1" lang="ja-JP" altLang="en-US"/>
              <a:t>は予測が平均的にどれぐらい外れているかみている指標です</a:t>
            </a:r>
            <a:endParaRPr kumimoji="1" lang="en-US" altLang="ja-JP" dirty="0"/>
          </a:p>
          <a:p>
            <a:r>
              <a:rPr kumimoji="1" lang="en-US" altLang="ja-JP" dirty="0"/>
              <a:t>MAE</a:t>
            </a:r>
            <a:r>
              <a:rPr kumimoji="1" lang="ja-JP" altLang="en-US"/>
              <a:t>は、平均してどれぐらい外れているか？を表している指標です。</a:t>
            </a:r>
            <a:endParaRPr kumimoji="1" lang="en-US" altLang="ja-JP" dirty="0"/>
          </a:p>
          <a:p>
            <a:endParaRPr kumimoji="1" lang="en-US" altLang="ja-JP" dirty="0"/>
          </a:p>
          <a:p>
            <a:r>
              <a:rPr kumimoji="1" lang="en-US" altLang="ja-JP" dirty="0"/>
              <a:t>R^2</a:t>
            </a:r>
            <a:r>
              <a:rPr kumimoji="1" lang="ja-JP" altLang="en-US"/>
              <a:t>は目標変数の</a:t>
            </a:r>
            <a:r>
              <a:rPr kumimoji="1" lang="en-US" altLang="ja-JP" dirty="0"/>
              <a:t>HOMO</a:t>
            </a:r>
            <a:r>
              <a:rPr kumimoji="1" lang="ja-JP" altLang="en-US"/>
              <a:t>のばらつきをモデルがどれぐらい説明できるか？になります。これで言うと、トレーニングデータだと</a:t>
            </a:r>
            <a:r>
              <a:rPr kumimoji="1" lang="en-US" altLang="ja-JP" dirty="0"/>
              <a:t>97%</a:t>
            </a:r>
            <a:r>
              <a:rPr kumimoji="1" lang="ja-JP" altLang="en-US"/>
              <a:t>程度、テストデータだと、</a:t>
            </a:r>
            <a:r>
              <a:rPr kumimoji="1" lang="en-US" altLang="ja-JP" dirty="0"/>
              <a:t>87%</a:t>
            </a:r>
            <a:r>
              <a:rPr kumimoji="1" lang="ja-JP" altLang="en-US"/>
              <a:t>程度予測できているということっ。</a:t>
            </a:r>
            <a:endParaRPr kumimoji="1" lang="en-US" altLang="ja-JP" dirty="0"/>
          </a:p>
          <a:p>
            <a:r>
              <a:rPr kumimoji="1" lang="ja-JP" altLang="en-US"/>
              <a:t>多分、性能は改善している</a:t>
            </a:r>
            <a:endParaRPr kumimoji="1" lang="en-US" altLang="ja-JP" dirty="0"/>
          </a:p>
        </p:txBody>
      </p:sp>
      <p:sp>
        <p:nvSpPr>
          <p:cNvPr id="4" name="スライド番号プレースホルダー 3">
            <a:extLst>
              <a:ext uri="{FF2B5EF4-FFF2-40B4-BE49-F238E27FC236}">
                <a16:creationId xmlns:a16="http://schemas.microsoft.com/office/drawing/2014/main" id="{AF720B68-3F07-F731-2CA4-B01476F145C6}"/>
              </a:ext>
            </a:extLst>
          </p:cNvPr>
          <p:cNvSpPr>
            <a:spLocks noGrp="1"/>
          </p:cNvSpPr>
          <p:nvPr>
            <p:ph type="sldNum" sz="quarter" idx="5"/>
          </p:nvPr>
        </p:nvSpPr>
        <p:spPr/>
        <p:txBody>
          <a:bodyPr/>
          <a:lstStyle/>
          <a:p>
            <a:fld id="{BD189AA7-0A7F-0040-A40D-54DDCC682F79}" type="slidenum">
              <a:rPr kumimoji="1" lang="ja-JP" altLang="en-US" smtClean="0"/>
              <a:t>12</a:t>
            </a:fld>
            <a:endParaRPr kumimoji="1" lang="ja-JP" altLang="en-US"/>
          </a:p>
        </p:txBody>
      </p:sp>
    </p:spTree>
    <p:extLst>
      <p:ext uri="{BB962C8B-B14F-4D97-AF65-F5344CB8AC3E}">
        <p14:creationId xmlns:p14="http://schemas.microsoft.com/office/powerpoint/2010/main" val="1660170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58606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1159107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289588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3312800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2043955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25969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3047413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3762326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2486544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1838703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1168540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D6C022-8F44-0448-9E95-ED0E6A2B2E6A}" type="datetimeFigureOut">
              <a:rPr kumimoji="1" lang="ja-JP" altLang="en-US" smtClean="0"/>
              <a:t>2026/6/2</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1897F7-5F98-0345-821D-6845E51F5D68}" type="slidenum">
              <a:rPr kumimoji="1" lang="ja-JP" altLang="en-US" smtClean="0"/>
              <a:t>‹#›</a:t>
            </a:fld>
            <a:endParaRPr kumimoji="1" lang="ja-JP" altLang="en-US"/>
          </a:p>
        </p:txBody>
      </p:sp>
    </p:spTree>
    <p:extLst>
      <p:ext uri="{BB962C8B-B14F-4D97-AF65-F5344CB8AC3E}">
        <p14:creationId xmlns:p14="http://schemas.microsoft.com/office/powerpoint/2010/main" val="1106997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py-memo.com/machinelearning/feature-explanatory-target/"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57F9E9-9F52-1A39-CD17-FB522EED27EB}"/>
              </a:ext>
            </a:extLst>
          </p:cNvPr>
          <p:cNvSpPr>
            <a:spLocks noGrp="1"/>
          </p:cNvSpPr>
          <p:nvPr>
            <p:ph type="ctrTitle"/>
          </p:nvPr>
        </p:nvSpPr>
        <p:spPr/>
        <p:txBody>
          <a:bodyPr/>
          <a:lstStyle/>
          <a:p>
            <a:r>
              <a:rPr lang="ja-JP" altLang="en-US"/>
              <a:t>第</a:t>
            </a:r>
            <a:r>
              <a:rPr lang="en-US" altLang="ja-JP" dirty="0"/>
              <a:t>2</a:t>
            </a:r>
            <a:r>
              <a:rPr lang="ja-JP" altLang="en-US"/>
              <a:t>回</a:t>
            </a:r>
            <a:r>
              <a:rPr lang="en-US" altLang="ja-JP" dirty="0"/>
              <a:t>Python</a:t>
            </a:r>
            <a:r>
              <a:rPr lang="ja-JP" altLang="en-US"/>
              <a:t>セミナー</a:t>
            </a:r>
            <a:endParaRPr kumimoji="1" lang="ja-JP" altLang="en-US"/>
          </a:p>
        </p:txBody>
      </p:sp>
      <p:sp>
        <p:nvSpPr>
          <p:cNvPr id="3" name="字幕 2">
            <a:extLst>
              <a:ext uri="{FF2B5EF4-FFF2-40B4-BE49-F238E27FC236}">
                <a16:creationId xmlns:a16="http://schemas.microsoft.com/office/drawing/2014/main" id="{0B7F7BE1-234E-6320-F4F3-2450F161708B}"/>
              </a:ext>
            </a:extLst>
          </p:cNvPr>
          <p:cNvSpPr>
            <a:spLocks noGrp="1"/>
          </p:cNvSpPr>
          <p:nvPr>
            <p:ph type="subTitle" idx="1"/>
          </p:nvPr>
        </p:nvSpPr>
        <p:spPr>
          <a:xfrm>
            <a:off x="1143000" y="3602038"/>
            <a:ext cx="6858000" cy="1655762"/>
          </a:xfrm>
        </p:spPr>
        <p:txBody>
          <a:bodyPr>
            <a:normAutofit/>
          </a:bodyPr>
          <a:lstStyle/>
          <a:p>
            <a:r>
              <a:rPr lang="ja-JP" altLang="en-US"/>
              <a:t>・機械学習で用いる基本単語</a:t>
            </a:r>
            <a:endParaRPr lang="en-US" altLang="ja-JP" dirty="0"/>
          </a:p>
          <a:p>
            <a:r>
              <a:rPr lang="ja-JP" altLang="en-US"/>
              <a:t>・機械学習のフローの体験</a:t>
            </a:r>
            <a:endParaRPr lang="en-US" altLang="ja-JP" dirty="0"/>
          </a:p>
          <a:p>
            <a:r>
              <a:rPr lang="ja-JP" altLang="en-US"/>
              <a:t>・課題で出てくる結果の解釈</a:t>
            </a:r>
            <a:endParaRPr lang="en-US" altLang="ja-JP" dirty="0"/>
          </a:p>
        </p:txBody>
      </p:sp>
    </p:spTree>
    <p:extLst>
      <p:ext uri="{BB962C8B-B14F-4D97-AF65-F5344CB8AC3E}">
        <p14:creationId xmlns:p14="http://schemas.microsoft.com/office/powerpoint/2010/main" val="123306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F71C4-120F-3626-FBBC-BED42FC668FE}"/>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43B58523-F568-0B9C-481B-95DBB69CCD43}"/>
              </a:ext>
            </a:extLst>
          </p:cNvPr>
          <p:cNvPicPr>
            <a:picLocks noChangeAspect="1"/>
          </p:cNvPicPr>
          <p:nvPr/>
        </p:nvPicPr>
        <p:blipFill>
          <a:blip r:embed="rId3"/>
          <a:stretch>
            <a:fillRect/>
          </a:stretch>
        </p:blipFill>
        <p:spPr>
          <a:xfrm>
            <a:off x="4849091" y="4189067"/>
            <a:ext cx="4294909" cy="2571952"/>
          </a:xfrm>
          <a:prstGeom prst="rect">
            <a:avLst/>
          </a:prstGeom>
        </p:spPr>
      </p:pic>
      <p:sp>
        <p:nvSpPr>
          <p:cNvPr id="2" name="タイトル 1">
            <a:extLst>
              <a:ext uri="{FF2B5EF4-FFF2-40B4-BE49-F238E27FC236}">
                <a16:creationId xmlns:a16="http://schemas.microsoft.com/office/drawing/2014/main" id="{D1603634-0BBF-5684-56CD-FEC8A5B0A86C}"/>
              </a:ext>
            </a:extLst>
          </p:cNvPr>
          <p:cNvSpPr>
            <a:spLocks noGrp="1"/>
          </p:cNvSpPr>
          <p:nvPr>
            <p:ph type="title"/>
          </p:nvPr>
        </p:nvSpPr>
        <p:spPr>
          <a:xfrm>
            <a:off x="122664" y="248543"/>
            <a:ext cx="5892800" cy="497087"/>
          </a:xfrm>
        </p:spPr>
        <p:txBody>
          <a:bodyPr>
            <a:normAutofit/>
          </a:bodyPr>
          <a:lstStyle/>
          <a:p>
            <a:r>
              <a:rPr lang="ja-JP" altLang="en-US" sz="2800"/>
              <a:t>用語の説明</a:t>
            </a:r>
            <a:r>
              <a:rPr lang="en-US" altLang="ja-JP" sz="2800" dirty="0"/>
              <a:t>(1)</a:t>
            </a:r>
            <a:endParaRPr lang="ja-JP" altLang="en-US" sz="2800"/>
          </a:p>
        </p:txBody>
      </p:sp>
      <p:sp>
        <p:nvSpPr>
          <p:cNvPr id="3" name="コンテンツ プレースホルダー 2">
            <a:extLst>
              <a:ext uri="{FF2B5EF4-FFF2-40B4-BE49-F238E27FC236}">
                <a16:creationId xmlns:a16="http://schemas.microsoft.com/office/drawing/2014/main" id="{CAAA29AD-6AA2-DB94-DBB1-9E5C0A4F83DC}"/>
              </a:ext>
            </a:extLst>
          </p:cNvPr>
          <p:cNvSpPr>
            <a:spLocks noGrp="1"/>
          </p:cNvSpPr>
          <p:nvPr>
            <p:ph idx="1"/>
          </p:nvPr>
        </p:nvSpPr>
        <p:spPr>
          <a:xfrm>
            <a:off x="628650" y="1338001"/>
            <a:ext cx="7886700" cy="4723710"/>
          </a:xfrm>
        </p:spPr>
        <p:txBody>
          <a:bodyPr>
            <a:noAutofit/>
          </a:bodyPr>
          <a:lstStyle/>
          <a:p>
            <a:r>
              <a:rPr lang="ja-JP" altLang="en-US" sz="2000"/>
              <a:t>特徴量</a:t>
            </a:r>
            <a:endParaRPr lang="en-US" altLang="ja-JP" sz="2000" dirty="0"/>
          </a:p>
          <a:p>
            <a:pPr marL="0" indent="0">
              <a:buNone/>
            </a:pPr>
            <a:r>
              <a:rPr lang="ja-JP" altLang="en-US" sz="2000"/>
              <a:t>モデルに入力するために数値化、加工された情報</a:t>
            </a:r>
            <a:endParaRPr lang="en-US" altLang="ja-JP" sz="2000" dirty="0"/>
          </a:p>
          <a:p>
            <a:endParaRPr lang="en-US" altLang="ja-JP" sz="2000" dirty="0"/>
          </a:p>
          <a:p>
            <a:r>
              <a:rPr lang="ja-JP" altLang="en-US" sz="2000"/>
              <a:t>説明変数</a:t>
            </a:r>
            <a:r>
              <a:rPr lang="en-US" altLang="ja-JP" sz="2000" dirty="0"/>
              <a:t>x</a:t>
            </a:r>
          </a:p>
          <a:p>
            <a:pPr marL="0" indent="0">
              <a:buNone/>
            </a:pPr>
            <a:r>
              <a:rPr lang="ja-JP" altLang="en-US" sz="2000"/>
              <a:t>説明変数は、目的変数を予測・説明するための変数である</a:t>
            </a:r>
            <a:br>
              <a:rPr lang="en-US" altLang="ja-JP" sz="2000" dirty="0"/>
            </a:br>
            <a:r>
              <a:rPr lang="en-US" altLang="ja-JP" sz="2000" dirty="0"/>
              <a:t>x</a:t>
            </a:r>
            <a:r>
              <a:rPr lang="ja-JP" altLang="en-US" sz="2000"/>
              <a:t>を指す</a:t>
            </a:r>
            <a:br>
              <a:rPr lang="en-US" altLang="ja-JP" sz="2000" dirty="0"/>
            </a:br>
            <a:r>
              <a:rPr lang="ja-JP" altLang="en-US" sz="2000"/>
              <a:t>例えば：記述子、組成、温度、圧力、結晶構造、など</a:t>
            </a:r>
            <a:endParaRPr lang="en-US" altLang="ja-JP" sz="2000" dirty="0"/>
          </a:p>
          <a:p>
            <a:pPr marL="0" indent="0">
              <a:buNone/>
            </a:pPr>
            <a:endParaRPr lang="en-US" altLang="ja-JP" sz="2000" dirty="0"/>
          </a:p>
          <a:p>
            <a:r>
              <a:rPr lang="ja-JP" altLang="en-US" sz="2000"/>
              <a:t>目的変数</a:t>
            </a:r>
            <a:r>
              <a:rPr lang="en-US" altLang="ja-JP" sz="2000" dirty="0"/>
              <a:t>y</a:t>
            </a:r>
          </a:p>
          <a:p>
            <a:pPr marL="0" indent="0">
              <a:buNone/>
            </a:pPr>
            <a:r>
              <a:rPr lang="ja-JP" altLang="en-US" sz="2000"/>
              <a:t>目的変数は、モデルによって予測したい値</a:t>
            </a:r>
            <a:br>
              <a:rPr lang="en-US" altLang="ja-JP" sz="2000" dirty="0"/>
            </a:br>
            <a:r>
              <a:rPr lang="en-US" altLang="ja-JP" sz="2000" dirty="0"/>
              <a:t>y</a:t>
            </a:r>
            <a:r>
              <a:rPr lang="ja-JP" altLang="en-US" sz="2000"/>
              <a:t>を指す</a:t>
            </a:r>
            <a:br>
              <a:rPr lang="en-US" altLang="ja-JP" sz="2000" dirty="0"/>
            </a:br>
            <a:r>
              <a:rPr lang="ja-JP" altLang="en-US" sz="2000"/>
              <a:t>例えば：熱伝導率、バンドギャップ、硬さ、など</a:t>
            </a:r>
            <a:endParaRPr lang="en-US" altLang="ja-JP" sz="2000" dirty="0"/>
          </a:p>
          <a:p>
            <a:pPr marL="0" indent="0">
              <a:buNone/>
            </a:pPr>
            <a:endParaRPr lang="en-US" altLang="ja-JP" sz="2000" dirty="0"/>
          </a:p>
          <a:p>
            <a:pPr marL="0" indent="0">
              <a:buNone/>
            </a:pPr>
            <a:endParaRPr lang="en-US" altLang="ja-JP" sz="2000" dirty="0"/>
          </a:p>
          <a:p>
            <a:endParaRPr kumimoji="1" lang="ja-JP" altLang="en-US" sz="2000"/>
          </a:p>
        </p:txBody>
      </p:sp>
      <p:sp>
        <p:nvSpPr>
          <p:cNvPr id="6" name="正方形/長方形 5">
            <a:extLst>
              <a:ext uri="{FF2B5EF4-FFF2-40B4-BE49-F238E27FC236}">
                <a16:creationId xmlns:a16="http://schemas.microsoft.com/office/drawing/2014/main" id="{C8347150-57F1-5BD3-4AB2-1CF51C5A8951}"/>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966A0E10-D9C3-4381-76C1-5C5AB927C7CC}"/>
                  </a:ext>
                </a:extLst>
              </p:cNvPr>
              <p:cNvSpPr txBox="1"/>
              <p:nvPr/>
            </p:nvSpPr>
            <p:spPr>
              <a:xfrm>
                <a:off x="1429163" y="5995866"/>
                <a:ext cx="93782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oMath>
                  </m:oMathPara>
                </a14:m>
                <a:endParaRPr kumimoji="1" lang="ja-JP" altLang="en-US"/>
              </a:p>
            </p:txBody>
          </p:sp>
        </mc:Choice>
        <mc:Fallback>
          <p:sp>
            <p:nvSpPr>
              <p:cNvPr id="4" name="テキスト ボックス 3">
                <a:extLst>
                  <a:ext uri="{FF2B5EF4-FFF2-40B4-BE49-F238E27FC236}">
                    <a16:creationId xmlns:a16="http://schemas.microsoft.com/office/drawing/2014/main" id="{966A0E10-D9C3-4381-76C1-5C5AB927C7CC}"/>
                  </a:ext>
                </a:extLst>
              </p:cNvPr>
              <p:cNvSpPr txBox="1">
                <a:spLocks noRot="1" noChangeAspect="1" noMove="1" noResize="1" noEditPoints="1" noAdjustHandles="1" noChangeArrowheads="1" noChangeShapeType="1" noTextEdit="1"/>
              </p:cNvSpPr>
              <p:nvPr/>
            </p:nvSpPr>
            <p:spPr>
              <a:xfrm>
                <a:off x="1429163" y="5995866"/>
                <a:ext cx="937821" cy="276999"/>
              </a:xfrm>
              <a:prstGeom prst="rect">
                <a:avLst/>
              </a:prstGeom>
              <a:blipFill>
                <a:blip r:embed="rId4"/>
                <a:stretch>
                  <a:fillRect l="-5333" t="-4545" r="-8000" b="-40909"/>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FCED536A-D349-ADE6-FDD6-EC964011AD75}"/>
              </a:ext>
            </a:extLst>
          </p:cNvPr>
          <p:cNvSpPr txBox="1"/>
          <p:nvPr/>
        </p:nvSpPr>
        <p:spPr>
          <a:xfrm>
            <a:off x="5443948" y="6609457"/>
            <a:ext cx="3700052" cy="215444"/>
          </a:xfrm>
          <a:prstGeom prst="rect">
            <a:avLst/>
          </a:prstGeom>
          <a:noFill/>
        </p:spPr>
        <p:txBody>
          <a:bodyPr wrap="none" rtlCol="0">
            <a:spAutoFit/>
          </a:bodyPr>
          <a:lstStyle/>
          <a:p>
            <a:r>
              <a:rPr kumimoji="1" lang="en-AU" altLang="ja-JP" sz="800" dirty="0">
                <a:hlinkClick r:id="rId5"/>
              </a:rPr>
              <a:t>https://py-memo.com/machinelearning/feature-explanatory-target/</a:t>
            </a:r>
            <a:r>
              <a:rPr kumimoji="1" lang="ja-JP" altLang="en-US" sz="800" dirty="0"/>
              <a:t>　</a:t>
            </a:r>
            <a:r>
              <a:rPr kumimoji="1" lang="ja-JP" altLang="en-US" sz="800"/>
              <a:t>より引用</a:t>
            </a:r>
          </a:p>
        </p:txBody>
      </p:sp>
    </p:spTree>
    <p:extLst>
      <p:ext uri="{BB962C8B-B14F-4D97-AF65-F5344CB8AC3E}">
        <p14:creationId xmlns:p14="http://schemas.microsoft.com/office/powerpoint/2010/main" val="266631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0820F-BE74-D4D2-3AA4-9B80424160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0B0830-B127-55E4-9F30-C06EDADD908D}"/>
              </a:ext>
            </a:extLst>
          </p:cNvPr>
          <p:cNvSpPr>
            <a:spLocks noGrp="1"/>
          </p:cNvSpPr>
          <p:nvPr>
            <p:ph type="title"/>
          </p:nvPr>
        </p:nvSpPr>
        <p:spPr>
          <a:xfrm>
            <a:off x="122664" y="248543"/>
            <a:ext cx="5892800" cy="497087"/>
          </a:xfrm>
        </p:spPr>
        <p:txBody>
          <a:bodyPr>
            <a:normAutofit/>
          </a:bodyPr>
          <a:lstStyle/>
          <a:p>
            <a:r>
              <a:rPr lang="ja-JP" altLang="en-US" sz="2800"/>
              <a:t>用語の説明</a:t>
            </a:r>
            <a:r>
              <a:rPr lang="en-US" altLang="ja-JP" sz="2800" dirty="0"/>
              <a:t>(2)</a:t>
            </a:r>
            <a:endParaRPr lang="ja-JP" altLang="en-US" sz="2800"/>
          </a:p>
        </p:txBody>
      </p:sp>
      <p:sp>
        <p:nvSpPr>
          <p:cNvPr id="3" name="コンテンツ プレースホルダー 2">
            <a:extLst>
              <a:ext uri="{FF2B5EF4-FFF2-40B4-BE49-F238E27FC236}">
                <a16:creationId xmlns:a16="http://schemas.microsoft.com/office/drawing/2014/main" id="{45E0CE4C-5E47-64C3-503A-78E8AB226949}"/>
              </a:ext>
            </a:extLst>
          </p:cNvPr>
          <p:cNvSpPr>
            <a:spLocks noGrp="1"/>
          </p:cNvSpPr>
          <p:nvPr>
            <p:ph idx="1"/>
          </p:nvPr>
        </p:nvSpPr>
        <p:spPr>
          <a:xfrm>
            <a:off x="628650" y="1140136"/>
            <a:ext cx="7886700" cy="5469321"/>
          </a:xfrm>
        </p:spPr>
        <p:txBody>
          <a:bodyPr>
            <a:noAutofit/>
          </a:bodyPr>
          <a:lstStyle/>
          <a:p>
            <a:r>
              <a:rPr lang="en-US" altLang="ja-JP" sz="2000" dirty="0"/>
              <a:t>R^</a:t>
            </a:r>
            <a:r>
              <a:rPr lang="ja-JP" altLang="en-US" sz="2000"/>
              <a:t>２（決定係数）</a:t>
            </a:r>
            <a:endParaRPr lang="en-US" altLang="ja-JP" sz="2000" dirty="0"/>
          </a:p>
          <a:p>
            <a:pPr marL="0" indent="0">
              <a:buNone/>
            </a:pPr>
            <a:r>
              <a:rPr lang="ja-JP" altLang="en-US" sz="2000"/>
              <a:t>予測値が実測値の変化や傾向をどれくらい捉えているかを表す指標</a:t>
            </a:r>
          </a:p>
          <a:p>
            <a:pPr marL="0" indent="0">
              <a:buNone/>
            </a:pPr>
            <a:r>
              <a:rPr lang="ja-JP" altLang="en-US" sz="2000"/>
              <a:t>値が</a:t>
            </a:r>
            <a:r>
              <a:rPr lang="en-US" altLang="ja-JP" sz="2000" dirty="0"/>
              <a:t>1</a:t>
            </a:r>
            <a:r>
              <a:rPr lang="ja-JP" altLang="en-US" sz="2000"/>
              <a:t>に近いほど、モデルが実測値の傾向をよく予測できている</a:t>
            </a:r>
          </a:p>
          <a:p>
            <a:endParaRPr lang="ja-JP" altLang="en-US" sz="2000"/>
          </a:p>
          <a:p>
            <a:endParaRPr lang="en-US" altLang="ja-JP" sz="2000" dirty="0"/>
          </a:p>
          <a:p>
            <a:r>
              <a:rPr lang="en-US" altLang="ja-JP" sz="2000" dirty="0"/>
              <a:t>RMSE </a:t>
            </a:r>
            <a:r>
              <a:rPr lang="ja-JP" altLang="en-US" sz="2000"/>
              <a:t>（二乗平均平方根誤差）</a:t>
            </a:r>
            <a:endParaRPr lang="en-US" altLang="ja-JP" sz="2000" dirty="0"/>
          </a:p>
          <a:p>
            <a:pPr marL="0" indent="0">
              <a:buNone/>
            </a:pPr>
            <a:r>
              <a:rPr lang="ja-JP" altLang="en-US" sz="2000"/>
              <a:t>予測値と実測値のずれを表す指標。</a:t>
            </a:r>
            <a:br>
              <a:rPr lang="en-US" altLang="ja-JP" sz="2000" dirty="0"/>
            </a:br>
            <a:r>
              <a:rPr lang="ja-JP" altLang="en-US" sz="2000"/>
              <a:t>大きな誤差の影響を受けやすく、０に近いほど小さいほど予測精度が高い</a:t>
            </a:r>
            <a:endParaRPr lang="en-US" altLang="ja-JP" sz="2000" dirty="0"/>
          </a:p>
          <a:p>
            <a:pPr marL="0" indent="0">
              <a:buNone/>
            </a:pPr>
            <a:endParaRPr lang="en-US" altLang="ja-JP" sz="2000" dirty="0"/>
          </a:p>
          <a:p>
            <a:pPr marL="0" indent="0">
              <a:buNone/>
            </a:pPr>
            <a:endParaRPr lang="en-US" altLang="ja-JP" sz="2000" dirty="0"/>
          </a:p>
          <a:p>
            <a:r>
              <a:rPr lang="en-US" altLang="ja-JP" sz="2000" dirty="0"/>
              <a:t>MAE</a:t>
            </a:r>
            <a:r>
              <a:rPr lang="ja-JP" altLang="en-US" sz="2000"/>
              <a:t>（平均絶対誤差）</a:t>
            </a:r>
            <a:endParaRPr lang="en-US" altLang="ja-JP" sz="2000" dirty="0"/>
          </a:p>
          <a:p>
            <a:pPr marL="0" indent="0">
              <a:buNone/>
            </a:pPr>
            <a:r>
              <a:rPr lang="ja-JP" altLang="en-US" sz="2000"/>
              <a:t>予測値と実測値の差が、平均してどれくらいあるかを表す指標。値が</a:t>
            </a:r>
            <a:r>
              <a:rPr lang="en-US" altLang="ja-JP" sz="2000" dirty="0"/>
              <a:t>0</a:t>
            </a:r>
            <a:r>
              <a:rPr lang="ja-JP" altLang="en-US" sz="2000"/>
              <a:t>に近いほど予測精度が高い。</a:t>
            </a:r>
          </a:p>
          <a:p>
            <a:pPr marL="0" indent="0">
              <a:buNone/>
            </a:pPr>
            <a:endParaRPr lang="ja-JP" altLang="en-US" sz="2000"/>
          </a:p>
          <a:p>
            <a:pPr marL="0" indent="0">
              <a:buNone/>
            </a:pPr>
            <a:endParaRPr lang="en-US" altLang="ja-JP" sz="2000" dirty="0"/>
          </a:p>
          <a:p>
            <a:pPr marL="0" indent="0">
              <a:buNone/>
            </a:pPr>
            <a:endParaRPr lang="en-US" altLang="ja-JP" sz="2000" dirty="0"/>
          </a:p>
          <a:p>
            <a:pPr marL="0" indent="0">
              <a:buNone/>
            </a:pPr>
            <a:endParaRPr kumimoji="1" lang="en-US" altLang="ja-JP" sz="2000" dirty="0"/>
          </a:p>
        </p:txBody>
      </p:sp>
      <p:sp>
        <p:nvSpPr>
          <p:cNvPr id="6" name="正方形/長方形 5">
            <a:extLst>
              <a:ext uri="{FF2B5EF4-FFF2-40B4-BE49-F238E27FC236}">
                <a16:creationId xmlns:a16="http://schemas.microsoft.com/office/drawing/2014/main" id="{2864F7A7-0B47-1485-7FAC-6E88BC8DD6DC}"/>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E542E3AA-61A3-7E0D-1569-F08997BDBAC1}"/>
                  </a:ext>
                </a:extLst>
              </p:cNvPr>
              <p:cNvSpPr txBox="1"/>
              <p:nvPr/>
            </p:nvSpPr>
            <p:spPr>
              <a:xfrm>
                <a:off x="3283025" y="4215217"/>
                <a:ext cx="2577949"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𝑅𝑀𝑆𝐸</m:t>
                      </m:r>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f>
                            <m:fPr>
                              <m:ctrlPr>
                                <a:rPr kumimoji="1" lang="en-US" altLang="ja-JP" i="1">
                                  <a:latin typeface="Cambria Math" panose="02040503050406030204" pitchFamily="18" charset="0"/>
                                </a:rPr>
                              </m:ctrlPr>
                            </m:fPr>
                            <m:num>
                              <m:nary>
                                <m:naryPr>
                                  <m:chr m:val="∑"/>
                                  <m:ctrlPr>
                                    <a:rPr kumimoji="1" lang="en-US" altLang="ja-JP" i="1">
                                      <a:latin typeface="Cambria Math" panose="02040503050406030204" pitchFamily="18" charset="0"/>
                                    </a:rPr>
                                  </m:ctrlPr>
                                </m:naryPr>
                                <m:sub>
                                  <m:r>
                                    <m:rPr>
                                      <m:brk m:alnAt="23"/>
                                    </m:rPr>
                                    <a:rPr kumimoji="1" lang="en-US" altLang="ja-JP" i="1">
                                      <a:latin typeface="Cambria Math" panose="02040503050406030204" pitchFamily="18" charset="0"/>
                                    </a:rPr>
                                    <m:t>𝑗</m:t>
                                  </m:r>
                                  <m:r>
                                    <a:rPr kumimoji="1" lang="en-US" altLang="ja-JP" i="1">
                                      <a:latin typeface="Cambria Math" panose="02040503050406030204" pitchFamily="18" charset="0"/>
                                    </a:rPr>
                                    <m:t>=1</m:t>
                                  </m:r>
                                </m:sub>
                                <m:sup>
                                  <m:r>
                                    <a:rPr kumimoji="1" lang="en-US" altLang="ja-JP" i="1">
                                      <a:latin typeface="Cambria Math" panose="02040503050406030204" pitchFamily="18" charset="0"/>
                                    </a:rPr>
                                    <m:t>𝑁</m:t>
                                  </m:r>
                                </m:sup>
                                <m:e>
                                  <m:sSup>
                                    <m:sSupPr>
                                      <m:ctrlPr>
                                        <a:rPr kumimoji="1" lang="en-US" altLang="ja-JP" i="1">
                                          <a:latin typeface="Cambria Math" panose="02040503050406030204" pitchFamily="18" charset="0"/>
                                        </a:rPr>
                                      </m:ctrlPr>
                                    </m:sSupPr>
                                    <m:e>
                                      <m:d>
                                        <m:dPr>
                                          <m:ctrlPr>
                                            <a:rPr kumimoji="1" lang="en-US" altLang="ja-JP" i="1">
                                              <a:latin typeface="Cambria Math" panose="02040503050406030204" pitchFamily="18" charset="0"/>
                                            </a:rPr>
                                          </m:ctrlPr>
                                        </m:dPr>
                                        <m:e>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i="1">
                                                  <a:latin typeface="Cambria Math" panose="02040503050406030204" pitchFamily="18" charset="0"/>
                                                </a:rPr>
                                                <m:t>𝑖</m:t>
                                              </m:r>
                                            </m:sub>
                                          </m:sSub>
                                          <m:r>
                                            <a:rPr kumimoji="1" lang="en-US" altLang="ja-JP" i="1">
                                              <a:latin typeface="Cambria Math" panose="02040503050406030204" pitchFamily="18" charset="0"/>
                                            </a:rPr>
                                            <m:t>−</m:t>
                                          </m:r>
                                          <m:sSub>
                                            <m:sSubPr>
                                              <m:ctrlPr>
                                                <a:rPr kumimoji="1" lang="en-US" altLang="ja-JP" i="1">
                                                  <a:latin typeface="Cambria Math" panose="02040503050406030204" pitchFamily="18" charset="0"/>
                                                </a:rPr>
                                              </m:ctrlPr>
                                            </m:sSub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𝑥</m:t>
                                                  </m:r>
                                                </m:e>
                                              </m:acc>
                                            </m:e>
                                            <m:sub>
                                              <m:r>
                                                <a:rPr kumimoji="1" lang="en-US" altLang="ja-JP" i="1">
                                                  <a:latin typeface="Cambria Math" panose="02040503050406030204" pitchFamily="18" charset="0"/>
                                                </a:rPr>
                                                <m:t>𝑖</m:t>
                                              </m:r>
                                            </m:sub>
                                          </m:sSub>
                                        </m:e>
                                      </m:d>
                                    </m:e>
                                    <m:sup>
                                      <m:r>
                                        <a:rPr kumimoji="1" lang="en-US" altLang="ja-JP" i="1">
                                          <a:latin typeface="Cambria Math" panose="02040503050406030204" pitchFamily="18" charset="0"/>
                                        </a:rPr>
                                        <m:t>2</m:t>
                                      </m:r>
                                    </m:sup>
                                  </m:sSup>
                                </m:e>
                              </m:nary>
                            </m:num>
                            <m:den>
                              <m:r>
                                <a:rPr kumimoji="1" lang="en-US" altLang="ja-JP" b="0" i="1" smtClean="0">
                                  <a:latin typeface="Cambria Math" panose="02040503050406030204" pitchFamily="18" charset="0"/>
                                </a:rPr>
                                <m:t>𝑁</m:t>
                              </m:r>
                            </m:den>
                          </m:f>
                        </m:e>
                      </m:rad>
                    </m:oMath>
                  </m:oMathPara>
                </a14:m>
                <a:endParaRPr kumimoji="1" lang="ja-JP" altLang="en-US"/>
              </a:p>
            </p:txBody>
          </p:sp>
        </mc:Choice>
        <mc:Fallback>
          <p:sp>
            <p:nvSpPr>
              <p:cNvPr id="10" name="テキスト ボックス 9">
                <a:extLst>
                  <a:ext uri="{FF2B5EF4-FFF2-40B4-BE49-F238E27FC236}">
                    <a16:creationId xmlns:a16="http://schemas.microsoft.com/office/drawing/2014/main" id="{E542E3AA-61A3-7E0D-1569-F08997BDBAC1}"/>
                  </a:ext>
                </a:extLst>
              </p:cNvPr>
              <p:cNvSpPr txBox="1">
                <a:spLocks noRot="1" noChangeAspect="1" noMove="1" noResize="1" noEditPoints="1" noAdjustHandles="1" noChangeArrowheads="1" noChangeShapeType="1" noTextEdit="1"/>
              </p:cNvSpPr>
              <p:nvPr/>
            </p:nvSpPr>
            <p:spPr>
              <a:xfrm>
                <a:off x="3283025" y="4215217"/>
                <a:ext cx="2577949" cy="818366"/>
              </a:xfrm>
              <a:prstGeom prst="rect">
                <a:avLst/>
              </a:prstGeom>
              <a:blipFill>
                <a:blip r:embed="rId3"/>
                <a:stretch>
                  <a:fillRect l="-1961" t="-37879" r="-490" b="-3484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0B898237-F4E9-738A-4114-02B97FF425D2}"/>
                  </a:ext>
                </a:extLst>
              </p:cNvPr>
              <p:cNvSpPr txBox="1"/>
              <p:nvPr/>
            </p:nvSpPr>
            <p:spPr>
              <a:xfrm>
                <a:off x="3739432" y="6233880"/>
                <a:ext cx="1665136" cy="484620"/>
              </a:xfrm>
              <a:prstGeom prst="rect">
                <a:avLst/>
              </a:prstGeom>
              <a:noFill/>
            </p:spPr>
            <p:txBody>
              <a:bodyPr wrap="square" lIns="0" tIns="0" rIns="0" bIns="0" rtlCol="0">
                <a:spAutoFit/>
              </a:bodyPr>
              <a:lstStyle/>
              <a:p>
                <a:r>
                  <a:rPr kumimoji="1" lang="en-US" altLang="ja-JP" b="0" dirty="0"/>
                  <a:t>MAE</a:t>
                </a:r>
                <a14:m>
                  <m:oMath xmlns:m="http://schemas.openxmlformats.org/officeDocument/2006/math">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nary>
                          <m:naryPr>
                            <m:chr m:val="∑"/>
                            <m:ctrlPr>
                              <a:rPr kumimoji="1" lang="en-US" altLang="ja-JP" i="1">
                                <a:latin typeface="Cambria Math" panose="02040503050406030204" pitchFamily="18" charset="0"/>
                              </a:rPr>
                            </m:ctrlPr>
                          </m:naryPr>
                          <m:sub>
                            <m:r>
                              <m:rPr>
                                <m:brk m:alnAt="23"/>
                              </m:rPr>
                              <a:rPr kumimoji="1" lang="en-US" altLang="ja-JP" i="1">
                                <a:latin typeface="Cambria Math" panose="02040503050406030204" pitchFamily="18" charset="0"/>
                              </a:rPr>
                              <m:t>𝑗</m:t>
                            </m:r>
                            <m:r>
                              <a:rPr kumimoji="1" lang="en-US" altLang="ja-JP" i="1">
                                <a:latin typeface="Cambria Math" panose="02040503050406030204" pitchFamily="18" charset="0"/>
                              </a:rPr>
                              <m:t>=1</m:t>
                            </m:r>
                          </m:sub>
                          <m:sup>
                            <m:r>
                              <a:rPr kumimoji="1" lang="en-US" altLang="ja-JP" i="1">
                                <a:latin typeface="Cambria Math" panose="02040503050406030204" pitchFamily="18" charset="0"/>
                              </a:rPr>
                              <m:t>𝑁</m:t>
                            </m:r>
                          </m:sup>
                          <m:e>
                            <m:d>
                              <m:dPr>
                                <m:begChr m:val="|"/>
                                <m:endChr m:val="|"/>
                                <m:ctrlPr>
                                  <a:rPr kumimoji="1" lang="en-US" altLang="ja-JP" i="1" smtClean="0">
                                    <a:latin typeface="Cambria Math" panose="02040503050406030204" pitchFamily="18" charset="0"/>
                                  </a:rPr>
                                </m:ctrlPr>
                              </m:dPr>
                              <m:e>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𝑖</m:t>
                                    </m:r>
                                  </m:sub>
                                </m:sSub>
                              </m:e>
                            </m:d>
                          </m:e>
                        </m:nary>
                      </m:num>
                      <m:den>
                        <m:r>
                          <a:rPr kumimoji="1" lang="en-US" altLang="ja-JP" b="0" i="1" smtClean="0">
                            <a:latin typeface="Cambria Math" panose="02040503050406030204" pitchFamily="18" charset="0"/>
                          </a:rPr>
                          <m:t>𝑛</m:t>
                        </m:r>
                      </m:den>
                    </m:f>
                  </m:oMath>
                </a14:m>
                <a:endParaRPr kumimoji="1" lang="ja-JP" altLang="en-US"/>
              </a:p>
            </p:txBody>
          </p:sp>
        </mc:Choice>
        <mc:Fallback>
          <p:sp>
            <p:nvSpPr>
              <p:cNvPr id="11" name="テキスト ボックス 10">
                <a:extLst>
                  <a:ext uri="{FF2B5EF4-FFF2-40B4-BE49-F238E27FC236}">
                    <a16:creationId xmlns:a16="http://schemas.microsoft.com/office/drawing/2014/main" id="{0B898237-F4E9-738A-4114-02B97FF425D2}"/>
                  </a:ext>
                </a:extLst>
              </p:cNvPr>
              <p:cNvSpPr txBox="1">
                <a:spLocks noRot="1" noChangeAspect="1" noMove="1" noResize="1" noEditPoints="1" noAdjustHandles="1" noChangeArrowheads="1" noChangeShapeType="1" noTextEdit="1"/>
              </p:cNvSpPr>
              <p:nvPr/>
            </p:nvSpPr>
            <p:spPr>
              <a:xfrm>
                <a:off x="3739432" y="6233880"/>
                <a:ext cx="1665136" cy="484620"/>
              </a:xfrm>
              <a:prstGeom prst="rect">
                <a:avLst/>
              </a:prstGeom>
              <a:blipFill>
                <a:blip r:embed="rId4"/>
                <a:stretch>
                  <a:fillRect l="-8333" t="-63158" b="-6052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4DDF0C80-E361-01A2-2162-C7D70D0C43A2}"/>
                  </a:ext>
                </a:extLst>
              </p:cNvPr>
              <p:cNvSpPr txBox="1"/>
              <p:nvPr/>
            </p:nvSpPr>
            <p:spPr>
              <a:xfrm>
                <a:off x="3362887" y="2334281"/>
                <a:ext cx="2418226" cy="6867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𝑅</m:t>
                          </m:r>
                        </m:e>
                        <m:sup>
                          <m:r>
                            <a:rPr kumimoji="1" lang="en-US" altLang="ja-JP" b="0" i="1" smtClean="0">
                              <a:latin typeface="Cambria Math" panose="02040503050406030204" pitchFamily="18" charset="0"/>
                            </a:rPr>
                            <m:t>2</m:t>
                          </m:r>
                        </m:sup>
                      </m:sSup>
                      <m:r>
                        <a:rPr kumimoji="1" lang="en-US" altLang="ja-JP" b="0" i="1" smtClean="0">
                          <a:latin typeface="Cambria Math" panose="02040503050406030204" pitchFamily="18" charset="0"/>
                        </a:rPr>
                        <m:t>=1−</m:t>
                      </m:r>
                      <m:f>
                        <m:fPr>
                          <m:ctrlPr>
                            <a:rPr kumimoji="1" lang="en-US" altLang="ja-JP" b="0" i="1" smtClean="0">
                              <a:latin typeface="Cambria Math" panose="02040503050406030204" pitchFamily="18" charset="0"/>
                            </a:rPr>
                          </m:ctrlPr>
                        </m:fPr>
                        <m:num>
                          <m:nary>
                            <m:naryPr>
                              <m:chr m:val="∑"/>
                              <m:ctrlPr>
                                <a:rPr kumimoji="1" lang="en-US" altLang="ja-JP" i="1">
                                  <a:latin typeface="Cambria Math" panose="02040503050406030204" pitchFamily="18" charset="0"/>
                                </a:rPr>
                              </m:ctrlPr>
                            </m:naryPr>
                            <m:sub>
                              <m:r>
                                <m:rPr>
                                  <m:brk m:alnAt="23"/>
                                </m:rPr>
                                <a:rPr kumimoji="1" lang="en-US" altLang="ja-JP" i="1">
                                  <a:latin typeface="Cambria Math" panose="02040503050406030204" pitchFamily="18" charset="0"/>
                                </a:rPr>
                                <m:t>𝑗</m:t>
                              </m:r>
                              <m:r>
                                <a:rPr kumimoji="1" lang="en-US" altLang="ja-JP" i="1">
                                  <a:latin typeface="Cambria Math" panose="02040503050406030204" pitchFamily="18" charset="0"/>
                                </a:rPr>
                                <m:t>=1</m:t>
                              </m:r>
                            </m:sub>
                            <m:sup>
                              <m:r>
                                <a:rPr kumimoji="1" lang="en-US" altLang="ja-JP" i="1">
                                  <a:latin typeface="Cambria Math" panose="02040503050406030204" pitchFamily="18" charset="0"/>
                                </a:rPr>
                                <m:t>𝑁</m:t>
                              </m:r>
                            </m:sup>
                            <m:e>
                              <m:sSup>
                                <m:sSupPr>
                                  <m:ctrlPr>
                                    <a:rPr kumimoji="1" lang="en-US" altLang="ja-JP" i="1">
                                      <a:latin typeface="Cambria Math" panose="02040503050406030204" pitchFamily="18" charset="0"/>
                                    </a:rPr>
                                  </m:ctrlPr>
                                </m:sSupPr>
                                <m:e>
                                  <m:d>
                                    <m:dPr>
                                      <m:ctrlPr>
                                        <a:rPr kumimoji="1" lang="en-US" altLang="ja-JP" i="1">
                                          <a:latin typeface="Cambria Math" panose="02040503050406030204" pitchFamily="18" charset="0"/>
                                        </a:rPr>
                                      </m:ctrlPr>
                                    </m:dPr>
                                    <m:e>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𝑦</m:t>
                                          </m:r>
                                        </m:e>
                                        <m:sub>
                                          <m:r>
                                            <a:rPr kumimoji="1" lang="en-US" altLang="ja-JP" i="1">
                                              <a:latin typeface="Cambria Math" panose="02040503050406030204" pitchFamily="18" charset="0"/>
                                            </a:rPr>
                                            <m:t>𝑖</m:t>
                                          </m:r>
                                        </m:sub>
                                      </m:sSub>
                                      <m:r>
                                        <a:rPr kumimoji="1" lang="en-US" altLang="ja-JP" i="1">
                                          <a:latin typeface="Cambria Math" panose="02040503050406030204" pitchFamily="18" charset="0"/>
                                        </a:rPr>
                                        <m:t>−</m:t>
                                      </m:r>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𝑖</m:t>
                                          </m:r>
                                        </m:sub>
                                      </m:sSub>
                                    </m:e>
                                  </m:d>
                                </m:e>
                                <m:sup>
                                  <m:r>
                                    <a:rPr kumimoji="1" lang="en-US" altLang="ja-JP" i="1">
                                      <a:latin typeface="Cambria Math" panose="02040503050406030204" pitchFamily="18" charset="0"/>
                                    </a:rPr>
                                    <m:t>2</m:t>
                                  </m:r>
                                </m:sup>
                              </m:sSup>
                            </m:e>
                          </m:nary>
                        </m:num>
                        <m:den>
                          <m:nary>
                            <m:naryPr>
                              <m:chr m:val="∑"/>
                              <m:ctrlPr>
                                <a:rPr kumimoji="1" lang="en-US" altLang="ja-JP" b="0" i="1" smtClean="0">
                                  <a:latin typeface="Cambria Math" panose="02040503050406030204" pitchFamily="18" charset="0"/>
                                </a:rPr>
                              </m:ctrlPr>
                            </m:naryPr>
                            <m:sub>
                              <m:r>
                                <m:rPr>
                                  <m:brk m:alnAt="23"/>
                                </m:rP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𝑁</m:t>
                              </m:r>
                            </m:sup>
                            <m:e>
                              <m:sSup>
                                <m:sSupPr>
                                  <m:ctrlPr>
                                    <a:rPr kumimoji="1" lang="en-US" altLang="ja-JP" b="0" i="1" smtClean="0">
                                      <a:latin typeface="Cambria Math" panose="02040503050406030204" pitchFamily="18" charset="0"/>
                                    </a:rPr>
                                  </m:ctrlPr>
                                </m:sSupPr>
                                <m:e>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𝑦</m:t>
                                          </m:r>
                                        </m:e>
                                      </m:acc>
                                    </m:e>
                                  </m:d>
                                </m:e>
                                <m:sup>
                                  <m:r>
                                    <a:rPr kumimoji="1" lang="en-US" altLang="ja-JP" b="0" i="1" smtClean="0">
                                      <a:latin typeface="Cambria Math" panose="02040503050406030204" pitchFamily="18" charset="0"/>
                                    </a:rPr>
                                    <m:t>2</m:t>
                                  </m:r>
                                </m:sup>
                              </m:sSup>
                            </m:e>
                          </m:nary>
                        </m:den>
                      </m:f>
                    </m:oMath>
                  </m:oMathPara>
                </a14:m>
                <a:endParaRPr kumimoji="1" lang="ja-JP" altLang="en-US"/>
              </a:p>
            </p:txBody>
          </p:sp>
        </mc:Choice>
        <mc:Fallback>
          <p:sp>
            <p:nvSpPr>
              <p:cNvPr id="7" name="テキスト ボックス 6">
                <a:extLst>
                  <a:ext uri="{FF2B5EF4-FFF2-40B4-BE49-F238E27FC236}">
                    <a16:creationId xmlns:a16="http://schemas.microsoft.com/office/drawing/2014/main" id="{4DDF0C80-E361-01A2-2162-C7D70D0C43A2}"/>
                  </a:ext>
                </a:extLst>
              </p:cNvPr>
              <p:cNvSpPr txBox="1">
                <a:spLocks noRot="1" noChangeAspect="1" noMove="1" noResize="1" noEditPoints="1" noAdjustHandles="1" noChangeArrowheads="1" noChangeShapeType="1" noTextEdit="1"/>
              </p:cNvSpPr>
              <p:nvPr/>
            </p:nvSpPr>
            <p:spPr>
              <a:xfrm>
                <a:off x="3362887" y="2334281"/>
                <a:ext cx="2418226" cy="686791"/>
              </a:xfrm>
              <a:prstGeom prst="rect">
                <a:avLst/>
              </a:prstGeom>
              <a:blipFill>
                <a:blip r:embed="rId5"/>
                <a:stretch>
                  <a:fillRect l="-1563" t="-64286" r="-521" b="-875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17464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3C91D-EE8F-E62C-9931-9F421D61C1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BC24F8-2537-2BE3-10D8-AB44941A2E5D}"/>
              </a:ext>
            </a:extLst>
          </p:cNvPr>
          <p:cNvSpPr>
            <a:spLocks noGrp="1"/>
          </p:cNvSpPr>
          <p:nvPr>
            <p:ph type="title"/>
          </p:nvPr>
        </p:nvSpPr>
        <p:spPr>
          <a:xfrm>
            <a:off x="122664" y="248543"/>
            <a:ext cx="5892800" cy="497087"/>
          </a:xfrm>
        </p:spPr>
        <p:txBody>
          <a:bodyPr>
            <a:normAutofit/>
          </a:bodyPr>
          <a:lstStyle/>
          <a:p>
            <a:r>
              <a:rPr lang="ja-JP" altLang="en-US" sz="2800"/>
              <a:t>用語の説明</a:t>
            </a:r>
            <a:r>
              <a:rPr lang="en-US" altLang="ja-JP" sz="2800" dirty="0"/>
              <a:t>(3)</a:t>
            </a:r>
            <a:endParaRPr lang="ja-JP" altLang="en-US" sz="280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FECAC89-248D-D0F7-B9B9-1EE3C641DB6B}"/>
                  </a:ext>
                </a:extLst>
              </p:cNvPr>
              <p:cNvSpPr>
                <a:spLocks noGrp="1"/>
              </p:cNvSpPr>
              <p:nvPr>
                <p:ph idx="1"/>
              </p:nvPr>
            </p:nvSpPr>
            <p:spPr>
              <a:xfrm>
                <a:off x="628650" y="1140137"/>
                <a:ext cx="7886700" cy="1416922"/>
              </a:xfrm>
            </p:spPr>
            <p:txBody>
              <a:bodyPr>
                <a:noAutofit/>
              </a:bodyPr>
              <a:lstStyle/>
              <a:p>
                <a:r>
                  <a:rPr lang="ja-JP" altLang="en-US" sz="2000"/>
                  <a:t>予測値</a:t>
                </a:r>
                <a:r>
                  <a:rPr lang="en-US" altLang="ja-JP" sz="2000" dirty="0"/>
                  <a:t>-</a:t>
                </a:r>
                <a:r>
                  <a:rPr lang="ja-JP" altLang="en-US" sz="2000"/>
                  <a:t>実測値プロット</a:t>
                </a:r>
              </a:p>
              <a:p>
                <a:pPr marL="0" indent="0">
                  <a:buNone/>
                </a:pPr>
                <a:r>
                  <a:rPr kumimoji="1" lang="ja-JP" altLang="en-US" sz="2000"/>
                  <a:t>予測と実測のプロット。良い例は</a:t>
                </a:r>
                <a14:m>
                  <m:oMath xmlns:m="http://schemas.openxmlformats.org/officeDocument/2006/math">
                    <m:r>
                      <a:rPr lang="en-US" altLang="ja-JP" sz="2000" b="0" i="1" dirty="0" smtClean="0">
                        <a:latin typeface="Cambria Math" panose="02040503050406030204" pitchFamily="18" charset="0"/>
                      </a:rPr>
                      <m:t>45</m:t>
                    </m:r>
                    <m:r>
                      <a:rPr lang="en-US" altLang="ja-JP" sz="2000" i="1" dirty="0">
                        <a:latin typeface="Cambria Math" panose="02040503050406030204" pitchFamily="18" charset="0"/>
                      </a:rPr>
                      <m:t>°</m:t>
                    </m:r>
                  </m:oMath>
                </a14:m>
                <a:r>
                  <a:rPr lang="ja-JP" altLang="en-US" sz="2000"/>
                  <a:t>線に集まっている</a:t>
                </a:r>
                <a:endParaRPr lang="en-US" altLang="ja-JP" sz="2000" dirty="0"/>
              </a:p>
              <a:p>
                <a:pPr marL="0" indent="0">
                  <a:buNone/>
                </a:pPr>
                <a:r>
                  <a:rPr lang="ja-JP" altLang="en-US" sz="2000"/>
                  <a:t>予測値が縦軸、実測値が横軸</a:t>
                </a:r>
                <a:endParaRPr lang="en-US" altLang="ja-JP" sz="2000" dirty="0"/>
              </a:p>
            </p:txBody>
          </p:sp>
        </mc:Choice>
        <mc:Fallback>
          <p:sp>
            <p:nvSpPr>
              <p:cNvPr id="3" name="コンテンツ プレースホルダー 2">
                <a:extLst>
                  <a:ext uri="{FF2B5EF4-FFF2-40B4-BE49-F238E27FC236}">
                    <a16:creationId xmlns:a16="http://schemas.microsoft.com/office/drawing/2014/main" id="{FFECAC89-248D-D0F7-B9B9-1EE3C641DB6B}"/>
                  </a:ext>
                </a:extLst>
              </p:cNvPr>
              <p:cNvSpPr>
                <a:spLocks noGrp="1" noRot="1" noChangeAspect="1" noMove="1" noResize="1" noEditPoints="1" noAdjustHandles="1" noChangeArrowheads="1" noChangeShapeType="1" noTextEdit="1"/>
              </p:cNvSpPr>
              <p:nvPr>
                <p:ph idx="1"/>
              </p:nvPr>
            </p:nvSpPr>
            <p:spPr>
              <a:xfrm>
                <a:off x="628650" y="1140137"/>
                <a:ext cx="7886700" cy="1416922"/>
              </a:xfrm>
              <a:blipFill>
                <a:blip r:embed="rId3"/>
                <a:stretch>
                  <a:fillRect l="-804" t="-4425"/>
                </a:stretch>
              </a:blipFill>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E1F15D8C-D7CD-185F-5F2C-70C4BCF7F0FC}"/>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pic>
        <p:nvPicPr>
          <p:cNvPr id="7" name="図 6">
            <a:extLst>
              <a:ext uri="{FF2B5EF4-FFF2-40B4-BE49-F238E27FC236}">
                <a16:creationId xmlns:a16="http://schemas.microsoft.com/office/drawing/2014/main" id="{E83EE915-60DF-D723-7CAD-8D74D0D3FC9A}"/>
              </a:ext>
            </a:extLst>
          </p:cNvPr>
          <p:cNvPicPr>
            <a:picLocks noChangeAspect="1"/>
          </p:cNvPicPr>
          <p:nvPr/>
        </p:nvPicPr>
        <p:blipFill>
          <a:blip r:embed="rId4"/>
          <a:stretch>
            <a:fillRect/>
          </a:stretch>
        </p:blipFill>
        <p:spPr>
          <a:xfrm>
            <a:off x="1861784" y="2233742"/>
            <a:ext cx="1921695" cy="1982492"/>
          </a:xfrm>
          <a:prstGeom prst="rect">
            <a:avLst/>
          </a:prstGeom>
        </p:spPr>
      </p:pic>
      <p:pic>
        <p:nvPicPr>
          <p:cNvPr id="9" name="図 8">
            <a:extLst>
              <a:ext uri="{FF2B5EF4-FFF2-40B4-BE49-F238E27FC236}">
                <a16:creationId xmlns:a16="http://schemas.microsoft.com/office/drawing/2014/main" id="{B5BA7F96-CB01-0F47-4AAB-91FE28B63D43}"/>
              </a:ext>
            </a:extLst>
          </p:cNvPr>
          <p:cNvPicPr>
            <a:picLocks noChangeAspect="1"/>
          </p:cNvPicPr>
          <p:nvPr/>
        </p:nvPicPr>
        <p:blipFill>
          <a:blip r:embed="rId5"/>
          <a:stretch>
            <a:fillRect/>
          </a:stretch>
        </p:blipFill>
        <p:spPr>
          <a:xfrm>
            <a:off x="5054616" y="2233742"/>
            <a:ext cx="1921695" cy="1982492"/>
          </a:xfrm>
          <a:prstGeom prst="rect">
            <a:avLst/>
          </a:prstGeom>
        </p:spPr>
      </p:pic>
      <p:pic>
        <p:nvPicPr>
          <p:cNvPr id="13" name="図 12">
            <a:extLst>
              <a:ext uri="{FF2B5EF4-FFF2-40B4-BE49-F238E27FC236}">
                <a16:creationId xmlns:a16="http://schemas.microsoft.com/office/drawing/2014/main" id="{34213B53-F0AD-2314-A45A-FD1E5BCE762F}"/>
              </a:ext>
            </a:extLst>
          </p:cNvPr>
          <p:cNvPicPr>
            <a:picLocks noChangeAspect="1"/>
          </p:cNvPicPr>
          <p:nvPr/>
        </p:nvPicPr>
        <p:blipFill>
          <a:blip r:embed="rId6"/>
          <a:stretch>
            <a:fillRect/>
          </a:stretch>
        </p:blipFill>
        <p:spPr>
          <a:xfrm>
            <a:off x="1861784" y="4478450"/>
            <a:ext cx="1921695" cy="1982492"/>
          </a:xfrm>
          <a:prstGeom prst="rect">
            <a:avLst/>
          </a:prstGeom>
        </p:spPr>
      </p:pic>
      <p:pic>
        <p:nvPicPr>
          <p:cNvPr id="16" name="図 15">
            <a:extLst>
              <a:ext uri="{FF2B5EF4-FFF2-40B4-BE49-F238E27FC236}">
                <a16:creationId xmlns:a16="http://schemas.microsoft.com/office/drawing/2014/main" id="{DF6AEE09-4F64-31BE-AA66-2EA497F394AD}"/>
              </a:ext>
            </a:extLst>
          </p:cNvPr>
          <p:cNvPicPr>
            <a:picLocks noChangeAspect="1"/>
          </p:cNvPicPr>
          <p:nvPr/>
        </p:nvPicPr>
        <p:blipFill>
          <a:blip r:embed="rId7"/>
          <a:stretch>
            <a:fillRect/>
          </a:stretch>
        </p:blipFill>
        <p:spPr>
          <a:xfrm>
            <a:off x="5054616" y="4478450"/>
            <a:ext cx="1921695" cy="1982492"/>
          </a:xfrm>
          <a:prstGeom prst="rect">
            <a:avLst/>
          </a:prstGeom>
        </p:spPr>
      </p:pic>
      <p:sp>
        <p:nvSpPr>
          <p:cNvPr id="4" name="テキスト ボックス 3">
            <a:extLst>
              <a:ext uri="{FF2B5EF4-FFF2-40B4-BE49-F238E27FC236}">
                <a16:creationId xmlns:a16="http://schemas.microsoft.com/office/drawing/2014/main" id="{8FDA3166-B0DD-0418-A5F6-93AA9E5FE6D3}"/>
              </a:ext>
            </a:extLst>
          </p:cNvPr>
          <p:cNvSpPr txBox="1"/>
          <p:nvPr/>
        </p:nvSpPr>
        <p:spPr>
          <a:xfrm>
            <a:off x="2384050" y="4162676"/>
            <a:ext cx="877163" cy="369332"/>
          </a:xfrm>
          <a:prstGeom prst="rect">
            <a:avLst/>
          </a:prstGeom>
          <a:noFill/>
        </p:spPr>
        <p:txBody>
          <a:bodyPr wrap="none" rtlCol="0">
            <a:spAutoFit/>
          </a:bodyPr>
          <a:lstStyle/>
          <a:p>
            <a:r>
              <a:rPr kumimoji="1" lang="ja-JP" altLang="en-US"/>
              <a:t>良い例</a:t>
            </a:r>
          </a:p>
        </p:txBody>
      </p:sp>
      <p:sp>
        <p:nvSpPr>
          <p:cNvPr id="5" name="テキスト ボックス 4">
            <a:extLst>
              <a:ext uri="{FF2B5EF4-FFF2-40B4-BE49-F238E27FC236}">
                <a16:creationId xmlns:a16="http://schemas.microsoft.com/office/drawing/2014/main" id="{9EEE2C72-FB2B-5893-400D-D488DE47EBFA}"/>
              </a:ext>
            </a:extLst>
          </p:cNvPr>
          <p:cNvSpPr txBox="1"/>
          <p:nvPr/>
        </p:nvSpPr>
        <p:spPr>
          <a:xfrm>
            <a:off x="4422720" y="4153531"/>
            <a:ext cx="3185487" cy="369332"/>
          </a:xfrm>
          <a:prstGeom prst="rect">
            <a:avLst/>
          </a:prstGeom>
          <a:noFill/>
        </p:spPr>
        <p:txBody>
          <a:bodyPr wrap="none" rtlCol="0">
            <a:spAutoFit/>
          </a:bodyPr>
          <a:lstStyle/>
          <a:p>
            <a:r>
              <a:rPr kumimoji="1" lang="ja-JP" altLang="en-US"/>
              <a:t>モデルが学習に失敗している</a:t>
            </a:r>
          </a:p>
        </p:txBody>
      </p:sp>
      <p:sp>
        <p:nvSpPr>
          <p:cNvPr id="8" name="テキスト ボックス 7">
            <a:extLst>
              <a:ext uri="{FF2B5EF4-FFF2-40B4-BE49-F238E27FC236}">
                <a16:creationId xmlns:a16="http://schemas.microsoft.com/office/drawing/2014/main" id="{622E54CE-DABD-5213-013E-0D3F3BF6EF4A}"/>
              </a:ext>
            </a:extLst>
          </p:cNvPr>
          <p:cNvSpPr txBox="1"/>
          <p:nvPr/>
        </p:nvSpPr>
        <p:spPr>
          <a:xfrm>
            <a:off x="1806969" y="6488668"/>
            <a:ext cx="2031325" cy="369332"/>
          </a:xfrm>
          <a:prstGeom prst="rect">
            <a:avLst/>
          </a:prstGeom>
          <a:noFill/>
        </p:spPr>
        <p:txBody>
          <a:bodyPr wrap="none" rtlCol="0">
            <a:spAutoFit/>
          </a:bodyPr>
          <a:lstStyle/>
          <a:p>
            <a:r>
              <a:rPr kumimoji="1" lang="ja-JP" altLang="en-US"/>
              <a:t>誤差が大きすぎる</a:t>
            </a:r>
          </a:p>
        </p:txBody>
      </p:sp>
      <p:sp>
        <p:nvSpPr>
          <p:cNvPr id="10" name="テキスト ボックス 9">
            <a:extLst>
              <a:ext uri="{FF2B5EF4-FFF2-40B4-BE49-F238E27FC236}">
                <a16:creationId xmlns:a16="http://schemas.microsoft.com/office/drawing/2014/main" id="{939CBF2C-BFA7-F68E-7350-A46B13FD6C93}"/>
              </a:ext>
            </a:extLst>
          </p:cNvPr>
          <p:cNvSpPr txBox="1"/>
          <p:nvPr/>
        </p:nvSpPr>
        <p:spPr>
          <a:xfrm>
            <a:off x="4999801" y="6488668"/>
            <a:ext cx="2031325" cy="369332"/>
          </a:xfrm>
          <a:prstGeom prst="rect">
            <a:avLst/>
          </a:prstGeom>
          <a:noFill/>
        </p:spPr>
        <p:txBody>
          <a:bodyPr wrap="none" rtlCol="0">
            <a:spAutoFit/>
          </a:bodyPr>
          <a:lstStyle/>
          <a:p>
            <a:r>
              <a:rPr kumimoji="1" lang="ja-JP" altLang="en-US"/>
              <a:t>系統がずれている</a:t>
            </a:r>
          </a:p>
        </p:txBody>
      </p:sp>
    </p:spTree>
    <p:extLst>
      <p:ext uri="{BB962C8B-B14F-4D97-AF65-F5344CB8AC3E}">
        <p14:creationId xmlns:p14="http://schemas.microsoft.com/office/powerpoint/2010/main" val="394033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35E90D3B-6299-39A0-CB08-AFFB99CFEEF2}"/>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 name="タイトル 1">
            <a:extLst>
              <a:ext uri="{FF2B5EF4-FFF2-40B4-BE49-F238E27FC236}">
                <a16:creationId xmlns:a16="http://schemas.microsoft.com/office/drawing/2014/main" id="{235D01FF-083A-D796-C46C-EC8ED800FB9E}"/>
              </a:ext>
            </a:extLst>
          </p:cNvPr>
          <p:cNvSpPr>
            <a:spLocks noGrp="1"/>
          </p:cNvSpPr>
          <p:nvPr>
            <p:ph type="title"/>
          </p:nvPr>
        </p:nvSpPr>
        <p:spPr>
          <a:xfrm>
            <a:off x="122664" y="248543"/>
            <a:ext cx="5892800" cy="497087"/>
          </a:xfrm>
        </p:spPr>
        <p:txBody>
          <a:bodyPr>
            <a:normAutofit/>
          </a:bodyPr>
          <a:lstStyle/>
          <a:p>
            <a:r>
              <a:rPr lang="ja-JP" altLang="en-US" sz="2800"/>
              <a:t>機械学習のフローの体験</a:t>
            </a:r>
          </a:p>
        </p:txBody>
      </p:sp>
      <p:sp>
        <p:nvSpPr>
          <p:cNvPr id="3" name="コンテンツ プレースホルダー 2">
            <a:extLst>
              <a:ext uri="{FF2B5EF4-FFF2-40B4-BE49-F238E27FC236}">
                <a16:creationId xmlns:a16="http://schemas.microsoft.com/office/drawing/2014/main" id="{5F283E3F-8425-AEDA-2D83-4BFAA61ACCD6}"/>
              </a:ext>
            </a:extLst>
          </p:cNvPr>
          <p:cNvSpPr>
            <a:spLocks noGrp="1"/>
          </p:cNvSpPr>
          <p:nvPr>
            <p:ph idx="1"/>
          </p:nvPr>
        </p:nvSpPr>
        <p:spPr>
          <a:xfrm>
            <a:off x="628650" y="1282267"/>
            <a:ext cx="7886700" cy="3263504"/>
          </a:xfrm>
        </p:spPr>
        <p:txBody>
          <a:bodyPr>
            <a:normAutofit/>
          </a:bodyPr>
          <a:lstStyle/>
          <a:p>
            <a:r>
              <a:rPr kumimoji="1" lang="ja-JP" altLang="en-US" sz="2000"/>
              <a:t>今回のタスクのゴール</a:t>
            </a:r>
            <a:endParaRPr kumimoji="1" lang="en-US" altLang="ja-JP" sz="2000" dirty="0"/>
          </a:p>
          <a:p>
            <a:pPr marL="0" indent="0">
              <a:buNone/>
            </a:pPr>
            <a:r>
              <a:rPr lang="ja-JP" altLang="en-US" sz="2000"/>
              <a:t>「</a:t>
            </a:r>
            <a:r>
              <a:rPr lang="en-US" altLang="ja-JP" sz="2000" dirty="0" err="1"/>
              <a:t>XGBoost</a:t>
            </a:r>
            <a:r>
              <a:rPr lang="ja-JP" altLang="en-US" sz="2000"/>
              <a:t>による有機化合物の</a:t>
            </a:r>
            <a:r>
              <a:rPr lang="en-US" altLang="ja-JP" sz="2000" dirty="0"/>
              <a:t>HOMO</a:t>
            </a:r>
            <a:r>
              <a:rPr lang="ja-JP" altLang="en-US" sz="2000"/>
              <a:t>エネルギー予測」</a:t>
            </a:r>
            <a:endParaRPr lang="en-US" altLang="ja-JP" sz="2000" dirty="0"/>
          </a:p>
          <a:p>
            <a:pPr marL="0" indent="0">
              <a:buNone/>
            </a:pPr>
            <a:endParaRPr lang="en-US" altLang="ja-JP" sz="2000" dirty="0"/>
          </a:p>
          <a:p>
            <a:pPr marL="0" indent="0">
              <a:buNone/>
            </a:pPr>
            <a:r>
              <a:rPr lang="ja-JP" altLang="en-US" sz="2000"/>
              <a:t>前処理：</a:t>
            </a:r>
            <a:r>
              <a:rPr lang="en-US" altLang="ja-JP" sz="2000" dirty="0"/>
              <a:t>csv</a:t>
            </a:r>
            <a:r>
              <a:rPr lang="ja-JP" altLang="en-US" sz="2000"/>
              <a:t>ファイルを読み込み、不要な列を削除</a:t>
            </a:r>
            <a:endParaRPr lang="en-US" altLang="ja-JP" sz="2000" dirty="0"/>
          </a:p>
          <a:p>
            <a:pPr marL="0" indent="0">
              <a:buNone/>
            </a:pPr>
            <a:r>
              <a:rPr lang="ja-JP" altLang="en-US" sz="2000"/>
              <a:t>モデルの選択：</a:t>
            </a:r>
            <a:r>
              <a:rPr lang="en-US" altLang="ja-JP" sz="2000" dirty="0" err="1"/>
              <a:t>XGBoost</a:t>
            </a:r>
            <a:r>
              <a:rPr lang="ja-JP" altLang="en-US" sz="2000"/>
              <a:t>を選択</a:t>
            </a:r>
            <a:endParaRPr lang="en-US" altLang="ja-JP" sz="2000" dirty="0"/>
          </a:p>
          <a:p>
            <a:pPr marL="0" indent="0">
              <a:buNone/>
            </a:pPr>
            <a:r>
              <a:rPr lang="ja-JP" altLang="en-US" sz="2000"/>
              <a:t>モデルの構築：トレーニングデータ</a:t>
            </a:r>
            <a:r>
              <a:rPr lang="en-US" altLang="ja-JP" sz="2000" dirty="0"/>
              <a:t>8000</a:t>
            </a:r>
            <a:r>
              <a:rPr lang="ja-JP" altLang="en-US" sz="2000"/>
              <a:t>、テストデータ</a:t>
            </a:r>
            <a:r>
              <a:rPr lang="en-US" altLang="ja-JP" sz="2000" dirty="0"/>
              <a:t>2000</a:t>
            </a:r>
            <a:r>
              <a:rPr lang="ja-JP" altLang="en-US" sz="2000"/>
              <a:t>に分けて学習</a:t>
            </a:r>
            <a:endParaRPr lang="en-US" altLang="ja-JP" sz="2000" dirty="0"/>
          </a:p>
          <a:p>
            <a:pPr marL="0" indent="0">
              <a:buNone/>
            </a:pPr>
            <a:r>
              <a:rPr lang="ja-JP" altLang="en-US" sz="2000"/>
              <a:t>モデルの評価：予測値</a:t>
            </a:r>
            <a:r>
              <a:rPr lang="en-US" altLang="ja-JP" sz="2000" dirty="0"/>
              <a:t>-</a:t>
            </a:r>
            <a:r>
              <a:rPr lang="ja-JP" altLang="en-US" sz="2000"/>
              <a:t>実測値プロットと後述の数値で評価</a:t>
            </a:r>
            <a:endParaRPr lang="en-US" altLang="ja-JP" sz="2000" dirty="0"/>
          </a:p>
        </p:txBody>
      </p:sp>
      <p:pic>
        <p:nvPicPr>
          <p:cNvPr id="4" name="図 3">
            <a:extLst>
              <a:ext uri="{FF2B5EF4-FFF2-40B4-BE49-F238E27FC236}">
                <a16:creationId xmlns:a16="http://schemas.microsoft.com/office/drawing/2014/main" id="{454D8C74-163C-7836-F3A5-6B365AD9DC71}"/>
              </a:ext>
            </a:extLst>
          </p:cNvPr>
          <p:cNvPicPr>
            <a:picLocks noChangeAspect="1"/>
          </p:cNvPicPr>
          <p:nvPr/>
        </p:nvPicPr>
        <p:blipFill>
          <a:blip r:embed="rId3"/>
          <a:stretch>
            <a:fillRect/>
          </a:stretch>
        </p:blipFill>
        <p:spPr>
          <a:xfrm>
            <a:off x="2351993" y="4374292"/>
            <a:ext cx="4440014" cy="2334553"/>
          </a:xfrm>
          <a:prstGeom prst="rect">
            <a:avLst/>
          </a:prstGeom>
        </p:spPr>
      </p:pic>
    </p:spTree>
    <p:extLst>
      <p:ext uri="{BB962C8B-B14F-4D97-AF65-F5344CB8AC3E}">
        <p14:creationId xmlns:p14="http://schemas.microsoft.com/office/powerpoint/2010/main" val="2751556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F78D4-9ED4-9C81-049E-2C0C8568BF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A2042D-4FEC-B875-FA8B-B5EE0676892F}"/>
              </a:ext>
            </a:extLst>
          </p:cNvPr>
          <p:cNvSpPr>
            <a:spLocks noGrp="1"/>
          </p:cNvSpPr>
          <p:nvPr>
            <p:ph type="title"/>
          </p:nvPr>
        </p:nvSpPr>
        <p:spPr>
          <a:xfrm>
            <a:off x="122664" y="248543"/>
            <a:ext cx="5892800" cy="497087"/>
          </a:xfrm>
        </p:spPr>
        <p:txBody>
          <a:bodyPr>
            <a:normAutofit/>
          </a:bodyPr>
          <a:lstStyle/>
          <a:p>
            <a:r>
              <a:rPr lang="ja-JP" altLang="en-US" sz="2800"/>
              <a:t>コードの解釈</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EE98CEB-CB42-8236-57E1-A418415E8E24}"/>
                  </a:ext>
                </a:extLst>
              </p:cNvPr>
              <p:cNvSpPr>
                <a:spLocks noGrp="1"/>
              </p:cNvSpPr>
              <p:nvPr>
                <p:ph idx="1"/>
              </p:nvPr>
            </p:nvSpPr>
            <p:spPr>
              <a:xfrm>
                <a:off x="314325" y="1131598"/>
                <a:ext cx="8515350" cy="4818240"/>
              </a:xfrm>
            </p:spPr>
            <p:txBody>
              <a:bodyPr>
                <a:normAutofit/>
              </a:bodyPr>
              <a:lstStyle/>
              <a:p>
                <a:pPr marL="0" indent="0">
                  <a:buNone/>
                </a:pPr>
                <a:r>
                  <a:rPr lang="en-US" altLang="ja-JP" sz="2000" dirty="0"/>
                  <a:t>1.</a:t>
                </a:r>
                <a:r>
                  <a:rPr lang="ja-JP" altLang="en-US" sz="2000"/>
                  <a:t>ライブラリの読み込み</a:t>
                </a:r>
                <a:endParaRPr lang="en-US" altLang="ja-JP" sz="2000" dirty="0"/>
              </a:p>
              <a:p>
                <a:pPr marL="0" indent="0">
                  <a:buNone/>
                </a:pPr>
                <a:r>
                  <a:rPr kumimoji="1" lang="en-US" altLang="ja-JP" sz="2000" dirty="0"/>
                  <a:t>2.</a:t>
                </a:r>
                <a:r>
                  <a:rPr kumimoji="1" lang="ja-JP" altLang="en-US" sz="2000"/>
                  <a:t>評価・可視化用の</a:t>
                </a:r>
                <a:r>
                  <a:rPr lang="ja-JP" altLang="en-US" sz="2000"/>
                  <a:t>関数を定義</a:t>
                </a:r>
                <a:endParaRPr lang="en-US" altLang="ja-JP" sz="2000" dirty="0"/>
              </a:p>
              <a:p>
                <a:pPr marL="0" indent="0">
                  <a:buNone/>
                </a:pPr>
                <a:r>
                  <a:rPr kumimoji="1" lang="en-US" altLang="ja-JP" sz="2000" dirty="0"/>
                  <a:t>3.</a:t>
                </a:r>
                <a:r>
                  <a:rPr kumimoji="1" lang="ja-JP" altLang="en-US" sz="2000"/>
                  <a:t>特徴量重要度を可視化する関数を定義</a:t>
                </a:r>
                <a:endParaRPr kumimoji="1" lang="en-US" altLang="ja-JP" sz="2000" dirty="0"/>
              </a:p>
              <a:p>
                <a:pPr marL="0" indent="0">
                  <a:buNone/>
                </a:pPr>
                <a:r>
                  <a:rPr lang="en-US" altLang="ja-JP" sz="2000" dirty="0"/>
                  <a:t>4.</a:t>
                </a:r>
                <a:r>
                  <a:rPr lang="ja-JP" altLang="en-US" sz="2000"/>
                  <a:t>データの読み込み</a:t>
                </a:r>
                <a:endParaRPr lang="en-US" altLang="ja-JP" sz="2000" dirty="0"/>
              </a:p>
              <a:p>
                <a:pPr marL="0" indent="0">
                  <a:buNone/>
                </a:pPr>
                <a:r>
                  <a:rPr lang="en-US" altLang="ja-JP" sz="2000" dirty="0"/>
                  <a:t>5.</a:t>
                </a:r>
                <a:r>
                  <a:rPr lang="ja-JP" altLang="en-US" sz="2000"/>
                  <a:t>不要列の削除</a:t>
                </a:r>
                <a:endParaRPr lang="en-US" altLang="ja-JP" sz="2000" dirty="0"/>
              </a:p>
              <a:p>
                <a:pPr marL="0" indent="0">
                  <a:buNone/>
                </a:pPr>
                <a:r>
                  <a:rPr lang="en-US" altLang="ja-JP" sz="2000" dirty="0"/>
                  <a:t>6.</a:t>
                </a:r>
                <a:r>
                  <a:rPr lang="ja-JP" altLang="en-US" sz="2000"/>
                  <a:t>訓練データ・テストデータに分割</a:t>
                </a:r>
                <a:endParaRPr lang="en-US" altLang="ja-JP" sz="2000" dirty="0"/>
              </a:p>
              <a:p>
                <a:pPr marL="0" indent="0">
                  <a:buNone/>
                </a:pPr>
                <a:r>
                  <a:rPr lang="en-US" altLang="ja-JP" sz="2000" dirty="0"/>
                  <a:t>7.</a:t>
                </a:r>
                <a:r>
                  <a:rPr lang="ja-JP" altLang="en-US" sz="2000"/>
                  <a:t>標準化</a:t>
                </a:r>
                <a:endParaRPr lang="en-US" altLang="ja-JP" sz="2000" dirty="0"/>
              </a:p>
              <a:p>
                <a:pPr marL="0" indent="0">
                  <a:buNone/>
                </a:pPr>
                <a:r>
                  <a:rPr lang="en-US" altLang="ja-JP" sz="2000" dirty="0"/>
                  <a:t>8.XGBoost</a:t>
                </a:r>
                <a:r>
                  <a:rPr lang="ja-JP" altLang="en-US" sz="2000"/>
                  <a:t>を用いた学習</a:t>
                </a:r>
                <a:endParaRPr lang="en-US" altLang="ja-JP" sz="2000" dirty="0"/>
              </a:p>
              <a:p>
                <a:pPr marL="0" indent="0">
                  <a:buNone/>
                </a:pPr>
                <a:r>
                  <a:rPr lang="en-US" altLang="ja-JP" sz="2000" dirty="0"/>
                  <a:t>9.</a:t>
                </a:r>
                <a:r>
                  <a:rPr lang="ja-JP" altLang="en-US" sz="2000"/>
                  <a:t>予測値を元のスケールに戻す</a:t>
                </a:r>
                <a:endParaRPr lang="en-US" altLang="ja-JP" sz="2000" dirty="0"/>
              </a:p>
              <a:p>
                <a:pPr marL="0" indent="0">
                  <a:buNone/>
                </a:pPr>
                <a:r>
                  <a:rPr lang="en-US" altLang="ja-JP" sz="2000" dirty="0"/>
                  <a:t>10.</a:t>
                </a:r>
                <a:r>
                  <a:rPr lang="ja-JP" altLang="en-US" sz="2000"/>
                  <a:t>予測性能を可視化</a:t>
                </a:r>
                <a:r>
                  <a:rPr lang="en-US" altLang="ja-JP" sz="2000" dirty="0"/>
                  <a:t> </a:t>
                </a:r>
                <a:r>
                  <a:rPr lang="ja-JP" altLang="en-US" sz="2000"/>
                  <a:t>・評価</a:t>
                </a:r>
                <a:r>
                  <a:rPr lang="en-US" altLang="ja-JP" sz="2000" dirty="0"/>
                  <a:t>(</a:t>
                </a:r>
                <a:r>
                  <a:rPr lang="ja-JP" altLang="en-US" sz="2000"/>
                  <a:t>予測値</a:t>
                </a:r>
                <a:r>
                  <a:rPr lang="en-US" altLang="ja-JP" sz="2000" dirty="0"/>
                  <a:t>-</a:t>
                </a:r>
                <a:r>
                  <a:rPr lang="ja-JP" altLang="en-US" sz="2000"/>
                  <a:t>実測値プロット、</a:t>
                </a:r>
                <a14:m>
                  <m:oMath xmlns:m="http://schemas.openxmlformats.org/officeDocument/2006/math">
                    <m:r>
                      <m:rPr>
                        <m:sty m:val="p"/>
                      </m:rPr>
                      <a:rPr lang="en-US" altLang="ja-JP" sz="2000" i="1">
                        <a:latin typeface="Cambria Math" panose="02040503050406030204" pitchFamily="18" charset="0"/>
                      </a:rPr>
                      <m:t>RMSE</m:t>
                    </m:r>
                    <m:r>
                      <a:rPr lang="ja-JP" altLang="en-US" sz="2000" i="1" smtClean="0">
                        <a:latin typeface="Cambria Math" panose="02040503050406030204" pitchFamily="18" charset="0"/>
                      </a:rPr>
                      <m:t>、</m:t>
                    </m:r>
                    <m:r>
                      <m:rPr>
                        <m:sty m:val="p"/>
                      </m:rPr>
                      <a:rPr lang="en-US" altLang="ja-JP" sz="2000" i="1">
                        <a:latin typeface="Cambria Math" panose="02040503050406030204" pitchFamily="18" charset="0"/>
                      </a:rPr>
                      <m:t>MAE</m:t>
                    </m:r>
                    <m:r>
                      <a:rPr lang="ja-JP" altLang="en-US" sz="200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𝑅</m:t>
                        </m:r>
                      </m:e>
                      <m:sup>
                        <m:r>
                          <a:rPr lang="en-US" altLang="ja-JP" sz="2000" b="0" i="1" smtClean="0">
                            <a:latin typeface="Cambria Math" panose="02040503050406030204" pitchFamily="18" charset="0"/>
                          </a:rPr>
                          <m:t>2</m:t>
                        </m:r>
                      </m:sup>
                    </m:sSup>
                  </m:oMath>
                </a14:m>
                <a:r>
                  <a:rPr lang="en-US" altLang="ja-JP" sz="2000" dirty="0"/>
                  <a:t>)</a:t>
                </a:r>
              </a:p>
              <a:p>
                <a:pPr marL="0" indent="0">
                  <a:buNone/>
                </a:pPr>
                <a:r>
                  <a:rPr lang="en-US" altLang="ja-JP" sz="2000" dirty="0"/>
                  <a:t>11.(</a:t>
                </a:r>
                <a:r>
                  <a:rPr lang="ja-JP" altLang="en-US" sz="2000"/>
                  <a:t>追加課題</a:t>
                </a:r>
                <a:r>
                  <a:rPr lang="en-US" altLang="ja-JP" sz="2000" dirty="0"/>
                  <a:t>)</a:t>
                </a:r>
                <a:r>
                  <a:rPr lang="en-US" altLang="ja-JP" sz="2000" dirty="0" err="1"/>
                  <a:t>XGBoost</a:t>
                </a:r>
                <a:r>
                  <a:rPr lang="ja-JP" altLang="en-US" sz="2000"/>
                  <a:t>を用いて再学習</a:t>
                </a:r>
                <a:endParaRPr lang="en-US" altLang="ja-JP" sz="2000" dirty="0"/>
              </a:p>
              <a:p>
                <a:pPr marL="0" indent="0">
                  <a:buNone/>
                </a:pPr>
                <a:r>
                  <a:rPr lang="en-US" altLang="ja-JP" sz="2000" dirty="0"/>
                  <a:t>12.</a:t>
                </a:r>
                <a:r>
                  <a:rPr lang="ja-JP" altLang="en-US" sz="2000"/>
                  <a:t>再学習後のモデルの可視化・評価</a:t>
                </a:r>
                <a:endParaRPr lang="en-US" altLang="ja-JP" sz="2000" dirty="0"/>
              </a:p>
            </p:txBody>
          </p:sp>
        </mc:Choice>
        <mc:Fallback>
          <p:sp>
            <p:nvSpPr>
              <p:cNvPr id="3" name="コンテンツ プレースホルダー 2">
                <a:extLst>
                  <a:ext uri="{FF2B5EF4-FFF2-40B4-BE49-F238E27FC236}">
                    <a16:creationId xmlns:a16="http://schemas.microsoft.com/office/drawing/2014/main" id="{FEE98CEB-CB42-8236-57E1-A418415E8E24}"/>
                  </a:ext>
                </a:extLst>
              </p:cNvPr>
              <p:cNvSpPr>
                <a:spLocks noGrp="1" noRot="1" noChangeAspect="1" noMove="1" noResize="1" noEditPoints="1" noAdjustHandles="1" noChangeArrowheads="1" noChangeShapeType="1" noTextEdit="1"/>
              </p:cNvSpPr>
              <p:nvPr>
                <p:ph idx="1"/>
              </p:nvPr>
            </p:nvSpPr>
            <p:spPr>
              <a:xfrm>
                <a:off x="314325" y="1131598"/>
                <a:ext cx="8515350" cy="4818240"/>
              </a:xfrm>
              <a:blipFill>
                <a:blip r:embed="rId3"/>
                <a:stretch>
                  <a:fillRect l="-744" t="-1316" b="-1579"/>
                </a:stretch>
              </a:blipFill>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ACD0AA13-6F09-0591-E234-8C701AFE4899}"/>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5" name="角丸四角形吹き出し 4">
            <a:extLst>
              <a:ext uri="{FF2B5EF4-FFF2-40B4-BE49-F238E27FC236}">
                <a16:creationId xmlns:a16="http://schemas.microsoft.com/office/drawing/2014/main" id="{E13CFB94-C648-5191-9A60-B95E2C3C67B2}"/>
              </a:ext>
            </a:extLst>
          </p:cNvPr>
          <p:cNvSpPr/>
          <p:nvPr/>
        </p:nvSpPr>
        <p:spPr>
          <a:xfrm>
            <a:off x="5362832" y="1194954"/>
            <a:ext cx="3614914" cy="893337"/>
          </a:xfrm>
          <a:prstGeom prst="wedgeRoundRectCallout">
            <a:avLst>
              <a:gd name="adj1" fmla="val -85498"/>
              <a:gd name="adj2" fmla="val 253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Python</a:t>
            </a:r>
            <a:r>
              <a:rPr kumimoji="1" lang="ja-JP" altLang="en-US"/>
              <a:t>は関数を呼び出す前に関数が定義されている必要がある</a:t>
            </a:r>
          </a:p>
        </p:txBody>
      </p:sp>
      <p:sp>
        <p:nvSpPr>
          <p:cNvPr id="7" name="角丸四角形吹き出し 6">
            <a:extLst>
              <a:ext uri="{FF2B5EF4-FFF2-40B4-BE49-F238E27FC236}">
                <a16:creationId xmlns:a16="http://schemas.microsoft.com/office/drawing/2014/main" id="{931F2AD6-9E70-74F7-AD58-90C244EB77C5}"/>
              </a:ext>
            </a:extLst>
          </p:cNvPr>
          <p:cNvSpPr/>
          <p:nvPr/>
        </p:nvSpPr>
        <p:spPr>
          <a:xfrm>
            <a:off x="5566929" y="5663045"/>
            <a:ext cx="3262746" cy="301336"/>
          </a:xfrm>
          <a:prstGeom prst="wedgeRoundRectCallout">
            <a:avLst>
              <a:gd name="adj1" fmla="val -71151"/>
              <a:gd name="adj2" fmla="val -16676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Early stopping</a:t>
            </a:r>
            <a:r>
              <a:rPr kumimoji="1" lang="ja-JP" altLang="en-US"/>
              <a:t>を用いる</a:t>
            </a:r>
          </a:p>
        </p:txBody>
      </p:sp>
    </p:spTree>
    <p:extLst>
      <p:ext uri="{BB962C8B-B14F-4D97-AF65-F5344CB8AC3E}">
        <p14:creationId xmlns:p14="http://schemas.microsoft.com/office/powerpoint/2010/main" val="323293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DCDEA1-A3CE-4DC6-858A-9EEC34241F3D}"/>
              </a:ext>
            </a:extLst>
          </p:cNvPr>
          <p:cNvSpPr>
            <a:spLocks noGrp="1"/>
          </p:cNvSpPr>
          <p:nvPr>
            <p:ph type="title"/>
          </p:nvPr>
        </p:nvSpPr>
        <p:spPr>
          <a:xfrm>
            <a:off x="628650" y="2766219"/>
            <a:ext cx="7886700" cy="1325563"/>
          </a:xfrm>
        </p:spPr>
        <p:txBody>
          <a:bodyPr/>
          <a:lstStyle/>
          <a:p>
            <a:pPr algn="ctr"/>
            <a:r>
              <a:rPr kumimoji="1" lang="ja-JP" altLang="en-US"/>
              <a:t>実コードの内容を見る</a:t>
            </a:r>
          </a:p>
        </p:txBody>
      </p:sp>
    </p:spTree>
    <p:extLst>
      <p:ext uri="{BB962C8B-B14F-4D97-AF65-F5344CB8AC3E}">
        <p14:creationId xmlns:p14="http://schemas.microsoft.com/office/powerpoint/2010/main" val="2576265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E438D-FD82-DFC4-0686-070AD6AE6C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56CD16-D8F2-34BF-BC10-EDEF883A2109}"/>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85B7708A-4A64-2467-6FFE-92AFAC172E42}"/>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pic>
        <p:nvPicPr>
          <p:cNvPr id="5" name="図 4">
            <a:extLst>
              <a:ext uri="{FF2B5EF4-FFF2-40B4-BE49-F238E27FC236}">
                <a16:creationId xmlns:a16="http://schemas.microsoft.com/office/drawing/2014/main" id="{86D76BE1-BB30-E1B8-6021-EE327CFEC11C}"/>
              </a:ext>
            </a:extLst>
          </p:cNvPr>
          <p:cNvPicPr>
            <a:picLocks noChangeAspect="1"/>
          </p:cNvPicPr>
          <p:nvPr/>
        </p:nvPicPr>
        <p:blipFill>
          <a:blip r:embed="rId3"/>
          <a:stretch>
            <a:fillRect/>
          </a:stretch>
        </p:blipFill>
        <p:spPr>
          <a:xfrm>
            <a:off x="901700" y="1185718"/>
            <a:ext cx="7340600" cy="3987800"/>
          </a:xfrm>
          <a:prstGeom prst="rect">
            <a:avLst/>
          </a:prstGeom>
        </p:spPr>
      </p:pic>
      <p:sp>
        <p:nvSpPr>
          <p:cNvPr id="7" name="テキスト ボックス 6">
            <a:extLst>
              <a:ext uri="{FF2B5EF4-FFF2-40B4-BE49-F238E27FC236}">
                <a16:creationId xmlns:a16="http://schemas.microsoft.com/office/drawing/2014/main" id="{EC3D6CF9-6A5B-72AB-2640-5943ECE53A2A}"/>
              </a:ext>
            </a:extLst>
          </p:cNvPr>
          <p:cNvSpPr txBox="1"/>
          <p:nvPr/>
        </p:nvSpPr>
        <p:spPr>
          <a:xfrm>
            <a:off x="426027" y="5434445"/>
            <a:ext cx="8375073" cy="923330"/>
          </a:xfrm>
          <a:prstGeom prst="rect">
            <a:avLst/>
          </a:prstGeom>
          <a:noFill/>
        </p:spPr>
        <p:txBody>
          <a:bodyPr wrap="square" rtlCol="0">
            <a:spAutoFit/>
          </a:bodyPr>
          <a:lstStyle/>
          <a:p>
            <a:r>
              <a:rPr kumimoji="1" lang="ja-JP" altLang="en-US"/>
              <a:t>・左がトレーニングに使ったデータでの予測値</a:t>
            </a:r>
            <a:r>
              <a:rPr kumimoji="1" lang="en-US" altLang="ja-JP" dirty="0"/>
              <a:t>-</a:t>
            </a:r>
            <a:r>
              <a:rPr kumimoji="1" lang="ja-JP" altLang="en-US"/>
              <a:t>実測値プロット</a:t>
            </a:r>
            <a:endParaRPr kumimoji="1" lang="en-US" altLang="ja-JP" dirty="0"/>
          </a:p>
          <a:p>
            <a:r>
              <a:rPr kumimoji="1" lang="ja-JP" altLang="en-US"/>
              <a:t>・右がテストデータでの予測値</a:t>
            </a:r>
            <a:r>
              <a:rPr kumimoji="1" lang="en-US" altLang="ja-JP" dirty="0"/>
              <a:t>-</a:t>
            </a:r>
            <a:r>
              <a:rPr kumimoji="1" lang="ja-JP" altLang="en-US"/>
              <a:t>実測値プロット</a:t>
            </a:r>
            <a:endParaRPr kumimoji="1" lang="en-US" altLang="ja-JP" dirty="0"/>
          </a:p>
          <a:p>
            <a:r>
              <a:rPr kumimoji="1" lang="ja-JP" altLang="en-US"/>
              <a:t>・予測値</a:t>
            </a:r>
            <a:r>
              <a:rPr kumimoji="1" lang="en-US" altLang="ja-JP" dirty="0"/>
              <a:t>-</a:t>
            </a:r>
            <a:r>
              <a:rPr kumimoji="1" lang="ja-JP" altLang="en-US"/>
              <a:t>実測値プロットは、理想は</a:t>
            </a:r>
            <a:r>
              <a:rPr kumimoji="1" lang="en-US" altLang="ja-JP" dirty="0"/>
              <a:t>45deg</a:t>
            </a:r>
            <a:r>
              <a:rPr kumimoji="1" lang="ja-JP" altLang="en-US"/>
              <a:t>の線に乗るのが理想</a:t>
            </a:r>
            <a:endParaRPr kumimoji="1" lang="en-US" altLang="ja-JP" dirty="0"/>
          </a:p>
        </p:txBody>
      </p:sp>
    </p:spTree>
    <p:extLst>
      <p:ext uri="{BB962C8B-B14F-4D97-AF65-F5344CB8AC3E}">
        <p14:creationId xmlns:p14="http://schemas.microsoft.com/office/powerpoint/2010/main" val="996369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12873-BB75-3063-6620-477925BAC2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73DA8F-16F9-4033-3894-D26961A62E56}"/>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2E70A32D-1FBE-E44D-FC58-1D2107C67209}"/>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 name="テキスト ボックス 2">
            <a:extLst>
              <a:ext uri="{FF2B5EF4-FFF2-40B4-BE49-F238E27FC236}">
                <a16:creationId xmlns:a16="http://schemas.microsoft.com/office/drawing/2014/main" id="{7EB71BC5-EF98-23FB-53D3-FBCC12A5BD1C}"/>
              </a:ext>
            </a:extLst>
          </p:cNvPr>
          <p:cNvSpPr txBox="1"/>
          <p:nvPr/>
        </p:nvSpPr>
        <p:spPr>
          <a:xfrm>
            <a:off x="1438102" y="2613392"/>
            <a:ext cx="6267797" cy="1631216"/>
          </a:xfrm>
          <a:prstGeom prst="rect">
            <a:avLst/>
          </a:prstGeom>
          <a:noFill/>
        </p:spPr>
        <p:txBody>
          <a:bodyPr wrap="square" rtlCol="0">
            <a:spAutoFit/>
          </a:bodyPr>
          <a:lstStyle/>
          <a:p>
            <a:r>
              <a:rPr lang="ja-JP" altLang="ja-JP" sz="2000"/>
              <a:t>MEGAN Training Set Performance: Samples: 8000 | RMSE: 0.0987 | MAE: 0.0734 | R²: 0.9801 </a:t>
            </a:r>
            <a:endParaRPr lang="en-US" altLang="ja-JP" sz="2000" dirty="0"/>
          </a:p>
          <a:p>
            <a:endParaRPr lang="en-US" altLang="ja-JP" sz="2000" dirty="0"/>
          </a:p>
          <a:p>
            <a:r>
              <a:rPr lang="ja-JP" altLang="ja-JP" sz="2000"/>
              <a:t>MEGAN Test Set Performance: Samples: 2000 | RMSE: 0.2602 | MAE: 0.1905 | R²: 0.8562</a:t>
            </a:r>
            <a:endParaRPr kumimoji="1" lang="en-AU" altLang="ja-JP" sz="2000" dirty="0"/>
          </a:p>
        </p:txBody>
      </p:sp>
    </p:spTree>
    <p:extLst>
      <p:ext uri="{BB962C8B-B14F-4D97-AF65-F5344CB8AC3E}">
        <p14:creationId xmlns:p14="http://schemas.microsoft.com/office/powerpoint/2010/main" val="1766796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30957-B44F-ADBE-62F1-0BF4F4FFA3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E54020-5962-4B69-5008-CCA8FB918533}"/>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EAE5B8A1-35C5-86B3-9375-255DAFEF6245}"/>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pic>
        <p:nvPicPr>
          <p:cNvPr id="4" name="図 3">
            <a:extLst>
              <a:ext uri="{FF2B5EF4-FFF2-40B4-BE49-F238E27FC236}">
                <a16:creationId xmlns:a16="http://schemas.microsoft.com/office/drawing/2014/main" id="{1F71DE59-BF03-8D91-87DA-98C2AB9D487F}"/>
              </a:ext>
            </a:extLst>
          </p:cNvPr>
          <p:cNvPicPr>
            <a:picLocks noChangeAspect="1"/>
          </p:cNvPicPr>
          <p:nvPr/>
        </p:nvPicPr>
        <p:blipFill>
          <a:blip r:embed="rId3"/>
          <a:stretch>
            <a:fillRect/>
          </a:stretch>
        </p:blipFill>
        <p:spPr>
          <a:xfrm>
            <a:off x="492435" y="1113571"/>
            <a:ext cx="8159128" cy="4630857"/>
          </a:xfrm>
          <a:prstGeom prst="rect">
            <a:avLst/>
          </a:prstGeom>
        </p:spPr>
      </p:pic>
      <p:sp>
        <p:nvSpPr>
          <p:cNvPr id="7" name="テキスト ボックス 6">
            <a:extLst>
              <a:ext uri="{FF2B5EF4-FFF2-40B4-BE49-F238E27FC236}">
                <a16:creationId xmlns:a16="http://schemas.microsoft.com/office/drawing/2014/main" id="{0810FE4B-191D-2A44-2B02-D563A79714C1}"/>
              </a:ext>
            </a:extLst>
          </p:cNvPr>
          <p:cNvSpPr txBox="1"/>
          <p:nvPr/>
        </p:nvSpPr>
        <p:spPr>
          <a:xfrm>
            <a:off x="384462" y="6128914"/>
            <a:ext cx="8375073" cy="369332"/>
          </a:xfrm>
          <a:prstGeom prst="rect">
            <a:avLst/>
          </a:prstGeom>
          <a:noFill/>
        </p:spPr>
        <p:txBody>
          <a:bodyPr wrap="square" rtlCol="0">
            <a:spAutoFit/>
          </a:bodyPr>
          <a:lstStyle/>
          <a:p>
            <a:r>
              <a:rPr kumimoji="1" lang="ja-JP" altLang="en-US"/>
              <a:t>・重要特徴量分析はモデル内で利用された度合いを表す</a:t>
            </a:r>
            <a:endParaRPr kumimoji="1" lang="en-US" altLang="ja-JP" dirty="0"/>
          </a:p>
        </p:txBody>
      </p:sp>
    </p:spTree>
    <p:extLst>
      <p:ext uri="{BB962C8B-B14F-4D97-AF65-F5344CB8AC3E}">
        <p14:creationId xmlns:p14="http://schemas.microsoft.com/office/powerpoint/2010/main" val="385504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EDE0-F7A0-2A8E-F52C-B0CC30B3A4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562169-5445-0493-4BB4-44A914FC26CC}"/>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C21EB88B-360E-7C94-6AA0-8A7F54F0A1A7}"/>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pic>
        <p:nvPicPr>
          <p:cNvPr id="4" name="図 3">
            <a:extLst>
              <a:ext uri="{FF2B5EF4-FFF2-40B4-BE49-F238E27FC236}">
                <a16:creationId xmlns:a16="http://schemas.microsoft.com/office/drawing/2014/main" id="{4FB1ECE8-A7A3-F8F9-DB3B-D795B17D32F7}"/>
              </a:ext>
            </a:extLst>
          </p:cNvPr>
          <p:cNvPicPr>
            <a:picLocks noChangeAspect="1"/>
          </p:cNvPicPr>
          <p:nvPr/>
        </p:nvPicPr>
        <p:blipFill>
          <a:blip r:embed="rId3"/>
          <a:stretch>
            <a:fillRect/>
          </a:stretch>
        </p:blipFill>
        <p:spPr>
          <a:xfrm>
            <a:off x="901700" y="1435100"/>
            <a:ext cx="7340600" cy="3987800"/>
          </a:xfrm>
          <a:prstGeom prst="rect">
            <a:avLst/>
          </a:prstGeom>
        </p:spPr>
      </p:pic>
      <p:sp>
        <p:nvSpPr>
          <p:cNvPr id="7" name="テキスト ボックス 6">
            <a:extLst>
              <a:ext uri="{FF2B5EF4-FFF2-40B4-BE49-F238E27FC236}">
                <a16:creationId xmlns:a16="http://schemas.microsoft.com/office/drawing/2014/main" id="{D90C1DF4-7B57-182B-2057-61F21BBAA34C}"/>
              </a:ext>
            </a:extLst>
          </p:cNvPr>
          <p:cNvSpPr txBox="1"/>
          <p:nvPr/>
        </p:nvSpPr>
        <p:spPr>
          <a:xfrm>
            <a:off x="426027" y="5434445"/>
            <a:ext cx="8375073" cy="923330"/>
          </a:xfrm>
          <a:prstGeom prst="rect">
            <a:avLst/>
          </a:prstGeom>
          <a:noFill/>
        </p:spPr>
        <p:txBody>
          <a:bodyPr wrap="square" rtlCol="0">
            <a:spAutoFit/>
          </a:bodyPr>
          <a:lstStyle/>
          <a:p>
            <a:r>
              <a:rPr kumimoji="1" lang="ja-JP" altLang="en-US"/>
              <a:t>・左がトレーニングに使ったデータでの予測値</a:t>
            </a:r>
            <a:r>
              <a:rPr kumimoji="1" lang="en-US" altLang="ja-JP" dirty="0"/>
              <a:t>-</a:t>
            </a:r>
            <a:r>
              <a:rPr kumimoji="1" lang="ja-JP" altLang="en-US"/>
              <a:t>実測値プロット</a:t>
            </a:r>
            <a:endParaRPr kumimoji="1" lang="en-US" altLang="ja-JP" dirty="0"/>
          </a:p>
          <a:p>
            <a:r>
              <a:rPr kumimoji="1" lang="ja-JP" altLang="en-US"/>
              <a:t>・右がテストデータでの予測値</a:t>
            </a:r>
            <a:r>
              <a:rPr kumimoji="1" lang="en-US" altLang="ja-JP" dirty="0"/>
              <a:t>-</a:t>
            </a:r>
            <a:r>
              <a:rPr kumimoji="1" lang="ja-JP" altLang="en-US"/>
              <a:t>実測値プロット</a:t>
            </a:r>
            <a:endParaRPr kumimoji="1" lang="en-US" altLang="ja-JP" dirty="0"/>
          </a:p>
          <a:p>
            <a:r>
              <a:rPr kumimoji="1" lang="ja-JP" altLang="en-US"/>
              <a:t>・予測値</a:t>
            </a:r>
            <a:r>
              <a:rPr kumimoji="1" lang="en-US" altLang="ja-JP" dirty="0"/>
              <a:t>-</a:t>
            </a:r>
            <a:r>
              <a:rPr kumimoji="1" lang="ja-JP" altLang="en-US"/>
              <a:t>実測値プロットは、理想は</a:t>
            </a:r>
            <a:r>
              <a:rPr kumimoji="1" lang="en-US" altLang="ja-JP" dirty="0"/>
              <a:t>45deg</a:t>
            </a:r>
            <a:r>
              <a:rPr kumimoji="1" lang="ja-JP" altLang="en-US"/>
              <a:t>の線に乗るのが理想</a:t>
            </a:r>
            <a:endParaRPr kumimoji="1" lang="en-US" altLang="ja-JP" dirty="0"/>
          </a:p>
        </p:txBody>
      </p:sp>
    </p:spTree>
    <p:extLst>
      <p:ext uri="{BB962C8B-B14F-4D97-AF65-F5344CB8AC3E}">
        <p14:creationId xmlns:p14="http://schemas.microsoft.com/office/powerpoint/2010/main" val="3004057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F965-D25E-55AD-19F8-2BD9E3D9B1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D2767D-0873-064B-509E-0C00EAE3426E}"/>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7A95FE50-B72C-1D29-817F-2461C2A159F3}"/>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 name="テキスト ボックス 2">
            <a:extLst>
              <a:ext uri="{FF2B5EF4-FFF2-40B4-BE49-F238E27FC236}">
                <a16:creationId xmlns:a16="http://schemas.microsoft.com/office/drawing/2014/main" id="{FE49F720-983D-04A2-8D86-737DBB760D56}"/>
              </a:ext>
            </a:extLst>
          </p:cNvPr>
          <p:cNvSpPr txBox="1"/>
          <p:nvPr/>
        </p:nvSpPr>
        <p:spPr>
          <a:xfrm>
            <a:off x="1438102" y="1997839"/>
            <a:ext cx="6267797" cy="2862322"/>
          </a:xfrm>
          <a:prstGeom prst="rect">
            <a:avLst/>
          </a:prstGeom>
          <a:noFill/>
        </p:spPr>
        <p:txBody>
          <a:bodyPr wrap="square" rtlCol="0">
            <a:spAutoFit/>
          </a:bodyPr>
          <a:lstStyle/>
          <a:p>
            <a:r>
              <a:rPr kumimoji="1" lang="ja-JP" altLang="en-US" sz="2000"/>
              <a:t>早期停止が実行されたイテレーション数</a:t>
            </a:r>
            <a:r>
              <a:rPr kumimoji="1" lang="en-US" altLang="ja-JP" sz="2000" dirty="0"/>
              <a:t>: 1038</a:t>
            </a:r>
          </a:p>
          <a:p>
            <a:endParaRPr kumimoji="1" lang="en-US" altLang="ja-JP" sz="2000" dirty="0"/>
          </a:p>
          <a:p>
            <a:r>
              <a:rPr kumimoji="1" lang="en-AU" altLang="ja-JP" sz="2000" dirty="0"/>
              <a:t>MEGAN Training Set Performance:</a:t>
            </a:r>
          </a:p>
          <a:p>
            <a:r>
              <a:rPr kumimoji="1" lang="en-AU" altLang="ja-JP" sz="2000" dirty="0"/>
              <a:t>Samples: 8000 | RMSE: 0.1267 | MAE: 0.0662 | R²: 0.9673</a:t>
            </a:r>
          </a:p>
          <a:p>
            <a:endParaRPr kumimoji="1" lang="en-AU" altLang="ja-JP" sz="2000" dirty="0"/>
          </a:p>
          <a:p>
            <a:r>
              <a:rPr kumimoji="1" lang="en-AU" altLang="ja-JP" sz="2000" dirty="0"/>
              <a:t>MEGAN Test Set Performance:</a:t>
            </a:r>
          </a:p>
          <a:p>
            <a:r>
              <a:rPr kumimoji="1" lang="en-AU" altLang="ja-JP" sz="2000" dirty="0"/>
              <a:t>Samples: 2000 | RMSE: 0.2510 | MAE: 0.1830 | R²: 0.8661</a:t>
            </a:r>
          </a:p>
        </p:txBody>
      </p:sp>
    </p:spTree>
    <p:extLst>
      <p:ext uri="{BB962C8B-B14F-4D97-AF65-F5344CB8AC3E}">
        <p14:creationId xmlns:p14="http://schemas.microsoft.com/office/powerpoint/2010/main" val="415190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11565-5BBC-5DBA-72C6-4B4D65B902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5E2B15-A8D6-B181-3FE8-DDF5311A3383}"/>
              </a:ext>
            </a:extLst>
          </p:cNvPr>
          <p:cNvSpPr>
            <a:spLocks noGrp="1"/>
          </p:cNvSpPr>
          <p:nvPr>
            <p:ph type="title"/>
          </p:nvPr>
        </p:nvSpPr>
        <p:spPr>
          <a:xfrm>
            <a:off x="122664" y="248543"/>
            <a:ext cx="5892800" cy="497087"/>
          </a:xfrm>
        </p:spPr>
        <p:txBody>
          <a:bodyPr>
            <a:normAutofit/>
          </a:bodyPr>
          <a:lstStyle/>
          <a:p>
            <a:r>
              <a:rPr lang="ja-JP" altLang="en-US" sz="2800"/>
              <a:t>結果の解釈</a:t>
            </a:r>
          </a:p>
        </p:txBody>
      </p:sp>
      <p:sp>
        <p:nvSpPr>
          <p:cNvPr id="6" name="正方形/長方形 5">
            <a:extLst>
              <a:ext uri="{FF2B5EF4-FFF2-40B4-BE49-F238E27FC236}">
                <a16:creationId xmlns:a16="http://schemas.microsoft.com/office/drawing/2014/main" id="{1FAEAC2B-DAEF-5E82-DE09-5036CFB151D1}"/>
              </a:ext>
            </a:extLst>
          </p:cNvPr>
          <p:cNvSpPr/>
          <p:nvPr/>
        </p:nvSpPr>
        <p:spPr>
          <a:xfrm>
            <a:off x="0" y="996804"/>
            <a:ext cx="9144000" cy="3428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pic>
        <p:nvPicPr>
          <p:cNvPr id="4" name="図 3">
            <a:extLst>
              <a:ext uri="{FF2B5EF4-FFF2-40B4-BE49-F238E27FC236}">
                <a16:creationId xmlns:a16="http://schemas.microsoft.com/office/drawing/2014/main" id="{4C8CF55B-0BD5-69EF-7ACA-C78918936931}"/>
              </a:ext>
            </a:extLst>
          </p:cNvPr>
          <p:cNvPicPr>
            <a:picLocks noChangeAspect="1"/>
          </p:cNvPicPr>
          <p:nvPr/>
        </p:nvPicPr>
        <p:blipFill>
          <a:blip r:embed="rId2"/>
          <a:stretch>
            <a:fillRect/>
          </a:stretch>
        </p:blipFill>
        <p:spPr>
          <a:xfrm>
            <a:off x="556078" y="1282267"/>
            <a:ext cx="8031843" cy="4705350"/>
          </a:xfrm>
          <a:prstGeom prst="rect">
            <a:avLst/>
          </a:prstGeom>
        </p:spPr>
      </p:pic>
      <p:sp>
        <p:nvSpPr>
          <p:cNvPr id="5" name="テキスト ボックス 4">
            <a:extLst>
              <a:ext uri="{FF2B5EF4-FFF2-40B4-BE49-F238E27FC236}">
                <a16:creationId xmlns:a16="http://schemas.microsoft.com/office/drawing/2014/main" id="{954CD0CF-6713-DA41-79EC-5A2E73C51F48}"/>
              </a:ext>
            </a:extLst>
          </p:cNvPr>
          <p:cNvSpPr txBox="1"/>
          <p:nvPr/>
        </p:nvSpPr>
        <p:spPr>
          <a:xfrm>
            <a:off x="384463" y="6240125"/>
            <a:ext cx="8375073" cy="369332"/>
          </a:xfrm>
          <a:prstGeom prst="rect">
            <a:avLst/>
          </a:prstGeom>
          <a:noFill/>
        </p:spPr>
        <p:txBody>
          <a:bodyPr wrap="square" rtlCol="0">
            <a:spAutoFit/>
          </a:bodyPr>
          <a:lstStyle/>
          <a:p>
            <a:r>
              <a:rPr kumimoji="1" lang="ja-JP" altLang="en-US"/>
              <a:t>・どの特徴量が予測に効いているかみる</a:t>
            </a:r>
            <a:endParaRPr kumimoji="1" lang="en-US" altLang="ja-JP" dirty="0"/>
          </a:p>
        </p:txBody>
      </p:sp>
    </p:spTree>
    <p:extLst>
      <p:ext uri="{BB962C8B-B14F-4D97-AF65-F5344CB8AC3E}">
        <p14:creationId xmlns:p14="http://schemas.microsoft.com/office/powerpoint/2010/main" val="427829893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9867</TotalTime>
  <Words>2196</Words>
  <Application>Microsoft Macintosh PowerPoint</Application>
  <PresentationFormat>画面に合わせる (4:3)</PresentationFormat>
  <Paragraphs>200</Paragraphs>
  <Slides>13</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游ゴシック</vt:lpstr>
      <vt:lpstr>Aptos</vt:lpstr>
      <vt:lpstr>Aptos Display</vt:lpstr>
      <vt:lpstr>Arial</vt:lpstr>
      <vt:lpstr>Cambria Math</vt:lpstr>
      <vt:lpstr>Office テーマ</vt:lpstr>
      <vt:lpstr>第2回Pythonセミナー</vt:lpstr>
      <vt:lpstr>用語の説明(1)</vt:lpstr>
      <vt:lpstr>用語の説明(2)</vt:lpstr>
      <vt:lpstr>用語の説明(3)</vt:lpstr>
      <vt:lpstr>機械学習のフローの体験</vt:lpstr>
      <vt:lpstr>コードの解釈</vt:lpstr>
      <vt:lpstr>実コードの内容を見る</vt:lpstr>
      <vt:lpstr>結果の解釈</vt:lpstr>
      <vt:lpstr>結果の解釈</vt:lpstr>
      <vt:lpstr>結果の解釈</vt:lpstr>
      <vt:lpstr>結果の解釈</vt:lpstr>
      <vt:lpstr>結果の解釈</vt:lpstr>
      <vt:lpstr>結果の解釈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Miura Yukito</dc:creator>
  <cp:lastModifiedBy>Miura Yukito</cp:lastModifiedBy>
  <cp:revision>12</cp:revision>
  <dcterms:created xsi:type="dcterms:W3CDTF">2026-05-23T14:52:04Z</dcterms:created>
  <dcterms:modified xsi:type="dcterms:W3CDTF">2026-06-03T04:01:20Z</dcterms:modified>
</cp:coreProperties>
</file>