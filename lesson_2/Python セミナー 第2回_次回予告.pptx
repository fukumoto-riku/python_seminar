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/>
    <p:restoredTop sz="94638"/>
  </p:normalViewPr>
  <p:slideViewPr>
    <p:cSldViewPr snapToGrid="0">
      <p:cViewPr varScale="1">
        <p:scale>
          <a:sx n="113" d="100"/>
          <a:sy n="113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987B6D-7ED8-8E5B-8DA7-E84791756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3BFA56-A5E5-B453-3D55-5D4FB59FB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C541D0-7CC2-6B2B-4166-61E266C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B945C1-8343-B69E-1B7B-9FD87FD50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3C4D89-D20D-799E-FF8B-90E99C36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9558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B2F230-8AD1-A35F-E386-553EA2D1B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D4B40B-3124-72EF-709E-E233BB6E8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460F7C-64F1-6C4B-06E7-BF9DED9A0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76C7A6-FCBD-D458-FB3B-EA88572C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53C792-1213-9C2F-A1DC-88501ACFF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5178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308365-6395-0F70-885F-40D79214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82229A-3DEC-950D-2304-07A936288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E5A91F-23FF-F789-B2CD-5BCB294D8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2FC4F-13EC-63E5-550B-9CA6725A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3618DA-7DD2-CE6A-B66B-B8504200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574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132D20-BF74-69FC-E072-73B5FBA63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A5038E-C06B-C7FB-E995-CE1E8D4E3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FD0357-E6CB-408B-267C-21807D515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2A44C4-FDA7-BB2B-0E24-FA34DC79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80C5A5-9E3C-9682-D138-37C8986A7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0CAF8C-0A86-1105-BEE6-4352C833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86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BBC8E1-ADA7-7260-986A-59BFF455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DE5C57-1B10-C4A3-37EE-9F2998F10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EFF3F1-0A74-36E6-4D6C-A910F9A81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627E349-346A-FCCB-08F9-EDC44FB80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149DFDB-9B44-0614-6727-33AA0BD55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7E71453-6717-2C67-D0CE-2827292F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215E779-12A8-52D9-81A1-727C75951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510EEB0-94C0-AE18-74AD-BBCEC93F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78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0AEFF5-F6D2-D665-ED10-F0CDC2C11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A67DB40-65B1-69FE-EF9C-8E0001EB5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B4023D-E1D9-7F9C-C19B-D67B22FE1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AE48E7B-5B24-A117-FF07-ECAFD1F7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41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0B51E4E-B30E-9763-4647-54181788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16A9A7A-BA1E-659A-6787-1E0829AF8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6BD36F-4046-76C5-F86F-71600A59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26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DCC698-39F6-3EC6-0C35-09501D7D8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1A0315-3827-2BD4-5081-E20C2EBB3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621027-F229-0152-48C0-D25DB18C9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01875F-21EC-6380-F2FA-CC2189D68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441665-B718-757A-2BFF-12B5390CA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69B4ED-E09C-C96A-25E7-ED14FFEFC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923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0F363C-DB68-FA26-FE90-5138105BC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7CFF143-113B-2779-B51E-B61DD14FE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6A74DD-A7B7-20C6-B8F4-2926A1B20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CF90C3-7E5F-5C12-1D37-3A7D2127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5CC9AC-06D6-5A74-FEF2-08E53E644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DD3024-AAE3-E875-8DCF-9DEEAD92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895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AB86A3-E9DD-FE7B-5D01-928F1C7A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A9677F-B3EE-2188-29B1-FF21FE8A7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2BACE0-97A9-1C52-76EA-A120F4B0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4D0A54-455D-D0F4-0238-1191BE7A5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B10616-5664-25B4-0DE6-ECCD4BCB4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592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9F26CD1-279B-26F9-2DF8-1F1DB668A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AD4085-397B-617B-9E54-F7555295E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987430-50A3-E525-FF3D-17E1BC51B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6D759C-4DF6-5782-8EF9-10DC734C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EAC350-FFEE-1C4D-9AF0-86B6A61C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680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104317-6C66-1ABF-115E-D6BB94287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920F83-8CA7-15E7-30B0-B4976C82B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72B950-CCFF-C307-5F2A-231E340E4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738A7-55D5-3241-9881-32FCC7F9D99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484816-FB7C-0143-0C64-315A84BA4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B1FDDD-9965-5955-0F90-477ADF21C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CE01C3-B1AE-BE4C-80F7-CEAD48BDB4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126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1CAD6A-C30C-7B1E-DD43-953CF52D9201}"/>
              </a:ext>
            </a:extLst>
          </p:cNvPr>
          <p:cNvSpPr txBox="1"/>
          <p:nvPr/>
        </p:nvSpPr>
        <p:spPr>
          <a:xfrm>
            <a:off x="158044" y="146755"/>
            <a:ext cx="56765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次回の</a:t>
            </a:r>
            <a:r>
              <a:rPr kumimoji="1" lang="en-US" altLang="ja-JP" sz="4000" b="1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Python</a:t>
            </a:r>
            <a:r>
              <a:rPr kumimoji="1" lang="ja-JP" altLang="en-US" sz="40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セミナー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0E8FA2-8ED9-F130-7042-5A810751E32C}"/>
              </a:ext>
            </a:extLst>
          </p:cNvPr>
          <p:cNvSpPr txBox="1"/>
          <p:nvPr/>
        </p:nvSpPr>
        <p:spPr>
          <a:xfrm>
            <a:off x="578958" y="1101473"/>
            <a:ext cx="9401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•</a:t>
            </a:r>
            <a:r>
              <a:rPr kumimoji="1" lang="ja-JP" altLang="en-US" sz="2800"/>
              <a:t>そもそもマテリアルズ・インフォマティクス</a:t>
            </a:r>
            <a:r>
              <a:rPr kumimoji="1" lang="en-US" altLang="ja-JP" sz="2800" dirty="0"/>
              <a:t> (MI)</a:t>
            </a:r>
            <a:r>
              <a:rPr kumimoji="1" lang="ja-JP" altLang="en-US" sz="2800"/>
              <a:t>とは？</a:t>
            </a:r>
            <a:endParaRPr kumimoji="1" lang="en-US" altLang="ja-JP" sz="2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10CA164-4E64-5E87-7018-793F4315B775}"/>
              </a:ext>
            </a:extLst>
          </p:cNvPr>
          <p:cNvSpPr txBox="1"/>
          <p:nvPr/>
        </p:nvSpPr>
        <p:spPr>
          <a:xfrm>
            <a:off x="578958" y="2061029"/>
            <a:ext cx="8945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•</a:t>
            </a:r>
            <a:r>
              <a:rPr kumimoji="1" lang="ja-JP" altLang="en-US" sz="2800"/>
              <a:t>機械学習はどのようなステップ</a:t>
            </a:r>
            <a:r>
              <a:rPr lang="ja-JP" altLang="en-US" sz="2800"/>
              <a:t>で行われているのか？</a:t>
            </a:r>
            <a:endParaRPr kumimoji="1" lang="ja-JP" altLang="en-US" sz="28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76D3E0-AEAE-49A6-0D85-531C391EBAF8}"/>
              </a:ext>
            </a:extLst>
          </p:cNvPr>
          <p:cNvSpPr txBox="1"/>
          <p:nvPr/>
        </p:nvSpPr>
        <p:spPr>
          <a:xfrm>
            <a:off x="578958" y="3020585"/>
            <a:ext cx="4995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•</a:t>
            </a:r>
            <a:r>
              <a:rPr kumimoji="1" lang="ja-JP" altLang="en-US" sz="2800"/>
              <a:t>機械学習の評価指標は何か？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881A62B-FC38-A34D-B0F4-37CFAFAD2C54}"/>
              </a:ext>
            </a:extLst>
          </p:cNvPr>
          <p:cNvSpPr txBox="1"/>
          <p:nvPr/>
        </p:nvSpPr>
        <p:spPr>
          <a:xfrm>
            <a:off x="158044" y="368897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〈</a:t>
            </a:r>
            <a:r>
              <a:rPr kumimoji="1" lang="ja-JP" altLang="en-US" sz="3200"/>
              <a:t>次回までの宿題</a:t>
            </a:r>
            <a:r>
              <a:rPr kumimoji="1" lang="en-US" altLang="ja-JP" sz="3200" dirty="0"/>
              <a:t>〉</a:t>
            </a:r>
            <a:endParaRPr kumimoji="1" lang="ja-JP" altLang="en-US" sz="32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F6AE5CA-BC03-B86B-7DB3-7D7B52420381}"/>
              </a:ext>
            </a:extLst>
          </p:cNvPr>
          <p:cNvSpPr txBox="1"/>
          <p:nvPr/>
        </p:nvSpPr>
        <p:spPr>
          <a:xfrm>
            <a:off x="578958" y="4418924"/>
            <a:ext cx="113082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•</a:t>
            </a:r>
            <a:r>
              <a:rPr kumimoji="1" lang="ja-JP" altLang="en-US" sz="2800"/>
              <a:t>機械学習の一連のフローを体験してもらう。コードのどの部分がフローのどの処理に対応しているか確認する。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6AD16C1-0F99-864F-25DF-F9C6A0E895A8}"/>
              </a:ext>
            </a:extLst>
          </p:cNvPr>
          <p:cNvSpPr txBox="1"/>
          <p:nvPr/>
        </p:nvSpPr>
        <p:spPr>
          <a:xfrm>
            <a:off x="580571" y="5326250"/>
            <a:ext cx="110324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•</a:t>
            </a:r>
            <a:r>
              <a:rPr kumimoji="1" lang="ja-JP" altLang="en-US" sz="2800"/>
              <a:t>課題で</a:t>
            </a:r>
            <a:r>
              <a:rPr lang="ja-JP" altLang="en-US" sz="2800"/>
              <a:t>出てくる結果が何を示しているのか</a:t>
            </a:r>
            <a:r>
              <a:rPr kumimoji="1" lang="ja-JP" altLang="en-US" sz="2800"/>
              <a:t>調べる。</a:t>
            </a:r>
            <a:endParaRPr kumimoji="1" lang="en-US" altLang="ja-JP" sz="2800" dirty="0"/>
          </a:p>
          <a:p>
            <a:r>
              <a:rPr lang="ja-JP" altLang="en-US" sz="2800"/>
              <a:t>説明変数</a:t>
            </a:r>
            <a:r>
              <a:rPr lang="en-US" altLang="ja-JP" sz="2800" dirty="0"/>
              <a:t>/</a:t>
            </a:r>
            <a:r>
              <a:rPr lang="ja-JP" altLang="en-US" sz="2800"/>
              <a:t>目的変数</a:t>
            </a:r>
            <a:r>
              <a:rPr lang="en-US" altLang="ja-JP" sz="2800" dirty="0"/>
              <a:t>/</a:t>
            </a:r>
            <a:r>
              <a:rPr lang="ja-JP" altLang="en-US" sz="2800"/>
              <a:t>特徴量</a:t>
            </a:r>
            <a:r>
              <a:rPr lang="en-US" altLang="ja-JP" sz="2800" dirty="0"/>
              <a:t>/</a:t>
            </a:r>
            <a:r>
              <a:rPr kumimoji="1" lang="en-US" altLang="ja-JP" sz="2800" dirty="0"/>
              <a:t>R</a:t>
            </a:r>
            <a:r>
              <a:rPr kumimoji="1" lang="en-US" altLang="ja-JP" sz="2800" baseline="30000" dirty="0"/>
              <a:t>2</a:t>
            </a:r>
            <a:r>
              <a:rPr kumimoji="1" lang="en-US" altLang="ja-JP" sz="2800" dirty="0"/>
              <a:t>/RMSE</a:t>
            </a:r>
            <a:r>
              <a:rPr lang="en-US" altLang="ja-JP" sz="2800" dirty="0"/>
              <a:t>/MAE/</a:t>
            </a:r>
            <a:r>
              <a:rPr lang="ja-JP" altLang="en-US" sz="2800"/>
              <a:t>予測値</a:t>
            </a:r>
            <a:r>
              <a:rPr lang="en-US" altLang="ja-JP" sz="2800" dirty="0"/>
              <a:t>-</a:t>
            </a:r>
            <a:r>
              <a:rPr lang="ja-JP" altLang="en-US" sz="2800"/>
              <a:t>実測値プロットの単語の意味を調べてくる。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34439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83DEBF-7183-BDDF-0E5E-57425C26FDAA}"/>
              </a:ext>
            </a:extLst>
          </p:cNvPr>
          <p:cNvSpPr txBox="1"/>
          <p:nvPr/>
        </p:nvSpPr>
        <p:spPr>
          <a:xfrm>
            <a:off x="162966" y="159489"/>
            <a:ext cx="5933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機械学習の一連のフロー</a:t>
            </a:r>
          </a:p>
        </p:txBody>
      </p:sp>
      <p:sp>
        <p:nvSpPr>
          <p:cNvPr id="11" name="下矢印 10">
            <a:extLst>
              <a:ext uri="{FF2B5EF4-FFF2-40B4-BE49-F238E27FC236}">
                <a16:creationId xmlns:a16="http://schemas.microsoft.com/office/drawing/2014/main" id="{07CE00B7-60EA-3285-9684-5101753770B6}"/>
              </a:ext>
            </a:extLst>
          </p:cNvPr>
          <p:cNvSpPr/>
          <p:nvPr/>
        </p:nvSpPr>
        <p:spPr>
          <a:xfrm rot="16200000">
            <a:off x="1094294" y="2733970"/>
            <a:ext cx="1020726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下矢印 14">
            <a:extLst>
              <a:ext uri="{FF2B5EF4-FFF2-40B4-BE49-F238E27FC236}">
                <a16:creationId xmlns:a16="http://schemas.microsoft.com/office/drawing/2014/main" id="{6530B49E-4DD9-FCD0-94B2-25E1878C9879}"/>
              </a:ext>
            </a:extLst>
          </p:cNvPr>
          <p:cNvSpPr/>
          <p:nvPr/>
        </p:nvSpPr>
        <p:spPr>
          <a:xfrm rot="16200000">
            <a:off x="7920934" y="2745623"/>
            <a:ext cx="1020726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下矢印 15">
            <a:extLst>
              <a:ext uri="{FF2B5EF4-FFF2-40B4-BE49-F238E27FC236}">
                <a16:creationId xmlns:a16="http://schemas.microsoft.com/office/drawing/2014/main" id="{08486AEE-3D12-9687-7031-5498EDFD2BDE}"/>
              </a:ext>
            </a:extLst>
          </p:cNvPr>
          <p:cNvSpPr/>
          <p:nvPr/>
        </p:nvSpPr>
        <p:spPr>
          <a:xfrm rot="16200000">
            <a:off x="9646813" y="2759530"/>
            <a:ext cx="1020726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DDA21BA8-0C3C-F45F-03EB-3200ACCB532F}"/>
              </a:ext>
            </a:extLst>
          </p:cNvPr>
          <p:cNvGrpSpPr/>
          <p:nvPr/>
        </p:nvGrpSpPr>
        <p:grpSpPr>
          <a:xfrm>
            <a:off x="519742" y="1651033"/>
            <a:ext cx="612953" cy="2394372"/>
            <a:chOff x="531628" y="1560939"/>
            <a:chExt cx="612953" cy="2394372"/>
          </a:xfrm>
        </p:grpSpPr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648ECFF8-9C5E-2AEE-7FE3-1BFEC7BE33D2}"/>
                </a:ext>
              </a:extLst>
            </p:cNvPr>
            <p:cNvSpPr/>
            <p:nvPr/>
          </p:nvSpPr>
          <p:spPr>
            <a:xfrm>
              <a:off x="531628" y="1560939"/>
              <a:ext cx="612953" cy="239437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7CC73B4-4054-A387-CD8B-762D1DFE80EE}"/>
                </a:ext>
              </a:extLst>
            </p:cNvPr>
            <p:cNvSpPr txBox="1"/>
            <p:nvPr/>
          </p:nvSpPr>
          <p:spPr>
            <a:xfrm>
              <a:off x="584793" y="1634740"/>
              <a:ext cx="431899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目的の設定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22D78779-C58E-2476-BB96-A875AA67FE3B}"/>
              </a:ext>
            </a:extLst>
          </p:cNvPr>
          <p:cNvGrpSpPr/>
          <p:nvPr/>
        </p:nvGrpSpPr>
        <p:grpSpPr>
          <a:xfrm>
            <a:off x="2079540" y="1450974"/>
            <a:ext cx="612953" cy="2794487"/>
            <a:chOff x="1867716" y="1619354"/>
            <a:chExt cx="612953" cy="2794487"/>
          </a:xfrm>
        </p:grpSpPr>
        <p:sp>
          <p:nvSpPr>
            <p:cNvPr id="25" name="角丸四角形 24">
              <a:extLst>
                <a:ext uri="{FF2B5EF4-FFF2-40B4-BE49-F238E27FC236}">
                  <a16:creationId xmlns:a16="http://schemas.microsoft.com/office/drawing/2014/main" id="{17EF9DE1-BEC7-44E0-1DDE-349494DE2E96}"/>
                </a:ext>
              </a:extLst>
            </p:cNvPr>
            <p:cNvSpPr/>
            <p:nvPr/>
          </p:nvSpPr>
          <p:spPr>
            <a:xfrm>
              <a:off x="1867716" y="1619354"/>
              <a:ext cx="612953" cy="279448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80753454-43E4-4B81-DEAC-583C2C63C4F1}"/>
                </a:ext>
              </a:extLst>
            </p:cNvPr>
            <p:cNvSpPr txBox="1"/>
            <p:nvPr/>
          </p:nvSpPr>
          <p:spPr>
            <a:xfrm>
              <a:off x="1909645" y="1677770"/>
              <a:ext cx="531375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28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デ｜タ</a:t>
              </a:r>
              <a:r>
                <a:rPr kumimoji="1" lang="ja-JP" altLang="en-US" sz="28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の収集</a:t>
              </a: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72E9843-2B47-E985-2369-66E1B8F91A2C}"/>
              </a:ext>
            </a:extLst>
          </p:cNvPr>
          <p:cNvGrpSpPr/>
          <p:nvPr/>
        </p:nvGrpSpPr>
        <p:grpSpPr>
          <a:xfrm>
            <a:off x="5516179" y="1141301"/>
            <a:ext cx="652602" cy="3413832"/>
            <a:chOff x="3270579" y="1408295"/>
            <a:chExt cx="652602" cy="3413832"/>
          </a:xfrm>
        </p:grpSpPr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29847AC3-4E43-28FC-F532-98BA8D3EB81A}"/>
                </a:ext>
              </a:extLst>
            </p:cNvPr>
            <p:cNvSpPr/>
            <p:nvPr/>
          </p:nvSpPr>
          <p:spPr>
            <a:xfrm>
              <a:off x="3270579" y="1408295"/>
              <a:ext cx="612953" cy="341383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DB696521-19DA-EC14-E5AB-6FC8DC31852E}"/>
                </a:ext>
              </a:extLst>
            </p:cNvPr>
            <p:cNvSpPr txBox="1"/>
            <p:nvPr/>
          </p:nvSpPr>
          <p:spPr>
            <a:xfrm flipH="1">
              <a:off x="3310228" y="1560940"/>
              <a:ext cx="612953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28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デ｜タ</a:t>
              </a:r>
              <a:r>
                <a:rPr kumimoji="1" lang="ja-JP" altLang="en-US" sz="28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の前処理</a:t>
              </a:r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5B1D6C59-DEF5-FEF2-0A41-2EB8C3CC0C57}"/>
              </a:ext>
            </a:extLst>
          </p:cNvPr>
          <p:cNvGrpSpPr/>
          <p:nvPr/>
        </p:nvGrpSpPr>
        <p:grpSpPr>
          <a:xfrm>
            <a:off x="3726120" y="1062049"/>
            <a:ext cx="659550" cy="3828951"/>
            <a:chOff x="4752740" y="1147570"/>
            <a:chExt cx="659550" cy="3828951"/>
          </a:xfrm>
        </p:grpSpPr>
        <p:sp>
          <p:nvSpPr>
            <p:cNvPr id="28" name="角丸四角形 27">
              <a:extLst>
                <a:ext uri="{FF2B5EF4-FFF2-40B4-BE49-F238E27FC236}">
                  <a16:creationId xmlns:a16="http://schemas.microsoft.com/office/drawing/2014/main" id="{D8C7B0C3-90C3-35FD-12DB-303D927BA3F0}"/>
                </a:ext>
              </a:extLst>
            </p:cNvPr>
            <p:cNvSpPr/>
            <p:nvPr/>
          </p:nvSpPr>
          <p:spPr>
            <a:xfrm>
              <a:off x="4752740" y="1147570"/>
              <a:ext cx="612953" cy="382895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8AEEC4B-C533-8F66-70F2-38538CC74B57}"/>
                </a:ext>
              </a:extLst>
            </p:cNvPr>
            <p:cNvSpPr txBox="1"/>
            <p:nvPr/>
          </p:nvSpPr>
          <p:spPr>
            <a:xfrm>
              <a:off x="4799337" y="1233594"/>
              <a:ext cx="612953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回帰か</a:t>
              </a:r>
              <a:r>
                <a:rPr lang="ja-JP" altLang="en-US" sz="28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分類の選択</a:t>
              </a:r>
              <a:endParaRPr lang="en-US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23AC4D11-A47D-280E-9828-D0D6AFC4DD98}"/>
              </a:ext>
            </a:extLst>
          </p:cNvPr>
          <p:cNvGrpSpPr/>
          <p:nvPr/>
        </p:nvGrpSpPr>
        <p:grpSpPr>
          <a:xfrm>
            <a:off x="7242057" y="1567804"/>
            <a:ext cx="652602" cy="2677657"/>
            <a:chOff x="6336150" y="1677769"/>
            <a:chExt cx="652602" cy="2677657"/>
          </a:xfrm>
        </p:grpSpPr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9CDC4ABB-E358-B2F4-AE88-017F9206D72F}"/>
                </a:ext>
              </a:extLst>
            </p:cNvPr>
            <p:cNvSpPr/>
            <p:nvPr/>
          </p:nvSpPr>
          <p:spPr>
            <a:xfrm>
              <a:off x="6336150" y="1677769"/>
              <a:ext cx="612953" cy="26776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C6189D6B-D770-2DBD-2BC8-E14824666E8D}"/>
                </a:ext>
              </a:extLst>
            </p:cNvPr>
            <p:cNvSpPr txBox="1"/>
            <p:nvPr/>
          </p:nvSpPr>
          <p:spPr>
            <a:xfrm>
              <a:off x="6375799" y="1677770"/>
              <a:ext cx="612953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モデルの選択</a:t>
              </a: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D8819238-B1F1-06A3-DA38-5E8C5BE6E29E}"/>
              </a:ext>
            </a:extLst>
          </p:cNvPr>
          <p:cNvGrpSpPr/>
          <p:nvPr/>
        </p:nvGrpSpPr>
        <p:grpSpPr>
          <a:xfrm>
            <a:off x="8967935" y="1567804"/>
            <a:ext cx="652602" cy="2677657"/>
            <a:chOff x="7643136" y="1677769"/>
            <a:chExt cx="652602" cy="2677657"/>
          </a:xfrm>
        </p:grpSpPr>
        <p:sp>
          <p:nvSpPr>
            <p:cNvPr id="30" name="角丸四角形 29">
              <a:extLst>
                <a:ext uri="{FF2B5EF4-FFF2-40B4-BE49-F238E27FC236}">
                  <a16:creationId xmlns:a16="http://schemas.microsoft.com/office/drawing/2014/main" id="{FC9A41F1-F1F9-3768-8189-8C20DEDB0DAA}"/>
                </a:ext>
              </a:extLst>
            </p:cNvPr>
            <p:cNvSpPr/>
            <p:nvPr/>
          </p:nvSpPr>
          <p:spPr>
            <a:xfrm>
              <a:off x="7643136" y="1677769"/>
              <a:ext cx="612953" cy="26776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02623289-166E-FAA2-BC3C-89D39649EB8D}"/>
                </a:ext>
              </a:extLst>
            </p:cNvPr>
            <p:cNvSpPr txBox="1"/>
            <p:nvPr/>
          </p:nvSpPr>
          <p:spPr>
            <a:xfrm>
              <a:off x="7682785" y="1677770"/>
              <a:ext cx="612953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モデルの構築</a:t>
              </a: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5C16663D-50F4-C7A9-75D5-77C513899B9A}"/>
              </a:ext>
            </a:extLst>
          </p:cNvPr>
          <p:cNvGrpSpPr/>
          <p:nvPr/>
        </p:nvGrpSpPr>
        <p:grpSpPr>
          <a:xfrm>
            <a:off x="10654164" y="1567804"/>
            <a:ext cx="612953" cy="2677656"/>
            <a:chOff x="9742009" y="3330655"/>
            <a:chExt cx="612953" cy="2677656"/>
          </a:xfrm>
        </p:grpSpPr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591ABD58-16D5-5748-B908-630618354409}"/>
                </a:ext>
              </a:extLst>
            </p:cNvPr>
            <p:cNvSpPr/>
            <p:nvPr/>
          </p:nvSpPr>
          <p:spPr>
            <a:xfrm>
              <a:off x="9742009" y="3330655"/>
              <a:ext cx="612953" cy="267765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9F6796D0-EBBE-780C-3CC7-E7818B6656D0}"/>
                </a:ext>
              </a:extLst>
            </p:cNvPr>
            <p:cNvSpPr txBox="1"/>
            <p:nvPr/>
          </p:nvSpPr>
          <p:spPr>
            <a:xfrm>
              <a:off x="9781658" y="3330655"/>
              <a:ext cx="394554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モデルの評価</a:t>
              </a:r>
            </a:p>
          </p:txBody>
        </p:sp>
      </p:grpSp>
      <p:sp>
        <p:nvSpPr>
          <p:cNvPr id="38" name="下矢印 37">
            <a:extLst>
              <a:ext uri="{FF2B5EF4-FFF2-40B4-BE49-F238E27FC236}">
                <a16:creationId xmlns:a16="http://schemas.microsoft.com/office/drawing/2014/main" id="{1D401984-990B-D08E-19B2-2F62399E0A0C}"/>
              </a:ext>
            </a:extLst>
          </p:cNvPr>
          <p:cNvSpPr/>
          <p:nvPr/>
        </p:nvSpPr>
        <p:spPr>
          <a:xfrm rot="16200000">
            <a:off x="2657013" y="2708410"/>
            <a:ext cx="1020726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下矢印 38">
            <a:extLst>
              <a:ext uri="{FF2B5EF4-FFF2-40B4-BE49-F238E27FC236}">
                <a16:creationId xmlns:a16="http://schemas.microsoft.com/office/drawing/2014/main" id="{1B8191E4-FF1A-075C-C892-DA891A833D7F}"/>
              </a:ext>
            </a:extLst>
          </p:cNvPr>
          <p:cNvSpPr/>
          <p:nvPr/>
        </p:nvSpPr>
        <p:spPr>
          <a:xfrm rot="16200000">
            <a:off x="4428404" y="2733971"/>
            <a:ext cx="1020726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下矢印 39">
            <a:extLst>
              <a:ext uri="{FF2B5EF4-FFF2-40B4-BE49-F238E27FC236}">
                <a16:creationId xmlns:a16="http://schemas.microsoft.com/office/drawing/2014/main" id="{63F9CBC5-1928-496A-B63D-25A2184089E7}"/>
              </a:ext>
            </a:extLst>
          </p:cNvPr>
          <p:cNvSpPr/>
          <p:nvPr/>
        </p:nvSpPr>
        <p:spPr>
          <a:xfrm rot="16200000">
            <a:off x="6150699" y="2759529"/>
            <a:ext cx="1020726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左大かっこ 41">
            <a:extLst>
              <a:ext uri="{FF2B5EF4-FFF2-40B4-BE49-F238E27FC236}">
                <a16:creationId xmlns:a16="http://schemas.microsoft.com/office/drawing/2014/main" id="{4558B80D-7B55-B046-B665-2D15526D8531}"/>
              </a:ext>
            </a:extLst>
          </p:cNvPr>
          <p:cNvSpPr/>
          <p:nvPr/>
        </p:nvSpPr>
        <p:spPr>
          <a:xfrm rot="16200000">
            <a:off x="7573476" y="1147971"/>
            <a:ext cx="369333" cy="8329285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C6E68219-B011-1447-C949-26333BC2AA80}"/>
              </a:ext>
            </a:extLst>
          </p:cNvPr>
          <p:cNvSpPr txBox="1"/>
          <p:nvPr/>
        </p:nvSpPr>
        <p:spPr>
          <a:xfrm>
            <a:off x="5930530" y="5828172"/>
            <a:ext cx="3650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第</a:t>
            </a:r>
            <a:r>
              <a:rPr kumimoji="1" lang="en-US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r>
            <a:r>
              <a:rPr kumimoji="1"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回で取り組む行程</a:t>
            </a:r>
          </a:p>
        </p:txBody>
      </p:sp>
    </p:spTree>
    <p:extLst>
      <p:ext uri="{BB962C8B-B14F-4D97-AF65-F5344CB8AC3E}">
        <p14:creationId xmlns:p14="http://schemas.microsoft.com/office/powerpoint/2010/main" val="93285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95FD-C158-8BEA-3ADD-8BFB7D0C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ED4131-46E9-5F88-0283-1778A8F2F9CE}"/>
              </a:ext>
            </a:extLst>
          </p:cNvPr>
          <p:cNvSpPr txBox="1"/>
          <p:nvPr/>
        </p:nvSpPr>
        <p:spPr>
          <a:xfrm>
            <a:off x="158044" y="146755"/>
            <a:ext cx="2797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参考ページ</a:t>
            </a:r>
            <a:endParaRPr kumimoji="1" lang="ja-JP" altLang="en-US" sz="4000" b="1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FB83BA9-72C9-DC6B-45F5-7314B2B63AB7}"/>
              </a:ext>
            </a:extLst>
          </p:cNvPr>
          <p:cNvSpPr txBox="1"/>
          <p:nvPr/>
        </p:nvSpPr>
        <p:spPr>
          <a:xfrm>
            <a:off x="469557" y="1017379"/>
            <a:ext cx="1089866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☑️高原本 </a:t>
            </a:r>
            <a:r>
              <a:rPr lang="en-US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: </a:t>
            </a:r>
            <a:r>
              <a:rPr lang="en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p.1~7 p.29~83 </a:t>
            </a:r>
          </a:p>
          <a:p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フローの一連の流れを全て入れたことでめちゃくちゃページ数ありますが、評価指標の話は</a:t>
            </a:r>
            <a:r>
              <a:rPr lang="en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p.61</a:t>
            </a:r>
            <a:r>
              <a:rPr lang="ja-JP" altLang="en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</a:t>
            </a:r>
            <a:r>
              <a:rPr lang="en" altLang="ja-JP" sz="2800" dirty="0" err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yy</a:t>
            </a:r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プロットに関しては</a:t>
            </a:r>
            <a:r>
              <a:rPr lang="en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p.72~74, </a:t>
            </a:r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説明変数、目的変数に関しては</a:t>
            </a:r>
            <a:r>
              <a:rPr lang="en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p.10</a:t>
            </a:r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、特徴量に関しては</a:t>
            </a:r>
            <a:r>
              <a:rPr lang="en-US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p.10 , p.37, p.49~53</a:t>
            </a:r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に記載しています。とりあえずここを読んでください。</a:t>
            </a:r>
            <a:endParaRPr lang="en-US" altLang="ja-JP" sz="28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b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まず</a:t>
            </a:r>
            <a:r>
              <a:rPr lang="en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MI</a:t>
            </a:r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とは何か？を知りたい人は</a:t>
            </a:r>
            <a:r>
              <a:rPr lang="en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p.1~7</a:t>
            </a:r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をとっかかりとして読んでもらい、その後それぞれの説明を読んでいくと良いと思います。</a:t>
            </a:r>
            <a:br>
              <a:rPr lang="en-US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br>
              <a:rPr lang="en-US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☑️金子本 </a:t>
            </a:r>
            <a:r>
              <a:rPr lang="en-US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: </a:t>
            </a:r>
            <a:r>
              <a:rPr lang="en" altLang="ja-JP" sz="28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p.47~59 </a:t>
            </a:r>
          </a:p>
          <a:p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評価指標の計算の内容をより知りたい人はこっちを見ると◎ </a:t>
            </a:r>
            <a:endParaRPr lang="en-US" altLang="ja-JP" sz="28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 sz="28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コードも掲載されています。より深く理解したい方はこちらも併せて読むと良いと思います。</a:t>
            </a:r>
            <a:endParaRPr lang="en-US" altLang="ja-JP" sz="2800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5322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1481</TotalTime>
  <Words>314</Words>
  <Application>Microsoft Macintosh PowerPoint</Application>
  <PresentationFormat>ワイド画面</PresentationFormat>
  <Paragraphs>23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Hiragino Maru Gothic Pro W4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Iwasaki Nanami</dc:creator>
  <cp:lastModifiedBy>Iwasaki Nanami</cp:lastModifiedBy>
  <cp:revision>6</cp:revision>
  <dcterms:created xsi:type="dcterms:W3CDTF">2026-05-19T02:04:17Z</dcterms:created>
  <dcterms:modified xsi:type="dcterms:W3CDTF">2026-05-26T07:32:29Z</dcterms:modified>
</cp:coreProperties>
</file>