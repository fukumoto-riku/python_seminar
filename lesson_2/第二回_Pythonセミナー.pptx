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85" r:id="rId3"/>
    <p:sldId id="260" r:id="rId4"/>
    <p:sldId id="261"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89"/>
    <p:restoredTop sz="86812"/>
  </p:normalViewPr>
  <p:slideViewPr>
    <p:cSldViewPr snapToGrid="0">
      <p:cViewPr varScale="1">
        <p:scale>
          <a:sx n="103" d="100"/>
          <a:sy n="103" d="100"/>
        </p:scale>
        <p:origin x="600" y="176"/>
      </p:cViewPr>
      <p:guideLst/>
    </p:cSldViewPr>
  </p:slideViewPr>
  <p:notesTextViewPr>
    <p:cViewPr>
      <p:scale>
        <a:sx n="1" d="1"/>
        <a:sy n="1" d="1"/>
      </p:scale>
      <p:origin x="0" y="-56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7050B-EE03-894F-B630-1BC3AE7F64B5}" type="datetimeFigureOut">
              <a:rPr kumimoji="1" lang="ja-JP" altLang="en-US" smtClean="0"/>
              <a:t>2026/6/3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66E6E-BC1F-3F4B-8B7D-D47273BC5A2D}" type="slidenum">
              <a:rPr kumimoji="1" lang="ja-JP" altLang="en-US" smtClean="0"/>
              <a:t>‹#›</a:t>
            </a:fld>
            <a:endParaRPr kumimoji="1" lang="ja-JP" altLang="en-US"/>
          </a:p>
        </p:txBody>
      </p:sp>
    </p:spTree>
    <p:extLst>
      <p:ext uri="{BB962C8B-B14F-4D97-AF65-F5344CB8AC3E}">
        <p14:creationId xmlns:p14="http://schemas.microsoft.com/office/powerpoint/2010/main" val="5897815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a:solidFill>
                  <a:schemeClr val="tx1"/>
                </a:solidFill>
                <a:effectLst/>
                <a:latin typeface="+mn-lt"/>
                <a:ea typeface="+mn-ea"/>
                <a:cs typeface="+mn-cs"/>
              </a:rPr>
              <a:t>皆さんは「新しい材料を開発する」と聞くと、実験を何度も繰り返しながら条件を変えて試していくイメージを持つかもしれません。</a:t>
            </a:r>
          </a:p>
          <a:p>
            <a:r>
              <a:rPr kumimoji="1" lang="ja-JP" altLang="ja-JP" sz="1200" kern="1200">
                <a:solidFill>
                  <a:schemeClr val="tx1"/>
                </a:solidFill>
                <a:effectLst/>
                <a:latin typeface="+mn-lt"/>
                <a:ea typeface="+mn-ea"/>
                <a:cs typeface="+mn-cs"/>
              </a:rPr>
              <a:t>しかし近年では、</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や機械学習を活用して材料開発を効率化する取り組みが進められており、これをマテリアルズ・インフォマティクス、略して</a:t>
            </a:r>
            <a:r>
              <a:rPr kumimoji="1" lang="en-US" altLang="ja-JP" sz="1200" kern="1200" dirty="0">
                <a:solidFill>
                  <a:schemeClr val="tx1"/>
                </a:solidFill>
                <a:effectLst/>
                <a:latin typeface="+mn-lt"/>
                <a:ea typeface="+mn-ea"/>
                <a:cs typeface="+mn-cs"/>
              </a:rPr>
              <a:t>MI</a:t>
            </a:r>
            <a:r>
              <a:rPr kumimoji="1" lang="ja-JP" altLang="ja-JP" sz="1200" kern="1200">
                <a:solidFill>
                  <a:schemeClr val="tx1"/>
                </a:solidFill>
                <a:effectLst/>
                <a:latin typeface="+mn-lt"/>
                <a:ea typeface="+mn-ea"/>
                <a:cs typeface="+mn-cs"/>
              </a:rPr>
              <a:t>と呼びます。機械学習とは、大量のデータからコンピューターが規則やパターンを学習し、その結果を使って予測を行う技術のこと。</a:t>
            </a:r>
          </a:p>
          <a:p>
            <a:r>
              <a:rPr kumimoji="1" lang="ja-JP" altLang="ja-JP" sz="1200" kern="1200">
                <a:solidFill>
                  <a:schemeClr val="tx1"/>
                </a:solidFill>
                <a:effectLst/>
                <a:latin typeface="+mn-lt"/>
                <a:ea typeface="+mn-ea"/>
                <a:cs typeface="+mn-cs"/>
              </a:rPr>
              <a:t>スライド中央にあるように、まず過去の実験データを機械学習モデルに学習させます。</a:t>
            </a:r>
          </a:p>
          <a:p>
            <a:r>
              <a:rPr kumimoji="1" lang="ja-JP" altLang="ja-JP" sz="1200" kern="1200">
                <a:solidFill>
                  <a:schemeClr val="tx1"/>
                </a:solidFill>
                <a:effectLst/>
                <a:latin typeface="+mn-lt"/>
                <a:ea typeface="+mn-ea"/>
                <a:cs typeface="+mn-cs"/>
              </a:rPr>
              <a:t>ここでいう機械学習モデルとは、データの特徴や関係性を学習して予測を行うためのプログラムだと考えてください。</a:t>
            </a:r>
          </a:p>
          <a:p>
            <a:r>
              <a:rPr kumimoji="1" lang="ja-JP" altLang="ja-JP" sz="1200" kern="1200">
                <a:solidFill>
                  <a:schemeClr val="tx1"/>
                </a:solidFill>
                <a:effectLst/>
                <a:latin typeface="+mn-lt"/>
                <a:ea typeface="+mn-ea"/>
                <a:cs typeface="+mn-cs"/>
              </a:rPr>
              <a:t>学習したモデルを利用すると、大きく分けて</a:t>
            </a:r>
            <a:r>
              <a:rPr kumimoji="1" lang="en-US" altLang="ja-JP" sz="1200" kern="1200" dirty="0">
                <a:solidFill>
                  <a:schemeClr val="tx1"/>
                </a:solidFill>
                <a:effectLst/>
                <a:latin typeface="+mn-lt"/>
                <a:ea typeface="+mn-ea"/>
                <a:cs typeface="+mn-cs"/>
              </a:rPr>
              <a:t>2</a:t>
            </a:r>
            <a:r>
              <a:rPr kumimoji="1" lang="ja-JP" altLang="ja-JP" sz="1200" kern="1200">
                <a:solidFill>
                  <a:schemeClr val="tx1"/>
                </a:solidFill>
                <a:effectLst/>
                <a:latin typeface="+mn-lt"/>
                <a:ea typeface="+mn-ea"/>
                <a:cs typeface="+mn-cs"/>
              </a:rPr>
              <a:t>つの解析が可能になります。</a:t>
            </a:r>
          </a:p>
          <a:p>
            <a:r>
              <a:rPr kumimoji="1" lang="ja-JP" altLang="ja-JP" sz="1200" kern="1200">
                <a:solidFill>
                  <a:schemeClr val="tx1"/>
                </a:solidFill>
                <a:effectLst/>
                <a:latin typeface="+mn-lt"/>
                <a:ea typeface="+mn-ea"/>
                <a:cs typeface="+mn-cs"/>
              </a:rPr>
              <a:t>まず右側に示しているのが「順解析」です。</a:t>
            </a:r>
          </a:p>
          <a:p>
            <a:r>
              <a:rPr kumimoji="1" lang="ja-JP" altLang="ja-JP" sz="1200" kern="1200">
                <a:solidFill>
                  <a:schemeClr val="tx1"/>
                </a:solidFill>
                <a:effectLst/>
                <a:latin typeface="+mn-lt"/>
                <a:ea typeface="+mn-ea"/>
                <a:cs typeface="+mn-cs"/>
              </a:rPr>
              <a:t>これは材料の組成や構造を入力すると、その材料がどのような特性を示すのかを予測するもの。</a:t>
            </a:r>
          </a:p>
          <a:p>
            <a:r>
              <a:rPr kumimoji="1" lang="ja-JP" altLang="ja-JP" sz="1200" kern="1200">
                <a:solidFill>
                  <a:schemeClr val="tx1"/>
                </a:solidFill>
                <a:effectLst/>
                <a:latin typeface="+mn-lt"/>
                <a:ea typeface="+mn-ea"/>
                <a:cs typeface="+mn-cs"/>
              </a:rPr>
              <a:t>例えば、「この分子構造なら</a:t>
            </a:r>
            <a:r>
              <a:rPr kumimoji="1" lang="en-US" altLang="ja-JP" sz="1200" kern="1200" dirty="0">
                <a:solidFill>
                  <a:schemeClr val="tx1"/>
                </a:solidFill>
                <a:effectLst/>
                <a:latin typeface="+mn-lt"/>
                <a:ea typeface="+mn-ea"/>
                <a:cs typeface="+mn-cs"/>
              </a:rPr>
              <a:t>HOMO</a:t>
            </a:r>
            <a:r>
              <a:rPr kumimoji="1" lang="ja-JP" altLang="ja-JP" sz="1200" kern="1200">
                <a:solidFill>
                  <a:schemeClr val="tx1"/>
                </a:solidFill>
                <a:effectLst/>
                <a:latin typeface="+mn-lt"/>
                <a:ea typeface="+mn-ea"/>
                <a:cs typeface="+mn-cs"/>
              </a:rPr>
              <a:t>エネルギーはどれくらいになるか」「この組成なら強度はどれくらいになるか」といった予測ができる。</a:t>
            </a:r>
          </a:p>
          <a:p>
            <a:r>
              <a:rPr kumimoji="1" lang="ja-JP" altLang="ja-JP" sz="1200" kern="1200">
                <a:solidFill>
                  <a:schemeClr val="tx1"/>
                </a:solidFill>
                <a:effectLst/>
                <a:latin typeface="+mn-lt"/>
                <a:ea typeface="+mn-ea"/>
                <a:cs typeface="+mn-cs"/>
              </a:rPr>
              <a:t>一方で左側に示しているのが「逆解析」。こちらは順解析とは逆で、「こういう性能の材料が欲しい」という目標を先に与えることで、それを実現できそうな材料候補を探し出す手法。</a:t>
            </a:r>
          </a:p>
          <a:p>
            <a:r>
              <a:rPr kumimoji="1" lang="ja-JP" altLang="ja-JP" sz="1200" kern="1200">
                <a:solidFill>
                  <a:schemeClr val="tx1"/>
                </a:solidFill>
                <a:effectLst/>
                <a:latin typeface="+mn-lt"/>
                <a:ea typeface="+mn-ea"/>
                <a:cs typeface="+mn-cs"/>
              </a:rPr>
              <a:t>このように、実験データから学習したモデルを活用することで、有望な材料候補を効率的に見つけることができ、材料開発のスピード向上につながります。</a:t>
            </a:r>
          </a:p>
          <a:p>
            <a:endParaRPr kumimoji="1" lang="ja-JP" altLang="en-US"/>
          </a:p>
        </p:txBody>
      </p:sp>
      <p:sp>
        <p:nvSpPr>
          <p:cNvPr id="4" name="スライド番号プレースホルダー 3"/>
          <p:cNvSpPr>
            <a:spLocks noGrp="1"/>
          </p:cNvSpPr>
          <p:nvPr>
            <p:ph type="sldNum" sz="quarter" idx="5"/>
          </p:nvPr>
        </p:nvSpPr>
        <p:spPr/>
        <p:txBody>
          <a:bodyPr/>
          <a:lstStyle/>
          <a:p>
            <a:fld id="{DBF234BA-1FB5-B84E-8D96-20DA9D56BCC1}" type="slidenum">
              <a:rPr kumimoji="1" lang="ja-JP" altLang="en-US" smtClean="0"/>
              <a:t>2</a:t>
            </a:fld>
            <a:endParaRPr kumimoji="1" lang="ja-JP" altLang="en-US"/>
          </a:p>
        </p:txBody>
      </p:sp>
    </p:spTree>
    <p:extLst>
      <p:ext uri="{BB962C8B-B14F-4D97-AF65-F5344CB8AC3E}">
        <p14:creationId xmlns:p14="http://schemas.microsoft.com/office/powerpoint/2010/main" val="2373380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a:solidFill>
                  <a:schemeClr val="tx1"/>
                </a:solidFill>
                <a:effectLst/>
                <a:latin typeface="+mn-lt"/>
                <a:ea typeface="+mn-ea"/>
                <a:cs typeface="+mn-cs"/>
              </a:rPr>
              <a:t>次に、機械学習がどのような流れで進められるのかを説明します。機械学習は、このスライドに示したように大きく</a:t>
            </a:r>
            <a:r>
              <a:rPr kumimoji="1" lang="en-US" altLang="ja-JP" sz="1200" kern="1200" dirty="0">
                <a:solidFill>
                  <a:schemeClr val="tx1"/>
                </a:solidFill>
                <a:effectLst/>
                <a:latin typeface="+mn-lt"/>
                <a:ea typeface="+mn-ea"/>
                <a:cs typeface="+mn-cs"/>
              </a:rPr>
              <a:t>7</a:t>
            </a:r>
            <a:r>
              <a:rPr kumimoji="1" lang="ja-JP" altLang="ja-JP" sz="1200" kern="1200">
                <a:solidFill>
                  <a:schemeClr val="tx1"/>
                </a:solidFill>
                <a:effectLst/>
                <a:latin typeface="+mn-lt"/>
                <a:ea typeface="+mn-ea"/>
                <a:cs typeface="+mn-cs"/>
              </a:rPr>
              <a:t>つのステップで進みます。</a:t>
            </a:r>
          </a:p>
          <a:p>
            <a:r>
              <a:rPr kumimoji="1" lang="ja-JP" altLang="ja-JP" sz="1200" kern="1200">
                <a:solidFill>
                  <a:schemeClr val="tx1"/>
                </a:solidFill>
                <a:effectLst/>
                <a:latin typeface="+mn-lt"/>
                <a:ea typeface="+mn-ea"/>
                <a:cs typeface="+mn-cs"/>
              </a:rPr>
              <a:t>まず最初に「目的の設定」を行います。例えば、「</a:t>
            </a:r>
            <a:r>
              <a:rPr kumimoji="1" lang="en-US" altLang="ja-JP" sz="1200" kern="1200" dirty="0">
                <a:solidFill>
                  <a:schemeClr val="tx1"/>
                </a:solidFill>
                <a:effectLst/>
                <a:latin typeface="+mn-lt"/>
                <a:ea typeface="+mn-ea"/>
                <a:cs typeface="+mn-cs"/>
              </a:rPr>
              <a:t>HOMO</a:t>
            </a:r>
            <a:r>
              <a:rPr kumimoji="1" lang="ja-JP" altLang="ja-JP" sz="1200" kern="1200">
                <a:solidFill>
                  <a:schemeClr val="tx1"/>
                </a:solidFill>
                <a:effectLst/>
                <a:latin typeface="+mn-lt"/>
                <a:ea typeface="+mn-ea"/>
                <a:cs typeface="+mn-cs"/>
              </a:rPr>
              <a:t>エネルギーを予測したい」「材料の強度を予測したい」など、何を予測したいのかを明確にします。</a:t>
            </a:r>
          </a:p>
          <a:p>
            <a:r>
              <a:rPr kumimoji="1" lang="en-US" altLang="ja-JP" sz="1200" kern="1200" dirty="0">
                <a:solidFill>
                  <a:schemeClr val="tx1"/>
                </a:solidFill>
                <a:effectLst/>
                <a:latin typeface="+mn-lt"/>
                <a:ea typeface="+mn-ea"/>
                <a:cs typeface="+mn-cs"/>
              </a:rPr>
              <a:t> </a:t>
            </a:r>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次に、そのために必要な「データの収集」を行います。その後、欠損値の処理や不要なデータの削除などの「データ前処理」を行います。</a:t>
            </a:r>
          </a:p>
          <a:p>
            <a:r>
              <a:rPr kumimoji="1" lang="ja-JP" altLang="ja-JP" sz="1200" kern="1200">
                <a:solidFill>
                  <a:schemeClr val="tx1"/>
                </a:solidFill>
                <a:effectLst/>
                <a:latin typeface="+mn-lt"/>
                <a:ea typeface="+mn-ea"/>
                <a:cs typeface="+mn-cs"/>
              </a:rPr>
              <a:t>データの準備ができたら、「回帰」か「分類」かを選択します。回帰は数値を予測する問題です。例えば</a:t>
            </a:r>
            <a:r>
              <a:rPr kumimoji="1" lang="en-US" altLang="ja-JP" sz="1200" kern="1200" dirty="0">
                <a:solidFill>
                  <a:schemeClr val="tx1"/>
                </a:solidFill>
                <a:effectLst/>
                <a:latin typeface="+mn-lt"/>
                <a:ea typeface="+mn-ea"/>
                <a:cs typeface="+mn-cs"/>
              </a:rPr>
              <a:t>HOMO</a:t>
            </a:r>
            <a:r>
              <a:rPr kumimoji="1" lang="ja-JP" altLang="ja-JP" sz="1200" kern="1200">
                <a:solidFill>
                  <a:schemeClr val="tx1"/>
                </a:solidFill>
                <a:effectLst/>
                <a:latin typeface="+mn-lt"/>
                <a:ea typeface="+mn-ea"/>
                <a:cs typeface="+mn-cs"/>
              </a:rPr>
              <a:t>エネルギーや強度などを予測する場合はこちらになります。</a:t>
            </a:r>
          </a:p>
          <a:p>
            <a:r>
              <a:rPr kumimoji="1" lang="ja-JP" altLang="ja-JP" sz="1200" kern="1200">
                <a:solidFill>
                  <a:schemeClr val="tx1"/>
                </a:solidFill>
                <a:effectLst/>
                <a:latin typeface="+mn-lt"/>
                <a:ea typeface="+mn-ea"/>
                <a:cs typeface="+mn-cs"/>
              </a:rPr>
              <a:t>一方で分類は、「合格か不合格」「良品か不良品」のように、カテゴリを予測する問題です。</a:t>
            </a:r>
          </a:p>
          <a:p>
            <a:r>
              <a:rPr kumimoji="1" lang="ja-JP" altLang="ja-JP" sz="1200" kern="1200">
                <a:solidFill>
                  <a:schemeClr val="tx1"/>
                </a:solidFill>
                <a:effectLst/>
                <a:latin typeface="+mn-lt"/>
                <a:ea typeface="+mn-ea"/>
                <a:cs typeface="+mn-cs"/>
              </a:rPr>
              <a:t>今回の演習では</a:t>
            </a:r>
            <a:r>
              <a:rPr kumimoji="1" lang="en-US" altLang="ja-JP" sz="1200" kern="1200" dirty="0">
                <a:solidFill>
                  <a:schemeClr val="tx1"/>
                </a:solidFill>
                <a:effectLst/>
                <a:latin typeface="+mn-lt"/>
                <a:ea typeface="+mn-ea"/>
                <a:cs typeface="+mn-cs"/>
              </a:rPr>
              <a:t>HOMO</a:t>
            </a:r>
            <a:r>
              <a:rPr kumimoji="1" lang="ja-JP" altLang="ja-JP" sz="1200" kern="1200">
                <a:solidFill>
                  <a:schemeClr val="tx1"/>
                </a:solidFill>
                <a:effectLst/>
                <a:latin typeface="+mn-lt"/>
                <a:ea typeface="+mn-ea"/>
                <a:cs typeface="+mn-cs"/>
              </a:rPr>
              <a:t>エネルギーという数値を予測するため、回帰モデルを使用します。</a:t>
            </a:r>
          </a:p>
          <a:p>
            <a:r>
              <a:rPr kumimoji="1" lang="ja-JP" altLang="ja-JP" sz="1200" kern="1200">
                <a:solidFill>
                  <a:schemeClr val="tx1"/>
                </a:solidFill>
                <a:effectLst/>
                <a:latin typeface="+mn-lt"/>
                <a:ea typeface="+mn-ea"/>
                <a:cs typeface="+mn-cs"/>
              </a:rPr>
              <a:t>その後、使用するモデルを選択し、実際にモデルを構築します。最後に、作成したモデルがどれくらい正確に予測できているかを評価します。</a:t>
            </a:r>
          </a:p>
          <a:p>
            <a:r>
              <a:rPr kumimoji="1" lang="ja-JP" altLang="ja-JP" sz="1200" kern="1200">
                <a:solidFill>
                  <a:schemeClr val="tx1"/>
                </a:solidFill>
                <a:effectLst/>
                <a:latin typeface="+mn-lt"/>
                <a:ea typeface="+mn-ea"/>
                <a:cs typeface="+mn-cs"/>
              </a:rPr>
              <a:t>今回のセミナーでは、この流れの中でも特にモデルの構築と評価を中心に体験してもらいます。</a:t>
            </a:r>
          </a:p>
          <a:p>
            <a:endParaRPr kumimoji="1" lang="ja-JP" altLang="en-US"/>
          </a:p>
        </p:txBody>
      </p:sp>
      <p:sp>
        <p:nvSpPr>
          <p:cNvPr id="4" name="スライド番号プレースホルダー 3"/>
          <p:cNvSpPr>
            <a:spLocks noGrp="1"/>
          </p:cNvSpPr>
          <p:nvPr>
            <p:ph type="sldNum" sz="quarter" idx="5"/>
          </p:nvPr>
        </p:nvSpPr>
        <p:spPr/>
        <p:txBody>
          <a:bodyPr/>
          <a:lstStyle/>
          <a:p>
            <a:fld id="{17E66E6E-BC1F-3F4B-8B7D-D47273BC5A2D}" type="slidenum">
              <a:rPr kumimoji="1" lang="ja-JP" altLang="en-US" smtClean="0"/>
              <a:t>3</a:t>
            </a:fld>
            <a:endParaRPr kumimoji="1" lang="ja-JP" altLang="en-US"/>
          </a:p>
        </p:txBody>
      </p:sp>
    </p:spTree>
    <p:extLst>
      <p:ext uri="{BB962C8B-B14F-4D97-AF65-F5344CB8AC3E}">
        <p14:creationId xmlns:p14="http://schemas.microsoft.com/office/powerpoint/2010/main" val="2471595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7E66E6E-BC1F-3F4B-8B7D-D47273BC5A2D}" type="slidenum">
              <a:rPr kumimoji="1" lang="ja-JP" altLang="en-US" smtClean="0"/>
              <a:t>4</a:t>
            </a:fld>
            <a:endParaRPr kumimoji="1" lang="ja-JP" altLang="en-US"/>
          </a:p>
        </p:txBody>
      </p:sp>
    </p:spTree>
    <p:extLst>
      <p:ext uri="{BB962C8B-B14F-4D97-AF65-F5344CB8AC3E}">
        <p14:creationId xmlns:p14="http://schemas.microsoft.com/office/powerpoint/2010/main" val="3703485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A41BFD-5C81-8F6F-4E7E-6C15DEB88F3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176CE60-949F-A897-D557-C764022FBB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BE2D7B4-D60E-47CD-B211-4368A9033ADA}"/>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5" name="フッター プレースホルダー 4">
            <a:extLst>
              <a:ext uri="{FF2B5EF4-FFF2-40B4-BE49-F238E27FC236}">
                <a16:creationId xmlns:a16="http://schemas.microsoft.com/office/drawing/2014/main" id="{EDB5A20E-BF86-FF9C-FFC4-BC49C75B14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F15556-4C38-94F0-CBFF-541AAEA99AC7}"/>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128630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B78CE1-1F1E-97BE-DACC-BAA76BF86B2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DC4A5A3-0E2D-0EFA-71A0-C2330F6C092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E9B6F72-CEBC-F462-71A0-1C7730639E8D}"/>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5" name="フッター プレースホルダー 4">
            <a:extLst>
              <a:ext uri="{FF2B5EF4-FFF2-40B4-BE49-F238E27FC236}">
                <a16:creationId xmlns:a16="http://schemas.microsoft.com/office/drawing/2014/main" id="{892EC55F-C56A-4693-95DD-D8B0ECC302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655BB5-0F50-3A55-8ACA-C118B7844514}"/>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656380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5AD9E-6855-194B-A005-955FDC0B185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BA1FC5D-5197-1E8F-ABB6-2EE7C6CAEE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7C52D04-9DE0-63B8-ED92-14B0670DD13A}"/>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5" name="フッター プレースホルダー 4">
            <a:extLst>
              <a:ext uri="{FF2B5EF4-FFF2-40B4-BE49-F238E27FC236}">
                <a16:creationId xmlns:a16="http://schemas.microsoft.com/office/drawing/2014/main" id="{92DE1D28-6058-241D-D9D7-DDBC5C3FFB4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FED7B0-3A16-183F-3E2A-8E8B4AFF407F}"/>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758893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19CF-5B89-3331-F766-0086E57928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66F3A28-418A-9997-A819-12CE0EF5D0E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0B7AE5F-12B6-6E8E-087B-65344CBCD97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ECC0644-B0D3-950D-8A10-D8D7C7B84D84}"/>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6" name="フッター プレースホルダー 5">
            <a:extLst>
              <a:ext uri="{FF2B5EF4-FFF2-40B4-BE49-F238E27FC236}">
                <a16:creationId xmlns:a16="http://schemas.microsoft.com/office/drawing/2014/main" id="{B62F0D76-9361-3F29-6974-285EE3BE1C7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F419305-68A3-233E-DC17-B4B26878F790}"/>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2046366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1222E-7DE9-061D-788B-05B5044D62C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AB7A0D3-2C95-66F1-253E-4CBD012195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7BDD797-0979-C6A9-0893-9E7AF4E8D27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7F226D8-D167-D8D6-6728-587D387AA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F745640-2C73-9D73-7AD8-53BF466FEB6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BF8698F-79D5-9501-0BE6-6109A7F332EF}"/>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8" name="フッター プレースホルダー 7">
            <a:extLst>
              <a:ext uri="{FF2B5EF4-FFF2-40B4-BE49-F238E27FC236}">
                <a16:creationId xmlns:a16="http://schemas.microsoft.com/office/drawing/2014/main" id="{9997299C-AC1C-2696-28A5-61ED9252B70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D545AD5-E322-A688-917D-7985BCE8C1AC}"/>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525899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71169C-8272-7FD0-46FB-0CE27B13868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54CD5D0-F2AB-E05B-C95F-3A4248870012}"/>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4" name="フッター プレースホルダー 3">
            <a:extLst>
              <a:ext uri="{FF2B5EF4-FFF2-40B4-BE49-F238E27FC236}">
                <a16:creationId xmlns:a16="http://schemas.microsoft.com/office/drawing/2014/main" id="{D7081554-729B-7F13-EE3C-8C15323EA1B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9E697F9-2E69-44FE-5A89-92E22F121587}"/>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1149563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F8F5FA0-753F-851B-157C-3343C558EE1F}"/>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3" name="フッター プレースホルダー 2">
            <a:extLst>
              <a:ext uri="{FF2B5EF4-FFF2-40B4-BE49-F238E27FC236}">
                <a16:creationId xmlns:a16="http://schemas.microsoft.com/office/drawing/2014/main" id="{1D6A8287-B6CC-1070-4BEB-4A2DFA73CA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D48E4B7-CCA9-C42D-CF0A-AAF94C5348A5}"/>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535798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2350BA-6F16-D01A-28B9-1FBAA1EAE5A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7ECA75-B6B6-33DB-A3AB-DA790E980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30B6D1F-ECB5-64B4-CA02-C5E20E099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87CC291-1B8C-6EAD-03D3-3B42C11C9FA0}"/>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6" name="フッター プレースホルダー 5">
            <a:extLst>
              <a:ext uri="{FF2B5EF4-FFF2-40B4-BE49-F238E27FC236}">
                <a16:creationId xmlns:a16="http://schemas.microsoft.com/office/drawing/2014/main" id="{70BFC536-DA14-18A8-18E0-3D19C503C6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C3C4AED-B208-2618-9133-EA44260BC3E2}"/>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4025135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EA117F-B017-9D48-6A99-A7A46108CC2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549628A-1835-4708-D57C-7F50758743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3A314EC-9D3D-2490-D8CF-0BFAD003F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EF15990-CFC2-3C8C-2086-D4EBA932D4FC}"/>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6" name="フッター プレースホルダー 5">
            <a:extLst>
              <a:ext uri="{FF2B5EF4-FFF2-40B4-BE49-F238E27FC236}">
                <a16:creationId xmlns:a16="http://schemas.microsoft.com/office/drawing/2014/main" id="{338A1E6C-EE82-65B5-04B8-9936531F73E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A739A4D-F88A-535D-D0DD-62EF3CA5CBA1}"/>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1850861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BC5B3E-5BDD-EB04-CCD0-54BD957C620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5C78FAE-59A2-8A92-C43B-D1407279C6F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427ACEB-1173-4DD4-C4D8-619A7ED6644E}"/>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5" name="フッター プレースホルダー 4">
            <a:extLst>
              <a:ext uri="{FF2B5EF4-FFF2-40B4-BE49-F238E27FC236}">
                <a16:creationId xmlns:a16="http://schemas.microsoft.com/office/drawing/2014/main" id="{06FE634D-4F7F-E2DE-6D1E-44177D49457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8572855-864B-323D-3BC6-8D40670ACE03}"/>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2127968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F02A103-3FBB-3E68-9379-D670DBA717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C0C7A8F-71CA-2B00-019F-9812EFF9C63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B19C9A2-D263-4D0C-885E-CFC8D00421FE}"/>
              </a:ext>
            </a:extLst>
          </p:cNvPr>
          <p:cNvSpPr>
            <a:spLocks noGrp="1"/>
          </p:cNvSpPr>
          <p:nvPr>
            <p:ph type="dt" sz="half" idx="10"/>
          </p:nvPr>
        </p:nvSpPr>
        <p:spPr/>
        <p:txBody>
          <a:bodyPr/>
          <a:lstStyle/>
          <a:p>
            <a:fld id="{3C759DAC-3314-614C-A651-6CB810559FF0}" type="datetimeFigureOut">
              <a:rPr kumimoji="1" lang="ja-JP" altLang="en-US" smtClean="0"/>
              <a:t>2026/6/3</a:t>
            </a:fld>
            <a:endParaRPr kumimoji="1" lang="ja-JP" altLang="en-US"/>
          </a:p>
        </p:txBody>
      </p:sp>
      <p:sp>
        <p:nvSpPr>
          <p:cNvPr id="5" name="フッター プレースホルダー 4">
            <a:extLst>
              <a:ext uri="{FF2B5EF4-FFF2-40B4-BE49-F238E27FC236}">
                <a16:creationId xmlns:a16="http://schemas.microsoft.com/office/drawing/2014/main" id="{BF6EA820-B065-579E-715A-7C37BF3830A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2C0DF0-715D-07E9-BE20-B31C09FF6105}"/>
              </a:ext>
            </a:extLst>
          </p:cNvPr>
          <p:cNvSpPr>
            <a:spLocks noGrp="1"/>
          </p:cNvSpPr>
          <p:nvPr>
            <p:ph type="sldNum" sz="quarter" idx="12"/>
          </p:nvPr>
        </p:nvSpPr>
        <p:spPr/>
        <p:txBody>
          <a:body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2195805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51AD4E8-FE6E-9AAB-9B2B-7736A7E10D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E4E2D8-2DD9-C2B6-3BCD-8270FBA0DD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DE1E882-0A46-F328-02E2-AFBBB209A2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759DAC-3314-614C-A651-6CB810559FF0}" type="datetimeFigureOut">
              <a:rPr kumimoji="1" lang="ja-JP" altLang="en-US" smtClean="0"/>
              <a:t>2026/6/3</a:t>
            </a:fld>
            <a:endParaRPr kumimoji="1" lang="ja-JP" altLang="en-US"/>
          </a:p>
        </p:txBody>
      </p:sp>
      <p:sp>
        <p:nvSpPr>
          <p:cNvPr id="5" name="フッター プレースホルダー 4">
            <a:extLst>
              <a:ext uri="{FF2B5EF4-FFF2-40B4-BE49-F238E27FC236}">
                <a16:creationId xmlns:a16="http://schemas.microsoft.com/office/drawing/2014/main" id="{3DE2C19B-44D7-FF04-D14E-01B9A8423D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FBAB65A-8F99-506B-6092-F5A2F02937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7051B0-2577-0942-889E-B933E33E6907}" type="slidenum">
              <a:rPr kumimoji="1" lang="ja-JP" altLang="en-US" smtClean="0"/>
              <a:t>‹#›</a:t>
            </a:fld>
            <a:endParaRPr kumimoji="1" lang="ja-JP" altLang="en-US"/>
          </a:p>
        </p:txBody>
      </p:sp>
    </p:spTree>
    <p:extLst>
      <p:ext uri="{BB962C8B-B14F-4D97-AF65-F5344CB8AC3E}">
        <p14:creationId xmlns:p14="http://schemas.microsoft.com/office/powerpoint/2010/main" val="1862079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B2482-C20A-5103-3084-A39F0BB3CB1B}"/>
              </a:ext>
            </a:extLst>
          </p:cNvPr>
          <p:cNvSpPr>
            <a:spLocks noGrp="1"/>
          </p:cNvSpPr>
          <p:nvPr>
            <p:ph type="ctrTitle"/>
          </p:nvPr>
        </p:nvSpPr>
        <p:spPr>
          <a:xfrm>
            <a:off x="1603023" y="2543263"/>
            <a:ext cx="9144000" cy="1771474"/>
          </a:xfrm>
        </p:spPr>
        <p:txBody>
          <a:bodyPr/>
          <a:lstStyle/>
          <a:p>
            <a:r>
              <a:rPr kumimoji="1" lang="ja-JP" altLang="en-US" b="1">
                <a:latin typeface="Hiragino Maru Gothic Pro W4" panose="020F0400000000000000" pitchFamily="34" charset="-128"/>
                <a:ea typeface="Hiragino Maru Gothic Pro W4" panose="020F0400000000000000" pitchFamily="34" charset="-128"/>
              </a:rPr>
              <a:t>第二回</a:t>
            </a:r>
            <a:br>
              <a:rPr kumimoji="1" lang="en-US" altLang="ja-JP" b="1" dirty="0">
                <a:latin typeface="Hiragino Maru Gothic Pro W4" panose="020F0400000000000000" pitchFamily="34" charset="-128"/>
                <a:ea typeface="Hiragino Maru Gothic Pro W4" panose="020F0400000000000000" pitchFamily="34" charset="-128"/>
              </a:rPr>
            </a:br>
            <a:r>
              <a:rPr kumimoji="1" lang="en-US" altLang="ja-JP" b="1" dirty="0">
                <a:latin typeface="Hiragino Maru Gothic Pro W4" panose="020F0400000000000000" pitchFamily="34" charset="-128"/>
                <a:ea typeface="Hiragino Maru Gothic Pro W4" panose="020F0400000000000000" pitchFamily="34" charset="-128"/>
              </a:rPr>
              <a:t>Python</a:t>
            </a:r>
            <a:r>
              <a:rPr kumimoji="1" lang="ja-JP" altLang="en-US" b="1">
                <a:latin typeface="Hiragino Maru Gothic Pro W4" panose="020F0400000000000000" pitchFamily="34" charset="-128"/>
                <a:ea typeface="Hiragino Maru Gothic Pro W4" panose="020F0400000000000000" pitchFamily="34" charset="-128"/>
              </a:rPr>
              <a:t>セミナー</a:t>
            </a:r>
          </a:p>
        </p:txBody>
      </p:sp>
    </p:spTree>
    <p:extLst>
      <p:ext uri="{BB962C8B-B14F-4D97-AF65-F5344CB8AC3E}">
        <p14:creationId xmlns:p14="http://schemas.microsoft.com/office/powerpoint/2010/main" val="1866667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881C7-F5D9-C9CD-8C5B-32D3C19AE388}"/>
            </a:ext>
          </a:extLst>
        </p:cNvPr>
        <p:cNvGrpSpPr/>
        <p:nvPr/>
      </p:nvGrpSpPr>
      <p:grpSpPr>
        <a:xfrm>
          <a:off x="0" y="0"/>
          <a:ext cx="0" cy="0"/>
          <a:chOff x="0" y="0"/>
          <a:chExt cx="0" cy="0"/>
        </a:xfrm>
      </p:grpSpPr>
      <p:sp>
        <p:nvSpPr>
          <p:cNvPr id="12" name="TextBox 12">
            <a:extLst>
              <a:ext uri="{FF2B5EF4-FFF2-40B4-BE49-F238E27FC236}">
                <a16:creationId xmlns:a16="http://schemas.microsoft.com/office/drawing/2014/main" id="{D18E3D4A-F0C1-CCBB-DBB9-26D2901A58B0}"/>
              </a:ext>
            </a:extLst>
          </p:cNvPr>
          <p:cNvSpPr txBox="1"/>
          <p:nvPr/>
        </p:nvSpPr>
        <p:spPr>
          <a:xfrm>
            <a:off x="203344" y="177626"/>
            <a:ext cx="10119855" cy="538609"/>
          </a:xfrm>
          <a:prstGeom prst="rect">
            <a:avLst/>
          </a:prstGeom>
        </p:spPr>
        <p:txBody>
          <a:bodyPr wrap="square" lIns="0" tIns="0" rIns="0" bIns="0" rtlCol="0" anchor="t">
            <a:spAutoFit/>
          </a:bodyPr>
          <a:lstStyle/>
          <a:p>
            <a:pPr>
              <a:lnSpc>
                <a:spcPts val="4200"/>
              </a:lnSpc>
            </a:pPr>
            <a:r>
              <a:rPr lang="ja-JP" altLang="en-US" sz="3600">
                <a:latin typeface="Hiragino Maru Gothic Pro W4" panose="020F0400000000000000" pitchFamily="34" charset="-128"/>
                <a:ea typeface="Hiragino Maru Gothic Pro W4" panose="020F0400000000000000" pitchFamily="34" charset="-128"/>
              </a:rPr>
              <a:t>マテリアルズ</a:t>
            </a:r>
            <a:r>
              <a:rPr lang="en-US" altLang="ja-JP" sz="3600" dirty="0">
                <a:latin typeface="Hiragino Maru Gothic Pro W4" panose="020F0400000000000000" pitchFamily="34" charset="-128"/>
                <a:ea typeface="Hiragino Maru Gothic Pro W4" panose="020F0400000000000000" pitchFamily="34" charset="-128"/>
              </a:rPr>
              <a:t>•</a:t>
            </a:r>
            <a:r>
              <a:rPr lang="ja-JP" altLang="en-US" sz="3600">
                <a:latin typeface="Hiragino Maru Gothic Pro W4" panose="020F0400000000000000" pitchFamily="34" charset="-128"/>
                <a:ea typeface="Hiragino Maru Gothic Pro W4" panose="020F0400000000000000" pitchFamily="34" charset="-128"/>
              </a:rPr>
              <a:t>インフォマティクスについて</a:t>
            </a:r>
          </a:p>
        </p:txBody>
      </p:sp>
      <p:sp>
        <p:nvSpPr>
          <p:cNvPr id="9" name="テキスト ボックス 8">
            <a:extLst>
              <a:ext uri="{FF2B5EF4-FFF2-40B4-BE49-F238E27FC236}">
                <a16:creationId xmlns:a16="http://schemas.microsoft.com/office/drawing/2014/main" id="{E71E7FA1-0099-C1C2-61FE-AF8FF4C93809}"/>
              </a:ext>
            </a:extLst>
          </p:cNvPr>
          <p:cNvSpPr txBox="1"/>
          <p:nvPr/>
        </p:nvSpPr>
        <p:spPr>
          <a:xfrm>
            <a:off x="203344" y="829803"/>
            <a:ext cx="11785312" cy="1384995"/>
          </a:xfrm>
          <a:prstGeom prst="rect">
            <a:avLst/>
          </a:prstGeom>
          <a:noFill/>
        </p:spPr>
        <p:txBody>
          <a:bodyPr wrap="square" rtlCol="0">
            <a:spAutoFit/>
          </a:bodyPr>
          <a:lstStyle/>
          <a:p>
            <a:r>
              <a:rPr lang="en-US" altLang="ja-JP" sz="2400" dirty="0">
                <a:latin typeface="Hiragino Maru Gothic Pro W4" panose="020F0400000000000000" pitchFamily="34" charset="-128"/>
                <a:ea typeface="Hiragino Maru Gothic Pro W4" panose="020F0400000000000000" pitchFamily="34" charset="-128"/>
              </a:rPr>
              <a:t>AI</a:t>
            </a:r>
            <a:r>
              <a:rPr lang="ja-JP" altLang="en-US" sz="2400">
                <a:latin typeface="Hiragino Maru Gothic Pro W4" panose="020F0400000000000000" pitchFamily="34" charset="-128"/>
                <a:ea typeface="Hiragino Maru Gothic Pro W4" panose="020F0400000000000000" pitchFamily="34" charset="-128"/>
              </a:rPr>
              <a:t>や機械学習</a:t>
            </a:r>
            <a:r>
              <a:rPr lang="en-US" altLang="ja-JP" sz="2400" baseline="30000" dirty="0">
                <a:latin typeface="Hiragino Maru Gothic Pro W4" panose="020F0400000000000000" pitchFamily="34" charset="-128"/>
                <a:ea typeface="Hiragino Maru Gothic Pro W4" panose="020F0400000000000000" pitchFamily="34" charset="-128"/>
              </a:rPr>
              <a:t>※</a:t>
            </a:r>
            <a:r>
              <a:rPr lang="ja-JP" altLang="en-US" sz="2400" baseline="30000">
                <a:latin typeface="Hiragino Maru Gothic Pro W4" panose="020F0400000000000000" pitchFamily="34" charset="-128"/>
                <a:ea typeface="Hiragino Maru Gothic Pro W4" panose="020F0400000000000000" pitchFamily="34" charset="-128"/>
              </a:rPr>
              <a:t>）</a:t>
            </a:r>
            <a:r>
              <a:rPr lang="ja-JP" altLang="en-US" sz="2400">
                <a:latin typeface="Hiragino Maru Gothic Pro W4" panose="020F0400000000000000" pitchFamily="34" charset="-128"/>
                <a:ea typeface="Hiragino Maru Gothic Pro W4" panose="020F0400000000000000" pitchFamily="34" charset="-128"/>
              </a:rPr>
              <a:t>など情報科学の技術を活用して、新しい材料の開発を効率化を図るための手法のことです。</a:t>
            </a:r>
            <a:endParaRPr kumimoji="1" lang="en-US" altLang="ja-JP" dirty="0"/>
          </a:p>
          <a:p>
            <a:r>
              <a:rPr lang="en-US" altLang="ja-JP" dirty="0"/>
              <a:t>※</a:t>
            </a:r>
            <a:r>
              <a:rPr lang="ja-JP" altLang="en-US"/>
              <a:t>機械学習</a:t>
            </a:r>
            <a:r>
              <a:rPr lang="en-US" altLang="ja-JP" dirty="0"/>
              <a:t> (Machine Learning) : AI</a:t>
            </a:r>
            <a:r>
              <a:rPr lang="ja-JP" altLang="en-US"/>
              <a:t>が大量のデータを読み込んで自ら学習し、ルールやパターンを発見する技術や手法のこと。学習の結果明らかになったパターンを当てはめることで、精度の高い将来予測が可能となる。</a:t>
            </a:r>
            <a:endParaRPr lang="en-US" altLang="ja-JP" dirty="0"/>
          </a:p>
        </p:txBody>
      </p:sp>
      <p:sp>
        <p:nvSpPr>
          <p:cNvPr id="11" name="下矢印 10">
            <a:extLst>
              <a:ext uri="{FF2B5EF4-FFF2-40B4-BE49-F238E27FC236}">
                <a16:creationId xmlns:a16="http://schemas.microsoft.com/office/drawing/2014/main" id="{F5277D25-0CBE-956D-9BE9-A6A207024E1C}"/>
              </a:ext>
            </a:extLst>
          </p:cNvPr>
          <p:cNvSpPr/>
          <p:nvPr/>
        </p:nvSpPr>
        <p:spPr>
          <a:xfrm rot="16200000">
            <a:off x="3287939" y="4600627"/>
            <a:ext cx="184929" cy="13999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0" name="グループ化 39">
            <a:extLst>
              <a:ext uri="{FF2B5EF4-FFF2-40B4-BE49-F238E27FC236}">
                <a16:creationId xmlns:a16="http://schemas.microsoft.com/office/drawing/2014/main" id="{8FC956B7-B126-B776-7267-EA12F7C8A7B6}"/>
              </a:ext>
            </a:extLst>
          </p:cNvPr>
          <p:cNvGrpSpPr/>
          <p:nvPr/>
        </p:nvGrpSpPr>
        <p:grpSpPr>
          <a:xfrm>
            <a:off x="635352" y="2214798"/>
            <a:ext cx="11408105" cy="4575851"/>
            <a:chOff x="635352" y="2214798"/>
            <a:chExt cx="11408105" cy="4575851"/>
          </a:xfrm>
        </p:grpSpPr>
        <p:grpSp>
          <p:nvGrpSpPr>
            <p:cNvPr id="39" name="グループ化 38">
              <a:extLst>
                <a:ext uri="{FF2B5EF4-FFF2-40B4-BE49-F238E27FC236}">
                  <a16:creationId xmlns:a16="http://schemas.microsoft.com/office/drawing/2014/main" id="{61F03C89-1143-EC60-08EB-BA65F04AEF43}"/>
                </a:ext>
              </a:extLst>
            </p:cNvPr>
            <p:cNvGrpSpPr/>
            <p:nvPr/>
          </p:nvGrpSpPr>
          <p:grpSpPr>
            <a:xfrm>
              <a:off x="7804139" y="3178380"/>
              <a:ext cx="3752509" cy="1309841"/>
              <a:chOff x="7785021" y="3139685"/>
              <a:chExt cx="3752509" cy="1309841"/>
            </a:xfrm>
          </p:grpSpPr>
          <p:sp>
            <p:nvSpPr>
              <p:cNvPr id="32" name="四角形吹き出し 31">
                <a:extLst>
                  <a:ext uri="{FF2B5EF4-FFF2-40B4-BE49-F238E27FC236}">
                    <a16:creationId xmlns:a16="http://schemas.microsoft.com/office/drawing/2014/main" id="{5E09FA54-1D75-ED5F-E445-C86B68AB12A5}"/>
                  </a:ext>
                </a:extLst>
              </p:cNvPr>
              <p:cNvSpPr/>
              <p:nvPr/>
            </p:nvSpPr>
            <p:spPr>
              <a:xfrm>
                <a:off x="7785021" y="3139685"/>
                <a:ext cx="3752509" cy="1309841"/>
              </a:xfrm>
              <a:prstGeom prst="wedgeRectCallout">
                <a:avLst>
                  <a:gd name="adj1" fmla="val -31528"/>
                  <a:gd name="adj2" fmla="val 8215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CAD80BA-1C52-7AB8-B37F-E610C82BB580}"/>
                  </a:ext>
                </a:extLst>
              </p:cNvPr>
              <p:cNvSpPr txBox="1"/>
              <p:nvPr/>
            </p:nvSpPr>
            <p:spPr>
              <a:xfrm>
                <a:off x="7980118" y="3273911"/>
                <a:ext cx="3445933" cy="1107996"/>
              </a:xfrm>
              <a:prstGeom prst="rect">
                <a:avLst/>
              </a:prstGeom>
              <a:noFill/>
            </p:spPr>
            <p:txBody>
              <a:bodyPr wrap="square" rtlCol="0">
                <a:spAutoFit/>
              </a:bodyPr>
              <a:lstStyle/>
              <a:p>
                <a:r>
                  <a:rPr kumimoji="1" lang="ja-JP" altLang="en-US" sz="2200">
                    <a:latin typeface="Hiragino Maru Gothic Pro W4" panose="020F0400000000000000" pitchFamily="34" charset="-128"/>
                    <a:ea typeface="Hiragino Maru Gothic Pro W4" panose="020F0400000000000000" pitchFamily="34" charset="-128"/>
                  </a:rPr>
                  <a:t>材料の構造や組成から機能や特性を予測する</a:t>
                </a:r>
                <a:endParaRPr kumimoji="1" lang="en-US" altLang="ja-JP" sz="2200" dirty="0">
                  <a:latin typeface="Hiragino Maru Gothic Pro W4" panose="020F0400000000000000" pitchFamily="34" charset="-128"/>
                  <a:ea typeface="Hiragino Maru Gothic Pro W4" panose="020F0400000000000000" pitchFamily="34" charset="-128"/>
                </a:endParaRPr>
              </a:p>
              <a:p>
                <a:r>
                  <a:rPr kumimoji="1" lang="ja-JP" altLang="en-US" sz="2200">
                    <a:latin typeface="Hiragino Maru Gothic Pro W4" panose="020F0400000000000000" pitchFamily="34" charset="-128"/>
                    <a:ea typeface="Hiragino Maru Gothic Pro W4" panose="020F0400000000000000" pitchFamily="34" charset="-128"/>
                  </a:rPr>
                  <a:t> </a:t>
                </a:r>
                <a:r>
                  <a:rPr kumimoji="1" lang="en-US" altLang="ja-JP" sz="2200" dirty="0">
                    <a:latin typeface="Hiragino Maru Gothic Pro W4" panose="020F0400000000000000" pitchFamily="34" charset="-128"/>
                    <a:ea typeface="Hiragino Maru Gothic Pro W4" panose="020F0400000000000000" pitchFamily="34" charset="-128"/>
                  </a:rPr>
                  <a:t>(</a:t>
                </a:r>
                <a:r>
                  <a:rPr kumimoji="1" lang="ja-JP" altLang="en-US" sz="2200">
                    <a:latin typeface="Hiragino Maru Gothic Pro W4" panose="020F0400000000000000" pitchFamily="34" charset="-128"/>
                    <a:ea typeface="Hiragino Maru Gothic Pro W4" panose="020F0400000000000000" pitchFamily="34" charset="-128"/>
                  </a:rPr>
                  <a:t>順解析</a:t>
                </a:r>
                <a:r>
                  <a:rPr kumimoji="1" lang="en-US" altLang="ja-JP" sz="2200" dirty="0">
                    <a:latin typeface="Hiragino Maru Gothic Pro W4" panose="020F0400000000000000" pitchFamily="34" charset="-128"/>
                    <a:ea typeface="Hiragino Maru Gothic Pro W4" panose="020F0400000000000000" pitchFamily="34" charset="-128"/>
                  </a:rPr>
                  <a:t>)</a:t>
                </a:r>
                <a:endParaRPr kumimoji="1" lang="ja-JP" altLang="en-US" sz="2200">
                  <a:latin typeface="Hiragino Maru Gothic Pro W4" panose="020F0400000000000000" pitchFamily="34" charset="-128"/>
                  <a:ea typeface="Hiragino Maru Gothic Pro W4" panose="020F0400000000000000" pitchFamily="34" charset="-128"/>
                </a:endParaRPr>
              </a:p>
            </p:txBody>
          </p:sp>
        </p:grpSp>
        <p:grpSp>
          <p:nvGrpSpPr>
            <p:cNvPr id="36" name="グループ化 35">
              <a:extLst>
                <a:ext uri="{FF2B5EF4-FFF2-40B4-BE49-F238E27FC236}">
                  <a16:creationId xmlns:a16="http://schemas.microsoft.com/office/drawing/2014/main" id="{C38D75D4-93B8-41C1-1D95-0F6319D7D5B9}"/>
                </a:ext>
              </a:extLst>
            </p:cNvPr>
            <p:cNvGrpSpPr/>
            <p:nvPr/>
          </p:nvGrpSpPr>
          <p:grpSpPr>
            <a:xfrm>
              <a:off x="635352" y="2214798"/>
              <a:ext cx="11408105" cy="4575851"/>
              <a:chOff x="654470" y="2307886"/>
              <a:chExt cx="11408105" cy="4575851"/>
            </a:xfrm>
          </p:grpSpPr>
          <p:grpSp>
            <p:nvGrpSpPr>
              <p:cNvPr id="24" name="グループ化 23">
                <a:extLst>
                  <a:ext uri="{FF2B5EF4-FFF2-40B4-BE49-F238E27FC236}">
                    <a16:creationId xmlns:a16="http://schemas.microsoft.com/office/drawing/2014/main" id="{A006E089-421E-9992-F94D-257A0EC85E44}"/>
                  </a:ext>
                </a:extLst>
              </p:cNvPr>
              <p:cNvGrpSpPr/>
              <p:nvPr/>
            </p:nvGrpSpPr>
            <p:grpSpPr>
              <a:xfrm>
                <a:off x="654470" y="2307886"/>
                <a:ext cx="11408105" cy="4575851"/>
                <a:chOff x="654470" y="2240267"/>
                <a:chExt cx="11408105" cy="4575851"/>
              </a:xfrm>
            </p:grpSpPr>
            <p:pic>
              <p:nvPicPr>
                <p:cNvPr id="21" name="グラフィックス 20" descr="散布図 枠線">
                  <a:extLst>
                    <a:ext uri="{FF2B5EF4-FFF2-40B4-BE49-F238E27FC236}">
                      <a16:creationId xmlns:a16="http://schemas.microsoft.com/office/drawing/2014/main" id="{DE3BCC6A-F85F-E3E1-FEA1-0AAD1672E8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61275" y="4656690"/>
                  <a:ext cx="1592146" cy="1592146"/>
                </a:xfrm>
                <a:prstGeom prst="rect">
                  <a:avLst/>
                </a:prstGeom>
              </p:spPr>
            </p:pic>
            <p:grpSp>
              <p:nvGrpSpPr>
                <p:cNvPr id="7" name="グループ化 6">
                  <a:extLst>
                    <a:ext uri="{FF2B5EF4-FFF2-40B4-BE49-F238E27FC236}">
                      <a16:creationId xmlns:a16="http://schemas.microsoft.com/office/drawing/2014/main" id="{A663E2DD-8711-6DB8-B34B-86B12AB8C995}"/>
                    </a:ext>
                  </a:extLst>
                </p:cNvPr>
                <p:cNvGrpSpPr/>
                <p:nvPr/>
              </p:nvGrpSpPr>
              <p:grpSpPr>
                <a:xfrm>
                  <a:off x="654470" y="2240267"/>
                  <a:ext cx="11408105" cy="4575851"/>
                  <a:chOff x="787399" y="1816658"/>
                  <a:chExt cx="11408105" cy="4673412"/>
                </a:xfrm>
              </p:grpSpPr>
              <p:sp>
                <p:nvSpPr>
                  <p:cNvPr id="19" name="下矢印 18">
                    <a:extLst>
                      <a:ext uri="{FF2B5EF4-FFF2-40B4-BE49-F238E27FC236}">
                        <a16:creationId xmlns:a16="http://schemas.microsoft.com/office/drawing/2014/main" id="{368154E9-29A9-9045-1E15-7382442FB1DA}"/>
                      </a:ext>
                    </a:extLst>
                  </p:cNvPr>
                  <p:cNvSpPr/>
                  <p:nvPr/>
                </p:nvSpPr>
                <p:spPr>
                  <a:xfrm>
                    <a:off x="5147732" y="3553145"/>
                    <a:ext cx="1896533" cy="740778"/>
                  </a:xfrm>
                  <a:prstGeom prst="downArrow">
                    <a:avLst>
                      <a:gd name="adj1" fmla="val 50000"/>
                      <a:gd name="adj2" fmla="val 4504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グラフィックス 22" descr="ビーカー 枠線">
                    <a:extLst>
                      <a:ext uri="{FF2B5EF4-FFF2-40B4-BE49-F238E27FC236}">
                        <a16:creationId xmlns:a16="http://schemas.microsoft.com/office/drawing/2014/main" id="{FA47284C-D3F5-7564-4003-79285F5BF3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50402" y="1816658"/>
                    <a:ext cx="1219200" cy="1219200"/>
                  </a:xfrm>
                  <a:prstGeom prst="rect">
                    <a:avLst/>
                  </a:prstGeom>
                </p:spPr>
              </p:pic>
              <p:pic>
                <p:nvPicPr>
                  <p:cNvPr id="25" name="グラフィックス 24" descr="試験管 枠線">
                    <a:extLst>
                      <a:ext uri="{FF2B5EF4-FFF2-40B4-BE49-F238E27FC236}">
                        <a16:creationId xmlns:a16="http://schemas.microsoft.com/office/drawing/2014/main" id="{9ED9BBF1-7278-D045-33B4-0C314E189B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81482" y="2140793"/>
                    <a:ext cx="914400" cy="914400"/>
                  </a:xfrm>
                  <a:prstGeom prst="rect">
                    <a:avLst/>
                  </a:prstGeom>
                </p:spPr>
              </p:pic>
              <p:sp>
                <p:nvSpPr>
                  <p:cNvPr id="26" name="テキスト ボックス 25">
                    <a:extLst>
                      <a:ext uri="{FF2B5EF4-FFF2-40B4-BE49-F238E27FC236}">
                        <a16:creationId xmlns:a16="http://schemas.microsoft.com/office/drawing/2014/main" id="{BB263065-A864-5083-35C8-3F93BCD40BAC}"/>
                      </a:ext>
                    </a:extLst>
                  </p:cNvPr>
                  <p:cNvSpPr txBox="1"/>
                  <p:nvPr/>
                </p:nvSpPr>
                <p:spPr>
                  <a:xfrm>
                    <a:off x="5699633" y="3635897"/>
                    <a:ext cx="800219" cy="461665"/>
                  </a:xfrm>
                  <a:prstGeom prst="rect">
                    <a:avLst/>
                  </a:prstGeom>
                  <a:noFill/>
                </p:spPr>
                <p:txBody>
                  <a:bodyPr wrap="none" rtlCol="0">
                    <a:spAutoFit/>
                  </a:bodyPr>
                  <a:lstStyle/>
                  <a:p>
                    <a:r>
                      <a:rPr kumimoji="1" lang="ja-JP" altLang="en-US" sz="2400">
                        <a:latin typeface="Hiragino Maru Gothic Pro W4" panose="020F0400000000000000" pitchFamily="34" charset="-128"/>
                        <a:ea typeface="Hiragino Maru Gothic Pro W4" panose="020F0400000000000000" pitchFamily="34" charset="-128"/>
                      </a:rPr>
                      <a:t>学習</a:t>
                    </a:r>
                  </a:p>
                </p:txBody>
              </p:sp>
              <p:grpSp>
                <p:nvGrpSpPr>
                  <p:cNvPr id="34" name="グループ化 33">
                    <a:extLst>
                      <a:ext uri="{FF2B5EF4-FFF2-40B4-BE49-F238E27FC236}">
                        <a16:creationId xmlns:a16="http://schemas.microsoft.com/office/drawing/2014/main" id="{084F08C7-788F-C90B-FBC1-02C3A5699ED4}"/>
                      </a:ext>
                    </a:extLst>
                  </p:cNvPr>
                  <p:cNvGrpSpPr/>
                  <p:nvPr/>
                </p:nvGrpSpPr>
                <p:grpSpPr>
                  <a:xfrm>
                    <a:off x="787399" y="2750580"/>
                    <a:ext cx="11408105" cy="3739490"/>
                    <a:chOff x="819491" y="2445396"/>
                    <a:chExt cx="11408105" cy="3739490"/>
                  </a:xfrm>
                </p:grpSpPr>
                <p:pic>
                  <p:nvPicPr>
                    <p:cNvPr id="13" name="図 12" descr="図形 が含まれている画像&#10;&#10;AI 生成コンテンツは誤りを含む可能性があります。">
                      <a:extLst>
                        <a:ext uri="{FF2B5EF4-FFF2-40B4-BE49-F238E27FC236}">
                          <a16:creationId xmlns:a16="http://schemas.microsoft.com/office/drawing/2014/main" id="{C7316CF4-8B8B-4611-700B-DD453046AB2C}"/>
                        </a:ext>
                      </a:extLst>
                    </p:cNvPr>
                    <p:cNvPicPr>
                      <a:picLocks noChangeAspect="1"/>
                    </p:cNvPicPr>
                    <p:nvPr/>
                  </p:nvPicPr>
                  <p:blipFill>
                    <a:blip r:embed="rId6"/>
                    <a:stretch>
                      <a:fillRect/>
                    </a:stretch>
                  </p:blipFill>
                  <p:spPr>
                    <a:xfrm>
                      <a:off x="946566" y="3962400"/>
                      <a:ext cx="1728900" cy="1402030"/>
                    </a:xfrm>
                    <a:prstGeom prst="rect">
                      <a:avLst/>
                    </a:prstGeom>
                  </p:spPr>
                </p:pic>
                <p:sp>
                  <p:nvSpPr>
                    <p:cNvPr id="14" name="フローチャート: 代替処理 13">
                      <a:extLst>
                        <a:ext uri="{FF2B5EF4-FFF2-40B4-BE49-F238E27FC236}">
                          <a16:creationId xmlns:a16="http://schemas.microsoft.com/office/drawing/2014/main" id="{C51FB4D4-75B4-E0BB-2550-E9FCA34495F4}"/>
                        </a:ext>
                      </a:extLst>
                    </p:cNvPr>
                    <p:cNvSpPr/>
                    <p:nvPr/>
                  </p:nvSpPr>
                  <p:spPr>
                    <a:xfrm>
                      <a:off x="4510119" y="4044873"/>
                      <a:ext cx="3427928" cy="2140013"/>
                    </a:xfrm>
                    <a:prstGeom prst="flowChartAlternateProces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下矢印 15">
                      <a:extLst>
                        <a:ext uri="{FF2B5EF4-FFF2-40B4-BE49-F238E27FC236}">
                          <a16:creationId xmlns:a16="http://schemas.microsoft.com/office/drawing/2014/main" id="{38B6B97C-994F-60E4-A10D-6D6244F59F53}"/>
                        </a:ext>
                      </a:extLst>
                    </p:cNvPr>
                    <p:cNvSpPr/>
                    <p:nvPr/>
                  </p:nvSpPr>
                  <p:spPr>
                    <a:xfrm rot="5400000">
                      <a:off x="3452333" y="4507346"/>
                      <a:ext cx="184929" cy="13999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19B8536E-DEE2-EB4B-C917-02635F129CCB}"/>
                        </a:ext>
                      </a:extLst>
                    </p:cNvPr>
                    <p:cNvSpPr txBox="1"/>
                    <p:nvPr/>
                  </p:nvSpPr>
                  <p:spPr>
                    <a:xfrm>
                      <a:off x="946566" y="5461530"/>
                      <a:ext cx="1723549" cy="461665"/>
                    </a:xfrm>
                    <a:prstGeom prst="rect">
                      <a:avLst/>
                    </a:prstGeom>
                    <a:noFill/>
                  </p:spPr>
                  <p:txBody>
                    <a:bodyPr wrap="none" rtlCol="0">
                      <a:spAutoFit/>
                    </a:bodyPr>
                    <a:lstStyle/>
                    <a:p>
                      <a:r>
                        <a:rPr kumimoji="1" lang="ja-JP" altLang="en-US" sz="2400">
                          <a:latin typeface="Hiragino Maru Gothic Pro W4" panose="020F0400000000000000" pitchFamily="34" charset="-128"/>
                          <a:ea typeface="Hiragino Maru Gothic Pro W4" panose="020F0400000000000000" pitchFamily="34" charset="-128"/>
                        </a:rPr>
                        <a:t>材料の候補</a:t>
                      </a:r>
                    </a:p>
                  </p:txBody>
                </p:sp>
                <p:sp>
                  <p:nvSpPr>
                    <p:cNvPr id="28" name="テキスト ボックス 27">
                      <a:extLst>
                        <a:ext uri="{FF2B5EF4-FFF2-40B4-BE49-F238E27FC236}">
                          <a16:creationId xmlns:a16="http://schemas.microsoft.com/office/drawing/2014/main" id="{782A0D37-8C98-6326-DA03-BBB73845772F}"/>
                        </a:ext>
                      </a:extLst>
                    </p:cNvPr>
                    <p:cNvSpPr txBox="1"/>
                    <p:nvPr/>
                  </p:nvSpPr>
                  <p:spPr>
                    <a:xfrm>
                      <a:off x="9580718" y="5520725"/>
                      <a:ext cx="2646878" cy="461665"/>
                    </a:xfrm>
                    <a:prstGeom prst="rect">
                      <a:avLst/>
                    </a:prstGeom>
                    <a:noFill/>
                  </p:spPr>
                  <p:txBody>
                    <a:bodyPr wrap="none" rtlCol="0">
                      <a:spAutoFit/>
                    </a:bodyPr>
                    <a:lstStyle/>
                    <a:p>
                      <a:r>
                        <a:rPr kumimoji="1" lang="ja-JP" altLang="en-US" sz="2400">
                          <a:latin typeface="Hiragino Maru Gothic Pro W4" panose="020F0400000000000000" pitchFamily="34" charset="-128"/>
                          <a:ea typeface="Hiragino Maru Gothic Pro W4" panose="020F0400000000000000" pitchFamily="34" charset="-128"/>
                        </a:rPr>
                        <a:t>物性値などを予測</a:t>
                      </a:r>
                    </a:p>
                  </p:txBody>
                </p:sp>
                <p:sp>
                  <p:nvSpPr>
                    <p:cNvPr id="29" name="テキスト ボックス 28">
                      <a:extLst>
                        <a:ext uri="{FF2B5EF4-FFF2-40B4-BE49-F238E27FC236}">
                          <a16:creationId xmlns:a16="http://schemas.microsoft.com/office/drawing/2014/main" id="{50553340-1570-42A8-93B2-3793FC09C64D}"/>
                        </a:ext>
                      </a:extLst>
                    </p:cNvPr>
                    <p:cNvSpPr txBox="1"/>
                    <p:nvPr/>
                  </p:nvSpPr>
                  <p:spPr>
                    <a:xfrm>
                      <a:off x="5044023" y="4097149"/>
                      <a:ext cx="2339102" cy="471508"/>
                    </a:xfrm>
                    <a:prstGeom prst="rect">
                      <a:avLst/>
                    </a:prstGeom>
                    <a:noFill/>
                  </p:spPr>
                  <p:txBody>
                    <a:bodyPr wrap="none" rtlCol="0">
                      <a:spAutoFit/>
                    </a:bodyPr>
                    <a:lstStyle/>
                    <a:p>
                      <a:r>
                        <a:rPr kumimoji="1" lang="ja-JP" altLang="en-US" sz="2400">
                          <a:latin typeface="Hiragino Maru Gothic Pro W4" panose="020F0400000000000000" pitchFamily="34" charset="-128"/>
                          <a:ea typeface="Hiragino Maru Gothic Pro W4" panose="020F0400000000000000" pitchFamily="34" charset="-128"/>
                        </a:rPr>
                        <a:t>機械学習モデル</a:t>
                      </a:r>
                    </a:p>
                  </p:txBody>
                </p:sp>
                <p:sp>
                  <p:nvSpPr>
                    <p:cNvPr id="30" name="四角形吹き出し 29">
                      <a:extLst>
                        <a:ext uri="{FF2B5EF4-FFF2-40B4-BE49-F238E27FC236}">
                          <a16:creationId xmlns:a16="http://schemas.microsoft.com/office/drawing/2014/main" id="{0AE92F3B-F767-B79F-1E87-16564EDC7618}"/>
                        </a:ext>
                      </a:extLst>
                    </p:cNvPr>
                    <p:cNvSpPr/>
                    <p:nvPr/>
                  </p:nvSpPr>
                  <p:spPr>
                    <a:xfrm>
                      <a:off x="819491" y="2445396"/>
                      <a:ext cx="3752509" cy="1309841"/>
                    </a:xfrm>
                    <a:prstGeom prst="wedgeRectCallout">
                      <a:avLst>
                        <a:gd name="adj1" fmla="val 23937"/>
                        <a:gd name="adj2" fmla="val 8305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891E0429-1B22-E22F-7A19-536BF02F55CB}"/>
                        </a:ext>
                      </a:extLst>
                    </p:cNvPr>
                    <p:cNvSpPr txBox="1"/>
                    <p:nvPr/>
                  </p:nvSpPr>
                  <p:spPr>
                    <a:xfrm>
                      <a:off x="973627" y="2534534"/>
                      <a:ext cx="3403678" cy="1107996"/>
                    </a:xfrm>
                    <a:prstGeom prst="rect">
                      <a:avLst/>
                    </a:prstGeom>
                    <a:noFill/>
                  </p:spPr>
                  <p:txBody>
                    <a:bodyPr wrap="square" rtlCol="0">
                      <a:spAutoFit/>
                    </a:bodyPr>
                    <a:lstStyle/>
                    <a:p>
                      <a:r>
                        <a:rPr kumimoji="1" lang="ja-JP" altLang="en-US" sz="2200">
                          <a:latin typeface="Hiragino Maru Gothic Pro W4" panose="020F0400000000000000" pitchFamily="34" charset="-128"/>
                          <a:ea typeface="Hiragino Maru Gothic Pro W4" panose="020F0400000000000000" pitchFamily="34" charset="-128"/>
                        </a:rPr>
                        <a:t>求められる機能や特性を満たす</a:t>
                      </a:r>
                      <a:r>
                        <a:rPr lang="ja-JP" altLang="en-US" sz="2200">
                          <a:latin typeface="Hiragino Maru Gothic Pro W4" panose="020F0400000000000000" pitchFamily="34" charset="-128"/>
                          <a:ea typeface="Hiragino Maru Gothic Pro W4" panose="020F0400000000000000" pitchFamily="34" charset="-128"/>
                        </a:rPr>
                        <a:t>材料の構造を予測する</a:t>
                      </a:r>
                      <a:r>
                        <a:rPr lang="en-US" altLang="ja-JP" sz="2200" dirty="0">
                          <a:latin typeface="Hiragino Maru Gothic Pro W4" panose="020F0400000000000000" pitchFamily="34" charset="-128"/>
                          <a:ea typeface="Hiragino Maru Gothic Pro W4" panose="020F0400000000000000" pitchFamily="34" charset="-128"/>
                        </a:rPr>
                        <a:t> (</a:t>
                      </a:r>
                      <a:r>
                        <a:rPr lang="ja-JP" altLang="en-US" sz="2200">
                          <a:latin typeface="Hiragino Maru Gothic Pro W4" panose="020F0400000000000000" pitchFamily="34" charset="-128"/>
                          <a:ea typeface="Hiragino Maru Gothic Pro W4" panose="020F0400000000000000" pitchFamily="34" charset="-128"/>
                        </a:rPr>
                        <a:t>逆解析</a:t>
                      </a:r>
                      <a:r>
                        <a:rPr lang="en-US" altLang="ja-JP" sz="2200" dirty="0">
                          <a:latin typeface="Hiragino Maru Gothic Pro W4" panose="020F0400000000000000" pitchFamily="34" charset="-128"/>
                          <a:ea typeface="Hiragino Maru Gothic Pro W4" panose="020F0400000000000000" pitchFamily="34" charset="-128"/>
                        </a:rPr>
                        <a:t>)</a:t>
                      </a:r>
                      <a:endParaRPr kumimoji="1" lang="ja-JP" altLang="en-US" sz="2200">
                        <a:latin typeface="Hiragino Maru Gothic Pro W4" panose="020F0400000000000000" pitchFamily="34" charset="-128"/>
                        <a:ea typeface="Hiragino Maru Gothic Pro W4" panose="020F0400000000000000" pitchFamily="34" charset="-128"/>
                      </a:endParaRPr>
                    </a:p>
                  </p:txBody>
                </p:sp>
              </p:grpSp>
              <p:sp>
                <p:nvSpPr>
                  <p:cNvPr id="35" name="テキスト ボックス 34">
                    <a:extLst>
                      <a:ext uri="{FF2B5EF4-FFF2-40B4-BE49-F238E27FC236}">
                        <a16:creationId xmlns:a16="http://schemas.microsoft.com/office/drawing/2014/main" id="{26268DAA-2732-3C6C-45E6-488A3EEE4A12}"/>
                      </a:ext>
                    </a:extLst>
                  </p:cNvPr>
                  <p:cNvSpPr txBox="1"/>
                  <p:nvPr/>
                </p:nvSpPr>
                <p:spPr>
                  <a:xfrm>
                    <a:off x="5362465" y="3080619"/>
                    <a:ext cx="1467068" cy="400110"/>
                  </a:xfrm>
                  <a:prstGeom prst="rect">
                    <a:avLst/>
                  </a:prstGeom>
                  <a:noFill/>
                </p:spPr>
                <p:txBody>
                  <a:bodyPr wrap="none" rtlCol="0">
                    <a:spAutoFit/>
                  </a:bodyPr>
                  <a:lstStyle/>
                  <a:p>
                    <a:r>
                      <a:rPr kumimoji="1" lang="ja-JP" altLang="en-US" sz="2000">
                        <a:latin typeface="Hiragino Maru Gothic Pro W4" panose="020F0400000000000000" pitchFamily="34" charset="-128"/>
                        <a:ea typeface="Hiragino Maru Gothic Pro W4" panose="020F0400000000000000" pitchFamily="34" charset="-128"/>
                      </a:rPr>
                      <a:t>実験データ</a:t>
                    </a:r>
                  </a:p>
                </p:txBody>
              </p:sp>
            </p:grpSp>
          </p:grpSp>
          <p:sp>
            <p:nvSpPr>
              <p:cNvPr id="10" name="下矢印 9">
                <a:extLst>
                  <a:ext uri="{FF2B5EF4-FFF2-40B4-BE49-F238E27FC236}">
                    <a16:creationId xmlns:a16="http://schemas.microsoft.com/office/drawing/2014/main" id="{F8868CCF-0CEE-E483-07A6-2CDE35C1552E}"/>
                  </a:ext>
                </a:extLst>
              </p:cNvPr>
              <p:cNvSpPr/>
              <p:nvPr/>
            </p:nvSpPr>
            <p:spPr>
              <a:xfrm rot="5400000">
                <a:off x="8473646" y="5317138"/>
                <a:ext cx="184929" cy="13999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下矢印 19">
                <a:extLst>
                  <a:ext uri="{FF2B5EF4-FFF2-40B4-BE49-F238E27FC236}">
                    <a16:creationId xmlns:a16="http://schemas.microsoft.com/office/drawing/2014/main" id="{0B09E248-AC2B-A5D5-02ED-839F55A5F9C2}"/>
                  </a:ext>
                </a:extLst>
              </p:cNvPr>
              <p:cNvSpPr/>
              <p:nvPr/>
            </p:nvSpPr>
            <p:spPr>
              <a:xfrm rot="16200000">
                <a:off x="8473647" y="4693715"/>
                <a:ext cx="184929" cy="13999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2" name="テキスト ボックス 41">
            <a:extLst>
              <a:ext uri="{FF2B5EF4-FFF2-40B4-BE49-F238E27FC236}">
                <a16:creationId xmlns:a16="http://schemas.microsoft.com/office/drawing/2014/main" id="{6EDAB4CD-3A86-C320-9316-7D718DA89741}"/>
              </a:ext>
            </a:extLst>
          </p:cNvPr>
          <p:cNvSpPr txBox="1"/>
          <p:nvPr/>
        </p:nvSpPr>
        <p:spPr>
          <a:xfrm>
            <a:off x="4557823" y="5185384"/>
            <a:ext cx="3106822" cy="1477328"/>
          </a:xfrm>
          <a:prstGeom prst="rect">
            <a:avLst/>
          </a:prstGeom>
          <a:noFill/>
        </p:spPr>
        <p:txBody>
          <a:bodyPr wrap="square" rtlCol="0">
            <a:spAutoFit/>
          </a:bodyPr>
          <a:lstStyle/>
          <a:p>
            <a:r>
              <a:rPr kumimoji="1" lang="ja-JP" altLang="en-US"/>
              <a:t>コンピューターに大量のデータを学習させることで、そこから予測や判断を行うための計算プログラムや関数。</a:t>
            </a:r>
          </a:p>
        </p:txBody>
      </p:sp>
    </p:spTree>
    <p:extLst>
      <p:ext uri="{BB962C8B-B14F-4D97-AF65-F5344CB8AC3E}">
        <p14:creationId xmlns:p14="http://schemas.microsoft.com/office/powerpoint/2010/main" val="3474099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D83DEBF-7183-BDDF-0E5E-57425C26FDAA}"/>
              </a:ext>
            </a:extLst>
          </p:cNvPr>
          <p:cNvSpPr txBox="1"/>
          <p:nvPr/>
        </p:nvSpPr>
        <p:spPr>
          <a:xfrm>
            <a:off x="162966" y="159489"/>
            <a:ext cx="5933034" cy="707886"/>
          </a:xfrm>
          <a:prstGeom prst="rect">
            <a:avLst/>
          </a:prstGeom>
          <a:noFill/>
        </p:spPr>
        <p:txBody>
          <a:bodyPr wrap="none" rtlCol="0">
            <a:spAutoFit/>
          </a:bodyPr>
          <a:lstStyle/>
          <a:p>
            <a:r>
              <a:rPr kumimoji="1" lang="ja-JP" altLang="en-US" sz="4000" b="1">
                <a:latin typeface="Hiragino Maru Gothic Pro W4" panose="020F0400000000000000" pitchFamily="34" charset="-128"/>
                <a:ea typeface="Hiragino Maru Gothic Pro W4" panose="020F0400000000000000" pitchFamily="34" charset="-128"/>
              </a:rPr>
              <a:t>機械学習の一連のフロー</a:t>
            </a:r>
          </a:p>
        </p:txBody>
      </p:sp>
      <p:sp>
        <p:nvSpPr>
          <p:cNvPr id="11" name="下矢印 10">
            <a:extLst>
              <a:ext uri="{FF2B5EF4-FFF2-40B4-BE49-F238E27FC236}">
                <a16:creationId xmlns:a16="http://schemas.microsoft.com/office/drawing/2014/main" id="{07CE00B7-60EA-3285-9684-5101753770B6}"/>
              </a:ext>
            </a:extLst>
          </p:cNvPr>
          <p:cNvSpPr/>
          <p:nvPr/>
        </p:nvSpPr>
        <p:spPr>
          <a:xfrm rot="16200000">
            <a:off x="1094294" y="2733970"/>
            <a:ext cx="1020726" cy="369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下矢印 14">
            <a:extLst>
              <a:ext uri="{FF2B5EF4-FFF2-40B4-BE49-F238E27FC236}">
                <a16:creationId xmlns:a16="http://schemas.microsoft.com/office/drawing/2014/main" id="{6530B49E-4DD9-FCD0-94B2-25E1878C9879}"/>
              </a:ext>
            </a:extLst>
          </p:cNvPr>
          <p:cNvSpPr/>
          <p:nvPr/>
        </p:nvSpPr>
        <p:spPr>
          <a:xfrm rot="16200000">
            <a:off x="7920934" y="2745623"/>
            <a:ext cx="1020726" cy="369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下矢印 15">
            <a:extLst>
              <a:ext uri="{FF2B5EF4-FFF2-40B4-BE49-F238E27FC236}">
                <a16:creationId xmlns:a16="http://schemas.microsoft.com/office/drawing/2014/main" id="{08486AEE-3D12-9687-7031-5498EDFD2BDE}"/>
              </a:ext>
            </a:extLst>
          </p:cNvPr>
          <p:cNvSpPr/>
          <p:nvPr/>
        </p:nvSpPr>
        <p:spPr>
          <a:xfrm rot="16200000">
            <a:off x="9646813" y="2759530"/>
            <a:ext cx="1020726" cy="369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DDA21BA8-0C3C-F45F-03EB-3200ACCB532F}"/>
              </a:ext>
            </a:extLst>
          </p:cNvPr>
          <p:cNvGrpSpPr/>
          <p:nvPr/>
        </p:nvGrpSpPr>
        <p:grpSpPr>
          <a:xfrm>
            <a:off x="519742" y="1651033"/>
            <a:ext cx="612953" cy="2394372"/>
            <a:chOff x="531628" y="1560939"/>
            <a:chExt cx="612953" cy="2394372"/>
          </a:xfrm>
        </p:grpSpPr>
        <p:sp>
          <p:nvSpPr>
            <p:cNvPr id="24" name="角丸四角形 23">
              <a:extLst>
                <a:ext uri="{FF2B5EF4-FFF2-40B4-BE49-F238E27FC236}">
                  <a16:creationId xmlns:a16="http://schemas.microsoft.com/office/drawing/2014/main" id="{648ECFF8-9C5E-2AEE-7FE3-1BFEC7BE33D2}"/>
                </a:ext>
              </a:extLst>
            </p:cNvPr>
            <p:cNvSpPr/>
            <p:nvPr/>
          </p:nvSpPr>
          <p:spPr>
            <a:xfrm>
              <a:off x="531628" y="1560939"/>
              <a:ext cx="612953" cy="23943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87CC73B4-4054-A387-CD8B-762D1DFE80EE}"/>
                </a:ext>
              </a:extLst>
            </p:cNvPr>
            <p:cNvSpPr txBox="1"/>
            <p:nvPr/>
          </p:nvSpPr>
          <p:spPr>
            <a:xfrm>
              <a:off x="584793" y="1634740"/>
              <a:ext cx="431899" cy="2246769"/>
            </a:xfrm>
            <a:prstGeom prst="rect">
              <a:avLst/>
            </a:prstGeom>
            <a:noFill/>
          </p:spPr>
          <p:txBody>
            <a:bodyPr wrap="square" rtlCol="0">
              <a:spAutoFit/>
            </a:bodyPr>
            <a:lstStyle/>
            <a:p>
              <a:r>
                <a:rPr kumimoji="1" lang="ja-JP" altLang="en-US" sz="2800">
                  <a:latin typeface="Hiragino Maru Gothic Pro W4" panose="020F0400000000000000" pitchFamily="34" charset="-128"/>
                  <a:ea typeface="Hiragino Maru Gothic Pro W4" panose="020F0400000000000000" pitchFamily="34" charset="-128"/>
                </a:rPr>
                <a:t>目的の設定</a:t>
              </a:r>
            </a:p>
          </p:txBody>
        </p:sp>
      </p:grpSp>
      <p:grpSp>
        <p:nvGrpSpPr>
          <p:cNvPr id="37" name="グループ化 36">
            <a:extLst>
              <a:ext uri="{FF2B5EF4-FFF2-40B4-BE49-F238E27FC236}">
                <a16:creationId xmlns:a16="http://schemas.microsoft.com/office/drawing/2014/main" id="{22D78779-C58E-2476-BB96-A875AA67FE3B}"/>
              </a:ext>
            </a:extLst>
          </p:cNvPr>
          <p:cNvGrpSpPr/>
          <p:nvPr/>
        </p:nvGrpSpPr>
        <p:grpSpPr>
          <a:xfrm>
            <a:off x="2079540" y="1450974"/>
            <a:ext cx="612953" cy="2794487"/>
            <a:chOff x="1867716" y="1619354"/>
            <a:chExt cx="612953" cy="2794487"/>
          </a:xfrm>
        </p:grpSpPr>
        <p:sp>
          <p:nvSpPr>
            <p:cNvPr id="25" name="角丸四角形 24">
              <a:extLst>
                <a:ext uri="{FF2B5EF4-FFF2-40B4-BE49-F238E27FC236}">
                  <a16:creationId xmlns:a16="http://schemas.microsoft.com/office/drawing/2014/main" id="{17EF9DE1-BEC7-44E0-1DDE-349494DE2E96}"/>
                </a:ext>
              </a:extLst>
            </p:cNvPr>
            <p:cNvSpPr/>
            <p:nvPr/>
          </p:nvSpPr>
          <p:spPr>
            <a:xfrm>
              <a:off x="1867716" y="1619354"/>
              <a:ext cx="612953" cy="279448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0753454-43E4-4B81-DEAC-583C2C63C4F1}"/>
                </a:ext>
              </a:extLst>
            </p:cNvPr>
            <p:cNvSpPr txBox="1"/>
            <p:nvPr/>
          </p:nvSpPr>
          <p:spPr>
            <a:xfrm>
              <a:off x="1909645" y="1677770"/>
              <a:ext cx="531375" cy="2677656"/>
            </a:xfrm>
            <a:prstGeom prst="rect">
              <a:avLst/>
            </a:prstGeom>
            <a:noFill/>
          </p:spPr>
          <p:txBody>
            <a:bodyPr wrap="square" rtlCol="0">
              <a:spAutoFit/>
            </a:bodyPr>
            <a:lstStyle/>
            <a:p>
              <a:r>
                <a:rPr lang="ja-JP" altLang="en-US" sz="2800">
                  <a:latin typeface="Hiragino Maru Gothic Pro W4" panose="020F0400000000000000" pitchFamily="34" charset="-128"/>
                  <a:ea typeface="Hiragino Maru Gothic Pro W4" panose="020F0400000000000000" pitchFamily="34" charset="-128"/>
                </a:rPr>
                <a:t>デ｜タ</a:t>
              </a:r>
              <a:r>
                <a:rPr kumimoji="1" lang="ja-JP" altLang="en-US" sz="2800">
                  <a:latin typeface="Hiragino Maru Gothic Pro W4" panose="020F0400000000000000" pitchFamily="34" charset="-128"/>
                  <a:ea typeface="Hiragino Maru Gothic Pro W4" panose="020F0400000000000000" pitchFamily="34" charset="-128"/>
                </a:rPr>
                <a:t>の収集</a:t>
              </a:r>
            </a:p>
          </p:txBody>
        </p:sp>
      </p:grpSp>
      <p:grpSp>
        <p:nvGrpSpPr>
          <p:cNvPr id="36" name="グループ化 35">
            <a:extLst>
              <a:ext uri="{FF2B5EF4-FFF2-40B4-BE49-F238E27FC236}">
                <a16:creationId xmlns:a16="http://schemas.microsoft.com/office/drawing/2014/main" id="{E72E9843-2B47-E985-2369-66E1B8F91A2C}"/>
              </a:ext>
            </a:extLst>
          </p:cNvPr>
          <p:cNvGrpSpPr/>
          <p:nvPr/>
        </p:nvGrpSpPr>
        <p:grpSpPr>
          <a:xfrm>
            <a:off x="5516179" y="1141301"/>
            <a:ext cx="652602" cy="3413832"/>
            <a:chOff x="3270579" y="1408295"/>
            <a:chExt cx="652602" cy="3413832"/>
          </a:xfrm>
        </p:grpSpPr>
        <p:sp>
          <p:nvSpPr>
            <p:cNvPr id="27" name="角丸四角形 26">
              <a:extLst>
                <a:ext uri="{FF2B5EF4-FFF2-40B4-BE49-F238E27FC236}">
                  <a16:creationId xmlns:a16="http://schemas.microsoft.com/office/drawing/2014/main" id="{29847AC3-4E43-28FC-F532-98BA8D3EB81A}"/>
                </a:ext>
              </a:extLst>
            </p:cNvPr>
            <p:cNvSpPr/>
            <p:nvPr/>
          </p:nvSpPr>
          <p:spPr>
            <a:xfrm>
              <a:off x="3270579" y="1408295"/>
              <a:ext cx="612953" cy="341383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DB696521-19DA-EC14-E5AB-6FC8DC31852E}"/>
                </a:ext>
              </a:extLst>
            </p:cNvPr>
            <p:cNvSpPr txBox="1"/>
            <p:nvPr/>
          </p:nvSpPr>
          <p:spPr>
            <a:xfrm flipH="1">
              <a:off x="3310228" y="1560940"/>
              <a:ext cx="612953" cy="3108543"/>
            </a:xfrm>
            <a:prstGeom prst="rect">
              <a:avLst/>
            </a:prstGeom>
            <a:noFill/>
          </p:spPr>
          <p:txBody>
            <a:bodyPr wrap="square" rtlCol="0">
              <a:spAutoFit/>
            </a:bodyPr>
            <a:lstStyle/>
            <a:p>
              <a:r>
                <a:rPr lang="ja-JP" altLang="en-US" sz="2800">
                  <a:latin typeface="Hiragino Maru Gothic Pro W4" panose="020F0400000000000000" pitchFamily="34" charset="-128"/>
                  <a:ea typeface="Hiragino Maru Gothic Pro W4" panose="020F0400000000000000" pitchFamily="34" charset="-128"/>
                </a:rPr>
                <a:t>デ｜タ</a:t>
              </a:r>
              <a:r>
                <a:rPr kumimoji="1" lang="ja-JP" altLang="en-US" sz="2800">
                  <a:latin typeface="Hiragino Maru Gothic Pro W4" panose="020F0400000000000000" pitchFamily="34" charset="-128"/>
                  <a:ea typeface="Hiragino Maru Gothic Pro W4" panose="020F0400000000000000" pitchFamily="34" charset="-128"/>
                </a:rPr>
                <a:t>の前処理</a:t>
              </a:r>
            </a:p>
          </p:txBody>
        </p:sp>
      </p:grpSp>
      <p:grpSp>
        <p:nvGrpSpPr>
          <p:cNvPr id="35" name="グループ化 34">
            <a:extLst>
              <a:ext uri="{FF2B5EF4-FFF2-40B4-BE49-F238E27FC236}">
                <a16:creationId xmlns:a16="http://schemas.microsoft.com/office/drawing/2014/main" id="{5B1D6C59-DEF5-FEF2-0A41-2EB8C3CC0C57}"/>
              </a:ext>
            </a:extLst>
          </p:cNvPr>
          <p:cNvGrpSpPr/>
          <p:nvPr/>
        </p:nvGrpSpPr>
        <p:grpSpPr>
          <a:xfrm>
            <a:off x="3726120" y="1062049"/>
            <a:ext cx="659550" cy="3828951"/>
            <a:chOff x="4752740" y="1147570"/>
            <a:chExt cx="659550" cy="3828951"/>
          </a:xfrm>
        </p:grpSpPr>
        <p:sp>
          <p:nvSpPr>
            <p:cNvPr id="28" name="角丸四角形 27">
              <a:extLst>
                <a:ext uri="{FF2B5EF4-FFF2-40B4-BE49-F238E27FC236}">
                  <a16:creationId xmlns:a16="http://schemas.microsoft.com/office/drawing/2014/main" id="{D8C7B0C3-90C3-35FD-12DB-303D927BA3F0}"/>
                </a:ext>
              </a:extLst>
            </p:cNvPr>
            <p:cNvSpPr/>
            <p:nvPr/>
          </p:nvSpPr>
          <p:spPr>
            <a:xfrm>
              <a:off x="4752740" y="1147570"/>
              <a:ext cx="612953" cy="382895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78AEEC4B-C533-8F66-70F2-38538CC74B57}"/>
                </a:ext>
              </a:extLst>
            </p:cNvPr>
            <p:cNvSpPr txBox="1"/>
            <p:nvPr/>
          </p:nvSpPr>
          <p:spPr>
            <a:xfrm>
              <a:off x="4799337" y="1233594"/>
              <a:ext cx="612953" cy="3539430"/>
            </a:xfrm>
            <a:prstGeom prst="rect">
              <a:avLst/>
            </a:prstGeom>
            <a:noFill/>
          </p:spPr>
          <p:txBody>
            <a:bodyPr wrap="square" rtlCol="0">
              <a:spAutoFit/>
            </a:bodyPr>
            <a:lstStyle/>
            <a:p>
              <a:r>
                <a:rPr kumimoji="1" lang="ja-JP" altLang="en-US" sz="2800">
                  <a:latin typeface="Hiragino Maru Gothic Pro W4" panose="020F0400000000000000" pitchFamily="34" charset="-128"/>
                  <a:ea typeface="Hiragino Maru Gothic Pro W4" panose="020F0400000000000000" pitchFamily="34" charset="-128"/>
                </a:rPr>
                <a:t>回帰か</a:t>
              </a:r>
              <a:r>
                <a:rPr lang="ja-JP" altLang="en-US" sz="2800">
                  <a:latin typeface="Hiragino Maru Gothic Pro W4" panose="020F0400000000000000" pitchFamily="34" charset="-128"/>
                  <a:ea typeface="Hiragino Maru Gothic Pro W4" panose="020F0400000000000000" pitchFamily="34" charset="-128"/>
                </a:rPr>
                <a:t>分類の選択</a:t>
              </a:r>
              <a:endParaRPr lang="en-US" altLang="ja-JP" sz="2800" dirty="0">
                <a:latin typeface="Hiragino Maru Gothic Pro W4" panose="020F0400000000000000" pitchFamily="34" charset="-128"/>
                <a:ea typeface="Hiragino Maru Gothic Pro W4" panose="020F0400000000000000" pitchFamily="34" charset="-128"/>
              </a:endParaRPr>
            </a:p>
          </p:txBody>
        </p:sp>
      </p:grpSp>
      <p:grpSp>
        <p:nvGrpSpPr>
          <p:cNvPr id="34" name="グループ化 33">
            <a:extLst>
              <a:ext uri="{FF2B5EF4-FFF2-40B4-BE49-F238E27FC236}">
                <a16:creationId xmlns:a16="http://schemas.microsoft.com/office/drawing/2014/main" id="{23AC4D11-A47D-280E-9828-D0D6AFC4DD98}"/>
              </a:ext>
            </a:extLst>
          </p:cNvPr>
          <p:cNvGrpSpPr/>
          <p:nvPr/>
        </p:nvGrpSpPr>
        <p:grpSpPr>
          <a:xfrm>
            <a:off x="7242057" y="1567804"/>
            <a:ext cx="652602" cy="2677657"/>
            <a:chOff x="6336150" y="1677769"/>
            <a:chExt cx="652602" cy="2677657"/>
          </a:xfrm>
        </p:grpSpPr>
        <p:sp>
          <p:nvSpPr>
            <p:cNvPr id="29" name="角丸四角形 28">
              <a:extLst>
                <a:ext uri="{FF2B5EF4-FFF2-40B4-BE49-F238E27FC236}">
                  <a16:creationId xmlns:a16="http://schemas.microsoft.com/office/drawing/2014/main" id="{9CDC4ABB-E358-B2F4-AE88-017F9206D72F}"/>
                </a:ext>
              </a:extLst>
            </p:cNvPr>
            <p:cNvSpPr/>
            <p:nvPr/>
          </p:nvSpPr>
          <p:spPr>
            <a:xfrm>
              <a:off x="6336150" y="1677769"/>
              <a:ext cx="612953" cy="26776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C6189D6B-D770-2DBD-2BC8-E14824666E8D}"/>
                </a:ext>
              </a:extLst>
            </p:cNvPr>
            <p:cNvSpPr txBox="1"/>
            <p:nvPr/>
          </p:nvSpPr>
          <p:spPr>
            <a:xfrm>
              <a:off x="6375799" y="1677770"/>
              <a:ext cx="612953" cy="2677656"/>
            </a:xfrm>
            <a:prstGeom prst="rect">
              <a:avLst/>
            </a:prstGeom>
            <a:noFill/>
          </p:spPr>
          <p:txBody>
            <a:bodyPr wrap="square" rtlCol="0">
              <a:spAutoFit/>
            </a:bodyPr>
            <a:lstStyle/>
            <a:p>
              <a:r>
                <a:rPr kumimoji="1" lang="ja-JP" altLang="en-US" sz="2800">
                  <a:latin typeface="Hiragino Maru Gothic Pro W4" panose="020F0400000000000000" pitchFamily="34" charset="-128"/>
                  <a:ea typeface="Hiragino Maru Gothic Pro W4" panose="020F0400000000000000" pitchFamily="34" charset="-128"/>
                </a:rPr>
                <a:t>モデルの選択</a:t>
              </a:r>
            </a:p>
          </p:txBody>
        </p:sp>
      </p:grpSp>
      <p:grpSp>
        <p:nvGrpSpPr>
          <p:cNvPr id="33" name="グループ化 32">
            <a:extLst>
              <a:ext uri="{FF2B5EF4-FFF2-40B4-BE49-F238E27FC236}">
                <a16:creationId xmlns:a16="http://schemas.microsoft.com/office/drawing/2014/main" id="{D8819238-B1F1-06A3-DA38-5E8C5BE6E29E}"/>
              </a:ext>
            </a:extLst>
          </p:cNvPr>
          <p:cNvGrpSpPr/>
          <p:nvPr/>
        </p:nvGrpSpPr>
        <p:grpSpPr>
          <a:xfrm>
            <a:off x="8967935" y="1567804"/>
            <a:ext cx="652602" cy="2677657"/>
            <a:chOff x="7643136" y="1677769"/>
            <a:chExt cx="652602" cy="2677657"/>
          </a:xfrm>
        </p:grpSpPr>
        <p:sp>
          <p:nvSpPr>
            <p:cNvPr id="30" name="角丸四角形 29">
              <a:extLst>
                <a:ext uri="{FF2B5EF4-FFF2-40B4-BE49-F238E27FC236}">
                  <a16:creationId xmlns:a16="http://schemas.microsoft.com/office/drawing/2014/main" id="{FC9A41F1-F1F9-3768-8189-8C20DEDB0DAA}"/>
                </a:ext>
              </a:extLst>
            </p:cNvPr>
            <p:cNvSpPr/>
            <p:nvPr/>
          </p:nvSpPr>
          <p:spPr>
            <a:xfrm>
              <a:off x="7643136" y="1677769"/>
              <a:ext cx="612953" cy="26776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2623289-166E-FAA2-BC3C-89D39649EB8D}"/>
                </a:ext>
              </a:extLst>
            </p:cNvPr>
            <p:cNvSpPr txBox="1"/>
            <p:nvPr/>
          </p:nvSpPr>
          <p:spPr>
            <a:xfrm>
              <a:off x="7682785" y="1677770"/>
              <a:ext cx="612953" cy="2677656"/>
            </a:xfrm>
            <a:prstGeom prst="rect">
              <a:avLst/>
            </a:prstGeom>
            <a:noFill/>
          </p:spPr>
          <p:txBody>
            <a:bodyPr wrap="square" rtlCol="0">
              <a:spAutoFit/>
            </a:bodyPr>
            <a:lstStyle/>
            <a:p>
              <a:r>
                <a:rPr kumimoji="1" lang="ja-JP" altLang="en-US" sz="2800">
                  <a:latin typeface="Hiragino Maru Gothic Pro W4" panose="020F0400000000000000" pitchFamily="34" charset="-128"/>
                  <a:ea typeface="Hiragino Maru Gothic Pro W4" panose="020F0400000000000000" pitchFamily="34" charset="-128"/>
                </a:rPr>
                <a:t>モデルの構築</a:t>
              </a:r>
            </a:p>
          </p:txBody>
        </p:sp>
      </p:grpSp>
      <p:grpSp>
        <p:nvGrpSpPr>
          <p:cNvPr id="32" name="グループ化 31">
            <a:extLst>
              <a:ext uri="{FF2B5EF4-FFF2-40B4-BE49-F238E27FC236}">
                <a16:creationId xmlns:a16="http://schemas.microsoft.com/office/drawing/2014/main" id="{5C16663D-50F4-C7A9-75D5-77C513899B9A}"/>
              </a:ext>
            </a:extLst>
          </p:cNvPr>
          <p:cNvGrpSpPr/>
          <p:nvPr/>
        </p:nvGrpSpPr>
        <p:grpSpPr>
          <a:xfrm>
            <a:off x="10654164" y="1567804"/>
            <a:ext cx="612953" cy="2677656"/>
            <a:chOff x="9742009" y="3330655"/>
            <a:chExt cx="612953" cy="2677656"/>
          </a:xfrm>
        </p:grpSpPr>
        <p:sp>
          <p:nvSpPr>
            <p:cNvPr id="31" name="角丸四角形 30">
              <a:extLst>
                <a:ext uri="{FF2B5EF4-FFF2-40B4-BE49-F238E27FC236}">
                  <a16:creationId xmlns:a16="http://schemas.microsoft.com/office/drawing/2014/main" id="{591ABD58-16D5-5748-B908-630618354409}"/>
                </a:ext>
              </a:extLst>
            </p:cNvPr>
            <p:cNvSpPr/>
            <p:nvPr/>
          </p:nvSpPr>
          <p:spPr>
            <a:xfrm>
              <a:off x="9742009" y="3330655"/>
              <a:ext cx="612953" cy="26776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9F6796D0-EBBE-780C-3CC7-E7818B6656D0}"/>
                </a:ext>
              </a:extLst>
            </p:cNvPr>
            <p:cNvSpPr txBox="1"/>
            <p:nvPr/>
          </p:nvSpPr>
          <p:spPr>
            <a:xfrm>
              <a:off x="9781658" y="3330655"/>
              <a:ext cx="394554" cy="2677656"/>
            </a:xfrm>
            <a:prstGeom prst="rect">
              <a:avLst/>
            </a:prstGeom>
            <a:noFill/>
          </p:spPr>
          <p:txBody>
            <a:bodyPr wrap="square" rtlCol="0">
              <a:spAutoFit/>
            </a:bodyPr>
            <a:lstStyle/>
            <a:p>
              <a:r>
                <a:rPr kumimoji="1" lang="ja-JP" altLang="en-US" sz="2800">
                  <a:latin typeface="Hiragino Maru Gothic Pro W4" panose="020F0400000000000000" pitchFamily="34" charset="-128"/>
                  <a:ea typeface="Hiragino Maru Gothic Pro W4" panose="020F0400000000000000" pitchFamily="34" charset="-128"/>
                </a:rPr>
                <a:t>モデルの評価</a:t>
              </a:r>
            </a:p>
          </p:txBody>
        </p:sp>
      </p:grpSp>
      <p:sp>
        <p:nvSpPr>
          <p:cNvPr id="38" name="下矢印 37">
            <a:extLst>
              <a:ext uri="{FF2B5EF4-FFF2-40B4-BE49-F238E27FC236}">
                <a16:creationId xmlns:a16="http://schemas.microsoft.com/office/drawing/2014/main" id="{1D401984-990B-D08E-19B2-2F62399E0A0C}"/>
              </a:ext>
            </a:extLst>
          </p:cNvPr>
          <p:cNvSpPr/>
          <p:nvPr/>
        </p:nvSpPr>
        <p:spPr>
          <a:xfrm rot="16200000">
            <a:off x="2657013" y="2708410"/>
            <a:ext cx="1020726" cy="369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下矢印 38">
            <a:extLst>
              <a:ext uri="{FF2B5EF4-FFF2-40B4-BE49-F238E27FC236}">
                <a16:creationId xmlns:a16="http://schemas.microsoft.com/office/drawing/2014/main" id="{1B8191E4-FF1A-075C-C892-DA891A833D7F}"/>
              </a:ext>
            </a:extLst>
          </p:cNvPr>
          <p:cNvSpPr/>
          <p:nvPr/>
        </p:nvSpPr>
        <p:spPr>
          <a:xfrm rot="16200000">
            <a:off x="4428404" y="2733971"/>
            <a:ext cx="1020726" cy="369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下矢印 39">
            <a:extLst>
              <a:ext uri="{FF2B5EF4-FFF2-40B4-BE49-F238E27FC236}">
                <a16:creationId xmlns:a16="http://schemas.microsoft.com/office/drawing/2014/main" id="{63F9CBC5-1928-496A-B63D-25A2184089E7}"/>
              </a:ext>
            </a:extLst>
          </p:cNvPr>
          <p:cNvSpPr/>
          <p:nvPr/>
        </p:nvSpPr>
        <p:spPr>
          <a:xfrm rot="16200000">
            <a:off x="6150699" y="2759529"/>
            <a:ext cx="1020726" cy="3693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左大かっこ 41">
            <a:extLst>
              <a:ext uri="{FF2B5EF4-FFF2-40B4-BE49-F238E27FC236}">
                <a16:creationId xmlns:a16="http://schemas.microsoft.com/office/drawing/2014/main" id="{4558B80D-7B55-B046-B665-2D15526D8531}"/>
              </a:ext>
            </a:extLst>
          </p:cNvPr>
          <p:cNvSpPr/>
          <p:nvPr/>
        </p:nvSpPr>
        <p:spPr>
          <a:xfrm rot="16200000">
            <a:off x="7573476" y="1147971"/>
            <a:ext cx="369333" cy="8329285"/>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C6E68219-B011-1447-C949-26333BC2AA80}"/>
              </a:ext>
            </a:extLst>
          </p:cNvPr>
          <p:cNvSpPr txBox="1"/>
          <p:nvPr/>
        </p:nvSpPr>
        <p:spPr>
          <a:xfrm>
            <a:off x="5822655" y="5657236"/>
            <a:ext cx="3650358" cy="523220"/>
          </a:xfrm>
          <a:prstGeom prst="rect">
            <a:avLst/>
          </a:prstGeom>
          <a:noFill/>
        </p:spPr>
        <p:txBody>
          <a:bodyPr wrap="none" rtlCol="0">
            <a:spAutoFit/>
          </a:bodyPr>
          <a:lstStyle/>
          <a:p>
            <a:r>
              <a:rPr kumimoji="1" lang="ja-JP" altLang="en-US" sz="2800">
                <a:latin typeface="Hiragino Maru Gothic Pro W4" panose="020F0400000000000000" pitchFamily="34" charset="-128"/>
                <a:ea typeface="Hiragino Maru Gothic Pro W4" panose="020F0400000000000000" pitchFamily="34" charset="-128"/>
              </a:rPr>
              <a:t>第</a:t>
            </a:r>
            <a:r>
              <a:rPr kumimoji="1" lang="en-US" altLang="ja-JP" sz="2800" dirty="0">
                <a:latin typeface="Hiragino Maru Gothic Pro W4" panose="020F0400000000000000" pitchFamily="34" charset="-128"/>
                <a:ea typeface="Hiragino Maru Gothic Pro W4" panose="020F0400000000000000" pitchFamily="34" charset="-128"/>
              </a:rPr>
              <a:t>2</a:t>
            </a:r>
            <a:r>
              <a:rPr kumimoji="1" lang="ja-JP" altLang="en-US" sz="2800">
                <a:latin typeface="Hiragino Maru Gothic Pro W4" panose="020F0400000000000000" pitchFamily="34" charset="-128"/>
                <a:ea typeface="Hiragino Maru Gothic Pro W4" panose="020F0400000000000000" pitchFamily="34" charset="-128"/>
              </a:rPr>
              <a:t>回で取り組む行程</a:t>
            </a:r>
          </a:p>
        </p:txBody>
      </p:sp>
      <p:sp>
        <p:nvSpPr>
          <p:cNvPr id="2" name="テキスト ボックス 1">
            <a:extLst>
              <a:ext uri="{FF2B5EF4-FFF2-40B4-BE49-F238E27FC236}">
                <a16:creationId xmlns:a16="http://schemas.microsoft.com/office/drawing/2014/main" id="{BEB2BA1B-3269-487F-B823-DDE79AB6AEF2}"/>
              </a:ext>
            </a:extLst>
          </p:cNvPr>
          <p:cNvSpPr txBox="1"/>
          <p:nvPr/>
        </p:nvSpPr>
        <p:spPr>
          <a:xfrm>
            <a:off x="5049014" y="6180456"/>
            <a:ext cx="5825634" cy="461665"/>
          </a:xfrm>
          <a:prstGeom prst="rect">
            <a:avLst/>
          </a:prstGeom>
          <a:noFill/>
        </p:spPr>
        <p:txBody>
          <a:bodyPr wrap="none" rtlCol="0">
            <a:spAutoFit/>
          </a:bodyPr>
          <a:lstStyle/>
          <a:p>
            <a:r>
              <a:rPr kumimoji="1" lang="en-US" altLang="ja-JP" sz="2400" dirty="0">
                <a:latin typeface="Hiragino Maru Gothic Pro W4" panose="020F0400000000000000" pitchFamily="34" charset="-128"/>
                <a:ea typeface="Hiragino Maru Gothic Pro W4" panose="020F0400000000000000" pitchFamily="34" charset="-128"/>
              </a:rPr>
              <a:t>(</a:t>
            </a:r>
            <a:r>
              <a:rPr kumimoji="1" lang="ja-JP" altLang="en-US" sz="2400">
                <a:latin typeface="Hiragino Maru Gothic Pro W4" panose="020F0400000000000000" pitchFamily="34" charset="-128"/>
                <a:ea typeface="Hiragino Maru Gothic Pro W4" panose="020F0400000000000000" pitchFamily="34" charset="-128"/>
              </a:rPr>
              <a:t>第</a:t>
            </a:r>
            <a:r>
              <a:rPr kumimoji="1" lang="en-US" altLang="ja-JP" sz="2400" dirty="0">
                <a:latin typeface="Hiragino Maru Gothic Pro W4" panose="020F0400000000000000" pitchFamily="34" charset="-128"/>
                <a:ea typeface="Hiragino Maru Gothic Pro W4" panose="020F0400000000000000" pitchFamily="34" charset="-128"/>
              </a:rPr>
              <a:t>2</a:t>
            </a:r>
            <a:r>
              <a:rPr kumimoji="1" lang="ja-JP" altLang="en-US" sz="2400">
                <a:latin typeface="Hiragino Maru Gothic Pro W4" panose="020F0400000000000000" pitchFamily="34" charset="-128"/>
                <a:ea typeface="Hiragino Maru Gothic Pro W4" panose="020F0400000000000000" pitchFamily="34" charset="-128"/>
              </a:rPr>
              <a:t>回では回帰モデルを選択しています</a:t>
            </a:r>
            <a:r>
              <a:rPr kumimoji="1" lang="en-US" altLang="ja-JP" sz="2400" dirty="0">
                <a:latin typeface="Hiragino Maru Gothic Pro W4" panose="020F0400000000000000" pitchFamily="34" charset="-128"/>
                <a:ea typeface="Hiragino Maru Gothic Pro W4" panose="020F0400000000000000" pitchFamily="34" charset="-128"/>
              </a:rPr>
              <a:t>)</a:t>
            </a:r>
            <a:endParaRPr kumimoji="1" lang="ja-JP" altLang="en-US" sz="2400">
              <a:latin typeface="Hiragino Maru Gothic Pro W4" panose="020F0400000000000000" pitchFamily="34" charset="-128"/>
              <a:ea typeface="Hiragino Maru Gothic Pro W4" panose="020F0400000000000000" pitchFamily="34" charset="-128"/>
            </a:endParaRPr>
          </a:p>
        </p:txBody>
      </p:sp>
    </p:spTree>
    <p:extLst>
      <p:ext uri="{BB962C8B-B14F-4D97-AF65-F5344CB8AC3E}">
        <p14:creationId xmlns:p14="http://schemas.microsoft.com/office/powerpoint/2010/main" val="932858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9CFBBB-7726-A6FD-3397-4526B41A6F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7C9948-80F7-9101-1BF2-9214AADB4985}"/>
              </a:ext>
            </a:extLst>
          </p:cNvPr>
          <p:cNvSpPr>
            <a:spLocks noGrp="1"/>
          </p:cNvSpPr>
          <p:nvPr>
            <p:ph type="title"/>
          </p:nvPr>
        </p:nvSpPr>
        <p:spPr>
          <a:xfrm>
            <a:off x="228599" y="106701"/>
            <a:ext cx="11734801" cy="1061509"/>
          </a:xfrm>
        </p:spPr>
        <p:txBody>
          <a:bodyPr>
            <a:normAutofit/>
          </a:bodyPr>
          <a:lstStyle/>
          <a:p>
            <a:r>
              <a:rPr lang="ja-JP" altLang="en-US" sz="4000">
                <a:latin typeface="Hiragino Maru Gothic Pro W4" panose="020F0400000000000000" pitchFamily="34" charset="-128"/>
                <a:ea typeface="Hiragino Maru Gothic Pro W4" panose="020F0400000000000000" pitchFamily="34" charset="-128"/>
              </a:rPr>
              <a:t>機械学習</a:t>
            </a:r>
            <a:r>
              <a:rPr lang="en-US" altLang="ja-JP" sz="4000" dirty="0">
                <a:latin typeface="Hiragino Maru Gothic Pro W4" panose="020F0400000000000000" pitchFamily="34" charset="-128"/>
                <a:ea typeface="Hiragino Maru Gothic Pro W4" panose="020F0400000000000000" pitchFamily="34" charset="-128"/>
              </a:rPr>
              <a:t> (</a:t>
            </a:r>
            <a:r>
              <a:rPr lang="ja-JP" altLang="en-US" sz="4000">
                <a:latin typeface="Hiragino Maru Gothic Pro W4" panose="020F0400000000000000" pitchFamily="34" charset="-128"/>
                <a:ea typeface="Hiragino Maru Gothic Pro W4" panose="020F0400000000000000" pitchFamily="34" charset="-128"/>
              </a:rPr>
              <a:t>回帰モデル</a:t>
            </a:r>
            <a:r>
              <a:rPr lang="en-US" altLang="ja-JP" sz="4000" dirty="0">
                <a:latin typeface="Hiragino Maru Gothic Pro W4" panose="020F0400000000000000" pitchFamily="34" charset="-128"/>
                <a:ea typeface="Hiragino Maru Gothic Pro W4" panose="020F0400000000000000" pitchFamily="34" charset="-128"/>
              </a:rPr>
              <a:t>)</a:t>
            </a:r>
            <a:r>
              <a:rPr lang="ja-JP" altLang="en-US" sz="4000">
                <a:latin typeface="Hiragino Maru Gothic Pro W4" panose="020F0400000000000000" pitchFamily="34" charset="-128"/>
                <a:ea typeface="Hiragino Maru Gothic Pro W4" panose="020F0400000000000000" pitchFamily="34" charset="-128"/>
              </a:rPr>
              <a:t>の評価指標は何か？</a:t>
            </a:r>
            <a:endParaRPr kumimoji="1" lang="ja-JP" altLang="en-US" sz="4000" b="1">
              <a:latin typeface="Hiragino Maru Gothic Pro W4" panose="020F0400000000000000" pitchFamily="34" charset="-128"/>
              <a:ea typeface="Hiragino Maru Gothic Pro W4" panose="020F0400000000000000" pitchFamily="34" charset="-128"/>
            </a:endParaRPr>
          </a:p>
        </p:txBody>
      </p:sp>
      <p:sp>
        <p:nvSpPr>
          <p:cNvPr id="4" name="テキスト ボックス 3">
            <a:extLst>
              <a:ext uri="{FF2B5EF4-FFF2-40B4-BE49-F238E27FC236}">
                <a16:creationId xmlns:a16="http://schemas.microsoft.com/office/drawing/2014/main" id="{0AF7C2C3-6807-97D0-5544-A6A8574474FD}"/>
              </a:ext>
            </a:extLst>
          </p:cNvPr>
          <p:cNvSpPr txBox="1"/>
          <p:nvPr/>
        </p:nvSpPr>
        <p:spPr>
          <a:xfrm>
            <a:off x="364787" y="1032321"/>
            <a:ext cx="8561959" cy="523220"/>
          </a:xfrm>
          <a:prstGeom prst="rect">
            <a:avLst/>
          </a:prstGeom>
          <a:noFill/>
        </p:spPr>
        <p:txBody>
          <a:bodyPr wrap="none" rtlCol="0">
            <a:spAutoFit/>
          </a:bodyPr>
          <a:lstStyle/>
          <a:p>
            <a:r>
              <a:rPr kumimoji="1" lang="en-US" altLang="ja-JP" sz="2800" dirty="0">
                <a:latin typeface="Hiragino Maru Gothic Pro W4" panose="020F0400000000000000" pitchFamily="34" charset="-128"/>
                <a:ea typeface="Hiragino Maru Gothic Pro W4" panose="020F0400000000000000" pitchFamily="34" charset="-128"/>
              </a:rPr>
              <a:t>MAE</a:t>
            </a:r>
            <a:r>
              <a:rPr kumimoji="1" lang="ja-JP" altLang="en-US" sz="2800">
                <a:latin typeface="Hiragino Maru Gothic Pro W4" panose="020F0400000000000000" pitchFamily="34" charset="-128"/>
                <a:ea typeface="Hiragino Maru Gothic Pro W4" panose="020F0400000000000000" pitchFamily="34" charset="-128"/>
              </a:rPr>
              <a:t> </a:t>
            </a:r>
            <a:r>
              <a:rPr kumimoji="1" lang="en-US" altLang="ja-JP" sz="2800" dirty="0">
                <a:latin typeface="Hiragino Maru Gothic Pro W4" panose="020F0400000000000000" pitchFamily="34" charset="-128"/>
                <a:ea typeface="Hiragino Maru Gothic Pro W4" panose="020F0400000000000000" pitchFamily="34" charset="-128"/>
              </a:rPr>
              <a:t>, RMSE</a:t>
            </a:r>
            <a:r>
              <a:rPr kumimoji="1" lang="ja-JP" altLang="en-US" sz="2800">
                <a:latin typeface="Hiragino Maru Gothic Pro W4" panose="020F0400000000000000" pitchFamily="34" charset="-128"/>
                <a:ea typeface="Hiragino Maru Gothic Pro W4" panose="020F0400000000000000" pitchFamily="34" charset="-128"/>
              </a:rPr>
              <a:t> </a:t>
            </a:r>
            <a:r>
              <a:rPr kumimoji="1" lang="en-US" altLang="ja-JP" sz="2800" dirty="0">
                <a:latin typeface="Hiragino Maru Gothic Pro W4" panose="020F0400000000000000" pitchFamily="34" charset="-128"/>
                <a:ea typeface="Hiragino Maru Gothic Pro W4" panose="020F0400000000000000" pitchFamily="34" charset="-128"/>
              </a:rPr>
              <a:t>,R</a:t>
            </a:r>
            <a:r>
              <a:rPr kumimoji="1" lang="en-US" altLang="ja-JP" sz="2800" baseline="30000" dirty="0">
                <a:latin typeface="Hiragino Maru Gothic Pro W4" panose="020F0400000000000000" pitchFamily="34" charset="-128"/>
                <a:ea typeface="Hiragino Maru Gothic Pro W4" panose="020F0400000000000000" pitchFamily="34" charset="-128"/>
              </a:rPr>
              <a:t>2 </a:t>
            </a:r>
            <a:r>
              <a:rPr kumimoji="1" lang="ja-JP" altLang="en-US" sz="2800">
                <a:latin typeface="Hiragino Maru Gothic Pro W4" panose="020F0400000000000000" pitchFamily="34" charset="-128"/>
                <a:ea typeface="Hiragino Maru Gothic Pro W4" panose="020F0400000000000000" pitchFamily="34" charset="-128"/>
              </a:rPr>
              <a:t>の３つが用いられることが多い。</a:t>
            </a:r>
          </a:p>
        </p:txBody>
      </p:sp>
      <p:grpSp>
        <p:nvGrpSpPr>
          <p:cNvPr id="19" name="グループ化 18">
            <a:extLst>
              <a:ext uri="{FF2B5EF4-FFF2-40B4-BE49-F238E27FC236}">
                <a16:creationId xmlns:a16="http://schemas.microsoft.com/office/drawing/2014/main" id="{A6C78FB9-F528-C75E-75FA-A8F6ED5A5E18}"/>
              </a:ext>
            </a:extLst>
          </p:cNvPr>
          <p:cNvGrpSpPr/>
          <p:nvPr/>
        </p:nvGrpSpPr>
        <p:grpSpPr>
          <a:xfrm>
            <a:off x="364787" y="1723010"/>
            <a:ext cx="3643006" cy="4868390"/>
            <a:chOff x="364787" y="1859197"/>
            <a:chExt cx="3643006" cy="4868390"/>
          </a:xfrm>
        </p:grpSpPr>
        <p:sp>
          <p:nvSpPr>
            <p:cNvPr id="11" name="角丸四角形 10">
              <a:extLst>
                <a:ext uri="{FF2B5EF4-FFF2-40B4-BE49-F238E27FC236}">
                  <a16:creationId xmlns:a16="http://schemas.microsoft.com/office/drawing/2014/main" id="{63F99B24-5A0A-839F-0A41-B245747C90C8}"/>
                </a:ext>
              </a:extLst>
            </p:cNvPr>
            <p:cNvSpPr/>
            <p:nvPr/>
          </p:nvSpPr>
          <p:spPr>
            <a:xfrm>
              <a:off x="364787" y="1859197"/>
              <a:ext cx="3643006" cy="48683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CA03C01-AB3F-50F4-315B-E7381DA4CA71}"/>
                </a:ext>
              </a:extLst>
            </p:cNvPr>
            <p:cNvSpPr txBox="1"/>
            <p:nvPr/>
          </p:nvSpPr>
          <p:spPr>
            <a:xfrm>
              <a:off x="1673156" y="1943289"/>
              <a:ext cx="1026268" cy="523220"/>
            </a:xfrm>
            <a:prstGeom prst="rect">
              <a:avLst/>
            </a:prstGeom>
            <a:noFill/>
          </p:spPr>
          <p:txBody>
            <a:bodyPr wrap="square">
              <a:spAutoFit/>
            </a:bodyPr>
            <a:lstStyle/>
            <a:p>
              <a:r>
                <a:rPr kumimoji="1" lang="en-US" altLang="ja-JP" sz="2800" dirty="0">
                  <a:latin typeface="Hiragino Maru Gothic Pro W4" panose="020F0400000000000000" pitchFamily="34" charset="-128"/>
                  <a:ea typeface="Hiragino Maru Gothic Pro W4" panose="020F0400000000000000" pitchFamily="34" charset="-128"/>
                </a:rPr>
                <a:t>MAE</a:t>
              </a:r>
              <a:endParaRPr lang="ja-JP" altLang="en-US" sz="2800"/>
            </a:p>
          </p:txBody>
        </p:sp>
      </p:grpSp>
      <p:grpSp>
        <p:nvGrpSpPr>
          <p:cNvPr id="20" name="グループ化 19">
            <a:extLst>
              <a:ext uri="{FF2B5EF4-FFF2-40B4-BE49-F238E27FC236}">
                <a16:creationId xmlns:a16="http://schemas.microsoft.com/office/drawing/2014/main" id="{CDDDDAF6-1209-3088-97DC-411979257B5D}"/>
              </a:ext>
            </a:extLst>
          </p:cNvPr>
          <p:cNvGrpSpPr/>
          <p:nvPr/>
        </p:nvGrpSpPr>
        <p:grpSpPr>
          <a:xfrm>
            <a:off x="4274497" y="1723010"/>
            <a:ext cx="3643006" cy="4868390"/>
            <a:chOff x="4274495" y="1859197"/>
            <a:chExt cx="3643006" cy="4868390"/>
          </a:xfrm>
        </p:grpSpPr>
        <p:sp>
          <p:nvSpPr>
            <p:cNvPr id="12" name="角丸四角形 11">
              <a:extLst>
                <a:ext uri="{FF2B5EF4-FFF2-40B4-BE49-F238E27FC236}">
                  <a16:creationId xmlns:a16="http://schemas.microsoft.com/office/drawing/2014/main" id="{B618FA16-3555-5A02-CC1C-4EB9191293ED}"/>
                </a:ext>
              </a:extLst>
            </p:cNvPr>
            <p:cNvSpPr/>
            <p:nvPr/>
          </p:nvSpPr>
          <p:spPr>
            <a:xfrm>
              <a:off x="4274495" y="1859197"/>
              <a:ext cx="3643006" cy="48683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9047A020-6DDB-E510-8A0E-28C61ADBBB5C}"/>
                </a:ext>
              </a:extLst>
            </p:cNvPr>
            <p:cNvSpPr txBox="1"/>
            <p:nvPr/>
          </p:nvSpPr>
          <p:spPr>
            <a:xfrm>
              <a:off x="5466659" y="1941046"/>
              <a:ext cx="1258678" cy="523220"/>
            </a:xfrm>
            <a:prstGeom prst="rect">
              <a:avLst/>
            </a:prstGeom>
            <a:noFill/>
          </p:spPr>
          <p:txBody>
            <a:bodyPr wrap="none" rtlCol="0">
              <a:spAutoFit/>
            </a:bodyPr>
            <a:lstStyle/>
            <a:p>
              <a:r>
                <a:rPr kumimoji="1" lang="en-US" altLang="ja-JP" sz="2800" dirty="0">
                  <a:latin typeface="Hiragino Maru Gothic Pro W4" panose="020F0400000000000000" pitchFamily="34" charset="-128"/>
                  <a:ea typeface="Hiragino Maru Gothic Pro W4" panose="020F0400000000000000" pitchFamily="34" charset="-128"/>
                </a:rPr>
                <a:t>RMSE</a:t>
              </a:r>
              <a:endParaRPr kumimoji="1" lang="ja-JP" altLang="en-US" sz="2800">
                <a:latin typeface="Hiragino Maru Gothic Pro W4" panose="020F0400000000000000" pitchFamily="34" charset="-128"/>
                <a:ea typeface="Hiragino Maru Gothic Pro W4" panose="020F0400000000000000" pitchFamily="34" charset="-128"/>
              </a:endParaRPr>
            </a:p>
          </p:txBody>
        </p:sp>
      </p:grpSp>
      <p:grpSp>
        <p:nvGrpSpPr>
          <p:cNvPr id="21" name="グループ化 20">
            <a:extLst>
              <a:ext uri="{FF2B5EF4-FFF2-40B4-BE49-F238E27FC236}">
                <a16:creationId xmlns:a16="http://schemas.microsoft.com/office/drawing/2014/main" id="{7358288F-4112-37B6-A1E5-AF0123F5F714}"/>
              </a:ext>
            </a:extLst>
          </p:cNvPr>
          <p:cNvGrpSpPr/>
          <p:nvPr/>
        </p:nvGrpSpPr>
        <p:grpSpPr>
          <a:xfrm>
            <a:off x="8184207" y="1723010"/>
            <a:ext cx="3643006" cy="4868390"/>
            <a:chOff x="8184203" y="1859197"/>
            <a:chExt cx="3643006" cy="4868390"/>
          </a:xfrm>
        </p:grpSpPr>
        <p:sp>
          <p:nvSpPr>
            <p:cNvPr id="13" name="角丸四角形 12">
              <a:extLst>
                <a:ext uri="{FF2B5EF4-FFF2-40B4-BE49-F238E27FC236}">
                  <a16:creationId xmlns:a16="http://schemas.microsoft.com/office/drawing/2014/main" id="{512A341F-E1AB-F96B-1BB7-2D231731D7DF}"/>
                </a:ext>
              </a:extLst>
            </p:cNvPr>
            <p:cNvSpPr/>
            <p:nvPr/>
          </p:nvSpPr>
          <p:spPr>
            <a:xfrm>
              <a:off x="8184203" y="1859197"/>
              <a:ext cx="3643006" cy="48683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2C03105C-89C8-75B2-8FE5-B4E6FF38451E}"/>
                </a:ext>
              </a:extLst>
            </p:cNvPr>
            <p:cNvSpPr txBox="1"/>
            <p:nvPr/>
          </p:nvSpPr>
          <p:spPr>
            <a:xfrm>
              <a:off x="9706585" y="1941046"/>
              <a:ext cx="598241" cy="523220"/>
            </a:xfrm>
            <a:prstGeom prst="rect">
              <a:avLst/>
            </a:prstGeom>
            <a:noFill/>
          </p:spPr>
          <p:txBody>
            <a:bodyPr wrap="none" rtlCol="0">
              <a:spAutoFit/>
            </a:bodyPr>
            <a:lstStyle/>
            <a:p>
              <a:r>
                <a:rPr lang="en-US" altLang="ja-JP" sz="2800" dirty="0">
                  <a:latin typeface="Hiragino Maru Gothic Pro W4" panose="020F0400000000000000" pitchFamily="34" charset="-128"/>
                  <a:ea typeface="Hiragino Maru Gothic Pro W4" panose="020F0400000000000000" pitchFamily="34" charset="-128"/>
                </a:rPr>
                <a:t>R</a:t>
              </a:r>
              <a:r>
                <a:rPr lang="en-US" altLang="ja-JP" sz="2800" baseline="30000" dirty="0">
                  <a:latin typeface="Hiragino Maru Gothic Pro W4" panose="020F0400000000000000" pitchFamily="34" charset="-128"/>
                  <a:ea typeface="Hiragino Maru Gothic Pro W4" panose="020F0400000000000000" pitchFamily="34" charset="-128"/>
                </a:rPr>
                <a:t>2</a:t>
              </a:r>
              <a:endParaRPr kumimoji="1" lang="ja-JP" altLang="en-US" sz="2800"/>
            </a:p>
          </p:txBody>
        </p:sp>
      </p:grpSp>
      <p:sp>
        <p:nvSpPr>
          <p:cNvPr id="22" name="テキスト ボックス 21">
            <a:extLst>
              <a:ext uri="{FF2B5EF4-FFF2-40B4-BE49-F238E27FC236}">
                <a16:creationId xmlns:a16="http://schemas.microsoft.com/office/drawing/2014/main" id="{42B62EBE-E8F0-DB1C-1C0A-DA5A18BED07B}"/>
              </a:ext>
            </a:extLst>
          </p:cNvPr>
          <p:cNvSpPr txBox="1"/>
          <p:nvPr/>
        </p:nvSpPr>
        <p:spPr>
          <a:xfrm>
            <a:off x="1705232" y="2903838"/>
            <a:ext cx="184731" cy="369332"/>
          </a:xfrm>
          <a:prstGeom prst="rect">
            <a:avLst/>
          </a:prstGeom>
          <a:noFill/>
        </p:spPr>
        <p:txBody>
          <a:bodyPr wrap="none" rtlCol="0">
            <a:spAutoFit/>
          </a:bodyPr>
          <a:lstStyle/>
          <a:p>
            <a:endParaRPr kumimoji="1" lang="ja-JP" altLang="en-US"/>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B1D5165D-F4CD-64C8-2334-7C66324B53DB}"/>
                  </a:ext>
                </a:extLst>
              </p:cNvPr>
              <p:cNvSpPr txBox="1"/>
              <p:nvPr/>
            </p:nvSpPr>
            <p:spPr>
              <a:xfrm>
                <a:off x="556748" y="2328079"/>
                <a:ext cx="3387530" cy="704552"/>
              </a:xfrm>
              <a:prstGeom prst="rect">
                <a:avLst/>
              </a:prstGeom>
              <a:noFill/>
            </p:spPr>
            <p:txBody>
              <a:bodyPr wrap="none" rtlCol="0">
                <a:spAutoFit/>
              </a:bodyPr>
              <a:lstStyle/>
              <a:p>
                <a:r>
                  <a:rPr lang="en-US" altLang="ja-JP" sz="2400" dirty="0">
                    <a:latin typeface="Hiragino Maru Gothic Pro W4" panose="020F0400000000000000" pitchFamily="34" charset="-128"/>
                    <a:ea typeface="Hiragino Maru Gothic Pro W4" panose="020F0400000000000000" pitchFamily="34" charset="-128"/>
                  </a:rPr>
                  <a:t>MAE = </a:t>
                </a:r>
                <a14:m>
                  <m:oMath xmlns:m="http://schemas.openxmlformats.org/officeDocument/2006/math">
                    <m:f>
                      <m:fPr>
                        <m:ctrlPr>
                          <a:rPr lang="ja-JP" altLang="ja-JP" sz="2400" i="1">
                            <a:latin typeface="Cambria Math" panose="02040503050406030204" pitchFamily="18" charset="0"/>
                          </a:rPr>
                        </m:ctrlPr>
                      </m:fPr>
                      <m:num>
                        <m:r>
                          <a:rPr lang="ja-JP" altLang="ja-JP" sz="2400" i="1">
                            <a:latin typeface="Cambria Math" panose="02040503050406030204" pitchFamily="18" charset="0"/>
                          </a:rPr>
                          <m:t>１</m:t>
                        </m:r>
                      </m:num>
                      <m:den>
                        <m:r>
                          <a:rPr lang="en-US" altLang="ja-JP" sz="2400" i="1">
                            <a:latin typeface="Cambria Math" panose="02040503050406030204" pitchFamily="18" charset="0"/>
                          </a:rPr>
                          <m:t>𝑛</m:t>
                        </m:r>
                      </m:den>
                    </m:f>
                    <m:nary>
                      <m:naryPr>
                        <m:chr m:val="∑"/>
                        <m:ctrlPr>
                          <a:rPr lang="ja-JP" altLang="ja-JP" sz="2400" i="1">
                            <a:latin typeface="Cambria Math" panose="02040503050406030204" pitchFamily="18" charset="0"/>
                          </a:rPr>
                        </m:ctrlPr>
                      </m:naryPr>
                      <m:sub>
                        <m:r>
                          <a:rPr lang="en-US" altLang="ja-JP" sz="2400" i="1">
                            <a:latin typeface="Cambria Math" panose="02040503050406030204" pitchFamily="18" charset="0"/>
                          </a:rPr>
                          <m:t>𝑖</m:t>
                        </m:r>
                        <m:r>
                          <a:rPr lang="en-US" altLang="ja-JP" sz="2400" i="1">
                            <a:latin typeface="Cambria Math" panose="02040503050406030204" pitchFamily="18" charset="0"/>
                          </a:rPr>
                          <m:t>=1</m:t>
                        </m:r>
                      </m:sub>
                      <m:sup>
                        <m:r>
                          <a:rPr lang="en-US" altLang="ja-JP" sz="2400" i="1">
                            <a:latin typeface="Cambria Math" panose="02040503050406030204" pitchFamily="18" charset="0"/>
                          </a:rPr>
                          <m:t>𝑛</m:t>
                        </m:r>
                      </m:sup>
                      <m:e>
                        <m:r>
                          <a:rPr lang="en-US" altLang="ja-JP" sz="2400" i="1">
                            <a:latin typeface="Cambria Math" panose="02040503050406030204" pitchFamily="18" charset="0"/>
                          </a:rPr>
                          <m:t>|</m:t>
                        </m:r>
                        <m:acc>
                          <m:accPr>
                            <m:chr m:val="̂"/>
                            <m:ctrlPr>
                              <a:rPr lang="ja-JP" altLang="ja-JP" sz="2400" i="1">
                                <a:latin typeface="Cambria Math" panose="02040503050406030204" pitchFamily="18" charset="0"/>
                              </a:rPr>
                            </m:ctrlPr>
                          </m:accPr>
                          <m:e>
                            <m:sSub>
                              <m:sSubPr>
                                <m:ctrlPr>
                                  <a:rPr lang="ja-JP" altLang="ja-JP" sz="2400" i="1">
                                    <a:latin typeface="Cambria Math" panose="02040503050406030204" pitchFamily="18" charset="0"/>
                                  </a:rPr>
                                </m:ctrlPr>
                              </m:sSubPr>
                              <m:e>
                                <m:r>
                                  <a:rPr lang="en-US" altLang="ja-JP" sz="2400" i="1">
                                    <a:latin typeface="Cambria Math" panose="02040503050406030204" pitchFamily="18" charset="0"/>
                                  </a:rPr>
                                  <m:t>𝑦</m:t>
                                </m:r>
                              </m:e>
                              <m:sub>
                                <m:r>
                                  <a:rPr lang="en-US" altLang="ja-JP" sz="2400" i="1">
                                    <a:latin typeface="Cambria Math" panose="02040503050406030204" pitchFamily="18" charset="0"/>
                                  </a:rPr>
                                  <m:t>𝑖</m:t>
                                </m:r>
                              </m:sub>
                            </m:sSub>
                          </m:e>
                        </m:acc>
                        <m:r>
                          <a:rPr lang="en-US" altLang="ja-JP" sz="2400" i="1">
                            <a:latin typeface="Cambria Math" panose="02040503050406030204" pitchFamily="18" charset="0"/>
                          </a:rPr>
                          <m:t>−</m:t>
                        </m:r>
                        <m:sSub>
                          <m:sSubPr>
                            <m:ctrlPr>
                              <a:rPr lang="ja-JP" altLang="ja-JP" sz="2400" i="1">
                                <a:latin typeface="Cambria Math" panose="02040503050406030204" pitchFamily="18" charset="0"/>
                              </a:rPr>
                            </m:ctrlPr>
                          </m:sSubPr>
                          <m:e>
                            <m:r>
                              <a:rPr lang="en-US" altLang="ja-JP" sz="2400" i="1">
                                <a:latin typeface="Cambria Math" panose="02040503050406030204" pitchFamily="18" charset="0"/>
                              </a:rPr>
                              <m:t>𝑦</m:t>
                            </m:r>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e>
                    </m:nary>
                  </m:oMath>
                </a14:m>
                <a:endParaRPr lang="ja-JP" altLang="ja-JP" sz="2400">
                  <a:latin typeface="Hiragino Maru Gothic Pro W4" panose="020F0400000000000000" pitchFamily="34" charset="-128"/>
                  <a:ea typeface="Hiragino Maru Gothic Pro W4" panose="020F0400000000000000" pitchFamily="34" charset="-128"/>
                </a:endParaRPr>
              </a:p>
            </p:txBody>
          </p:sp>
        </mc:Choice>
        <mc:Fallback xmlns="">
          <p:sp>
            <p:nvSpPr>
              <p:cNvPr id="25" name="テキスト ボックス 24">
                <a:extLst>
                  <a:ext uri="{FF2B5EF4-FFF2-40B4-BE49-F238E27FC236}">
                    <a16:creationId xmlns:a16="http://schemas.microsoft.com/office/drawing/2014/main" id="{B1D5165D-F4CD-64C8-2334-7C66324B53DB}"/>
                  </a:ext>
                </a:extLst>
              </p:cNvPr>
              <p:cNvSpPr txBox="1">
                <a:spLocks noRot="1" noChangeAspect="1" noMove="1" noResize="1" noEditPoints="1" noAdjustHandles="1" noChangeArrowheads="1" noChangeShapeType="1" noTextEdit="1"/>
              </p:cNvSpPr>
              <p:nvPr/>
            </p:nvSpPr>
            <p:spPr>
              <a:xfrm>
                <a:off x="556748" y="2328079"/>
                <a:ext cx="3387530" cy="704552"/>
              </a:xfrm>
              <a:prstGeom prst="rect">
                <a:avLst/>
              </a:prstGeom>
              <a:blipFill>
                <a:blip r:embed="rId3"/>
                <a:stretch>
                  <a:fillRect l="-2612" t="-60714" r="-373" b="-1178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E6ABAF2D-B286-A3C9-C341-CBC49D43AA2F}"/>
                  </a:ext>
                </a:extLst>
              </p:cNvPr>
              <p:cNvSpPr txBox="1"/>
              <p:nvPr/>
            </p:nvSpPr>
            <p:spPr>
              <a:xfrm>
                <a:off x="4366403" y="2347459"/>
                <a:ext cx="3551100" cy="781304"/>
              </a:xfrm>
              <a:prstGeom prst="rect">
                <a:avLst/>
              </a:prstGeom>
              <a:noFill/>
            </p:spPr>
            <p:txBody>
              <a:bodyPr wrap="none" rtlCol="0">
                <a:spAutoFit/>
              </a:bodyPr>
              <a:lstStyle/>
              <a:p>
                <a:r>
                  <a:rPr lang="en-US" altLang="ja-JP" sz="2200" dirty="0">
                    <a:latin typeface="Hiragino Maru Gothic Pro W4" panose="020F0400000000000000" pitchFamily="34" charset="-128"/>
                    <a:ea typeface="Hiragino Maru Gothic Pro W4" panose="020F0400000000000000" pitchFamily="34" charset="-128"/>
                  </a:rPr>
                  <a:t>RMSE = </a:t>
                </a:r>
                <a14:m>
                  <m:oMath xmlns:m="http://schemas.openxmlformats.org/officeDocument/2006/math">
                    <m:rad>
                      <m:radPr>
                        <m:degHide m:val="on"/>
                        <m:ctrlPr>
                          <a:rPr lang="ja-JP" altLang="ja-JP" sz="2200" i="1">
                            <a:latin typeface="Cambria Math" panose="02040503050406030204" pitchFamily="18" charset="0"/>
                          </a:rPr>
                        </m:ctrlPr>
                      </m:radPr>
                      <m:deg/>
                      <m:e>
                        <m:f>
                          <m:fPr>
                            <m:ctrlPr>
                              <a:rPr lang="ja-JP" altLang="ja-JP" sz="2200" i="1">
                                <a:latin typeface="Cambria Math" panose="02040503050406030204" pitchFamily="18" charset="0"/>
                              </a:rPr>
                            </m:ctrlPr>
                          </m:fPr>
                          <m:num>
                            <m:r>
                              <a:rPr lang="en-US" altLang="ja-JP" sz="2200" i="1">
                                <a:latin typeface="Cambria Math" panose="02040503050406030204" pitchFamily="18" charset="0"/>
                              </a:rPr>
                              <m:t>1</m:t>
                            </m:r>
                          </m:num>
                          <m:den>
                            <m:r>
                              <a:rPr lang="en-US" altLang="ja-JP" sz="2200" i="1">
                                <a:latin typeface="Cambria Math" panose="02040503050406030204" pitchFamily="18" charset="0"/>
                              </a:rPr>
                              <m:t>𝑛</m:t>
                            </m:r>
                          </m:den>
                        </m:f>
                        <m:r>
                          <a:rPr lang="en-US" altLang="ja-JP" sz="2200" i="1">
                            <a:latin typeface="Cambria Math" panose="02040503050406030204" pitchFamily="18" charset="0"/>
                          </a:rPr>
                          <m:t> </m:t>
                        </m:r>
                        <m:nary>
                          <m:naryPr>
                            <m:chr m:val="∑"/>
                            <m:limLoc m:val="undOvr"/>
                            <m:ctrlPr>
                              <a:rPr lang="ja-JP" altLang="ja-JP" sz="2200" i="1">
                                <a:latin typeface="Cambria Math" panose="02040503050406030204" pitchFamily="18" charset="0"/>
                              </a:rPr>
                            </m:ctrlPr>
                          </m:naryPr>
                          <m:sub>
                            <m:r>
                              <a:rPr lang="en-US" altLang="ja-JP" sz="2200" i="1">
                                <a:latin typeface="Cambria Math" panose="02040503050406030204" pitchFamily="18" charset="0"/>
                              </a:rPr>
                              <m:t>𝑖</m:t>
                            </m:r>
                            <m:r>
                              <a:rPr lang="en-US" altLang="ja-JP" sz="2200" i="1">
                                <a:latin typeface="Cambria Math" panose="02040503050406030204" pitchFamily="18" charset="0"/>
                              </a:rPr>
                              <m:t>=1</m:t>
                            </m:r>
                          </m:sub>
                          <m:sup>
                            <m:r>
                              <a:rPr lang="en-US" altLang="ja-JP" sz="2200" i="1">
                                <a:latin typeface="Cambria Math" panose="02040503050406030204" pitchFamily="18" charset="0"/>
                              </a:rPr>
                              <m:t>𝑛</m:t>
                            </m:r>
                          </m:sup>
                          <m:e>
                            <m:sSup>
                              <m:sSupPr>
                                <m:ctrlPr>
                                  <a:rPr lang="ja-JP" altLang="ja-JP" sz="2200" i="1">
                                    <a:latin typeface="Cambria Math" panose="02040503050406030204" pitchFamily="18" charset="0"/>
                                  </a:rPr>
                                </m:ctrlPr>
                              </m:sSupPr>
                              <m:e>
                                <m:r>
                                  <a:rPr lang="en-US" altLang="ja-JP" sz="2200" i="1">
                                    <a:latin typeface="Cambria Math" panose="02040503050406030204" pitchFamily="18" charset="0"/>
                                  </a:rPr>
                                  <m:t>(</m:t>
                                </m:r>
                                <m:sSub>
                                  <m:sSubPr>
                                    <m:ctrlPr>
                                      <a:rPr lang="ja-JP" altLang="ja-JP" sz="2200" i="1">
                                        <a:latin typeface="Cambria Math" panose="02040503050406030204" pitchFamily="18" charset="0"/>
                                      </a:rPr>
                                    </m:ctrlPr>
                                  </m:sSubPr>
                                  <m:e>
                                    <m:r>
                                      <a:rPr lang="en-US" altLang="ja-JP" sz="2200" i="1">
                                        <a:latin typeface="Cambria Math" panose="02040503050406030204" pitchFamily="18" charset="0"/>
                                      </a:rPr>
                                      <m:t>𝑦</m:t>
                                    </m:r>
                                  </m:e>
                                  <m:sub>
                                    <m:r>
                                      <a:rPr lang="en-US" altLang="ja-JP" sz="2200" i="1">
                                        <a:latin typeface="Cambria Math" panose="02040503050406030204" pitchFamily="18" charset="0"/>
                                      </a:rPr>
                                      <m:t>𝑖</m:t>
                                    </m:r>
                                  </m:sub>
                                </m:sSub>
                                <m:r>
                                  <a:rPr lang="en-US" altLang="ja-JP" sz="2200" i="1">
                                    <a:latin typeface="Cambria Math" panose="02040503050406030204" pitchFamily="18" charset="0"/>
                                  </a:rPr>
                                  <m:t>−</m:t>
                                </m:r>
                                <m:sSub>
                                  <m:sSubPr>
                                    <m:ctrlPr>
                                      <a:rPr lang="ja-JP" altLang="ja-JP" sz="2200" i="1">
                                        <a:latin typeface="Cambria Math" panose="02040503050406030204" pitchFamily="18" charset="0"/>
                                      </a:rPr>
                                    </m:ctrlPr>
                                  </m:sSubPr>
                                  <m:e>
                                    <m:acc>
                                      <m:accPr>
                                        <m:chr m:val="̂"/>
                                        <m:ctrlPr>
                                          <a:rPr lang="ja-JP" altLang="ja-JP" sz="2200" i="1">
                                            <a:latin typeface="Cambria Math" panose="02040503050406030204" pitchFamily="18" charset="0"/>
                                          </a:rPr>
                                        </m:ctrlPr>
                                      </m:accPr>
                                      <m:e>
                                        <m:r>
                                          <a:rPr lang="en-US" altLang="ja-JP" sz="2200" i="1">
                                            <a:latin typeface="Cambria Math" panose="02040503050406030204" pitchFamily="18" charset="0"/>
                                          </a:rPr>
                                          <m:t>𝑦</m:t>
                                        </m:r>
                                      </m:e>
                                    </m:acc>
                                  </m:e>
                                  <m:sub>
                                    <m:r>
                                      <a:rPr lang="en-US" altLang="ja-JP" sz="2200" i="1">
                                        <a:latin typeface="Cambria Math" panose="02040503050406030204" pitchFamily="18" charset="0"/>
                                      </a:rPr>
                                      <m:t>𝑖</m:t>
                                    </m:r>
                                  </m:sub>
                                </m:sSub>
                                <m:r>
                                  <a:rPr lang="en-US" altLang="ja-JP" sz="2200" i="1">
                                    <a:latin typeface="Cambria Math" panose="02040503050406030204" pitchFamily="18" charset="0"/>
                                  </a:rPr>
                                  <m:t>)</m:t>
                                </m:r>
                              </m:e>
                              <m:sup>
                                <m:r>
                                  <a:rPr lang="en-US" altLang="ja-JP" sz="2200" i="1">
                                    <a:latin typeface="Cambria Math" panose="02040503050406030204" pitchFamily="18" charset="0"/>
                                  </a:rPr>
                                  <m:t>2</m:t>
                                </m:r>
                              </m:sup>
                            </m:sSup>
                          </m:e>
                        </m:nary>
                      </m:e>
                    </m:rad>
                  </m:oMath>
                </a14:m>
                <a:endParaRPr lang="ja-JP" altLang="ja-JP" sz="2200">
                  <a:latin typeface="Hiragino Maru Gothic Pro W4" panose="020F0400000000000000" pitchFamily="34" charset="-128"/>
                  <a:ea typeface="Hiragino Maru Gothic Pro W4" panose="020F0400000000000000" pitchFamily="34" charset="-128"/>
                </a:endParaRPr>
              </a:p>
            </p:txBody>
          </p:sp>
        </mc:Choice>
        <mc:Fallback xmlns="">
          <p:sp>
            <p:nvSpPr>
              <p:cNvPr id="26" name="テキスト ボックス 25">
                <a:extLst>
                  <a:ext uri="{FF2B5EF4-FFF2-40B4-BE49-F238E27FC236}">
                    <a16:creationId xmlns:a16="http://schemas.microsoft.com/office/drawing/2014/main" id="{E6ABAF2D-B286-A3C9-C341-CBC49D43AA2F}"/>
                  </a:ext>
                </a:extLst>
              </p:cNvPr>
              <p:cNvSpPr txBox="1">
                <a:spLocks noRot="1" noChangeAspect="1" noMove="1" noResize="1" noEditPoints="1" noAdjustHandles="1" noChangeArrowheads="1" noChangeShapeType="1" noTextEdit="1"/>
              </p:cNvSpPr>
              <p:nvPr/>
            </p:nvSpPr>
            <p:spPr>
              <a:xfrm>
                <a:off x="4366403" y="2347459"/>
                <a:ext cx="3551100" cy="781304"/>
              </a:xfrm>
              <a:prstGeom prst="rect">
                <a:avLst/>
              </a:prstGeom>
              <a:blipFill>
                <a:blip r:embed="rId4"/>
                <a:stretch>
                  <a:fillRect l="-2135" t="-39683" b="-841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1E618E2B-3050-42D0-6540-C62DC96B06CC}"/>
                  </a:ext>
                </a:extLst>
              </p:cNvPr>
              <p:cNvSpPr txBox="1"/>
              <p:nvPr/>
            </p:nvSpPr>
            <p:spPr>
              <a:xfrm>
                <a:off x="8686800" y="2393698"/>
                <a:ext cx="2615396" cy="667619"/>
              </a:xfrm>
              <a:prstGeom prst="rect">
                <a:avLst/>
              </a:prstGeom>
              <a:noFill/>
            </p:spPr>
            <p:txBody>
              <a:bodyPr wrap="none" rtlCol="0">
                <a:spAutoFit/>
              </a:bodyPr>
              <a:lstStyle/>
              <a:p>
                <a:r>
                  <a:rPr lang="en-US" altLang="ja-JP" sz="2200" dirty="0">
                    <a:latin typeface="Hiragino Maru Gothic Pro W4" panose="020F0400000000000000" pitchFamily="34" charset="-128"/>
                    <a:ea typeface="Hiragino Maru Gothic Pro W4" panose="020F0400000000000000" pitchFamily="34" charset="-128"/>
                  </a:rPr>
                  <a:t>R</a:t>
                </a:r>
                <a:r>
                  <a:rPr lang="en-US" altLang="ja-JP" sz="2200" baseline="30000" dirty="0">
                    <a:latin typeface="Hiragino Maru Gothic Pro W4" panose="020F0400000000000000" pitchFamily="34" charset="-128"/>
                    <a:ea typeface="Hiragino Maru Gothic Pro W4" panose="020F0400000000000000" pitchFamily="34" charset="-128"/>
                  </a:rPr>
                  <a:t>2 </a:t>
                </a:r>
                <a:r>
                  <a:rPr lang="en-US" altLang="ja-JP" sz="2200" dirty="0">
                    <a:latin typeface="Hiragino Maru Gothic Pro W4" panose="020F0400000000000000" pitchFamily="34" charset="-128"/>
                    <a:ea typeface="Hiragino Maru Gothic Pro W4" panose="020F0400000000000000" pitchFamily="34" charset="-128"/>
                  </a:rPr>
                  <a:t>= 1</a:t>
                </a:r>
                <a:r>
                  <a:rPr lang="en-US" altLang="ja-JP" sz="2000" dirty="0"/>
                  <a:t> </a:t>
                </a:r>
                <a14:m>
                  <m:oMath xmlns:m="http://schemas.openxmlformats.org/officeDocument/2006/math">
                    <m:r>
                      <a:rPr lang="en-US" altLang="ja-JP" sz="2000" i="1">
                        <a:latin typeface="Cambria Math" panose="02040503050406030204" pitchFamily="18" charset="0"/>
                      </a:rPr>
                      <m:t>− </m:t>
                    </m:r>
                    <m:f>
                      <m:fPr>
                        <m:ctrlPr>
                          <a:rPr lang="ja-JP" altLang="ja-JP" sz="2200" i="1">
                            <a:latin typeface="Cambria Math" panose="02040503050406030204" pitchFamily="18" charset="0"/>
                          </a:rPr>
                        </m:ctrlPr>
                      </m:fPr>
                      <m:num>
                        <m:nary>
                          <m:naryPr>
                            <m:chr m:val="∑"/>
                            <m:limLoc m:val="undOvr"/>
                            <m:ctrlPr>
                              <a:rPr lang="ja-JP" altLang="ja-JP" sz="2200" i="1">
                                <a:latin typeface="Cambria Math" panose="02040503050406030204" pitchFamily="18" charset="0"/>
                              </a:rPr>
                            </m:ctrlPr>
                          </m:naryPr>
                          <m:sub>
                            <m:r>
                              <a:rPr lang="en-US" altLang="ja-JP" sz="2200" i="1">
                                <a:latin typeface="Cambria Math" panose="02040503050406030204" pitchFamily="18" charset="0"/>
                              </a:rPr>
                              <m:t>𝑖</m:t>
                            </m:r>
                            <m:r>
                              <a:rPr lang="en-US" altLang="ja-JP" sz="2200" i="1">
                                <a:latin typeface="Cambria Math" panose="02040503050406030204" pitchFamily="18" charset="0"/>
                              </a:rPr>
                              <m:t>=1</m:t>
                            </m:r>
                          </m:sub>
                          <m:sup>
                            <m:r>
                              <a:rPr lang="en-US" altLang="ja-JP" sz="2200" i="1">
                                <a:latin typeface="Cambria Math" panose="02040503050406030204" pitchFamily="18" charset="0"/>
                              </a:rPr>
                              <m:t>𝑛</m:t>
                            </m:r>
                          </m:sup>
                          <m:e>
                            <m:sSup>
                              <m:sSupPr>
                                <m:ctrlPr>
                                  <a:rPr lang="ja-JP" altLang="ja-JP" sz="2200" i="1">
                                    <a:latin typeface="Cambria Math" panose="02040503050406030204" pitchFamily="18" charset="0"/>
                                  </a:rPr>
                                </m:ctrlPr>
                              </m:sSupPr>
                              <m:e>
                                <m:r>
                                  <a:rPr lang="en-US" altLang="ja-JP" sz="2200" i="1">
                                    <a:latin typeface="Cambria Math" panose="02040503050406030204" pitchFamily="18" charset="0"/>
                                  </a:rPr>
                                  <m:t>(</m:t>
                                </m:r>
                                <m:sSub>
                                  <m:sSubPr>
                                    <m:ctrlPr>
                                      <a:rPr lang="ja-JP" altLang="ja-JP" sz="2200" i="1">
                                        <a:latin typeface="Cambria Math" panose="02040503050406030204" pitchFamily="18" charset="0"/>
                                      </a:rPr>
                                    </m:ctrlPr>
                                  </m:sSubPr>
                                  <m:e>
                                    <m:r>
                                      <a:rPr lang="en-US" altLang="ja-JP" sz="2200" i="1">
                                        <a:latin typeface="Cambria Math" panose="02040503050406030204" pitchFamily="18" charset="0"/>
                                      </a:rPr>
                                      <m:t>𝑦</m:t>
                                    </m:r>
                                  </m:e>
                                  <m:sub>
                                    <m:r>
                                      <a:rPr lang="en-US" altLang="ja-JP" sz="2200" i="1">
                                        <a:latin typeface="Cambria Math" panose="02040503050406030204" pitchFamily="18" charset="0"/>
                                      </a:rPr>
                                      <m:t>𝑖</m:t>
                                    </m:r>
                                  </m:sub>
                                </m:sSub>
                                <m:r>
                                  <a:rPr lang="en-US" altLang="ja-JP" sz="2200" i="1">
                                    <a:latin typeface="Cambria Math" panose="02040503050406030204" pitchFamily="18" charset="0"/>
                                  </a:rPr>
                                  <m:t>−</m:t>
                                </m:r>
                                <m:sSub>
                                  <m:sSubPr>
                                    <m:ctrlPr>
                                      <a:rPr lang="ja-JP" altLang="ja-JP" sz="2200" i="1">
                                        <a:latin typeface="Cambria Math" panose="02040503050406030204" pitchFamily="18" charset="0"/>
                                      </a:rPr>
                                    </m:ctrlPr>
                                  </m:sSubPr>
                                  <m:e>
                                    <m:acc>
                                      <m:accPr>
                                        <m:chr m:val="̂"/>
                                        <m:ctrlPr>
                                          <a:rPr lang="ja-JP" altLang="ja-JP" sz="2200" i="1">
                                            <a:latin typeface="Cambria Math" panose="02040503050406030204" pitchFamily="18" charset="0"/>
                                          </a:rPr>
                                        </m:ctrlPr>
                                      </m:accPr>
                                      <m:e>
                                        <m:r>
                                          <a:rPr lang="en-US" altLang="ja-JP" sz="2200" i="1">
                                            <a:latin typeface="Cambria Math" panose="02040503050406030204" pitchFamily="18" charset="0"/>
                                          </a:rPr>
                                          <m:t>𝑦</m:t>
                                        </m:r>
                                      </m:e>
                                    </m:acc>
                                  </m:e>
                                  <m:sub>
                                    <m:r>
                                      <a:rPr lang="en-US" altLang="ja-JP" sz="2200" i="1">
                                        <a:latin typeface="Cambria Math" panose="02040503050406030204" pitchFamily="18" charset="0"/>
                                      </a:rPr>
                                      <m:t>𝑖</m:t>
                                    </m:r>
                                  </m:sub>
                                </m:sSub>
                                <m:r>
                                  <a:rPr lang="en-US" altLang="ja-JP" sz="2200" i="1">
                                    <a:latin typeface="Cambria Math" panose="02040503050406030204" pitchFamily="18" charset="0"/>
                                  </a:rPr>
                                  <m:t>)</m:t>
                                </m:r>
                              </m:e>
                              <m:sup>
                                <m:r>
                                  <a:rPr lang="en-US" altLang="ja-JP" sz="2200" i="1">
                                    <a:latin typeface="Cambria Math" panose="02040503050406030204" pitchFamily="18" charset="0"/>
                                  </a:rPr>
                                  <m:t>2</m:t>
                                </m:r>
                              </m:sup>
                            </m:sSup>
                          </m:e>
                        </m:nary>
                      </m:num>
                      <m:den>
                        <m:nary>
                          <m:naryPr>
                            <m:chr m:val="∑"/>
                            <m:limLoc m:val="undOvr"/>
                            <m:ctrlPr>
                              <a:rPr lang="ja-JP" altLang="ja-JP" sz="2200" i="1">
                                <a:latin typeface="Cambria Math" panose="02040503050406030204" pitchFamily="18" charset="0"/>
                              </a:rPr>
                            </m:ctrlPr>
                          </m:naryPr>
                          <m:sub>
                            <m:r>
                              <a:rPr lang="en-US" altLang="ja-JP" sz="2200" i="1">
                                <a:latin typeface="Cambria Math" panose="02040503050406030204" pitchFamily="18" charset="0"/>
                              </a:rPr>
                              <m:t>𝑖</m:t>
                            </m:r>
                            <m:r>
                              <a:rPr lang="en-US" altLang="ja-JP" sz="2200" i="1">
                                <a:latin typeface="Cambria Math" panose="02040503050406030204" pitchFamily="18" charset="0"/>
                              </a:rPr>
                              <m:t>=1</m:t>
                            </m:r>
                          </m:sub>
                          <m:sup>
                            <m:r>
                              <a:rPr lang="en-US" altLang="ja-JP" sz="2200" i="1">
                                <a:latin typeface="Cambria Math" panose="02040503050406030204" pitchFamily="18" charset="0"/>
                              </a:rPr>
                              <m:t>𝑛</m:t>
                            </m:r>
                          </m:sup>
                          <m:e>
                            <m:sSup>
                              <m:sSupPr>
                                <m:ctrlPr>
                                  <a:rPr lang="ja-JP" altLang="ja-JP" sz="2200" i="1">
                                    <a:latin typeface="Cambria Math" panose="02040503050406030204" pitchFamily="18" charset="0"/>
                                  </a:rPr>
                                </m:ctrlPr>
                              </m:sSupPr>
                              <m:e>
                                <m:r>
                                  <a:rPr lang="en-US" altLang="ja-JP" sz="2200" i="1">
                                    <a:latin typeface="Cambria Math" panose="02040503050406030204" pitchFamily="18" charset="0"/>
                                  </a:rPr>
                                  <m:t>(</m:t>
                                </m:r>
                                <m:sSub>
                                  <m:sSubPr>
                                    <m:ctrlPr>
                                      <a:rPr lang="ja-JP" altLang="ja-JP" sz="2200" i="1">
                                        <a:latin typeface="Cambria Math" panose="02040503050406030204" pitchFamily="18" charset="0"/>
                                      </a:rPr>
                                    </m:ctrlPr>
                                  </m:sSubPr>
                                  <m:e>
                                    <m:r>
                                      <a:rPr lang="en-US" altLang="ja-JP" sz="2200" i="1">
                                        <a:latin typeface="Cambria Math" panose="02040503050406030204" pitchFamily="18" charset="0"/>
                                      </a:rPr>
                                      <m:t>𝑦</m:t>
                                    </m:r>
                                  </m:e>
                                  <m:sub>
                                    <m:r>
                                      <a:rPr lang="en-US" altLang="ja-JP" sz="2200" i="1">
                                        <a:latin typeface="Cambria Math" panose="02040503050406030204" pitchFamily="18" charset="0"/>
                                      </a:rPr>
                                      <m:t>𝑖</m:t>
                                    </m:r>
                                  </m:sub>
                                </m:sSub>
                                <m:r>
                                  <a:rPr lang="en-US" altLang="ja-JP" sz="2200" i="1">
                                    <a:latin typeface="Cambria Math" panose="02040503050406030204" pitchFamily="18" charset="0"/>
                                  </a:rPr>
                                  <m:t>−</m:t>
                                </m:r>
                                <m:acc>
                                  <m:accPr>
                                    <m:chr m:val="̅"/>
                                    <m:ctrlPr>
                                      <a:rPr lang="ja-JP" altLang="ja-JP" sz="2200" i="1">
                                        <a:latin typeface="Cambria Math" panose="02040503050406030204" pitchFamily="18" charset="0"/>
                                      </a:rPr>
                                    </m:ctrlPr>
                                  </m:accPr>
                                  <m:e>
                                    <m:r>
                                      <a:rPr lang="en-US" altLang="ja-JP" sz="2200" i="1">
                                        <a:latin typeface="Cambria Math" panose="02040503050406030204" pitchFamily="18" charset="0"/>
                                      </a:rPr>
                                      <m:t>𝑦</m:t>
                                    </m:r>
                                  </m:e>
                                </m:acc>
                                <m:r>
                                  <a:rPr lang="en-US" altLang="ja-JP" sz="2200" i="1">
                                    <a:latin typeface="Cambria Math" panose="02040503050406030204" pitchFamily="18" charset="0"/>
                                  </a:rPr>
                                  <m:t>)</m:t>
                                </m:r>
                              </m:e>
                              <m:sup>
                                <m:r>
                                  <a:rPr lang="en-US" altLang="ja-JP" sz="2200" i="1">
                                    <a:latin typeface="Cambria Math" panose="02040503050406030204" pitchFamily="18" charset="0"/>
                                  </a:rPr>
                                  <m:t>2</m:t>
                                </m:r>
                              </m:sup>
                            </m:sSup>
                          </m:e>
                        </m:nary>
                      </m:den>
                    </m:f>
                  </m:oMath>
                </a14:m>
                <a:endParaRPr kumimoji="1" lang="ja-JP" altLang="en-US" sz="2200">
                  <a:latin typeface="Hiragino Maru Gothic Pro W4" panose="020F0400000000000000" pitchFamily="34" charset="-128"/>
                  <a:ea typeface="Hiragino Maru Gothic Pro W4" panose="020F0400000000000000" pitchFamily="34" charset="-128"/>
                </a:endParaRPr>
              </a:p>
            </p:txBody>
          </p:sp>
        </mc:Choice>
        <mc:Fallback xmlns="">
          <p:sp>
            <p:nvSpPr>
              <p:cNvPr id="27" name="テキスト ボックス 26">
                <a:extLst>
                  <a:ext uri="{FF2B5EF4-FFF2-40B4-BE49-F238E27FC236}">
                    <a16:creationId xmlns:a16="http://schemas.microsoft.com/office/drawing/2014/main" id="{1E618E2B-3050-42D0-6540-C62DC96B06CC}"/>
                  </a:ext>
                </a:extLst>
              </p:cNvPr>
              <p:cNvSpPr txBox="1">
                <a:spLocks noRot="1" noChangeAspect="1" noMove="1" noResize="1" noEditPoints="1" noAdjustHandles="1" noChangeArrowheads="1" noChangeShapeType="1" noTextEdit="1"/>
              </p:cNvSpPr>
              <p:nvPr/>
            </p:nvSpPr>
            <p:spPr>
              <a:xfrm>
                <a:off x="8686800" y="2393698"/>
                <a:ext cx="2615396" cy="667619"/>
              </a:xfrm>
              <a:prstGeom prst="rect">
                <a:avLst/>
              </a:prstGeom>
              <a:blipFill>
                <a:blip r:embed="rId5"/>
                <a:stretch>
                  <a:fillRect l="-3398" t="-50943" b="-9056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AD80E875-05C0-15B9-A2F8-9AF2D28FFFEB}"/>
                  </a:ext>
                </a:extLst>
              </p:cNvPr>
              <p:cNvSpPr txBox="1"/>
              <p:nvPr/>
            </p:nvSpPr>
            <p:spPr>
              <a:xfrm>
                <a:off x="500707" y="3128763"/>
                <a:ext cx="3443571" cy="1200329"/>
              </a:xfrm>
              <a:prstGeom prst="rect">
                <a:avLst/>
              </a:prstGeom>
              <a:noFill/>
            </p:spPr>
            <p:txBody>
              <a:bodyPr wrap="none" rtlCol="0">
                <a:spAutoFit/>
              </a:bodyPr>
              <a:lstStyle/>
              <a:p>
                <a14:m>
                  <m:oMath xmlns:m="http://schemas.openxmlformats.org/officeDocument/2006/math">
                    <m:acc>
                      <m:accPr>
                        <m:chr m:val="̂"/>
                        <m:ctrlPr>
                          <a:rPr lang="ja-JP" altLang="ja-JP" i="1">
                            <a:latin typeface="Cambria Math" panose="02040503050406030204" pitchFamily="18" charset="0"/>
                          </a:rPr>
                        </m:ctrlPr>
                      </m:accPr>
                      <m:e>
                        <m:sSub>
                          <m:sSubPr>
                            <m:ctrlPr>
                              <a:rPr lang="ja-JP"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e>
                    </m:acc>
                  </m:oMath>
                </a14:m>
                <a:r>
                  <a:rPr lang="en-US" altLang="ja-JP" dirty="0"/>
                  <a:t> : </a:t>
                </a:r>
                <a:r>
                  <a:rPr lang="en-US" altLang="ja-JP" dirty="0" err="1"/>
                  <a:t>i</a:t>
                </a:r>
                <a:r>
                  <a:rPr lang="ja-JP" altLang="ja-JP"/>
                  <a:t>番目の予測値</a:t>
                </a:r>
              </a:p>
              <a:p>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oMath>
                </a14:m>
                <a:r>
                  <a:rPr lang="en-US" altLang="ja-JP" dirty="0"/>
                  <a:t> : </a:t>
                </a:r>
                <a:r>
                  <a:rPr lang="en-US" altLang="ja-JP" dirty="0" err="1"/>
                  <a:t>i</a:t>
                </a:r>
                <a:r>
                  <a:rPr lang="ja-JP" altLang="ja-JP"/>
                  <a:t>番目の実測値 </a:t>
                </a:r>
              </a:p>
              <a:p>
                <a:r>
                  <a:rPr lang="en-US" altLang="ja-JP" dirty="0"/>
                  <a:t>n : </a:t>
                </a:r>
                <a:r>
                  <a:rPr lang="ja-JP" altLang="ja-JP"/>
                  <a:t>データの数 </a:t>
                </a:r>
              </a:p>
              <a:p>
                <a:r>
                  <a:rPr lang="en-US" altLang="ja-JP" dirty="0" err="1"/>
                  <a:t>i</a:t>
                </a:r>
                <a:r>
                  <a:rPr lang="en-US" altLang="ja-JP" dirty="0"/>
                  <a:t> : </a:t>
                </a:r>
                <a:r>
                  <a:rPr lang="ja-JP" altLang="ja-JP"/>
                  <a:t>データ</a:t>
                </a:r>
                <a:r>
                  <a:rPr lang="ja-JP" altLang="en-US"/>
                  <a:t>が何番目かを表す記号</a:t>
                </a:r>
                <a:endParaRPr lang="ja-JP" altLang="ja-JP"/>
              </a:p>
            </p:txBody>
          </p:sp>
        </mc:Choice>
        <mc:Fallback xmlns="">
          <p:sp>
            <p:nvSpPr>
              <p:cNvPr id="28" name="テキスト ボックス 27">
                <a:extLst>
                  <a:ext uri="{FF2B5EF4-FFF2-40B4-BE49-F238E27FC236}">
                    <a16:creationId xmlns:a16="http://schemas.microsoft.com/office/drawing/2014/main" id="{AD80E875-05C0-15B9-A2F8-9AF2D28FFFEB}"/>
                  </a:ext>
                </a:extLst>
              </p:cNvPr>
              <p:cNvSpPr txBox="1">
                <a:spLocks noRot="1" noChangeAspect="1" noMove="1" noResize="1" noEditPoints="1" noAdjustHandles="1" noChangeArrowheads="1" noChangeShapeType="1" noTextEdit="1"/>
              </p:cNvSpPr>
              <p:nvPr/>
            </p:nvSpPr>
            <p:spPr>
              <a:xfrm>
                <a:off x="500707" y="3128763"/>
                <a:ext cx="3443571" cy="1200329"/>
              </a:xfrm>
              <a:prstGeom prst="rect">
                <a:avLst/>
              </a:prstGeom>
              <a:blipFill>
                <a:blip r:embed="rId6"/>
                <a:stretch>
                  <a:fillRect l="-1471" t="-2105" r="-368" b="-736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3260AC62-AB34-62CA-650D-3BD963712377}"/>
                  </a:ext>
                </a:extLst>
              </p:cNvPr>
              <p:cNvSpPr txBox="1"/>
              <p:nvPr/>
            </p:nvSpPr>
            <p:spPr>
              <a:xfrm>
                <a:off x="4338275" y="3128762"/>
                <a:ext cx="3443571" cy="1200329"/>
              </a:xfrm>
              <a:prstGeom prst="rect">
                <a:avLst/>
              </a:prstGeom>
              <a:noFill/>
            </p:spPr>
            <p:txBody>
              <a:bodyPr wrap="none" rtlCol="0">
                <a:spAutoFit/>
              </a:bodyPr>
              <a:lstStyle/>
              <a:p>
                <a14:m>
                  <m:oMath xmlns:m="http://schemas.openxmlformats.org/officeDocument/2006/math">
                    <m:acc>
                      <m:accPr>
                        <m:chr m:val="̂"/>
                        <m:ctrlPr>
                          <a:rPr lang="ja-JP" altLang="ja-JP" i="1">
                            <a:latin typeface="Cambria Math" panose="02040503050406030204" pitchFamily="18" charset="0"/>
                          </a:rPr>
                        </m:ctrlPr>
                      </m:accPr>
                      <m:e>
                        <m:sSub>
                          <m:sSubPr>
                            <m:ctrlPr>
                              <a:rPr lang="ja-JP"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e>
                    </m:acc>
                  </m:oMath>
                </a14:m>
                <a:r>
                  <a:rPr lang="en-US" altLang="ja-JP" dirty="0"/>
                  <a:t> : </a:t>
                </a:r>
                <a:r>
                  <a:rPr lang="en-US" altLang="ja-JP" dirty="0" err="1"/>
                  <a:t>i</a:t>
                </a:r>
                <a:r>
                  <a:rPr lang="ja-JP" altLang="ja-JP"/>
                  <a:t>番目の予測値</a:t>
                </a:r>
              </a:p>
              <a:p>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oMath>
                </a14:m>
                <a:r>
                  <a:rPr lang="en-US" altLang="ja-JP" dirty="0"/>
                  <a:t> : </a:t>
                </a:r>
                <a:r>
                  <a:rPr lang="en-US" altLang="ja-JP" dirty="0" err="1"/>
                  <a:t>i</a:t>
                </a:r>
                <a:r>
                  <a:rPr lang="ja-JP" altLang="ja-JP"/>
                  <a:t>番目の実測値 </a:t>
                </a:r>
              </a:p>
              <a:p>
                <a:r>
                  <a:rPr lang="en-US" altLang="ja-JP" dirty="0"/>
                  <a:t>n : </a:t>
                </a:r>
                <a:r>
                  <a:rPr lang="ja-JP" altLang="ja-JP"/>
                  <a:t>データの数 </a:t>
                </a:r>
              </a:p>
              <a:p>
                <a:r>
                  <a:rPr lang="en-US" altLang="ja-JP" dirty="0" err="1"/>
                  <a:t>i</a:t>
                </a:r>
                <a:r>
                  <a:rPr lang="en-US" altLang="ja-JP" dirty="0"/>
                  <a:t> : </a:t>
                </a:r>
                <a:r>
                  <a:rPr lang="ja-JP" altLang="ja-JP"/>
                  <a:t>データ</a:t>
                </a:r>
                <a:r>
                  <a:rPr lang="ja-JP" altLang="en-US"/>
                  <a:t>が何番目かを表す記号</a:t>
                </a:r>
                <a:endParaRPr lang="ja-JP" altLang="ja-JP"/>
              </a:p>
            </p:txBody>
          </p:sp>
        </mc:Choice>
        <mc:Fallback xmlns="">
          <p:sp>
            <p:nvSpPr>
              <p:cNvPr id="33" name="テキスト ボックス 32">
                <a:extLst>
                  <a:ext uri="{FF2B5EF4-FFF2-40B4-BE49-F238E27FC236}">
                    <a16:creationId xmlns:a16="http://schemas.microsoft.com/office/drawing/2014/main" id="{3260AC62-AB34-62CA-650D-3BD963712377}"/>
                  </a:ext>
                </a:extLst>
              </p:cNvPr>
              <p:cNvSpPr txBox="1">
                <a:spLocks noRot="1" noChangeAspect="1" noMove="1" noResize="1" noEditPoints="1" noAdjustHandles="1" noChangeArrowheads="1" noChangeShapeType="1" noTextEdit="1"/>
              </p:cNvSpPr>
              <p:nvPr/>
            </p:nvSpPr>
            <p:spPr>
              <a:xfrm>
                <a:off x="4338275" y="3128762"/>
                <a:ext cx="3443571" cy="1200329"/>
              </a:xfrm>
              <a:prstGeom prst="rect">
                <a:avLst/>
              </a:prstGeom>
              <a:blipFill>
                <a:blip r:embed="rId7"/>
                <a:stretch>
                  <a:fillRect l="-1471" t="-2105" r="-735" b="-736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1DF08B2B-5BD2-00EE-2F60-407D5DCE664E}"/>
                  </a:ext>
                </a:extLst>
              </p:cNvPr>
              <p:cNvSpPr txBox="1"/>
              <p:nvPr/>
            </p:nvSpPr>
            <p:spPr>
              <a:xfrm>
                <a:off x="8283923" y="3126936"/>
                <a:ext cx="3443571" cy="1477328"/>
              </a:xfrm>
              <a:prstGeom prst="rect">
                <a:avLst/>
              </a:prstGeom>
              <a:noFill/>
            </p:spPr>
            <p:txBody>
              <a:bodyPr wrap="none" rtlCol="0">
                <a:spAutoFit/>
              </a:bodyPr>
              <a:lstStyle/>
              <a:p>
                <a14:m>
                  <m:oMath xmlns:m="http://schemas.openxmlformats.org/officeDocument/2006/math">
                    <m:acc>
                      <m:accPr>
                        <m:chr m:val="̂"/>
                        <m:ctrlPr>
                          <a:rPr lang="ja-JP" altLang="ja-JP" i="1">
                            <a:latin typeface="Cambria Math" panose="02040503050406030204" pitchFamily="18" charset="0"/>
                          </a:rPr>
                        </m:ctrlPr>
                      </m:accPr>
                      <m:e>
                        <m:sSub>
                          <m:sSubPr>
                            <m:ctrlPr>
                              <a:rPr lang="ja-JP"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e>
                    </m:acc>
                  </m:oMath>
                </a14:m>
                <a:r>
                  <a:rPr lang="en-US" altLang="ja-JP" dirty="0"/>
                  <a:t> : </a:t>
                </a:r>
                <a:r>
                  <a:rPr lang="en-US" altLang="ja-JP" dirty="0" err="1"/>
                  <a:t>i</a:t>
                </a:r>
                <a:r>
                  <a:rPr lang="ja-JP" altLang="ja-JP"/>
                  <a:t>番目の予測値</a:t>
                </a:r>
              </a:p>
              <a:p>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oMath>
                </a14:m>
                <a:r>
                  <a:rPr lang="en-US" altLang="ja-JP" dirty="0"/>
                  <a:t> : </a:t>
                </a:r>
                <a:r>
                  <a:rPr lang="en-US" altLang="ja-JP" dirty="0" err="1"/>
                  <a:t>i</a:t>
                </a:r>
                <a:r>
                  <a:rPr lang="ja-JP" altLang="ja-JP"/>
                  <a:t>番目の実測値 </a:t>
                </a:r>
                <a:endParaRPr lang="en-US" altLang="ja-JP" dirty="0"/>
              </a:p>
              <a:p>
                <a14:m>
                  <m:oMath xmlns:m="http://schemas.openxmlformats.org/officeDocument/2006/math">
                    <m:acc>
                      <m:accPr>
                        <m:chr m:val="̅"/>
                        <m:ctrlPr>
                          <a:rPr lang="ja-JP" altLang="ja-JP" i="1" smtClean="0">
                            <a:latin typeface="Cambria Math" panose="02040503050406030204" pitchFamily="18" charset="0"/>
                          </a:rPr>
                        </m:ctrlPr>
                      </m:accPr>
                      <m:e>
                        <m:r>
                          <a:rPr lang="en-US" altLang="ja-JP" i="1">
                            <a:latin typeface="Cambria Math" panose="02040503050406030204" pitchFamily="18" charset="0"/>
                          </a:rPr>
                          <m:t>𝑦</m:t>
                        </m:r>
                      </m:e>
                    </m:acc>
                  </m:oMath>
                </a14:m>
                <a:r>
                  <a:rPr lang="en-US" altLang="ja-JP" dirty="0"/>
                  <a:t> : </a:t>
                </a:r>
                <a:r>
                  <a:rPr lang="ja-JP" altLang="ja-JP"/>
                  <a:t>データの平均値</a:t>
                </a:r>
              </a:p>
              <a:p>
                <a:r>
                  <a:rPr lang="en-US" altLang="ja-JP" dirty="0"/>
                  <a:t>n : </a:t>
                </a:r>
                <a:r>
                  <a:rPr lang="ja-JP" altLang="ja-JP"/>
                  <a:t>データの数 </a:t>
                </a:r>
              </a:p>
              <a:p>
                <a:r>
                  <a:rPr lang="en-US" altLang="ja-JP" dirty="0" err="1"/>
                  <a:t>i</a:t>
                </a:r>
                <a:r>
                  <a:rPr lang="en-US" altLang="ja-JP" dirty="0"/>
                  <a:t> : </a:t>
                </a:r>
                <a:r>
                  <a:rPr lang="ja-JP" altLang="ja-JP"/>
                  <a:t>データ</a:t>
                </a:r>
                <a:r>
                  <a:rPr lang="ja-JP" altLang="en-US"/>
                  <a:t>が何番目かを表す記号</a:t>
                </a:r>
                <a:endParaRPr lang="ja-JP" altLang="ja-JP"/>
              </a:p>
            </p:txBody>
          </p:sp>
        </mc:Choice>
        <mc:Fallback xmlns="">
          <p:sp>
            <p:nvSpPr>
              <p:cNvPr id="36" name="テキスト ボックス 35">
                <a:extLst>
                  <a:ext uri="{FF2B5EF4-FFF2-40B4-BE49-F238E27FC236}">
                    <a16:creationId xmlns:a16="http://schemas.microsoft.com/office/drawing/2014/main" id="{1DF08B2B-5BD2-00EE-2F60-407D5DCE664E}"/>
                  </a:ext>
                </a:extLst>
              </p:cNvPr>
              <p:cNvSpPr txBox="1">
                <a:spLocks noRot="1" noChangeAspect="1" noMove="1" noResize="1" noEditPoints="1" noAdjustHandles="1" noChangeArrowheads="1" noChangeShapeType="1" noTextEdit="1"/>
              </p:cNvSpPr>
              <p:nvPr/>
            </p:nvSpPr>
            <p:spPr>
              <a:xfrm>
                <a:off x="8283923" y="3126936"/>
                <a:ext cx="3443571" cy="1477328"/>
              </a:xfrm>
              <a:prstGeom prst="rect">
                <a:avLst/>
              </a:prstGeom>
              <a:blipFill>
                <a:blip r:embed="rId8"/>
                <a:stretch>
                  <a:fillRect l="-1471" t="-2564" r="-368" b="-5983"/>
                </a:stretch>
              </a:blipFill>
            </p:spPr>
            <p:txBody>
              <a:bodyPr/>
              <a:lstStyle/>
              <a:p>
                <a:r>
                  <a:rPr lang="ja-JP" altLang="en-US">
                    <a:noFill/>
                  </a:rPr>
                  <a:t> </a:t>
                </a:r>
              </a:p>
            </p:txBody>
          </p:sp>
        </mc:Fallback>
      </mc:AlternateContent>
      <p:sp>
        <p:nvSpPr>
          <p:cNvPr id="37" name="テキスト ボックス 36">
            <a:extLst>
              <a:ext uri="{FF2B5EF4-FFF2-40B4-BE49-F238E27FC236}">
                <a16:creationId xmlns:a16="http://schemas.microsoft.com/office/drawing/2014/main" id="{38FB7B53-A652-7EFF-8C50-9D613CD733B4}"/>
              </a:ext>
            </a:extLst>
          </p:cNvPr>
          <p:cNvSpPr txBox="1"/>
          <p:nvPr/>
        </p:nvSpPr>
        <p:spPr>
          <a:xfrm>
            <a:off x="396544" y="4678923"/>
            <a:ext cx="3579491" cy="1477328"/>
          </a:xfrm>
          <a:prstGeom prst="rect">
            <a:avLst/>
          </a:prstGeom>
          <a:noFill/>
        </p:spPr>
        <p:txBody>
          <a:bodyPr wrap="square" rtlCol="0">
            <a:spAutoFit/>
          </a:bodyPr>
          <a:lstStyle/>
          <a:p>
            <a:r>
              <a:rPr lang="ja-JP" altLang="en-US"/>
              <a:t>予測値と実測値が平均してどれくらいずれているかを表す指標。各データの誤差を絶対値で求め、その平均を計算する。</a:t>
            </a:r>
            <a:endParaRPr lang="en-US" altLang="ja-JP" dirty="0"/>
          </a:p>
          <a:p>
            <a:r>
              <a:rPr lang="ja-JP" altLang="en-US"/>
              <a:t>値が</a:t>
            </a:r>
            <a:r>
              <a:rPr lang="en-US" altLang="ja-JP" dirty="0"/>
              <a:t>0</a:t>
            </a:r>
            <a:r>
              <a:rPr lang="ja-JP" altLang="en-US"/>
              <a:t>に近いほど予測精度が高い。</a:t>
            </a:r>
          </a:p>
        </p:txBody>
      </p:sp>
      <p:sp>
        <p:nvSpPr>
          <p:cNvPr id="38" name="テキスト ボックス 37">
            <a:extLst>
              <a:ext uri="{FF2B5EF4-FFF2-40B4-BE49-F238E27FC236}">
                <a16:creationId xmlns:a16="http://schemas.microsoft.com/office/drawing/2014/main" id="{FA8A6855-87C8-843D-9846-9A94FB89F1A8}"/>
              </a:ext>
            </a:extLst>
          </p:cNvPr>
          <p:cNvSpPr txBox="1"/>
          <p:nvPr/>
        </p:nvSpPr>
        <p:spPr>
          <a:xfrm>
            <a:off x="4444052" y="4604264"/>
            <a:ext cx="3337794" cy="1754326"/>
          </a:xfrm>
          <a:prstGeom prst="rect">
            <a:avLst/>
          </a:prstGeom>
          <a:noFill/>
        </p:spPr>
        <p:txBody>
          <a:bodyPr wrap="square" rtlCol="0">
            <a:spAutoFit/>
          </a:bodyPr>
          <a:lstStyle/>
          <a:p>
            <a:r>
              <a:rPr lang="ja-JP" altLang="en-US"/>
              <a:t>予測値と実測値がどれくらいずれているかを表す指標。</a:t>
            </a:r>
            <a:br>
              <a:rPr lang="ja-JP" altLang="en-US"/>
            </a:br>
            <a:r>
              <a:rPr lang="ja-JP" altLang="en-US"/>
              <a:t>各データの誤差を二乗して平均し、その平方根を計算する。値が</a:t>
            </a:r>
            <a:r>
              <a:rPr lang="en-US" altLang="ja-JP" dirty="0"/>
              <a:t>0</a:t>
            </a:r>
            <a:r>
              <a:rPr lang="ja-JP" altLang="en-US"/>
              <a:t>に近いほど予測精度が高いといえる。</a:t>
            </a:r>
          </a:p>
        </p:txBody>
      </p:sp>
      <p:sp>
        <p:nvSpPr>
          <p:cNvPr id="39" name="テキスト ボックス 38">
            <a:extLst>
              <a:ext uri="{FF2B5EF4-FFF2-40B4-BE49-F238E27FC236}">
                <a16:creationId xmlns:a16="http://schemas.microsoft.com/office/drawing/2014/main" id="{EBCD4B7F-AB05-FCE0-989C-62D88DAAA4DB}"/>
              </a:ext>
            </a:extLst>
          </p:cNvPr>
          <p:cNvSpPr txBox="1"/>
          <p:nvPr/>
        </p:nvSpPr>
        <p:spPr>
          <a:xfrm>
            <a:off x="8283923" y="4641924"/>
            <a:ext cx="3443570" cy="1754326"/>
          </a:xfrm>
          <a:prstGeom prst="rect">
            <a:avLst/>
          </a:prstGeom>
          <a:noFill/>
        </p:spPr>
        <p:txBody>
          <a:bodyPr wrap="square" rtlCol="0">
            <a:spAutoFit/>
          </a:bodyPr>
          <a:lstStyle/>
          <a:p>
            <a:r>
              <a:rPr lang="ja-JP" altLang="en-US"/>
              <a:t>予測値が実測値の変化や傾向にどれくらい合っているかを表す指標。</a:t>
            </a:r>
          </a:p>
          <a:p>
            <a:r>
              <a:rPr lang="ja-JP" altLang="en-US"/>
              <a:t>値が</a:t>
            </a:r>
            <a:r>
              <a:rPr lang="en-US" altLang="ja-JP" dirty="0"/>
              <a:t>1</a:t>
            </a:r>
            <a:r>
              <a:rPr lang="ja-JP" altLang="en-US"/>
              <a:t>に近いほど、モデルが実測値の傾向をよく予測できている。</a:t>
            </a:r>
          </a:p>
        </p:txBody>
      </p:sp>
    </p:spTree>
    <p:extLst>
      <p:ext uri="{BB962C8B-B14F-4D97-AF65-F5344CB8AC3E}">
        <p14:creationId xmlns:p14="http://schemas.microsoft.com/office/powerpoint/2010/main" val="131999050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7003</TotalTime>
  <Words>1035</Words>
  <Application>Microsoft Macintosh PowerPoint</Application>
  <PresentationFormat>ワイド画面</PresentationFormat>
  <Paragraphs>71</Paragraphs>
  <Slides>4</Slides>
  <Notes>3</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vt:i4>
      </vt:variant>
    </vt:vector>
  </HeadingPairs>
  <TitlesOfParts>
    <vt:vector size="10" baseType="lpstr">
      <vt:lpstr>Hiragino Maru Gothic Pro W4</vt:lpstr>
      <vt:lpstr>游ゴシック</vt:lpstr>
      <vt:lpstr>游ゴシック Light</vt:lpstr>
      <vt:lpstr>Arial</vt:lpstr>
      <vt:lpstr>Cambria Math</vt:lpstr>
      <vt:lpstr>Office テーマ</vt:lpstr>
      <vt:lpstr>第二回 Pythonセミナー</vt:lpstr>
      <vt:lpstr>PowerPoint プレゼンテーション</vt:lpstr>
      <vt:lpstr>PowerPoint プレゼンテーション</vt:lpstr>
      <vt:lpstr>機械学習 (回帰モデル)の評価指標は何か？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Iwasaki Nanami</dc:creator>
  <cp:lastModifiedBy>Iwasaki Nanami</cp:lastModifiedBy>
  <cp:revision>5</cp:revision>
  <dcterms:created xsi:type="dcterms:W3CDTF">2026-05-28T07:31:42Z</dcterms:created>
  <dcterms:modified xsi:type="dcterms:W3CDTF">2026-06-03T04:03:45Z</dcterms:modified>
</cp:coreProperties>
</file>