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359" r:id="rId2"/>
    <p:sldId id="360" r:id="rId3"/>
    <p:sldId id="362" r:id="rId4"/>
    <p:sldId id="36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725"/>
  </p:normalViewPr>
  <p:slideViewPr>
    <p:cSldViewPr snapToGrid="0">
      <p:cViewPr varScale="1">
        <p:scale>
          <a:sx n="110" d="100"/>
          <a:sy n="110" d="100"/>
        </p:scale>
        <p:origin x="1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1D1B0-0049-9E4B-BF74-95EEDB32D44F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27F91-976E-934C-8B5C-588B7532DF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4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527F91-976E-934C-8B5C-588B7532DF8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30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15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59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55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09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31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14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43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85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40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30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タイトル &amp;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1pPr>
            <a:lvl2pPr marL="0" indent="160729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2pPr>
            <a:lvl3pPr marL="0" indent="321457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3pPr>
            <a:lvl4pPr marL="0" indent="482186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4pPr>
            <a:lvl5pPr marL="0" indent="642915" algn="ctr">
              <a:buSzTx/>
              <a:buNone/>
              <a:defRPr sz="2250">
                <a:latin typeface="Meiryo" panose="020B0604030504040204" pitchFamily="34" charset="-128"/>
                <a:ea typeface="Meiryo" panose="020B0604030504040204" pitchFamily="34" charset="-128"/>
                <a:cs typeface="+mn-cs"/>
                <a:sym typeface="ヒラギノ角ゴ ProN W3"/>
              </a:defRPr>
            </a:lvl5pPr>
          </a:lstStyle>
          <a:p>
            <a:pPr lvl="0">
              <a:defRPr sz="1800"/>
            </a:pPr>
            <a:r>
              <a:rPr sz="2250"/>
              <a:t>本文レベル1</a:t>
            </a:r>
          </a:p>
          <a:p>
            <a:pPr lvl="1">
              <a:defRPr sz="1800"/>
            </a:pPr>
            <a:r>
              <a:rPr sz="2250"/>
              <a:t>本文レベル2</a:t>
            </a:r>
          </a:p>
          <a:p>
            <a:pPr lvl="2">
              <a:defRPr sz="1800"/>
            </a:pPr>
            <a:r>
              <a:rPr sz="2250"/>
              <a:t>本文レベル3</a:t>
            </a:r>
          </a:p>
          <a:p>
            <a:pPr lvl="3">
              <a:defRPr sz="1800"/>
            </a:pPr>
            <a:r>
              <a:rPr sz="2250"/>
              <a:t>本文レベル4</a:t>
            </a:r>
          </a:p>
          <a:p>
            <a:pPr lvl="4">
              <a:defRPr sz="1800"/>
            </a:pPr>
            <a:r>
              <a:rPr sz="2250"/>
              <a:t>本文レベル 5</a:t>
            </a:r>
          </a:p>
        </p:txBody>
      </p:sp>
      <p:pic>
        <p:nvPicPr>
          <p:cNvPr id="9" name="header4.png"/>
          <p:cNvPicPr/>
          <p:nvPr/>
        </p:nvPicPr>
        <p:blipFill>
          <a:blip r:embed="rId2" cstate="email">
            <a:alphaModFix amt="11038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0" y="3848967"/>
            <a:ext cx="9135380" cy="302020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BB3BF9A-E1A1-5D42-9A70-C132BA784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5CC020-4C1D-F746-9448-CDB9A908293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0D2C9C9-3A42-294F-89BB-76FFEAA3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22914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384EF-2384-6C46-8415-4A174824351C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E9288-BE65-404E-9046-C7957F492F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30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4DAC-760A-A419-21BD-459572FF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517A2E1-454E-92BD-7A7D-0B21CF382249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F36BF4-9CF9-591D-F12A-457940CC1481}"/>
              </a:ext>
            </a:extLst>
          </p:cNvPr>
          <p:cNvSpPr txBox="1"/>
          <p:nvPr/>
        </p:nvSpPr>
        <p:spPr>
          <a:xfrm>
            <a:off x="13751" y="0"/>
            <a:ext cx="4479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第６回</a:t>
            </a:r>
            <a:r>
              <a:rPr kumimoji="1" lang="en-US" altLang="ja-JP" sz="32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Python</a:t>
            </a:r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セミナー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0BD69F-69E6-5705-7F69-BBFE7F52EA5A}"/>
              </a:ext>
            </a:extLst>
          </p:cNvPr>
          <p:cNvSpPr txBox="1"/>
          <p:nvPr/>
        </p:nvSpPr>
        <p:spPr>
          <a:xfrm>
            <a:off x="5904010" y="732653"/>
            <a:ext cx="3239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M2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担当：土師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M1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担当：谷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F9D94D-F9A9-9D1D-9E75-C5A7124A4222}"/>
              </a:ext>
            </a:extLst>
          </p:cNvPr>
          <p:cNvSpPr txBox="1"/>
          <p:nvPr/>
        </p:nvSpPr>
        <p:spPr>
          <a:xfrm>
            <a:off x="0" y="640200"/>
            <a:ext cx="4152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可視化・クラスタリングについて</a:t>
            </a:r>
            <a:endParaRPr kumimoji="1" lang="ja-JP" altLang="en-US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CF8CF6-0C41-93EE-7FFA-B9C81D486B68}"/>
              </a:ext>
            </a:extLst>
          </p:cNvPr>
          <p:cNvSpPr txBox="1"/>
          <p:nvPr/>
        </p:nvSpPr>
        <p:spPr>
          <a:xfrm>
            <a:off x="240030" y="3615154"/>
            <a:ext cx="913024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ja-JP" altLang="en-US" sz="2400" u="sng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課題</a:t>
            </a:r>
            <a:endParaRPr kumimoji="1" lang="en-US" altLang="ja-JP" sz="2000" u="sng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を用いてデータセットを可視化してください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では、寄与率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vs 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累積寄与率のプロットも作ってください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また、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PC1〜PC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１０の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10×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１０のプロットも作ってください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・データセットに対し、階層的クラスタリングを行ってください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この際、デンドログラムも図示してください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・データセットに対し、非階層的クラスタリング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(k-means)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を行ってください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・クラスタリング結果を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の図に併記してください</a:t>
            </a:r>
          </a:p>
          <a:p>
            <a:pPr lvl="1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・教師あり学習と教師なし学習の違いを調べてきてください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9EFC4B8-2BC6-AD1A-E5C3-6AFD42FA42B4}"/>
              </a:ext>
            </a:extLst>
          </p:cNvPr>
          <p:cNvSpPr txBox="1"/>
          <p:nvPr/>
        </p:nvSpPr>
        <p:spPr>
          <a:xfrm>
            <a:off x="240030" y="1082871"/>
            <a:ext cx="748153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u="sng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説明</a:t>
            </a:r>
            <a:endParaRPr kumimoji="1" lang="en-US" altLang="ja-JP" sz="2000" u="sng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・可視化とは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の原理と特徴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の特徴（原理は無しで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OK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・階層的クラスタリングとは（ユークリッド距離・ウォード法）</a:t>
            </a:r>
            <a:endParaRPr kumimoji="1" lang="en-US" altLang="ja-JP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・非階層的クラスタリングとは（</a:t>
            </a:r>
            <a:r>
              <a:rPr kumimoji="1" lang="en-US" altLang="ja-JP" sz="24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k-means</a:t>
            </a:r>
            <a:r>
              <a:rPr kumimoji="1" lang="ja-JP" altLang="en-US" sz="24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ja-JP" altLang="en-US" sz="24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447733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C493-FCD9-3665-1867-778B63E6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CB95486-2D1A-99D6-23CF-77B4C452F673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F37566-EBC0-8721-711F-07B6E5D999FC}"/>
              </a:ext>
            </a:extLst>
          </p:cNvPr>
          <p:cNvSpPr txBox="1"/>
          <p:nvPr/>
        </p:nvSpPr>
        <p:spPr>
          <a:xfrm>
            <a:off x="13751" y="0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課題で作って欲しい図</a:t>
            </a:r>
            <a:endParaRPr kumimoji="1" lang="ja-JP" altLang="en-US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45A692-4237-A1E9-0C3D-5EB2FC819782}"/>
              </a:ext>
            </a:extLst>
          </p:cNvPr>
          <p:cNvSpPr txBox="1"/>
          <p:nvPr/>
        </p:nvSpPr>
        <p:spPr>
          <a:xfrm>
            <a:off x="97154" y="646331"/>
            <a:ext cx="87268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を用いてデータセットを可視化してください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PCA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では、寄与率　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vs 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累積寄与率のプロットも作ってください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また、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10×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１０のプロットも作ってください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37114CF-2FF4-7ABA-64F1-3702EF9D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4" y="5458385"/>
            <a:ext cx="5457946" cy="540673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27D95AD-9C1A-1AEF-4E2F-8B38F5579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559" y="2110135"/>
            <a:ext cx="3835400" cy="28321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5C39D3-FE5D-2311-7C5B-4BE0469410ED}"/>
              </a:ext>
            </a:extLst>
          </p:cNvPr>
          <p:cNvSpPr txBox="1"/>
          <p:nvPr/>
        </p:nvSpPr>
        <p:spPr>
          <a:xfrm>
            <a:off x="525780" y="5143500"/>
            <a:ext cx="4079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10×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１０のプロット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だけでいい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)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CF46FC9-8026-3FF2-C94F-D33EF9E0CCB5}"/>
              </a:ext>
            </a:extLst>
          </p:cNvPr>
          <p:cNvSpPr txBox="1"/>
          <p:nvPr/>
        </p:nvSpPr>
        <p:spPr>
          <a:xfrm>
            <a:off x="5465532" y="1770926"/>
            <a:ext cx="3772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寄与率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vs 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累積寄与率のプロット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AF9FDE5-CEE2-1839-098A-E768D0FADA5F}"/>
              </a:ext>
            </a:extLst>
          </p:cNvPr>
          <p:cNvSpPr txBox="1"/>
          <p:nvPr/>
        </p:nvSpPr>
        <p:spPr>
          <a:xfrm>
            <a:off x="13751" y="1570871"/>
            <a:ext cx="4834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を用いてデータセットを可視化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5B94429-3D54-F264-B070-06FB2F7B4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" y="1875760"/>
            <a:ext cx="36703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5998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4860-E282-0D2B-85EC-F6E597B6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F333E44-6D0C-4F97-C0F7-59443682892A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8B6F09-B81A-C9F6-FBFC-45BA72202E26}"/>
              </a:ext>
            </a:extLst>
          </p:cNvPr>
          <p:cNvSpPr txBox="1"/>
          <p:nvPr/>
        </p:nvSpPr>
        <p:spPr>
          <a:xfrm>
            <a:off x="13751" y="0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課題で作って欲しい図</a:t>
            </a:r>
            <a:endParaRPr kumimoji="1" lang="ja-JP" altLang="en-US" sz="2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FC6178-DC02-4370-DF83-04E19A067B3E}"/>
              </a:ext>
            </a:extLst>
          </p:cNvPr>
          <p:cNvSpPr txBox="1"/>
          <p:nvPr/>
        </p:nvSpPr>
        <p:spPr>
          <a:xfrm>
            <a:off x="97154" y="646331"/>
            <a:ext cx="87268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・データセットに対し、階層的クラスタリングを行ってください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	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この際、デンドログラムも図示してください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・データセットに対し、非階層的クラスタリング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(k-means)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を行ってください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lvl="1"/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・クラスタリング結果を</a:t>
            </a:r>
            <a:r>
              <a:rPr kumimoji="1" lang="en-US" altLang="ja-JP" sz="18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の図に併記してください</a:t>
            </a:r>
            <a:endParaRPr kumimoji="1" lang="en-US" altLang="ja-JP" sz="18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F6CB16C-8CF1-340C-EB41-F1E8C4DFE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55" y="2916223"/>
            <a:ext cx="3554730" cy="294111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7DD50B-FCEE-29B8-C0A2-6E326F7F9FEF}"/>
              </a:ext>
            </a:extLst>
          </p:cNvPr>
          <p:cNvSpPr txBox="1"/>
          <p:nvPr/>
        </p:nvSpPr>
        <p:spPr>
          <a:xfrm>
            <a:off x="-15655" y="2516113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デンドログラム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7F5310C-7D63-43E1-728D-FFB12BA2B552}"/>
              </a:ext>
            </a:extLst>
          </p:cNvPr>
          <p:cNvSpPr txBox="1"/>
          <p:nvPr/>
        </p:nvSpPr>
        <p:spPr>
          <a:xfrm>
            <a:off x="-15656" y="1947591"/>
            <a:ext cx="7090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階層的クラスタリングと非階層的クラスタリング</a:t>
            </a:r>
            <a:r>
              <a:rPr kumimoji="1" lang="ja-JP" altLang="en-US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：図なし</a:t>
            </a:r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BEEDB22-4D58-3D30-97D0-6CA0F44D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980" y="2916223"/>
            <a:ext cx="4630998" cy="379381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13FD09-695D-54F7-D79B-742533776427}"/>
              </a:ext>
            </a:extLst>
          </p:cNvPr>
          <p:cNvSpPr txBox="1"/>
          <p:nvPr/>
        </p:nvSpPr>
        <p:spPr>
          <a:xfrm>
            <a:off x="3776980" y="2445960"/>
            <a:ext cx="6941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クラスタリング結果を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の図に併記（これは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ですが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...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0007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AE63-E3B2-460F-E09D-40E4ED52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971AF3-4436-46B3-F44E-3531119223A0}"/>
              </a:ext>
            </a:extLst>
          </p:cNvPr>
          <p:cNvCxnSpPr>
            <a:cxnSpLocks/>
          </p:cNvCxnSpPr>
          <p:nvPr/>
        </p:nvCxnSpPr>
        <p:spPr>
          <a:xfrm>
            <a:off x="13751" y="584775"/>
            <a:ext cx="9130249" cy="0"/>
          </a:xfrm>
          <a:prstGeom prst="line">
            <a:avLst/>
          </a:prstGeom>
          <a:ln w="76200">
            <a:solidFill>
              <a:srgbClr val="FF7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0FB495-75B0-D58F-17AB-CAA49E9E4A4B}"/>
              </a:ext>
            </a:extLst>
          </p:cNvPr>
          <p:cNvSpPr txBox="1"/>
          <p:nvPr/>
        </p:nvSpPr>
        <p:spPr>
          <a:xfrm>
            <a:off x="13751" y="0"/>
            <a:ext cx="5710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第６回</a:t>
            </a:r>
            <a:r>
              <a:rPr kumimoji="1" lang="en-US" altLang="ja-JP" sz="32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Python</a:t>
            </a:r>
            <a:r>
              <a:rPr kumimoji="1" lang="ja-JP" altLang="en-US" sz="32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Segoe UI" panose="020B0502040204020203" pitchFamily="34" charset="0"/>
              </a:rPr>
              <a:t>セミナー　雑書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BF4E3C-DF40-282A-3274-514388E2B450}"/>
              </a:ext>
            </a:extLst>
          </p:cNvPr>
          <p:cNvSpPr txBox="1"/>
          <p:nvPr/>
        </p:nvSpPr>
        <p:spPr>
          <a:xfrm>
            <a:off x="13751" y="685800"/>
            <a:ext cx="3239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M2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担当：土師　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 M1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担当：谷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EA572B-E77A-9275-EE20-28F63D8C441F}"/>
              </a:ext>
            </a:extLst>
          </p:cNvPr>
          <p:cNvSpPr txBox="1"/>
          <p:nvPr/>
        </p:nvSpPr>
        <p:spPr>
          <a:xfrm>
            <a:off x="13751" y="1085910"/>
            <a:ext cx="3491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可視化・クラスタリングについて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0B3CBF-FDC8-18FF-3C53-3D5C242DB4C1}"/>
              </a:ext>
            </a:extLst>
          </p:cNvPr>
          <p:cNvSpPr txBox="1"/>
          <p:nvPr/>
        </p:nvSpPr>
        <p:spPr>
          <a:xfrm>
            <a:off x="354330" y="3614470"/>
            <a:ext cx="83054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やること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可視化：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、（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t-SNE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クラスタリング：階層型クラスタリング（ウォード法）、デンドログラム、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k-means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AE5914-652D-D541-F1BA-D7C28C73686C}"/>
              </a:ext>
            </a:extLst>
          </p:cNvPr>
          <p:cNvSpPr txBox="1"/>
          <p:nvPr/>
        </p:nvSpPr>
        <p:spPr>
          <a:xfrm>
            <a:off x="354330" y="4818698"/>
            <a:ext cx="93154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課題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10×10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、ローディング、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　（できれば正解ラベルをカラーバーに）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にウォード法乗っける、デンドログラム、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に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k-means</a:t>
            </a:r>
          </a:p>
          <a:p>
            <a:pPr algn="l"/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単語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累積寄与率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119B59-C0F9-23C8-E8D6-1D691877D6E4}"/>
              </a:ext>
            </a:extLst>
          </p:cNvPr>
          <p:cNvSpPr txBox="1"/>
          <p:nvPr/>
        </p:nvSpPr>
        <p:spPr>
          <a:xfrm>
            <a:off x="354330" y="1486020"/>
            <a:ext cx="58304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説明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・可視化とは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PCA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の原理と特徴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UMAP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の特徴（原理は無しで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OK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・階層的クラスタリング（ユークリッド距離・ウォード法）</a:t>
            </a:r>
            <a:endParaRPr kumimoji="1" lang="en-US" altLang="ja-JP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  <a:p>
            <a:pPr algn="l"/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・非階層的クラスタリング（</a:t>
            </a:r>
            <a:r>
              <a:rPr kumimoji="1" lang="en-US" altLang="ja-JP" sz="2000" dirty="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k-means</a:t>
            </a:r>
            <a:r>
              <a:rPr kumimoji="1" lang="ja-JP" altLang="en-US" sz="2000">
                <a:latin typeface="UD Digi Kyokasho NK-R" panose="02020400000000000000" pitchFamily="18" charset="-128"/>
                <a:ea typeface="UD Digi Kyokasho NK-R" panose="02020400000000000000" pitchFamily="18" charset="-128"/>
              </a:rPr>
              <a:t>）</a:t>
            </a:r>
            <a:endParaRPr kumimoji="1" lang="ja-JP" altLang="en-US" sz="2000" dirty="0">
              <a:latin typeface="UD Digi Kyokasho NK-R" panose="02020400000000000000" pitchFamily="18" charset="-128"/>
              <a:ea typeface="UD Digi Kyokasho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2719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2000" dirty="0" smtClean="0">
            <a:latin typeface="UD Digi Kyokasho NK-R" panose="02020400000000000000" pitchFamily="18" charset="-128"/>
            <a:ea typeface="UD Digi Kyokasho NK-R" panose="02020400000000000000" pitchFamily="18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1236</TotalTime>
  <Words>401</Words>
  <Application>Microsoft Macintosh PowerPoint</Application>
  <PresentationFormat>画面に合わせる (4:3)</PresentationFormat>
  <Paragraphs>52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Hiragino Kaku Gothic ProN W3</vt:lpstr>
      <vt:lpstr>UD Digi Kyokasho NK-R</vt:lpstr>
      <vt:lpstr>Meiryo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 Yokuto</dc:creator>
  <cp:lastModifiedBy>Haze Yokuto</cp:lastModifiedBy>
  <cp:revision>3</cp:revision>
  <dcterms:created xsi:type="dcterms:W3CDTF">2026-06-23T08:33:28Z</dcterms:created>
  <dcterms:modified xsi:type="dcterms:W3CDTF">2026-06-24T05:09:56Z</dcterms:modified>
</cp:coreProperties>
</file>